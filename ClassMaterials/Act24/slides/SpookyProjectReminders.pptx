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4" r:id="rId8"/>
    <p:sldId id="260" r:id="rId9"/>
    <p:sldId id="265" r:id="rId10"/>
    <p:sldId id="261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7D94E-3019-5E41-98AE-52431A4DB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BAF7D1-B081-8F3D-BD17-D43013619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2B294-5A24-D55B-2E3D-93A057CA2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F1F23-409F-0B40-495B-F0FE136E9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BB4BE-A528-9FAE-B08F-2B3A8F5A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13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BF3F-9DE8-9B46-8F5A-F5E50F539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A8B21-5CE9-6311-ECAF-8301E0303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1EACA-9D39-70D8-9638-CCBDA19FD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74DE5-C455-0E01-2C6B-90784C64D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D3464-E8ED-7667-1031-06C32EC3A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10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3EA77-6552-C6F6-D1DE-FF633E1E4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E3DDA-ED8D-E69A-DE35-8FAE2DF6C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0AD5A-7844-5701-3EC8-91754A7FA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7C4A7F-4D4F-B442-36EB-B2465F0EA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E5EF1-088C-42A8-4C84-AD0B1B64D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4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8BC72-F42E-4944-12F0-9BBF9D1CF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E0B5F-0A6B-7DFD-1FA9-7E7A3C69D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D0209-58A9-62AD-DB0C-11A0758FC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9C971-8B67-3CEE-AAD3-57F29836B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7F815-A855-6D12-5C76-FDDFD9A29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5AAD5-98DB-080C-FBD6-B6F8BC32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2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53F07-5606-3C66-3B95-792256EF0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130A7-1827-629F-0C2E-FAAD76039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4C41D-4FAA-EC42-3692-7BA7022877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F78D0-72D6-7B13-62EA-D3313CC96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4768B-E94E-8244-6826-C05D59A70B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0869DA-9756-ABB9-3DB8-E924608FF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9FF09B-A93D-6596-B981-8A260010A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1C7774-46CD-3A07-1EFA-F1E3E02D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3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F4510-3330-65F0-D9FB-86E10E98F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9B4B9-335E-539C-70FD-6E64EE745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EA9A95-837E-804C-DA38-E79E9AA0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4B7C9D-1522-F8E0-156C-95BE87378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695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1180F8-6612-265D-20D5-13F1E5A4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47600-922F-3AAB-C70F-91AC2D571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9D728C-07C0-6D74-E7BB-D0F433CF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257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0407E-AE99-C09C-6C4E-28E34F32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1B1F6-4E4A-631C-438B-49E21BF73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90CAB-3722-CD72-E39F-23B3859AD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9DC43-04C9-9A59-4E88-D735BF65D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77D782-90E5-665D-41BC-D01FCE2F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16714-019D-8BC2-A897-39565506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92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7DA7A-D9C7-C684-48EF-D4A4799F8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65D874-9C4D-21D9-735D-D7B229A937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2BD1F-1586-862B-D0C9-814023B9D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3918C1-62E6-5106-AD4E-7D24FB273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B82B0-42DD-2292-F795-2B63E3623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7A336-A10E-8F2D-40ED-7CA126F29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34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4932-683B-5F3D-6E98-558C215E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3C803-7BBD-8B25-7AAA-27E93DCE5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4F3E3-CDF8-58D5-3B8A-ECD8B8BA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3F374-1127-86A3-D230-42BB6EF8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54744-5A22-CA2A-82EF-D8D8143E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21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2B05E7-6CCE-41DC-3636-8A099300B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299534-44ED-B074-232E-B544DCA74F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71F86-812F-FBF9-6B88-F14B2E99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3F642-DD35-D639-0F89-3CAFDA48B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53389-4103-E999-24B6-2B3F9CB18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20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A0C660-B2EF-AB43-4B1D-6AE90984E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B0380-359A-A7A0-9F77-E566FDDE7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97B96-2223-040F-7375-5A91230495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7ED72-9EBF-4E06-A7E4-913056113E0E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C6E6E-D19A-23ED-A5EC-6ED7CE47F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B33D6-633F-444C-FAB4-5E30B048D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D48AF-ECFA-46CC-A472-0D5EF9EAA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72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oftwareengineering.stackexchange.com/questions/133404/what-is-the-ideal-length-of-a-method-for-you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Variable_shadowing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Jack-O-Lantern with solid fill">
            <a:extLst>
              <a:ext uri="{FF2B5EF4-FFF2-40B4-BE49-F238E27FC236}">
                <a16:creationId xmlns:a16="http://schemas.microsoft.com/office/drawing/2014/main" id="{01BCD70F-B62D-0B8E-B73F-7615406CA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C03EF6-701D-092F-F3AD-D768A4C84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2061" y="762538"/>
            <a:ext cx="5649349" cy="3199862"/>
          </a:xfrm>
        </p:spPr>
        <p:txBody>
          <a:bodyPr anchor="b">
            <a:normAutofit/>
          </a:bodyPr>
          <a:lstStyle/>
          <a:p>
            <a:pPr algn="l"/>
            <a:r>
              <a:rPr lang="en-US" sz="56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Slightly Spooky</a:t>
            </a:r>
            <a:br>
              <a:rPr lang="en-US" sz="5600" dirty="0">
                <a:solidFill>
                  <a:srgbClr val="FFFFFF"/>
                </a:solidFill>
                <a:latin typeface="Copperplate Gothic Bold" panose="020E0705020206020404" pitchFamily="34" charset="0"/>
              </a:rPr>
            </a:br>
            <a:r>
              <a:rPr lang="en-US" sz="56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Project Reminders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9160B-3328-1ACD-A7C2-1A85F66F7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2061" y="4312561"/>
            <a:ext cx="5649349" cy="2407576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en-US" sz="39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BEWARE</a:t>
            </a:r>
            <a:r>
              <a:rPr lang="en-US" sz="28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 </a:t>
            </a:r>
            <a:br>
              <a:rPr lang="en-US" sz="2800" dirty="0">
                <a:solidFill>
                  <a:srgbClr val="FFFFFF"/>
                </a:solidFill>
                <a:latin typeface="Copperplate Gothic Bold" panose="020E0705020206020404" pitchFamily="34" charset="0"/>
              </a:rPr>
            </a:br>
            <a:r>
              <a:rPr lang="en-US" sz="28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of these common mistakes, design flaws, and faux pas</a:t>
            </a:r>
          </a:p>
          <a:p>
            <a:pPr algn="l"/>
            <a:endParaRPr lang="en-US" sz="2800" dirty="0">
              <a:solidFill>
                <a:srgbClr val="FFFFFF"/>
              </a:solidFill>
              <a:latin typeface="Copperplate Gothic Bold" panose="020E0705020206020404" pitchFamily="34" charset="0"/>
            </a:endParaRPr>
          </a:p>
          <a:p>
            <a:pPr algn="l"/>
            <a:r>
              <a:rPr lang="en-US" sz="28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CSSE 220, Fall 2025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505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Magic Wand Auto with solid fill">
            <a:extLst>
              <a:ext uri="{FF2B5EF4-FFF2-40B4-BE49-F238E27FC236}">
                <a16:creationId xmlns:a16="http://schemas.microsoft.com/office/drawing/2014/main" id="{68EB622D-E66F-865F-ECDF-ADB4D0FD3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988" y="1744515"/>
            <a:ext cx="3368969" cy="3368969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A66E6-8A86-FA63-B08E-95281274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061" y="762538"/>
            <a:ext cx="5649349" cy="31998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Magic Numbers 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34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4BFEC-E960-DAE6-B961-036AF962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pperplate Gothic Bold" panose="020E0705020206020404" pitchFamily="34" charset="0"/>
              </a:rPr>
              <a:t>Magic Numbers: Examples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D1998-1A79-E2B9-DFC9-B65C7112A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27" y="1506901"/>
            <a:ext cx="4324954" cy="1495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A50507-0B01-660E-3925-66CDAB53A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792" y="1471153"/>
            <a:ext cx="4722008" cy="31764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561413-F8F7-B1E6-6ADB-63D4559E4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10" y="3337372"/>
            <a:ext cx="4820323" cy="3315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22DAD2-6675-F6CC-E588-C4A9E3ECD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352" y="4932274"/>
            <a:ext cx="3861627" cy="17202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21B897-E35C-9A35-3DF8-A1AB55CAF9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0080" y="1980661"/>
            <a:ext cx="5016511" cy="3785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215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F4457-E82B-0A4D-C278-3760DE7A3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929B24-6C6A-9974-99A0-15FDA13055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DE3F02E-5D2C-CBB7-3E72-49F86E71D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5E238-6ADA-7247-EC12-B74A45917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061" y="762538"/>
            <a:ext cx="5649349" cy="31998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Headless Classes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18AD5405-ED17-4A31-282A-E484050D7D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Graphic 3" descr="Brain in head with solid fill">
            <a:extLst>
              <a:ext uri="{FF2B5EF4-FFF2-40B4-BE49-F238E27FC236}">
                <a16:creationId xmlns:a16="http://schemas.microsoft.com/office/drawing/2014/main" id="{0150C600-D24F-EF6F-EEDA-C1B90BE11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808" y="1828830"/>
            <a:ext cx="3200339" cy="32003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B15ED0-816A-7572-B666-5B9ED4CB30A1}"/>
              </a:ext>
            </a:extLst>
          </p:cNvPr>
          <p:cNvSpPr txBox="1"/>
          <p:nvPr/>
        </p:nvSpPr>
        <p:spPr>
          <a:xfrm>
            <a:off x="5371853" y="4540272"/>
            <a:ext cx="65012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(Missing </a:t>
            </a:r>
            <a:r>
              <a:rPr lang="en-US" sz="28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class-level </a:t>
            </a:r>
            <a:r>
              <a:rPr lang="en-US" sz="2800" kern="1200" dirty="0" err="1">
                <a:solidFill>
                  <a:srgbClr val="FFFFFF"/>
                </a:solidFill>
                <a:latin typeface="Copperplate Gothic Bold" panose="020E0705020206020404" pitchFamily="34" charset="0"/>
              </a:rPr>
              <a:t>JavaDoc</a:t>
            </a:r>
            <a:r>
              <a:rPr lang="en-US" sz="28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783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43822-7467-C934-0E03-ECAB3F458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B9E67-BD64-F93B-F4C5-CA9B9FE2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pperplate Gothic Bold" panose="020E0705020206020404" pitchFamily="34" charset="0"/>
              </a:rPr>
              <a:t>Headless Classes: Examples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96BA65-52FC-5A01-E183-FCD52C8B5E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92"/>
          <a:stretch>
            <a:fillRect/>
          </a:stretch>
        </p:blipFill>
        <p:spPr>
          <a:xfrm>
            <a:off x="375029" y="2386584"/>
            <a:ext cx="5600700" cy="2874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1A591E-3672-0D9B-3A14-3500D75A0E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507" y="2386583"/>
            <a:ext cx="4933733" cy="2874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5232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5D69DC-81DD-AB13-979D-9BBED8218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C9AE95-9712-4858-6D71-4E3F565EB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5A398C0-6518-185D-6D9A-33A24EC34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593B5A-9560-46A5-5E51-5C2847DD0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061" y="762538"/>
            <a:ext cx="5649349" cy="31998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Spaghetti Monster Methods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2ADCB84A-596A-62AD-BB67-A6B62CD08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Graphic 3" descr="Pasta with solid fill">
            <a:extLst>
              <a:ext uri="{FF2B5EF4-FFF2-40B4-BE49-F238E27FC236}">
                <a16:creationId xmlns:a16="http://schemas.microsoft.com/office/drawing/2014/main" id="{0118ACB7-2851-836F-D778-B1F61CBF8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144" y="1531088"/>
            <a:ext cx="3295705" cy="32957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28D3F3-DAA2-ECFF-0ECA-C8306D81CF89}"/>
              </a:ext>
            </a:extLst>
          </p:cNvPr>
          <p:cNvSpPr txBox="1"/>
          <p:nvPr/>
        </p:nvSpPr>
        <p:spPr>
          <a:xfrm>
            <a:off x="5371853" y="4540272"/>
            <a:ext cx="65012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(Too long/convoluted)</a:t>
            </a:r>
          </a:p>
        </p:txBody>
      </p:sp>
    </p:spTree>
    <p:extLst>
      <p:ext uri="{BB962C8B-B14F-4D97-AF65-F5344CB8AC3E}">
        <p14:creationId xmlns:p14="http://schemas.microsoft.com/office/powerpoint/2010/main" val="1895650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EDBE8-6E0B-0651-DE46-52CC4BCE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76DC-4407-AE8E-E167-E654516DA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pperplate Gothic Bold" panose="020E0705020206020404" pitchFamily="34" charset="0"/>
              </a:rPr>
              <a:t>Spaghetti Monster </a:t>
            </a:r>
            <a:br>
              <a:rPr lang="en-US" dirty="0">
                <a:latin typeface="Copperplate Gothic Bold" panose="020E0705020206020404" pitchFamily="34" charset="0"/>
              </a:rPr>
            </a:br>
            <a:r>
              <a:rPr lang="en-US" dirty="0">
                <a:latin typeface="Copperplate Gothic Bold" panose="020E0705020206020404" pitchFamily="34" charset="0"/>
              </a:rPr>
              <a:t>Methods: Examples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B491EA-38AA-9EA3-7312-1DEAB723C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" y="1690688"/>
            <a:ext cx="4742077" cy="50947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15C99B-2A8A-C48D-EF71-265FBF5F72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4200" y="134486"/>
            <a:ext cx="3737927" cy="65246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E1D27F-5BB3-1BB7-6562-1BC13B7CDC12}"/>
              </a:ext>
            </a:extLst>
          </p:cNvPr>
          <p:cNvSpPr txBox="1"/>
          <p:nvPr/>
        </p:nvSpPr>
        <p:spPr>
          <a:xfrm>
            <a:off x="5074709" y="3185353"/>
            <a:ext cx="3194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There’s </a:t>
            </a:r>
            <a:r>
              <a:rPr lang="en-US" dirty="0">
                <a:hlinkClick r:id="rId4"/>
              </a:rPr>
              <a:t>no one “right” length</a:t>
            </a:r>
            <a:r>
              <a:rPr lang="en-US" dirty="0"/>
              <a:t>; </a:t>
            </a:r>
            <a:br>
              <a:rPr lang="en-US" dirty="0"/>
            </a:br>
            <a:r>
              <a:rPr lang="en-US" dirty="0"/>
              <a:t>but there </a:t>
            </a:r>
            <a:r>
              <a:rPr lang="en-US" i="1" dirty="0"/>
              <a:t>are</a:t>
            </a:r>
            <a:r>
              <a:rPr lang="en-US" dirty="0"/>
              <a:t> wrong lengths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B2A2D6-E264-F308-C8C7-7B2580A4FBF8}"/>
              </a:ext>
            </a:extLst>
          </p:cNvPr>
          <p:cNvSpPr txBox="1"/>
          <p:nvPr/>
        </p:nvSpPr>
        <p:spPr>
          <a:xfrm>
            <a:off x="5074709" y="4015086"/>
            <a:ext cx="3194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5-20 lines is a good rule of thumb; longer is OK if clearly related</a:t>
            </a:r>
          </a:p>
        </p:txBody>
      </p:sp>
    </p:spTree>
    <p:extLst>
      <p:ext uri="{BB962C8B-B14F-4D97-AF65-F5344CB8AC3E}">
        <p14:creationId xmlns:p14="http://schemas.microsoft.com/office/powerpoint/2010/main" val="1218874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940993-31FA-3BD3-697A-0E6F9370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C143AA2-6DAE-A3A6-8D37-B117B7AE0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28CA2B5-DE40-D175-FF7E-661E11E67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46475-82AC-F3B8-BDC8-4F71009A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061" y="762538"/>
            <a:ext cx="5649349" cy="3199862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Variable &amp; Method Names </a:t>
            </a:r>
            <a:r>
              <a:rPr lang="en-US" sz="36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from the</a:t>
            </a:r>
            <a:r>
              <a:rPr lang="en-US" sz="48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 </a:t>
            </a:r>
            <a:br>
              <a:rPr lang="en-US" sz="48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</a:br>
            <a:r>
              <a:rPr lang="en-US" sz="48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Black Lagoon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A27FCC13-15FE-A4F5-7B6D-63C86736A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Graphic 3" descr="Monster with solid fill">
            <a:extLst>
              <a:ext uri="{FF2B5EF4-FFF2-40B4-BE49-F238E27FC236}">
                <a16:creationId xmlns:a16="http://schemas.microsoft.com/office/drawing/2014/main" id="{3C1958FE-9BC2-8D62-87A7-108DB8DA5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80" y="1434568"/>
            <a:ext cx="3385544" cy="338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507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1B939-6D20-76C3-1AC7-642B8286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3E76A-5380-D7FE-580F-1ECB0238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pperplate Gothic Bold" panose="020E0705020206020404" pitchFamily="34" charset="0"/>
              </a:rPr>
              <a:t>Black Lagoon Names: Examples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0D370-BE08-E53A-BC8F-F2B5F15F2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276" y="1589088"/>
            <a:ext cx="8855207" cy="990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350E55-B01B-931C-AD4E-89793BA10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5" y="2914651"/>
            <a:ext cx="6207209" cy="20045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B1F6A4-59AB-26A8-AFEE-84E92C556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762" y="3698240"/>
            <a:ext cx="5299586" cy="2604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3583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7216DD-2B7F-9FE3-1188-60980BEA6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7B17E8-B0AB-FC7D-3848-608B78338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F3B1FE0-16A0-5A7B-B8CA-3721BD239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992" y="0"/>
            <a:ext cx="7562008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D4AC59-759F-DD76-6550-473E0B6EF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2061" y="762538"/>
            <a:ext cx="5649349" cy="319986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Ghost Variables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20C0A3B-7BA0-4C41-CCF1-D8F6FA192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17682" y="4043302"/>
            <a:ext cx="5303520" cy="18288"/>
          </a:xfrm>
          <a:custGeom>
            <a:avLst/>
            <a:gdLst>
              <a:gd name="connsiteX0" fmla="*/ 0 w 5303520"/>
              <a:gd name="connsiteY0" fmla="*/ 0 h 18288"/>
              <a:gd name="connsiteX1" fmla="*/ 556870 w 5303520"/>
              <a:gd name="connsiteY1" fmla="*/ 0 h 18288"/>
              <a:gd name="connsiteX2" fmla="*/ 1272845 w 5303520"/>
              <a:gd name="connsiteY2" fmla="*/ 0 h 18288"/>
              <a:gd name="connsiteX3" fmla="*/ 1882750 w 5303520"/>
              <a:gd name="connsiteY3" fmla="*/ 0 h 18288"/>
              <a:gd name="connsiteX4" fmla="*/ 2439619 w 5303520"/>
              <a:gd name="connsiteY4" fmla="*/ 0 h 18288"/>
              <a:gd name="connsiteX5" fmla="*/ 3155594 w 5303520"/>
              <a:gd name="connsiteY5" fmla="*/ 0 h 18288"/>
              <a:gd name="connsiteX6" fmla="*/ 3818534 w 5303520"/>
              <a:gd name="connsiteY6" fmla="*/ 0 h 18288"/>
              <a:gd name="connsiteX7" fmla="*/ 4481474 w 5303520"/>
              <a:gd name="connsiteY7" fmla="*/ 0 h 18288"/>
              <a:gd name="connsiteX8" fmla="*/ 5303520 w 5303520"/>
              <a:gd name="connsiteY8" fmla="*/ 0 h 18288"/>
              <a:gd name="connsiteX9" fmla="*/ 5303520 w 5303520"/>
              <a:gd name="connsiteY9" fmla="*/ 18288 h 18288"/>
              <a:gd name="connsiteX10" fmla="*/ 4746650 w 5303520"/>
              <a:gd name="connsiteY10" fmla="*/ 18288 h 18288"/>
              <a:gd name="connsiteX11" fmla="*/ 4242816 w 5303520"/>
              <a:gd name="connsiteY11" fmla="*/ 18288 h 18288"/>
              <a:gd name="connsiteX12" fmla="*/ 3526841 w 5303520"/>
              <a:gd name="connsiteY12" fmla="*/ 18288 h 18288"/>
              <a:gd name="connsiteX13" fmla="*/ 2969971 w 5303520"/>
              <a:gd name="connsiteY13" fmla="*/ 18288 h 18288"/>
              <a:gd name="connsiteX14" fmla="*/ 2253996 w 5303520"/>
              <a:gd name="connsiteY14" fmla="*/ 18288 h 18288"/>
              <a:gd name="connsiteX15" fmla="*/ 1484986 w 5303520"/>
              <a:gd name="connsiteY15" fmla="*/ 18288 h 18288"/>
              <a:gd name="connsiteX16" fmla="*/ 875081 w 5303520"/>
              <a:gd name="connsiteY16" fmla="*/ 18288 h 18288"/>
              <a:gd name="connsiteX17" fmla="*/ 0 w 5303520"/>
              <a:gd name="connsiteY17" fmla="*/ 18288 h 18288"/>
              <a:gd name="connsiteX18" fmla="*/ 0 w 530352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303520" h="18288" fill="none" extrusionOk="0">
                <a:moveTo>
                  <a:pt x="0" y="0"/>
                </a:moveTo>
                <a:cubicBezTo>
                  <a:pt x="191807" y="-19560"/>
                  <a:pt x="373092" y="14032"/>
                  <a:pt x="556870" y="0"/>
                </a:cubicBezTo>
                <a:cubicBezTo>
                  <a:pt x="740648" y="-14032"/>
                  <a:pt x="1109645" y="5886"/>
                  <a:pt x="1272845" y="0"/>
                </a:cubicBezTo>
                <a:cubicBezTo>
                  <a:pt x="1436045" y="-5886"/>
                  <a:pt x="1723352" y="-21940"/>
                  <a:pt x="1882750" y="0"/>
                </a:cubicBezTo>
                <a:cubicBezTo>
                  <a:pt x="2042148" y="21940"/>
                  <a:pt x="2308812" y="-23394"/>
                  <a:pt x="2439619" y="0"/>
                </a:cubicBezTo>
                <a:cubicBezTo>
                  <a:pt x="2570426" y="23394"/>
                  <a:pt x="2936980" y="-3315"/>
                  <a:pt x="3155594" y="0"/>
                </a:cubicBezTo>
                <a:cubicBezTo>
                  <a:pt x="3374208" y="3315"/>
                  <a:pt x="3528026" y="24519"/>
                  <a:pt x="3818534" y="0"/>
                </a:cubicBezTo>
                <a:cubicBezTo>
                  <a:pt x="4109042" y="-24519"/>
                  <a:pt x="4161759" y="-18720"/>
                  <a:pt x="4481474" y="0"/>
                </a:cubicBezTo>
                <a:cubicBezTo>
                  <a:pt x="4801189" y="18720"/>
                  <a:pt x="5011126" y="27308"/>
                  <a:pt x="5303520" y="0"/>
                </a:cubicBezTo>
                <a:cubicBezTo>
                  <a:pt x="5304050" y="6954"/>
                  <a:pt x="5304254" y="12839"/>
                  <a:pt x="5303520" y="18288"/>
                </a:cubicBezTo>
                <a:cubicBezTo>
                  <a:pt x="5132450" y="501"/>
                  <a:pt x="4953391" y="18714"/>
                  <a:pt x="4746650" y="18288"/>
                </a:cubicBezTo>
                <a:cubicBezTo>
                  <a:pt x="4539909" y="17863"/>
                  <a:pt x="4361261" y="7168"/>
                  <a:pt x="4242816" y="18288"/>
                </a:cubicBezTo>
                <a:cubicBezTo>
                  <a:pt x="4124371" y="29408"/>
                  <a:pt x="3754907" y="21026"/>
                  <a:pt x="3526841" y="18288"/>
                </a:cubicBezTo>
                <a:cubicBezTo>
                  <a:pt x="3298775" y="15550"/>
                  <a:pt x="3164473" y="3913"/>
                  <a:pt x="2969971" y="18288"/>
                </a:cubicBezTo>
                <a:cubicBezTo>
                  <a:pt x="2775469" y="32664"/>
                  <a:pt x="2608536" y="2050"/>
                  <a:pt x="2253996" y="18288"/>
                </a:cubicBezTo>
                <a:cubicBezTo>
                  <a:pt x="1899456" y="34526"/>
                  <a:pt x="1752044" y="28789"/>
                  <a:pt x="1484986" y="18288"/>
                </a:cubicBezTo>
                <a:cubicBezTo>
                  <a:pt x="1217928" y="7788"/>
                  <a:pt x="1060609" y="-4784"/>
                  <a:pt x="875081" y="18288"/>
                </a:cubicBezTo>
                <a:cubicBezTo>
                  <a:pt x="689553" y="41360"/>
                  <a:pt x="188846" y="25228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303520" h="18288" stroke="0" extrusionOk="0">
                <a:moveTo>
                  <a:pt x="0" y="0"/>
                </a:moveTo>
                <a:cubicBezTo>
                  <a:pt x="181149" y="2038"/>
                  <a:pt x="442175" y="-27591"/>
                  <a:pt x="609905" y="0"/>
                </a:cubicBezTo>
                <a:cubicBezTo>
                  <a:pt x="777636" y="27591"/>
                  <a:pt x="947554" y="-24271"/>
                  <a:pt x="1113739" y="0"/>
                </a:cubicBezTo>
                <a:cubicBezTo>
                  <a:pt x="1279924" y="24271"/>
                  <a:pt x="1721318" y="-30891"/>
                  <a:pt x="1882750" y="0"/>
                </a:cubicBezTo>
                <a:cubicBezTo>
                  <a:pt x="2044182" y="30891"/>
                  <a:pt x="2270822" y="-14002"/>
                  <a:pt x="2492654" y="0"/>
                </a:cubicBezTo>
                <a:cubicBezTo>
                  <a:pt x="2714486" y="14002"/>
                  <a:pt x="2822632" y="27292"/>
                  <a:pt x="3102559" y="0"/>
                </a:cubicBezTo>
                <a:cubicBezTo>
                  <a:pt x="3382487" y="-27292"/>
                  <a:pt x="3489743" y="-31235"/>
                  <a:pt x="3871570" y="0"/>
                </a:cubicBezTo>
                <a:cubicBezTo>
                  <a:pt x="4253397" y="31235"/>
                  <a:pt x="4301475" y="22800"/>
                  <a:pt x="4428439" y="0"/>
                </a:cubicBezTo>
                <a:cubicBezTo>
                  <a:pt x="4555403" y="-22800"/>
                  <a:pt x="5018410" y="43534"/>
                  <a:pt x="5303520" y="0"/>
                </a:cubicBezTo>
                <a:cubicBezTo>
                  <a:pt x="5302837" y="5414"/>
                  <a:pt x="5302800" y="12510"/>
                  <a:pt x="5303520" y="18288"/>
                </a:cubicBezTo>
                <a:cubicBezTo>
                  <a:pt x="5082751" y="18456"/>
                  <a:pt x="4993374" y="24100"/>
                  <a:pt x="4746650" y="18288"/>
                </a:cubicBezTo>
                <a:cubicBezTo>
                  <a:pt x="4499926" y="12477"/>
                  <a:pt x="4368648" y="-7187"/>
                  <a:pt x="4083710" y="18288"/>
                </a:cubicBezTo>
                <a:cubicBezTo>
                  <a:pt x="3798772" y="43763"/>
                  <a:pt x="3729434" y="5501"/>
                  <a:pt x="3473806" y="18288"/>
                </a:cubicBezTo>
                <a:cubicBezTo>
                  <a:pt x="3218178" y="31075"/>
                  <a:pt x="3056855" y="30003"/>
                  <a:pt x="2704795" y="18288"/>
                </a:cubicBezTo>
                <a:cubicBezTo>
                  <a:pt x="2352735" y="6573"/>
                  <a:pt x="2319447" y="29257"/>
                  <a:pt x="1935785" y="18288"/>
                </a:cubicBezTo>
                <a:cubicBezTo>
                  <a:pt x="1552123" y="7320"/>
                  <a:pt x="1532619" y="-467"/>
                  <a:pt x="1378915" y="18288"/>
                </a:cubicBezTo>
                <a:cubicBezTo>
                  <a:pt x="1225211" y="37043"/>
                  <a:pt x="1038692" y="34308"/>
                  <a:pt x="715975" y="18288"/>
                </a:cubicBezTo>
                <a:cubicBezTo>
                  <a:pt x="393258" y="2268"/>
                  <a:pt x="303768" y="26944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Graphic 3" descr="Ghost with solid fill">
            <a:extLst>
              <a:ext uri="{FF2B5EF4-FFF2-40B4-BE49-F238E27FC236}">
                <a16:creationId xmlns:a16="http://schemas.microsoft.com/office/drawing/2014/main" id="{CC79D3A4-83EF-7FCB-5DD7-9A532A27F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161" y="1556524"/>
            <a:ext cx="3335060" cy="33350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72EBC1-E42E-3AAA-6551-4EC1D22F7381}"/>
              </a:ext>
            </a:extLst>
          </p:cNvPr>
          <p:cNvSpPr txBox="1"/>
          <p:nvPr/>
        </p:nvSpPr>
        <p:spPr>
          <a:xfrm>
            <a:off x="5717682" y="4355606"/>
            <a:ext cx="60983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(</a:t>
            </a:r>
            <a:r>
              <a:rPr lang="en-US" sz="2800" kern="1200" dirty="0">
                <a:solidFill>
                  <a:srgbClr val="FFFFFF"/>
                </a:solidFill>
                <a:latin typeface="Copperplate Gothic Bold" panose="020E0705020206020404" pitchFamily="34" charset="0"/>
                <a:hlinkClick r:id="rId4"/>
              </a:rPr>
              <a:t>Variable Shadowing</a:t>
            </a:r>
            <a:r>
              <a:rPr lang="en-US" sz="2800" kern="1200" dirty="0">
                <a:solidFill>
                  <a:srgbClr val="FFFFFF"/>
                </a:solidFill>
                <a:latin typeface="Copperplate Gothic Bold" panose="020E0705020206020404" pitchFamily="34" charset="0"/>
              </a:rPr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69986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46FB8-1413-8B94-35BF-479684663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AFC93-A8DB-43D8-AAC1-90CB1C24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pperplate Gothic Bold" panose="020E0705020206020404" pitchFamily="34" charset="0"/>
              </a:rPr>
              <a:t>Ghost Variables: Examples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49992-5ACA-1AA6-59D6-42F72C9D6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351" y="1690688"/>
            <a:ext cx="3901778" cy="40084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9740A7-4C49-58F0-66E1-33329F4AD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834" y="2325329"/>
            <a:ext cx="4962105" cy="22073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9716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108</Words>
  <Application>Microsoft Office PowerPoint</Application>
  <PresentationFormat>Widescreen</PresentationFormat>
  <Paragraphs>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Copperplate Gothic Bold</vt:lpstr>
      <vt:lpstr>Office Theme</vt:lpstr>
      <vt:lpstr>Slightly Spooky Project Reminders</vt:lpstr>
      <vt:lpstr>Magic Numbers </vt:lpstr>
      <vt:lpstr>Magic Numbers: Examples</vt:lpstr>
      <vt:lpstr>Headless Classes</vt:lpstr>
      <vt:lpstr>Headless Classes: Examples</vt:lpstr>
      <vt:lpstr>Spaghetti Monster Methods</vt:lpstr>
      <vt:lpstr>Spaghetti Monster  Methods: Examples</vt:lpstr>
      <vt:lpstr>Variable &amp; Method Names from the  Black Lagoon</vt:lpstr>
      <vt:lpstr>Black Lagoon Names: Examples</vt:lpstr>
      <vt:lpstr>Ghost Variables</vt:lpstr>
      <vt:lpstr>Ghost Variables: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Ludden, Ian</dc:creator>
  <cp:lastModifiedBy>Ludden, Ian</cp:lastModifiedBy>
  <cp:revision>20</cp:revision>
  <dcterms:created xsi:type="dcterms:W3CDTF">2025-10-29T21:22:20Z</dcterms:created>
  <dcterms:modified xsi:type="dcterms:W3CDTF">2025-10-30T01:30:54Z</dcterms:modified>
</cp:coreProperties>
</file>