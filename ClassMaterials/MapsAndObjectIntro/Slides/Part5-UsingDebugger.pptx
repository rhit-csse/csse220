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335" r:id="rId6"/>
    <p:sldId id="336" r:id="rId7"/>
    <p:sldId id="341" r:id="rId8"/>
    <p:sldId id="309" r:id="rId9"/>
    <p:sldId id="308" r:id="rId10"/>
    <p:sldId id="261" r:id="rId11"/>
    <p:sldId id="306" r:id="rId12"/>
    <p:sldId id="307" r:id="rId13"/>
    <p:sldId id="305" r:id="rId14"/>
    <p:sldId id="342" r:id="rId15"/>
    <p:sldId id="344" r:id="rId16"/>
    <p:sldId id="347" r:id="rId17"/>
    <p:sldId id="345" r:id="rId18"/>
    <p:sldId id="34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AECF2-8255-A746-948C-FC0A83EA8BEE}" v="1" dt="2022-03-14T03:48:20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77551" autoAdjust="0"/>
  </p:normalViewPr>
  <p:slideViewPr>
    <p:cSldViewPr snapToGrid="0" snapToObjects="1">
      <p:cViewPr varScale="1">
        <p:scale>
          <a:sx n="86" d="100"/>
          <a:sy n="86" d="100"/>
        </p:scale>
        <p:origin x="28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llingsworth, Joseph" userId="6338ef61-550f-4a52-a8a3-bd9025908f10" providerId="ADAL" clId="{ED5AECF2-8255-A746-948C-FC0A83EA8BEE}"/>
    <pc:docChg chg="addSld modSld">
      <pc:chgData name="Hollingsworth, Joseph" userId="6338ef61-550f-4a52-a8a3-bd9025908f10" providerId="ADAL" clId="{ED5AECF2-8255-A746-948C-FC0A83EA8BEE}" dt="2022-03-14T03:48:20.524" v="0"/>
      <pc:docMkLst>
        <pc:docMk/>
      </pc:docMkLst>
      <pc:sldChg chg="add">
        <pc:chgData name="Hollingsworth, Joseph" userId="6338ef61-550f-4a52-a8a3-bd9025908f10" providerId="ADAL" clId="{ED5AECF2-8255-A746-948C-FC0A83EA8BEE}" dt="2022-03-14T03:48:20.524" v="0"/>
        <pc:sldMkLst>
          <pc:docMk/>
          <pc:sldMk cId="0" sldId="262"/>
        </pc:sldMkLst>
      </pc:sldChg>
      <pc:sldChg chg="add">
        <pc:chgData name="Hollingsworth, Joseph" userId="6338ef61-550f-4a52-a8a3-bd9025908f10" providerId="ADAL" clId="{ED5AECF2-8255-A746-948C-FC0A83EA8BEE}" dt="2022-03-14T03:48:20.524" v="0"/>
        <pc:sldMkLst>
          <pc:docMk/>
          <pc:sldMk cId="0" sldId="338"/>
        </pc:sldMkLst>
      </pc:sldChg>
      <pc:sldChg chg="add">
        <pc:chgData name="Hollingsworth, Joseph" userId="6338ef61-550f-4a52-a8a3-bd9025908f10" providerId="ADAL" clId="{ED5AECF2-8255-A746-948C-FC0A83EA8BEE}" dt="2022-03-14T03:48:20.524" v="0"/>
        <pc:sldMkLst>
          <pc:docMk/>
          <pc:sldMk cId="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86005-8F80-1A49-87D1-22EBFA47E35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CF600-4147-7540-9DE4-6C8272E0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dd93c983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add93c983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What ideas do you have? Type them into the chat!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87571e53b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87571e53b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87571e53b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87571e53b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486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1416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9212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[Demonstrate the techniques in Eclipse by solving a problem or two from </a:t>
            </a:r>
            <a:r>
              <a:rPr lang="en-US" sz="1200" dirty="0" err="1">
                <a:latin typeface="+mn-lt"/>
                <a:ea typeface="Calibri"/>
                <a:cs typeface="Calibri"/>
                <a:sym typeface="Calibri"/>
              </a:rPr>
              <a:t>DebugMeTest</a:t>
            </a: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 together, give them time to answer the quiz question, then have them complete </a:t>
            </a:r>
            <a:r>
              <a:rPr lang="en-US" sz="1200" dirty="0" err="1">
                <a:latin typeface="+mn-lt"/>
                <a:ea typeface="Calibri"/>
                <a:cs typeface="Calibri"/>
                <a:sym typeface="Calibri"/>
              </a:rPr>
              <a:t>DebugMeTest</a:t>
            </a: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.]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[You can also point them to </a:t>
            </a:r>
            <a:r>
              <a:rPr lang="en-US" sz="1200" dirty="0" err="1">
                <a:latin typeface="Calibri"/>
                <a:ea typeface="Calibri"/>
                <a:cs typeface="Calibri"/>
                <a:sym typeface="Calibri"/>
              </a:rPr>
              <a:t>WhackABug</a:t>
            </a:r>
            <a:r>
              <a:rPr lang="en-US" sz="1200" baseline="0" dirty="0">
                <a:latin typeface="Calibri"/>
                <a:ea typeface="Calibri"/>
                <a:cs typeface="Calibri"/>
                <a:sym typeface="Calibri"/>
              </a:rPr>
              <a:t> to get more practice when running a Java Application instead of JUnit)]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US" sz="1200" dirty="0" err="1">
                <a:latin typeface="Calibri"/>
                <a:ea typeface="Calibri"/>
                <a:cs typeface="Calibri"/>
                <a:sym typeface="Calibri"/>
              </a:rPr>
              <a:t>DebugMeTest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 make sure to demo: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uppercaseIfExclaimation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which ends up showing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en-US" sz="18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gotcha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“string are immutable” in two slides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855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Very useful when an exception is happening but you don’t know where or why</a:t>
            </a:r>
          </a:p>
          <a:p>
            <a:endParaRPr lang="en-US" dirty="0"/>
          </a:p>
          <a:p>
            <a:r>
              <a:rPr lang="en-US" dirty="0"/>
              <a:t>Only spend time on this if you want to show the </a:t>
            </a:r>
            <a:r>
              <a:rPr lang="en-US" dirty="0" err="1"/>
              <a:t>DebugMeTest</a:t>
            </a:r>
            <a:r>
              <a:rPr lang="en-US" dirty="0"/>
              <a:t> examples,</a:t>
            </a:r>
            <a:r>
              <a:rPr lang="en-US" baseline="0" dirty="0"/>
              <a:t> in particular the final test which you can use to demonstrate this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5CF600-4147-7540-9DE4-6C8272E0ED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08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5CF600-4147-7540-9DE4-6C8272E0ED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35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uppercaseIfExclaimation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ends up showing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5CF600-4147-7540-9DE4-6C8272E0ED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25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/>
              <a:t>isArrayDoubled</a:t>
            </a:r>
            <a:r>
              <a:rPr lang="en-US" i="1" dirty="0"/>
              <a:t> </a:t>
            </a:r>
            <a:r>
              <a:rPr lang="en-US" i="0" dirty="0"/>
              <a:t> is a good example where the .equals comparison </a:t>
            </a:r>
          </a:p>
          <a:p>
            <a:r>
              <a:rPr lang="en-US" i="0" dirty="0"/>
              <a:t>fails because it is not implemented properly in the default .equals method.</a:t>
            </a:r>
          </a:p>
          <a:p>
            <a:r>
              <a:rPr lang="en-US" i="0" dirty="0"/>
              <a:t>Without using the debugger, it could be pretty hard to track down the</a:t>
            </a:r>
          </a:p>
          <a:p>
            <a:r>
              <a:rPr lang="en-US" i="0" dirty="0"/>
              <a:t>specific problem that is occurring.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CF600-4147-7540-9DE4-6C8272E0ED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6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8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3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8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2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0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4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8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78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87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8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finite_monkey_theore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Debugger &amp; JUnit Tests</a:t>
            </a:r>
          </a:p>
        </p:txBody>
      </p:sp>
    </p:spTree>
    <p:extLst>
      <p:ext uri="{BB962C8B-B14F-4D97-AF65-F5344CB8AC3E}">
        <p14:creationId xmlns:p14="http://schemas.microsoft.com/office/powerpoint/2010/main" val="118571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100" cy="817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 dirty="0">
                <a:solidFill>
                  <a:srgbClr val="840629"/>
                </a:solidFill>
              </a:rPr>
              <a:t>How to identify a problem in your code?</a:t>
            </a:r>
            <a:endParaRPr sz="2400" dirty="0">
              <a:solidFill>
                <a:srgbClr val="840629"/>
              </a:solidFill>
            </a:endParaRPr>
          </a:p>
        </p:txBody>
      </p:sp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32657" y="817200"/>
            <a:ext cx="8802900" cy="4061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400" dirty="0"/>
              <a:t>When you run your code, and you do not pass all the tests...</a:t>
            </a:r>
            <a:endParaRPr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lang="en" sz="2400" dirty="0"/>
              <a:t>What can you do?</a:t>
            </a:r>
            <a:endParaRPr sz="2400" dirty="0"/>
          </a:p>
          <a:p>
            <a:pPr indent="-361950">
              <a:buSzPts val="2100"/>
            </a:pPr>
            <a:r>
              <a:rPr lang="en" sz="2400" dirty="0"/>
              <a:t>Try re-running the exact same code </a:t>
            </a:r>
            <a:endParaRPr sz="2400" dirty="0"/>
          </a:p>
          <a:p>
            <a:pPr lvl="1" indent="-361950">
              <a:buSzPts val="2100"/>
            </a:pPr>
            <a:r>
              <a:rPr lang="en" sz="2400" dirty="0"/>
              <a:t>Do miracles happen for you? </a:t>
            </a:r>
            <a:r>
              <a:rPr lang="en" sz="2400" dirty="0">
                <a:solidFill>
                  <a:srgbClr val="FFFFFF"/>
                </a:solidFill>
              </a:rPr>
              <a:t>(...It’s OK we have all done it...)</a:t>
            </a:r>
            <a:endParaRPr sz="2400" dirty="0">
              <a:solidFill>
                <a:srgbClr val="FFFFFF"/>
              </a:solidFill>
            </a:endParaRPr>
          </a:p>
          <a:p>
            <a:pPr indent="-361950">
              <a:spcBef>
                <a:spcPts val="0"/>
              </a:spcBef>
              <a:buSzPts val="2100"/>
            </a:pPr>
            <a:r>
              <a:rPr lang="en" sz="2400" dirty="0"/>
              <a:t>Try changing code randomly and see if it helps? </a:t>
            </a:r>
            <a:endParaRPr sz="2400" dirty="0"/>
          </a:p>
          <a:p>
            <a:pPr lvl="1" indent="-361950">
              <a:buSzPts val="2100"/>
            </a:pPr>
            <a:r>
              <a:rPr lang="en" sz="2400" dirty="0"/>
              <a:t>(do you like the </a:t>
            </a:r>
            <a:r>
              <a:rPr lang="en" sz="2400" u="sng" dirty="0">
                <a:solidFill>
                  <a:schemeClr val="hlink"/>
                </a:solidFill>
                <a:hlinkClick r:id="rId3"/>
              </a:rPr>
              <a:t>Infinite monkey theorem</a:t>
            </a:r>
            <a:r>
              <a:rPr lang="en" sz="2400" dirty="0"/>
              <a:t>? -&gt;)</a:t>
            </a:r>
            <a:endParaRPr sz="2400" dirty="0"/>
          </a:p>
          <a:p>
            <a:pPr indent="-361950">
              <a:spcBef>
                <a:spcPts val="0"/>
              </a:spcBef>
              <a:buSzPts val="2100"/>
            </a:pPr>
            <a:r>
              <a:rPr lang="en" sz="2400" dirty="0"/>
              <a:t>Try to think through through the code and see what goes wrong?</a:t>
            </a:r>
            <a:endParaRPr sz="2400" dirty="0"/>
          </a:p>
          <a:p>
            <a:pPr lvl="1" indent="-361950">
              <a:buSzPts val="2100"/>
            </a:pPr>
            <a:r>
              <a:rPr lang="en" sz="2400" dirty="0"/>
              <a:t>This is HARD! But tracing out on paper can be very helpful!</a:t>
            </a:r>
            <a:endParaRPr sz="2400" dirty="0"/>
          </a:p>
          <a:p>
            <a:pPr marL="0" indent="0">
              <a:buNone/>
            </a:pPr>
            <a:r>
              <a:rPr lang="en" sz="2400" dirty="0"/>
              <a:t>There are better, more powerful and </a:t>
            </a:r>
            <a:r>
              <a:rPr lang="en" sz="2400" b="1" i="1" dirty="0"/>
              <a:t>much FASTER</a:t>
            </a:r>
            <a:r>
              <a:rPr lang="en" sz="2400" dirty="0"/>
              <a:t> approaches</a:t>
            </a:r>
            <a:endParaRPr sz="2400" dirty="0"/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endParaRPr sz="2000" dirty="0"/>
          </a:p>
        </p:txBody>
      </p:sp>
      <p:pic>
        <p:nvPicPr>
          <p:cNvPr id="91" name="Google Shape;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022" y="1887593"/>
            <a:ext cx="2327550" cy="18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>
            <a:spLocks noGrp="1"/>
          </p:cNvSpPr>
          <p:nvPr>
            <p:ph type="title"/>
          </p:nvPr>
        </p:nvSpPr>
        <p:spPr>
          <a:xfrm>
            <a:off x="10886" y="0"/>
            <a:ext cx="8636100" cy="817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 sz="2400" dirty="0">
                <a:solidFill>
                  <a:srgbClr val="840629"/>
                </a:solidFill>
              </a:rPr>
              <a:t>How to identify a problem in your code?</a:t>
            </a:r>
            <a:endParaRPr sz="2400" dirty="0">
              <a:solidFill>
                <a:srgbClr val="840629"/>
              </a:solidFill>
            </a:endParaRPr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0" y="1219200"/>
            <a:ext cx="9067800" cy="4061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800" b="1" i="1" dirty="0"/>
              <a:t>Better, more powerful and much FASTER approaches</a:t>
            </a:r>
            <a:endParaRPr sz="2800" b="1" i="1" dirty="0"/>
          </a:p>
          <a:p>
            <a:pPr indent="-361950">
              <a:buSzPts val="2100"/>
            </a:pPr>
            <a:r>
              <a:rPr lang="en" sz="2800" b="1" u="sng" dirty="0"/>
              <a:t>Read the error messages</a:t>
            </a:r>
            <a:r>
              <a:rPr lang="en" sz="2800" dirty="0"/>
              <a:t> when there are test cases</a:t>
            </a:r>
            <a:endParaRPr sz="2800" dirty="0"/>
          </a:p>
          <a:p>
            <a:pPr lvl="1" indent="-361950">
              <a:buSzPts val="2100"/>
            </a:pPr>
            <a:r>
              <a:rPr lang="en" dirty="0"/>
              <a:t>Examples of errors? How do we see them?</a:t>
            </a:r>
            <a:endParaRPr dirty="0"/>
          </a:p>
          <a:p>
            <a:pPr indent="-361950">
              <a:spcBef>
                <a:spcPts val="0"/>
              </a:spcBef>
              <a:buSzPts val="2100"/>
            </a:pPr>
            <a:r>
              <a:rPr lang="en" sz="2800" b="1" u="sng" dirty="0"/>
              <a:t>Examine the test cases</a:t>
            </a:r>
            <a:r>
              <a:rPr lang="en" sz="2800" dirty="0"/>
              <a:t> that fail</a:t>
            </a:r>
            <a:endParaRPr sz="2800" dirty="0"/>
          </a:p>
          <a:p>
            <a:pPr lvl="1" indent="-361950">
              <a:buSzPts val="2100"/>
            </a:pPr>
            <a:r>
              <a:rPr lang="en" dirty="0"/>
              <a:t>What is the </a:t>
            </a:r>
            <a:r>
              <a:rPr lang="en" b="1" dirty="0"/>
              <a:t>INPUT</a:t>
            </a:r>
            <a:r>
              <a:rPr lang="en" dirty="0"/>
              <a:t>? What </a:t>
            </a:r>
            <a:r>
              <a:rPr lang="en" b="1" i="1" dirty="0"/>
              <a:t>SHOULD</a:t>
            </a:r>
            <a:r>
              <a:rPr lang="en" dirty="0"/>
              <a:t> the output be?</a:t>
            </a:r>
            <a:endParaRPr dirty="0"/>
          </a:p>
          <a:p>
            <a:pPr indent="-361950">
              <a:spcBef>
                <a:spcPts val="0"/>
              </a:spcBef>
              <a:buSzPts val="2100"/>
            </a:pPr>
            <a:r>
              <a:rPr lang="en" sz="2800" b="1" u="sng" dirty="0"/>
              <a:t>“When in doubt, print it out!”</a:t>
            </a:r>
            <a:r>
              <a:rPr lang="en" sz="2800" dirty="0"/>
              <a:t> </a:t>
            </a:r>
            <a:r>
              <a:rPr lang="en-US" sz="2800" dirty="0"/>
              <a:t> </a:t>
            </a:r>
          </a:p>
          <a:p>
            <a:pPr lvl="1" indent="-361950">
              <a:buSzPts val="2100"/>
              <a:buFont typeface="Consolas"/>
              <a:buChar char="○"/>
            </a:pPr>
            <a:r>
              <a:rPr lang="en-US" dirty="0" err="1">
                <a:latin typeface="Consolas"/>
                <a:ea typeface="Consolas"/>
                <a:cs typeface="Consolas"/>
                <a:sym typeface="Consolas"/>
              </a:rPr>
              <a:t>System.out.println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n-US" dirty="0" err="1">
                <a:latin typeface="Consolas"/>
                <a:ea typeface="Consolas"/>
                <a:cs typeface="Consolas"/>
                <a:sym typeface="Consolas"/>
              </a:rPr>
              <a:t>myVar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: " + </a:t>
            </a:r>
            <a:r>
              <a:rPr lang="en-US" dirty="0" err="1">
                <a:latin typeface="Consolas"/>
                <a:ea typeface="Consolas"/>
                <a:cs typeface="Consolas"/>
                <a:sym typeface="Consolas"/>
              </a:rPr>
              <a:t>myVar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 );</a:t>
            </a:r>
          </a:p>
          <a:p>
            <a:pPr lvl="1" indent="-361950">
              <a:buSzPts val="2100"/>
              <a:buFont typeface="Consolas"/>
              <a:buChar char="○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Arrays.toString( arr) </a:t>
            </a:r>
          </a:p>
          <a:p>
            <a:pPr lvl="1" indent="-361950">
              <a:buSzPts val="2100"/>
              <a:buFont typeface="Consolas"/>
              <a:buChar char="○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Classes? -&gt; obj.toString() 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indent="-361950">
              <a:spcBef>
                <a:spcPts val="0"/>
              </a:spcBef>
              <a:buSzPts val="2100"/>
            </a:pPr>
            <a:r>
              <a:rPr lang="en" sz="2800" dirty="0"/>
              <a:t>For the love of Java... </a:t>
            </a:r>
            <a:r>
              <a:rPr lang="en" sz="2800" b="1" u="sng" dirty="0"/>
              <a:t>Use the Debugger</a:t>
            </a:r>
            <a:r>
              <a:rPr lang="en" sz="2800" dirty="0"/>
              <a:t>!</a:t>
            </a:r>
            <a:endParaRPr sz="2800" dirty="0"/>
          </a:p>
          <a:p>
            <a:pPr lvl="1" indent="-361950">
              <a:buSzPts val="2100"/>
            </a:pPr>
            <a:r>
              <a:rPr lang="en" b="1" dirty="0"/>
              <a:t>no code modification/commenting required!</a:t>
            </a:r>
            <a:endParaRPr b="1" dirty="0"/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>
            <a:spLocks noGrp="1"/>
          </p:cNvSpPr>
          <p:nvPr>
            <p:ph type="title"/>
          </p:nvPr>
        </p:nvSpPr>
        <p:spPr>
          <a:xfrm>
            <a:off x="10886" y="0"/>
            <a:ext cx="4230615" cy="15310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 algn="ctr"/>
            <a:r>
              <a:rPr lang="en" sz="2800" dirty="0">
                <a:solidFill>
                  <a:srgbClr val="840629"/>
                </a:solidFill>
              </a:rPr>
              <a:t>How to identify a problem </a:t>
            </a:r>
            <a:br>
              <a:rPr lang="en" sz="2800" dirty="0">
                <a:solidFill>
                  <a:srgbClr val="840629"/>
                </a:solidFill>
              </a:rPr>
            </a:br>
            <a:r>
              <a:rPr lang="en" sz="2800" dirty="0">
                <a:solidFill>
                  <a:srgbClr val="840629"/>
                </a:solidFill>
              </a:rPr>
              <a:t>in your code?</a:t>
            </a:r>
            <a:endParaRPr sz="2800" dirty="0">
              <a:solidFill>
                <a:srgbClr val="840629"/>
              </a:solidFill>
            </a:endParaRPr>
          </a:p>
        </p:txBody>
      </p:sp>
      <p:pic>
        <p:nvPicPr>
          <p:cNvPr id="2" name="Google Shape;103;p24">
            <a:extLst>
              <a:ext uri="{FF2B5EF4-FFF2-40B4-BE49-F238E27FC236}">
                <a16:creationId xmlns:a16="http://schemas.microsoft.com/office/drawing/2014/main" id="{58A31A05-6657-25BA-6BC6-F613D92D69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501" y="0"/>
            <a:ext cx="489161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457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/>
          </p:cNvSpPr>
          <p:nvPr>
            <p:ph type="body" idx="1"/>
          </p:nvPr>
        </p:nvSpPr>
        <p:spPr>
          <a:xfrm>
            <a:off x="457200" y="5072332"/>
            <a:ext cx="8229600" cy="1337094"/>
          </a:xfrm>
          <a:prstGeom prst="rect">
            <a:avLst/>
          </a:prstGeom>
        </p:spPr>
        <p:txBody>
          <a:bodyPr/>
          <a:lstStyle/>
          <a:p>
            <a:pPr marL="0" lvl="0" indent="0">
              <a:lnSpc>
                <a:spcPct val="80000"/>
              </a:lnSpc>
              <a:spcBef>
                <a:spcPts val="600"/>
              </a:spcBef>
              <a:buNone/>
              <a:defRPr sz="1800"/>
            </a:pPr>
            <a:r>
              <a:rPr lang="en-US" sz="2900" dirty="0"/>
              <a:t>Set a breakpoint on the line where a </a:t>
            </a:r>
            <a:r>
              <a:rPr lang="en-US" sz="2900" u="sng" dirty="0"/>
              <a:t>test case fails</a:t>
            </a:r>
            <a:r>
              <a:rPr lang="en-US" sz="2900" dirty="0"/>
              <a:t>!</a:t>
            </a:r>
          </a:p>
          <a:p>
            <a:pPr marL="0" lvl="0" indent="0">
              <a:lnSpc>
                <a:spcPct val="80000"/>
              </a:lnSpc>
              <a:spcBef>
                <a:spcPts val="600"/>
              </a:spcBef>
              <a:buNone/>
              <a:defRPr sz="1800"/>
            </a:pPr>
            <a:r>
              <a:rPr lang="en-US" sz="2900" dirty="0"/>
              <a:t>Then you can pause the execution of the program and </a:t>
            </a:r>
            <a:r>
              <a:rPr lang="en-US" sz="2900" u="sng" dirty="0"/>
              <a:t>WATCH</a:t>
            </a:r>
            <a:r>
              <a:rPr lang="en-US" sz="2900" dirty="0"/>
              <a:t> what goes wrong.</a:t>
            </a:r>
            <a:endParaRPr sz="2900" dirty="0"/>
          </a:p>
        </p:txBody>
      </p:sp>
      <p:sp>
        <p:nvSpPr>
          <p:cNvPr id="180" name="Shape 180"/>
          <p:cNvSpPr>
            <a:spLocks noGrp="1"/>
          </p:cNvSpPr>
          <p:nvPr>
            <p:ph type="title"/>
          </p:nvPr>
        </p:nvSpPr>
        <p:spPr>
          <a:xfrm>
            <a:off x="457200" y="188141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4400" dirty="0"/>
              <a:t>Setting Breakpoint</a:t>
            </a:r>
            <a:endParaRPr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3A84FA-9B16-BC34-C823-35960C15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049" y="1693758"/>
            <a:ext cx="539190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1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title"/>
          </p:nvPr>
        </p:nvSpPr>
        <p:spPr>
          <a:xfrm>
            <a:off x="481584" y="1"/>
            <a:ext cx="8229600" cy="68275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>
              <a:defRPr sz="1800"/>
            </a:pPr>
            <a:r>
              <a:rPr lang="en-US" sz="4400" dirty="0"/>
              <a:t>Running in Debug Mode</a:t>
            </a:r>
            <a:endParaRPr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9F538-228C-B394-D504-30CCC9BF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917" y="1757193"/>
            <a:ext cx="4944165" cy="2429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1BC9E6-1B79-B374-D84B-75DE5D23965B}"/>
              </a:ext>
            </a:extLst>
          </p:cNvPr>
          <p:cNvSpPr txBox="1"/>
          <p:nvPr/>
        </p:nvSpPr>
        <p:spPr>
          <a:xfrm>
            <a:off x="869795" y="1271239"/>
            <a:ext cx="592066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“play” button for individual method, but select “Debug”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Alternatively, click “Debug” button at top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5BE62-A5D9-ECCA-1B7C-B30E3F3EBB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860"/>
          <a:stretch>
            <a:fillRect/>
          </a:stretch>
        </p:blipFill>
        <p:spPr>
          <a:xfrm>
            <a:off x="1757450" y="4672361"/>
            <a:ext cx="5629097" cy="199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80000"/>
              </a:lnSpc>
              <a:spcBef>
                <a:spcPts val="600"/>
              </a:spcBef>
              <a:buFont typeface="Wingdings 3"/>
              <a:buChar char=""/>
              <a:defRPr sz="1800"/>
            </a:pPr>
            <a:r>
              <a:rPr sz="2900" dirty="0"/>
              <a:t>Debugging Java programs in </a:t>
            </a:r>
            <a:r>
              <a:rPr lang="en-US" sz="2900" dirty="0"/>
              <a:t>IntelliJ</a:t>
            </a:r>
            <a:r>
              <a:rPr sz="2900" dirty="0"/>
              <a:t>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Font typeface="Verdana"/>
              <a:buChar char="◦"/>
              <a:defRPr sz="1800"/>
            </a:pPr>
            <a:r>
              <a:rPr lang="en-US" sz="2500" dirty="0"/>
              <a:t>Set a breakpoint where you want to start</a:t>
            </a:r>
          </a:p>
          <a:p>
            <a:pPr marL="742950" lvl="1" indent="-285750">
              <a:lnSpc>
                <a:spcPct val="80000"/>
              </a:lnSpc>
              <a:spcBef>
                <a:spcPts val="600"/>
              </a:spcBef>
              <a:buFont typeface="Verdana"/>
              <a:buChar char="◦"/>
              <a:defRPr sz="1800"/>
            </a:pPr>
            <a:r>
              <a:rPr sz="2500" dirty="0"/>
              <a:t>Launch using the </a:t>
            </a:r>
            <a:r>
              <a:rPr lang="en-US" sz="2500" dirty="0"/>
              <a:t>bug icon</a:t>
            </a:r>
            <a:endParaRPr sz="2500" dirty="0"/>
          </a:p>
          <a:p>
            <a:pPr marL="742950" lvl="1" indent="-285750">
              <a:lnSpc>
                <a:spcPct val="80000"/>
              </a:lnSpc>
              <a:spcBef>
                <a:spcPts val="600"/>
              </a:spcBef>
              <a:buFont typeface="Verdana"/>
              <a:buChar char="◦"/>
              <a:defRPr sz="1800"/>
            </a:pPr>
            <a:r>
              <a:rPr sz="2500" dirty="0"/>
              <a:t>Single stepping: </a:t>
            </a:r>
            <a:r>
              <a:rPr sz="2500" i="1" dirty="0"/>
              <a:t>step over </a:t>
            </a:r>
            <a:r>
              <a:rPr sz="2500" dirty="0"/>
              <a:t>and </a:t>
            </a:r>
            <a:r>
              <a:rPr sz="2500" i="1" dirty="0"/>
              <a:t>step into</a:t>
            </a:r>
          </a:p>
          <a:p>
            <a:pPr marL="742950" lvl="1" indent="-285750">
              <a:lnSpc>
                <a:spcPct val="80000"/>
              </a:lnSpc>
              <a:spcBef>
                <a:spcPts val="600"/>
              </a:spcBef>
              <a:buFont typeface="Verdana"/>
              <a:buChar char="◦"/>
              <a:defRPr sz="1800"/>
            </a:pPr>
            <a:r>
              <a:rPr sz="2500" dirty="0"/>
              <a:t>Inspecting variables</a:t>
            </a:r>
          </a:p>
          <a:p>
            <a:pPr marL="0" lvl="0" indent="0">
              <a:lnSpc>
                <a:spcPct val="80000"/>
              </a:lnSpc>
              <a:spcBef>
                <a:spcPts val="600"/>
              </a:spcBef>
              <a:buNone/>
              <a:defRPr sz="1800"/>
            </a:pPr>
            <a:endParaRPr sz="2900" dirty="0"/>
          </a:p>
        </p:txBody>
      </p:sp>
      <p:sp>
        <p:nvSpPr>
          <p:cNvPr id="180" name="Shape 180"/>
          <p:cNvSpPr>
            <a:spLocks noGrp="1"/>
          </p:cNvSpPr>
          <p:nvPr>
            <p:ph type="title"/>
          </p:nvPr>
        </p:nvSpPr>
        <p:spPr>
          <a:xfrm>
            <a:off x="457200" y="188141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 dirty="0"/>
              <a:t>Debugging—Demo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492404-EE32-E765-0458-1CFDC55F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47" y="3744581"/>
            <a:ext cx="7382905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7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Breakpoint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9786"/>
            <a:ext cx="8229600" cy="5173389"/>
          </a:xfrm>
        </p:spPr>
        <p:txBody>
          <a:bodyPr/>
          <a:lstStyle/>
          <a:p>
            <a:r>
              <a:rPr lang="en-US" dirty="0"/>
              <a:t>View Breakpoints…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-&gt; Java Exception </a:t>
            </a:r>
            <a:br>
              <a:rPr lang="en-US" dirty="0"/>
            </a:br>
            <a:r>
              <a:rPr lang="en-US" dirty="0"/>
              <a:t>Breakpoints</a:t>
            </a:r>
          </a:p>
          <a:p>
            <a:endParaRPr lang="en-US" dirty="0"/>
          </a:p>
          <a:p>
            <a:r>
              <a:rPr lang="en-US" dirty="0"/>
              <a:t>Find the exception </a:t>
            </a:r>
            <a:br>
              <a:rPr lang="en-US" dirty="0"/>
            </a:br>
            <a:r>
              <a:rPr lang="en-US" dirty="0"/>
              <a:t>type you want </a:t>
            </a:r>
            <a:br>
              <a:rPr lang="en-US" dirty="0"/>
            </a:br>
            <a:r>
              <a:rPr lang="en-US" dirty="0"/>
              <a:t>(start typing to filter)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DF9CC-89A2-BDC2-9F34-6FE42E010D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36" r="30914" b="40401"/>
          <a:stretch>
            <a:fillRect/>
          </a:stretch>
        </p:blipFill>
        <p:spPr>
          <a:xfrm>
            <a:off x="5674845" y="1179786"/>
            <a:ext cx="2713219" cy="1419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67BDF6-335A-E9B3-492E-0E72842F3D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849" b="36892"/>
          <a:stretch>
            <a:fillRect/>
          </a:stretch>
        </p:blipFill>
        <p:spPr>
          <a:xfrm>
            <a:off x="5073363" y="2725822"/>
            <a:ext cx="3314701" cy="2056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FD4E53-665C-9CB1-BE15-90AE1016F4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206"/>
          <a:stretch>
            <a:fillRect/>
          </a:stretch>
        </p:blipFill>
        <p:spPr>
          <a:xfrm>
            <a:off x="4572000" y="4962992"/>
            <a:ext cx="4022102" cy="169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61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1770"/>
          </a:xfrm>
        </p:spPr>
        <p:txBody>
          <a:bodyPr/>
          <a:lstStyle/>
          <a:p>
            <a:r>
              <a:rPr lang="en-US" dirty="0"/>
              <a:t>Interpreting a JUnit Test Failure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28EE05-DB0F-CAF9-2747-C88ED2DA5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" y="851770"/>
            <a:ext cx="8429625" cy="5706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6BD62A-84BC-E565-7F07-B6979198936D}"/>
              </a:ext>
            </a:extLst>
          </p:cNvPr>
          <p:cNvSpPr txBox="1"/>
          <p:nvPr/>
        </p:nvSpPr>
        <p:spPr>
          <a:xfrm>
            <a:off x="1348017" y="5626264"/>
            <a:ext cx="259083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Double-click failing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B2227-1F7E-AFB1-C8D0-A77044D945A7}"/>
              </a:ext>
            </a:extLst>
          </p:cNvPr>
          <p:cNvSpPr txBox="1"/>
          <p:nvPr/>
        </p:nvSpPr>
        <p:spPr>
          <a:xfrm>
            <a:off x="4297980" y="5246925"/>
            <a:ext cx="41867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See expected vs. actual (if not </a:t>
            </a:r>
            <a:r>
              <a:rPr lang="en-US" dirty="0" err="1"/>
              <a:t>booleans</a:t>
            </a:r>
            <a:r>
              <a:rPr lang="en-US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8EC5A-9585-D61C-6AA2-763095C0F6AB}"/>
              </a:ext>
            </a:extLst>
          </p:cNvPr>
          <p:cNvSpPr txBox="1"/>
          <p:nvPr/>
        </p:nvSpPr>
        <p:spPr>
          <a:xfrm>
            <a:off x="3089931" y="1380374"/>
            <a:ext cx="510005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 See the assert that failed (and surrounding code), </a:t>
            </a:r>
            <a:br>
              <a:rPr lang="en-US" dirty="0"/>
            </a:br>
            <a:r>
              <a:rPr lang="en-US" dirty="0"/>
              <a:t>then set a breakpoint and start debugging!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E9DF5B-E61A-D128-F664-2975D99C0CA4}"/>
              </a:ext>
            </a:extLst>
          </p:cNvPr>
          <p:cNvSpPr/>
          <p:nvPr/>
        </p:nvSpPr>
        <p:spPr>
          <a:xfrm>
            <a:off x="4059044" y="5648566"/>
            <a:ext cx="970156" cy="37996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48DC62-D8DA-83B8-2E78-D31BCD8ACC28}"/>
              </a:ext>
            </a:extLst>
          </p:cNvPr>
          <p:cNvSpPr/>
          <p:nvPr/>
        </p:nvSpPr>
        <p:spPr>
          <a:xfrm>
            <a:off x="4544122" y="2461566"/>
            <a:ext cx="970156" cy="37996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EC04ABA-F5C1-7BEC-932B-2196EA997DB2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rot="5400000" flipH="1" flipV="1">
            <a:off x="2846290" y="4006379"/>
            <a:ext cx="3052662" cy="343002"/>
          </a:xfrm>
          <a:prstGeom prst="curvedConnector2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785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gotcha</a:t>
            </a:r>
            <a:r>
              <a:rPr lang="en-US" dirty="0"/>
              <a:t>: Strings in java are immutable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78042" cy="4525963"/>
          </a:xfrm>
        </p:spPr>
        <p:txBody>
          <a:bodyPr/>
          <a:lstStyle/>
          <a:p>
            <a:r>
              <a:rPr lang="en-US" dirty="0"/>
              <a:t>No method on the string class will </a:t>
            </a:r>
            <a:r>
              <a:rPr lang="en-US" b="1" i="1" dirty="0"/>
              <a:t>modify</a:t>
            </a:r>
            <a:r>
              <a:rPr lang="en-US" dirty="0"/>
              <a:t> the content of a String variable</a:t>
            </a:r>
          </a:p>
          <a:p>
            <a:r>
              <a:rPr lang="en-US" dirty="0"/>
              <a:t>All methods instead </a:t>
            </a:r>
            <a:r>
              <a:rPr lang="en-US" b="1" i="1" dirty="0"/>
              <a:t>return</a:t>
            </a:r>
            <a:r>
              <a:rPr lang="en-US" dirty="0"/>
              <a:t> a reference to a new String object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newSentence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sentence.toUpperCase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0567E-A284-DA45-84C8-2E97F57399C5}"/>
              </a:ext>
            </a:extLst>
          </p:cNvPr>
          <p:cNvSpPr txBox="1"/>
          <p:nvPr/>
        </p:nvSpPr>
        <p:spPr>
          <a:xfrm>
            <a:off x="3574473" y="4690753"/>
            <a:ext cx="4358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Declare a new String variable</a:t>
            </a:r>
          </a:p>
          <a:p>
            <a:r>
              <a:rPr lang="en-US" dirty="0"/>
              <a:t>Have new variable </a:t>
            </a:r>
            <a:r>
              <a:rPr lang="en-US" i="1" dirty="0"/>
              <a:t>catch</a:t>
            </a:r>
            <a:r>
              <a:rPr lang="en-US" dirty="0"/>
              <a:t> the returned String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1B56161-2CD4-2749-A29F-5B591F4B79E2}"/>
              </a:ext>
            </a:extLst>
          </p:cNvPr>
          <p:cNvSpPr/>
          <p:nvPr/>
        </p:nvSpPr>
        <p:spPr>
          <a:xfrm>
            <a:off x="2600696" y="4322618"/>
            <a:ext cx="938150" cy="785672"/>
          </a:xfrm>
          <a:custGeom>
            <a:avLst/>
            <a:gdLst>
              <a:gd name="connsiteX0" fmla="*/ 938150 w 938150"/>
              <a:gd name="connsiteY0" fmla="*/ 748146 h 785672"/>
              <a:gd name="connsiteX1" fmla="*/ 308758 w 938150"/>
              <a:gd name="connsiteY1" fmla="*/ 700644 h 785672"/>
              <a:gd name="connsiteX2" fmla="*/ 0 w 938150"/>
              <a:gd name="connsiteY2" fmla="*/ 0 h 78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8150" h="785672">
                <a:moveTo>
                  <a:pt x="938150" y="748146"/>
                </a:moveTo>
                <a:cubicBezTo>
                  <a:pt x="701633" y="786740"/>
                  <a:pt x="465116" y="825335"/>
                  <a:pt x="308758" y="700644"/>
                </a:cubicBezTo>
                <a:cubicBezTo>
                  <a:pt x="152400" y="575953"/>
                  <a:pt x="76200" y="287976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3643A2-C2F9-0341-A5FB-FC645440D0B8}"/>
              </a:ext>
            </a:extLst>
          </p:cNvPr>
          <p:cNvSpPr/>
          <p:nvPr/>
        </p:nvSpPr>
        <p:spPr>
          <a:xfrm>
            <a:off x="3538847" y="4702629"/>
            <a:ext cx="4239491" cy="60564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65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2751-43FE-4DEE-ADCD-1D74BB78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Practice!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110BD-6BE3-8806-EBC7-7EAF06607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637071"/>
            <a:ext cx="8562975" cy="4525963"/>
          </a:xfrm>
        </p:spPr>
        <p:txBody>
          <a:bodyPr>
            <a:normAutofit/>
          </a:bodyPr>
          <a:lstStyle/>
          <a:p>
            <a:r>
              <a:rPr lang="en-US" dirty="0"/>
              <a:t>Use the debugger to fix </a:t>
            </a:r>
            <a:r>
              <a:rPr lang="en-US" i="1" dirty="0" err="1"/>
              <a:t>isArrayDoubled</a:t>
            </a:r>
            <a:endParaRPr lang="en-US" i="1" dirty="0"/>
          </a:p>
          <a:p>
            <a:r>
              <a:rPr lang="en-US" dirty="0"/>
              <a:t>If you have time, also </a:t>
            </a:r>
            <a:r>
              <a:rPr lang="en-US" i="1" dirty="0" err="1"/>
              <a:t>kPermutations</a:t>
            </a:r>
            <a:r>
              <a:rPr lang="en-US" dirty="0"/>
              <a:t> </a:t>
            </a:r>
          </a:p>
          <a:p>
            <a:r>
              <a:rPr lang="en-US" dirty="0"/>
              <a:t>You can also practice catching an Exception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9494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CEF342-F65E-F740-5517-747A4D39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More Debugging Practice!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9AB21678-B358-4731-D097-005EC7B0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Can be called on a main method as well!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this for extra practice</a:t>
            </a:r>
          </a:p>
          <a:p>
            <a:pPr marL="0" indent="0">
              <a:buNone/>
            </a:pPr>
            <a:r>
              <a:rPr lang="en-US" dirty="0"/>
              <a:t>Set breakpoint on main</a:t>
            </a:r>
          </a:p>
          <a:p>
            <a:pPr marL="0" indent="0">
              <a:buNone/>
            </a:pPr>
            <a:r>
              <a:rPr lang="en-US" dirty="0"/>
              <a:t>method calls ( </a:t>
            </a:r>
            <a:r>
              <a:rPr lang="en-US" dirty="0">
                <a:latin typeface="Consolas" panose="020B0609020204030204" pitchFamily="49" charset="0"/>
              </a:rPr>
              <a:t>hasABug1()</a:t>
            </a:r>
            <a:r>
              <a:rPr lang="en-US" dirty="0"/>
              <a:t> ) and then step into methods to see what goes wrong!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C8C874-E891-4308-1954-5CB5916E0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3" y="2245891"/>
            <a:ext cx="7240010" cy="1676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5234A6-369D-822E-9F5A-90421FF6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226" y="2767820"/>
            <a:ext cx="3621574" cy="23094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1331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F8CF-936D-FA1C-3636-2F12E817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A672C-AADB-8751-8C9B-AEB530116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discretion of the professor</a:t>
            </a:r>
          </a:p>
          <a:p>
            <a:r>
              <a:rPr lang="en-US" dirty="0"/>
              <a:t>There may be incentive points offered</a:t>
            </a:r>
          </a:p>
          <a:p>
            <a:r>
              <a:rPr lang="en-US" dirty="0"/>
              <a:t>As suggested on the following slides</a:t>
            </a:r>
          </a:p>
        </p:txBody>
      </p:sp>
    </p:spTree>
    <p:extLst>
      <p:ext uri="{BB962C8B-B14F-4D97-AF65-F5344CB8AC3E}">
        <p14:creationId xmlns:p14="http://schemas.microsoft.com/office/powerpoint/2010/main" val="72059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4418-532E-DCD3-AE79-73B3EE6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Incentive Points Opportunity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4817-5992-8F0F-389B-4EE046AC8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these practice debugging problems</a:t>
            </a:r>
          </a:p>
          <a:p>
            <a:r>
              <a:rPr lang="en-US" dirty="0"/>
              <a:t>Write a summary of how you caught each bug</a:t>
            </a:r>
          </a:p>
          <a:p>
            <a:pPr lvl="1"/>
            <a:r>
              <a:rPr lang="en-US" dirty="0"/>
              <a:t>Be sure to list:</a:t>
            </a:r>
          </a:p>
          <a:p>
            <a:pPr lvl="2"/>
            <a:r>
              <a:rPr lang="en-US" dirty="0"/>
              <a:t>What line did you “catch” unexpected behavior?</a:t>
            </a:r>
          </a:p>
          <a:p>
            <a:pPr lvl="2"/>
            <a:r>
              <a:rPr lang="en-US" dirty="0"/>
              <a:t>What was unexpected about the behavior?</a:t>
            </a:r>
          </a:p>
          <a:p>
            <a:pPr lvl="2"/>
            <a:r>
              <a:rPr lang="en-US" dirty="0"/>
              <a:t>What did you determine from this?</a:t>
            </a:r>
          </a:p>
          <a:p>
            <a:r>
              <a:rPr lang="en-US" dirty="0"/>
              <a:t>Write a summary of what you learned</a:t>
            </a:r>
          </a:p>
          <a:p>
            <a:r>
              <a:rPr lang="en-US" dirty="0"/>
              <a:t>Email it to me and complete the incentive form on Moodle</a:t>
            </a:r>
          </a:p>
        </p:txBody>
      </p:sp>
    </p:spTree>
    <p:extLst>
      <p:ext uri="{BB962C8B-B14F-4D97-AF65-F5344CB8AC3E}">
        <p14:creationId xmlns:p14="http://schemas.microsoft.com/office/powerpoint/2010/main" val="211264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4418-532E-DCD3-AE79-73B3EE6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Incentive Points Opportunity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4817-5992-8F0F-389B-4EE046AC8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have some spare time, as our in-class TA to “quiz you” on the use of the debugger</a:t>
            </a:r>
          </a:p>
          <a:p>
            <a:r>
              <a:rPr lang="en-US" dirty="0"/>
              <a:t>You will have 5-10 minutes to resolve a bug introduced</a:t>
            </a:r>
          </a:p>
          <a:p>
            <a:r>
              <a:rPr lang="en-US" dirty="0"/>
              <a:t>This is worth a small number of incentive points (+2), but more importantly will make sure you understand how to use the debugger</a:t>
            </a:r>
          </a:p>
        </p:txBody>
      </p:sp>
    </p:spTree>
    <p:extLst>
      <p:ext uri="{BB962C8B-B14F-4D97-AF65-F5344CB8AC3E}">
        <p14:creationId xmlns:p14="http://schemas.microsoft.com/office/powerpoint/2010/main" val="2082980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2" ma:contentTypeDescription="Create a new document." ma:contentTypeScope="" ma:versionID="026ccaf10de5d9915dfa48c6db16b59b">
  <xsd:schema xmlns:xsd="http://www.w3.org/2001/XMLSchema" xmlns:xs="http://www.w3.org/2001/XMLSchema" xmlns:p="http://schemas.microsoft.com/office/2006/metadata/properties" xmlns:ns2="08600313-7276-4ca7-b5d3-7d86193ee0ac" targetNamespace="http://schemas.microsoft.com/office/2006/metadata/properties" ma:root="true" ma:fieldsID="c887e4ee215f388544e22a2030d7ea35" ns2:_="">
    <xsd:import namespace="08600313-7276-4ca7-b5d3-7d86193ee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C38785-47E6-49BC-BFEC-57787567C3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B07C09-FF92-4115-A3C4-DCD45D83FC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EBDBBA-925D-4342-9C69-C51A740C4A59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9ddb764-415a-4c38-83b7-908be6382be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11536</TotalTime>
  <Words>825</Words>
  <Application>Microsoft Office PowerPoint</Application>
  <PresentationFormat>On-screen Show (4:3)</PresentationFormat>
  <Paragraphs>113</Paragraphs>
  <Slides>15</Slides>
  <Notes>10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Verdana</vt:lpstr>
      <vt:lpstr>Wingdings 3</vt:lpstr>
      <vt:lpstr>Office Theme</vt:lpstr>
      <vt:lpstr>Debugging</vt:lpstr>
      <vt:lpstr>How to identify a problem in your code?</vt:lpstr>
      <vt:lpstr>How to identify a problem in your code?</vt:lpstr>
      <vt:lpstr>How to identify a problem  in your code?</vt:lpstr>
      <vt:lpstr>Setting Breakpoint</vt:lpstr>
      <vt:lpstr>Running in Debug Mode</vt:lpstr>
      <vt:lpstr>Debugging—Demo</vt:lpstr>
      <vt:lpstr>Exception Breakpoint</vt:lpstr>
      <vt:lpstr>Interpreting a JUnit Test Failure</vt:lpstr>
      <vt:lpstr>Important gotcha: Strings in java are immutable</vt:lpstr>
      <vt:lpstr>Debugging Practice!</vt:lpstr>
      <vt:lpstr>More Debugging Practice!</vt:lpstr>
      <vt:lpstr>Optional Opportunities</vt:lpstr>
      <vt:lpstr>Incentive Points Opportunity #1</vt:lpstr>
      <vt:lpstr>Incentive Points Opportunity #2</vt:lpstr>
    </vt:vector>
  </TitlesOfParts>
  <Manager/>
  <Company>RHIT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Gregory Aaron Wilkin</dc:creator>
  <cp:keywords/>
  <dc:description/>
  <cp:lastModifiedBy>Ludden, Ian</cp:lastModifiedBy>
  <cp:revision>93</cp:revision>
  <dcterms:created xsi:type="dcterms:W3CDTF">2016-08-30T15:29:41Z</dcterms:created>
  <dcterms:modified xsi:type="dcterms:W3CDTF">2026-09-11T18:37:39Z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0x0101004285D81DBE5F5A448E892B34D6B8CF20</vt:lpwstr>
  </property>
  <property fmtid="{D5CDD505-2E9C-101B-9397-08002B2CF9AE}" pid="3" name="Order">
    <vt:r8>4400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