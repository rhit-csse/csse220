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303" r:id="rId6"/>
    <p:sldId id="304" r:id="rId7"/>
    <p:sldId id="257" r:id="rId8"/>
    <p:sldId id="258" r:id="rId9"/>
    <p:sldId id="313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7DF5ED-5C65-49DD-8489-5838ACF07F10}" v="1" dt="2023-11-21T15:32:07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/>
    <p:restoredTop sz="83673"/>
  </p:normalViewPr>
  <p:slideViewPr>
    <p:cSldViewPr snapToGrid="0" snapToObjects="1">
      <p:cViewPr varScale="1">
        <p:scale>
          <a:sx n="92" d="100"/>
          <a:sy n="92" d="100"/>
        </p:scale>
        <p:origin x="26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147DF5ED-5C65-49DD-8489-5838ACF07F10}"/>
    <pc:docChg chg="custSel modSld">
      <pc:chgData name="Yoder, Jason" userId="28f4d4d8-da04-4f86-b14d-a21675737bc5" providerId="ADAL" clId="{147DF5ED-5C65-49DD-8489-5838ACF07F10}" dt="2023-11-21T15:32:55.269" v="28" actId="14100"/>
      <pc:docMkLst>
        <pc:docMk/>
      </pc:docMkLst>
      <pc:sldChg chg="addSp delSp modSp mod">
        <pc:chgData name="Yoder, Jason" userId="28f4d4d8-da04-4f86-b14d-a21675737bc5" providerId="ADAL" clId="{147DF5ED-5C65-49DD-8489-5838ACF07F10}" dt="2023-11-21T15:32:55.269" v="28" actId="14100"/>
        <pc:sldMkLst>
          <pc:docMk/>
          <pc:sldMk cId="1185710428" sldId="256"/>
        </pc:sldMkLst>
        <pc:spChg chg="mod">
          <ac:chgData name="Yoder, Jason" userId="28f4d4d8-da04-4f86-b14d-a21675737bc5" providerId="ADAL" clId="{147DF5ED-5C65-49DD-8489-5838ACF07F10}" dt="2023-11-21T15:32:55.269" v="28" actId="14100"/>
          <ac:spMkLst>
            <pc:docMk/>
            <pc:sldMk cId="1185710428" sldId="256"/>
            <ac:spMk id="2" creationId="{00000000-0000-0000-0000-000000000000}"/>
          </ac:spMkLst>
        </pc:spChg>
        <pc:spChg chg="mod">
          <ac:chgData name="Yoder, Jason" userId="28f4d4d8-da04-4f86-b14d-a21675737bc5" providerId="ADAL" clId="{147DF5ED-5C65-49DD-8489-5838ACF07F10}" dt="2023-11-21T15:32:45.146" v="26" actId="20577"/>
          <ac:spMkLst>
            <pc:docMk/>
            <pc:sldMk cId="1185710428" sldId="256"/>
            <ac:spMk id="5" creationId="{3F91A9A4-00E2-4EDC-E1D5-624121BB8956}"/>
          </ac:spMkLst>
        </pc:spChg>
        <pc:spChg chg="add del mod">
          <ac:chgData name="Yoder, Jason" userId="28f4d4d8-da04-4f86-b14d-a21675737bc5" providerId="ADAL" clId="{147DF5ED-5C65-49DD-8489-5838ACF07F10}" dt="2023-11-21T15:32:23.395" v="5" actId="478"/>
          <ac:spMkLst>
            <pc:docMk/>
            <pc:sldMk cId="1185710428" sldId="256"/>
            <ac:spMk id="6" creationId="{0DD5F216-17C4-EF9D-2266-34906EA706D1}"/>
          </ac:spMkLst>
        </pc:spChg>
      </pc:sldChg>
    </pc:docChg>
  </pc:docChgLst>
  <pc:docChgLst>
    <pc:chgData name="Hollingsworth, Joseph" userId="6338ef61-550f-4a52-a8a3-bd9025908f10" providerId="ADAL" clId="{A6F519F7-C4C8-8A4E-9430-7F9709BF2479}"/>
    <pc:docChg chg="delSld modSld">
      <pc:chgData name="Hollingsworth, Joseph" userId="6338ef61-550f-4a52-a8a3-bd9025908f10" providerId="ADAL" clId="{A6F519F7-C4C8-8A4E-9430-7F9709BF2479}" dt="2021-09-08T22:35:20.575" v="6" actId="20577"/>
      <pc:docMkLst>
        <pc:docMk/>
      </pc:docMkLst>
      <pc:sldChg chg="modNotesTx">
        <pc:chgData name="Hollingsworth, Joseph" userId="6338ef61-550f-4a52-a8a3-bd9025908f10" providerId="ADAL" clId="{A6F519F7-C4C8-8A4E-9430-7F9709BF2479}" dt="2021-09-08T22:34:48.266" v="3" actId="6549"/>
        <pc:sldMkLst>
          <pc:docMk/>
          <pc:sldMk cId="3327082852" sldId="257"/>
        </pc:sldMkLst>
      </pc:sldChg>
      <pc:sldChg chg="modNotesTx">
        <pc:chgData name="Hollingsworth, Joseph" userId="6338ef61-550f-4a52-a8a3-bd9025908f10" providerId="ADAL" clId="{A6F519F7-C4C8-8A4E-9430-7F9709BF2479}" dt="2021-09-08T22:34:52.550" v="4" actId="6549"/>
        <pc:sldMkLst>
          <pc:docMk/>
          <pc:sldMk cId="2637307479" sldId="258"/>
        </pc:sldMkLst>
      </pc:sldChg>
      <pc:sldChg chg="del">
        <pc:chgData name="Hollingsworth, Joseph" userId="6338ef61-550f-4a52-a8a3-bd9025908f10" providerId="ADAL" clId="{A6F519F7-C4C8-8A4E-9430-7F9709BF2479}" dt="2021-09-08T22:34:29.866" v="2" actId="2696"/>
        <pc:sldMkLst>
          <pc:docMk/>
          <pc:sldMk cId="2755810600" sldId="260"/>
        </pc:sldMkLst>
      </pc:sldChg>
      <pc:sldChg chg="del">
        <pc:chgData name="Hollingsworth, Joseph" userId="6338ef61-550f-4a52-a8a3-bd9025908f10" providerId="ADAL" clId="{A6F519F7-C4C8-8A4E-9430-7F9709BF2479}" dt="2021-09-08T22:34:29.866" v="2" actId="2696"/>
        <pc:sldMkLst>
          <pc:docMk/>
          <pc:sldMk cId="831071102" sldId="261"/>
        </pc:sldMkLst>
      </pc:sldChg>
      <pc:sldChg chg="del">
        <pc:chgData name="Hollingsworth, Joseph" userId="6338ef61-550f-4a52-a8a3-bd9025908f10" providerId="ADAL" clId="{A6F519F7-C4C8-8A4E-9430-7F9709BF2479}" dt="2021-09-08T22:34:14.965" v="0" actId="2696"/>
        <pc:sldMkLst>
          <pc:docMk/>
          <pc:sldMk cId="2434022835" sldId="277"/>
        </pc:sldMkLst>
      </pc:sldChg>
      <pc:sldChg chg="del">
        <pc:chgData name="Hollingsworth, Joseph" userId="6338ef61-550f-4a52-a8a3-bd9025908f10" providerId="ADAL" clId="{A6F519F7-C4C8-8A4E-9430-7F9709BF2479}" dt="2021-09-08T22:34:14.965" v="0" actId="2696"/>
        <pc:sldMkLst>
          <pc:docMk/>
          <pc:sldMk cId="358212777" sldId="278"/>
        </pc:sldMkLst>
      </pc:sldChg>
      <pc:sldChg chg="del">
        <pc:chgData name="Hollingsworth, Joseph" userId="6338ef61-550f-4a52-a8a3-bd9025908f10" providerId="ADAL" clId="{A6F519F7-C4C8-8A4E-9430-7F9709BF2479}" dt="2021-09-08T22:34:14.965" v="0" actId="2696"/>
        <pc:sldMkLst>
          <pc:docMk/>
          <pc:sldMk cId="4164257097" sldId="279"/>
        </pc:sldMkLst>
      </pc:sldChg>
      <pc:sldChg chg="del">
        <pc:chgData name="Hollingsworth, Joseph" userId="6338ef61-550f-4a52-a8a3-bd9025908f10" providerId="ADAL" clId="{A6F519F7-C4C8-8A4E-9430-7F9709BF2479}" dt="2021-09-08T22:34:14.965" v="0" actId="2696"/>
        <pc:sldMkLst>
          <pc:docMk/>
          <pc:sldMk cId="709340337" sldId="280"/>
        </pc:sldMkLst>
      </pc:sldChg>
      <pc:sldChg chg="del">
        <pc:chgData name="Hollingsworth, Joseph" userId="6338ef61-550f-4a52-a8a3-bd9025908f10" providerId="ADAL" clId="{A6F519F7-C4C8-8A4E-9430-7F9709BF2479}" dt="2021-09-08T22:34:14.965" v="0" actId="2696"/>
        <pc:sldMkLst>
          <pc:docMk/>
          <pc:sldMk cId="4215195480" sldId="294"/>
        </pc:sldMkLst>
      </pc:sldChg>
      <pc:sldChg chg="del">
        <pc:chgData name="Hollingsworth, Joseph" userId="6338ef61-550f-4a52-a8a3-bd9025908f10" providerId="ADAL" clId="{A6F519F7-C4C8-8A4E-9430-7F9709BF2479}" dt="2021-09-08T22:34:14.965" v="0" actId="2696"/>
        <pc:sldMkLst>
          <pc:docMk/>
          <pc:sldMk cId="3151746698" sldId="295"/>
        </pc:sldMkLst>
      </pc:sldChg>
      <pc:sldChg chg="del">
        <pc:chgData name="Hollingsworth, Joseph" userId="6338ef61-550f-4a52-a8a3-bd9025908f10" providerId="ADAL" clId="{A6F519F7-C4C8-8A4E-9430-7F9709BF2479}" dt="2021-09-08T22:34:14.965" v="0" actId="2696"/>
        <pc:sldMkLst>
          <pc:docMk/>
          <pc:sldMk cId="3093067597" sldId="296"/>
        </pc:sldMkLst>
      </pc:sldChg>
      <pc:sldChg chg="del">
        <pc:chgData name="Hollingsworth, Joseph" userId="6338ef61-550f-4a52-a8a3-bd9025908f10" providerId="ADAL" clId="{A6F519F7-C4C8-8A4E-9430-7F9709BF2479}" dt="2021-09-08T22:34:14.965" v="0" actId="2696"/>
        <pc:sldMkLst>
          <pc:docMk/>
          <pc:sldMk cId="3649529972" sldId="297"/>
        </pc:sldMkLst>
      </pc:sldChg>
      <pc:sldChg chg="modSp mod">
        <pc:chgData name="Hollingsworth, Joseph" userId="6338ef61-550f-4a52-a8a3-bd9025908f10" providerId="ADAL" clId="{A6F519F7-C4C8-8A4E-9430-7F9709BF2479}" dt="2021-09-08T22:35:20.575" v="6" actId="20577"/>
        <pc:sldMkLst>
          <pc:docMk/>
          <pc:sldMk cId="3439116799" sldId="303"/>
        </pc:sldMkLst>
        <pc:spChg chg="mod">
          <ac:chgData name="Hollingsworth, Joseph" userId="6338ef61-550f-4a52-a8a3-bd9025908f10" providerId="ADAL" clId="{A6F519F7-C4C8-8A4E-9430-7F9709BF2479}" dt="2021-09-08T22:35:20.575" v="6" actId="20577"/>
          <ac:spMkLst>
            <pc:docMk/>
            <pc:sldMk cId="3439116799" sldId="303"/>
            <ac:spMk id="18434" creationId="{00000000-0000-0000-0000-000000000000}"/>
          </ac:spMkLst>
        </pc:spChg>
      </pc:sldChg>
      <pc:sldChg chg="del">
        <pc:chgData name="Hollingsworth, Joseph" userId="6338ef61-550f-4a52-a8a3-bd9025908f10" providerId="ADAL" clId="{A6F519F7-C4C8-8A4E-9430-7F9709BF2479}" dt="2021-09-08T22:34:29.866" v="2" actId="2696"/>
        <pc:sldMkLst>
          <pc:docMk/>
          <pc:sldMk cId="982965375" sldId="305"/>
        </pc:sldMkLst>
      </pc:sldChg>
      <pc:sldChg chg="del">
        <pc:chgData name="Hollingsworth, Joseph" userId="6338ef61-550f-4a52-a8a3-bd9025908f10" providerId="ADAL" clId="{A6F519F7-C4C8-8A4E-9430-7F9709BF2479}" dt="2021-09-08T22:34:29.866" v="2" actId="2696"/>
        <pc:sldMkLst>
          <pc:docMk/>
          <pc:sldMk cId="2752612510" sldId="306"/>
        </pc:sldMkLst>
      </pc:sldChg>
      <pc:sldChg chg="del">
        <pc:chgData name="Hollingsworth, Joseph" userId="6338ef61-550f-4a52-a8a3-bd9025908f10" providerId="ADAL" clId="{A6F519F7-C4C8-8A4E-9430-7F9709BF2479}" dt="2021-09-08T22:34:14.965" v="0" actId="2696"/>
        <pc:sldMkLst>
          <pc:docMk/>
          <pc:sldMk cId="3070909107" sldId="307"/>
        </pc:sldMkLst>
      </pc:sldChg>
      <pc:sldChg chg="del">
        <pc:chgData name="Hollingsworth, Joseph" userId="6338ef61-550f-4a52-a8a3-bd9025908f10" providerId="ADAL" clId="{A6F519F7-C4C8-8A4E-9430-7F9709BF2479}" dt="2021-09-08T22:34:14.965" v="0" actId="2696"/>
        <pc:sldMkLst>
          <pc:docMk/>
          <pc:sldMk cId="2008419628" sldId="308"/>
        </pc:sldMkLst>
      </pc:sldChg>
      <pc:sldChg chg="del">
        <pc:chgData name="Hollingsworth, Joseph" userId="6338ef61-550f-4a52-a8a3-bd9025908f10" providerId="ADAL" clId="{A6F519F7-C4C8-8A4E-9430-7F9709BF2479}" dt="2021-09-08T22:34:14.965" v="0" actId="2696"/>
        <pc:sldMkLst>
          <pc:docMk/>
          <pc:sldMk cId="2875033241" sldId="309"/>
        </pc:sldMkLst>
      </pc:sldChg>
      <pc:sldChg chg="del">
        <pc:chgData name="Hollingsworth, Joseph" userId="6338ef61-550f-4a52-a8a3-bd9025908f10" providerId="ADAL" clId="{A6F519F7-C4C8-8A4E-9430-7F9709BF2479}" dt="2021-09-08T22:34:29.866" v="2" actId="2696"/>
        <pc:sldMkLst>
          <pc:docMk/>
          <pc:sldMk cId="20828598" sldId="311"/>
        </pc:sldMkLst>
      </pc:sldChg>
      <pc:sldChg chg="del">
        <pc:chgData name="Hollingsworth, Joseph" userId="6338ef61-550f-4a52-a8a3-bd9025908f10" providerId="ADAL" clId="{A6F519F7-C4C8-8A4E-9430-7F9709BF2479}" dt="2021-09-08T22:34:17.231" v="1" actId="2696"/>
        <pc:sldMkLst>
          <pc:docMk/>
          <pc:sldMk cId="1338212096" sldId="3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86005-8F80-1A49-87D1-22EBFA47E352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CF600-4147-7540-9DE4-6C8272E0E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493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JAY: Introduce THIRD row today (Identity Pie)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CF600-4147-7540-9DE4-6C8272E0ED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8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5ECE29-E6DA-4119-8DF5-41CFF6D7EB31}" type="slidenum">
              <a:rPr lang="en-US" smtClean="0">
                <a:cs typeface="Arial" pitchFamily="34" charset="0"/>
              </a:rPr>
              <a:pPr/>
              <a:t>2</a:t>
            </a:fld>
            <a:endParaRPr lang="en-US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98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5ECE29-E6DA-4119-8DF5-41CFF6D7EB31}" type="slidenum">
              <a:rPr lang="en-US" smtClean="0">
                <a:cs typeface="Arial" pitchFamily="34" charset="0"/>
              </a:rPr>
              <a:pPr/>
              <a:t>3</a:t>
            </a:fld>
            <a:endParaRPr lang="en-US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322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65" name="Shape 1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398594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70" name="Shape 17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defRPr sz="1800"/>
            </a:pPr>
            <a:endParaRPr sz="1200" dirty="0">
              <a:latin typeface="Gill Sans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19545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4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84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36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84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2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2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0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49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28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7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7E745-2C70-2943-8487-A8F6E88ADF5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CDD0D-FB12-FE4B-87F9-1BD2B023F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8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HIT-CSSE/csse220/blob/master/Docs/grading_guide.m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rose-hulman.hosted.panopto.com/Panopto/Pages/Sessions/List.aspx#folderID=%22499b5324-d2ab-415e-8982-abf8017a3648%2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799" y="2693987"/>
            <a:ext cx="8669079" cy="1470025"/>
          </a:xfrm>
        </p:spPr>
        <p:txBody>
          <a:bodyPr/>
          <a:lstStyle/>
          <a:p>
            <a:r>
              <a:rPr lang="en-US" dirty="0"/>
              <a:t>Properly Documenting Code</a:t>
            </a:r>
          </a:p>
        </p:txBody>
      </p:sp>
    </p:spTree>
    <p:extLst>
      <p:ext uri="{BB962C8B-B14F-4D97-AF65-F5344CB8AC3E}">
        <p14:creationId xmlns:p14="http://schemas.microsoft.com/office/powerpoint/2010/main" val="118571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Functions</a:t>
            </a:r>
          </a:p>
        </p:txBody>
      </p:sp>
      <p:sp>
        <p:nvSpPr>
          <p:cNvPr id="18434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Give functions descriptive names</a:t>
            </a:r>
          </a:p>
          <a:p>
            <a:pPr eaLnBrk="1" hangingPunct="1"/>
            <a:r>
              <a:rPr lang="en-US" dirty="0"/>
              <a:t>Don't allow functions to grow too long</a:t>
            </a:r>
          </a:p>
          <a:p>
            <a:pPr lvl="1"/>
            <a:r>
              <a:rPr lang="en-US" dirty="0"/>
              <a:t>10 to 15 lines max is a nice goal</a:t>
            </a:r>
          </a:p>
          <a:p>
            <a:pPr eaLnBrk="1" hangingPunct="1"/>
            <a:r>
              <a:rPr lang="en-US" dirty="0"/>
              <a:t>Rather than commenting an unclear function, modify the code so it is clear</a:t>
            </a:r>
          </a:p>
          <a:p>
            <a:pPr eaLnBrk="1" hangingPunct="1"/>
            <a:r>
              <a:rPr lang="en-US" dirty="0"/>
              <a:t>Make a function clear by</a:t>
            </a:r>
            <a:br>
              <a:rPr lang="en-US" dirty="0"/>
            </a:br>
            <a:r>
              <a:rPr lang="en-US" dirty="0"/>
              <a:t>having it  "do one thing, and one thing well"</a:t>
            </a:r>
          </a:p>
          <a:p>
            <a:pPr marL="109537" indent="0" eaLnBrk="1" hangingPunct="1">
              <a:buNone/>
            </a:pPr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116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Naming in Java</a:t>
            </a:r>
          </a:p>
        </p:txBody>
      </p:sp>
      <p:sp>
        <p:nvSpPr>
          <p:cNvPr id="18434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dirty="0"/>
              <a:t>Having good names for functions and variables is one of the best things you can do to make your program understandable</a:t>
            </a:r>
          </a:p>
          <a:p>
            <a:pPr eaLnBrk="1" hangingPunct="1"/>
            <a:r>
              <a:rPr lang="en-US" dirty="0"/>
              <a:t>The conventions:</a:t>
            </a:r>
          </a:p>
          <a:p>
            <a:pPr lvl="1" eaLnBrk="1" hangingPunct="1"/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variableNamesLikeThis</a:t>
            </a:r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lvl="1" eaLnBrk="1" hangingPunct="1"/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methodNamesLikeThis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(…)</a:t>
            </a:r>
          </a:p>
          <a:p>
            <a:pPr lvl="1" eaLnBrk="1" hangingPunct="1"/>
            <a:r>
              <a:rPr lang="en-US" sz="4400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lassNamesLikeThis</a:t>
            </a:r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dirty="0"/>
              <a:t>You should follow the conventions!</a:t>
            </a:r>
          </a:p>
          <a:p>
            <a:pPr marL="109537" indent="0" eaLnBrk="1" hangingPunct="1">
              <a:buNone/>
            </a:pPr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562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/>
          </p:cNvSpPr>
          <p:nvPr>
            <p:ph type="title"/>
          </p:nvPr>
        </p:nvSpPr>
        <p:spPr>
          <a:xfrm>
            <a:off x="5943600" y="228600"/>
            <a:ext cx="2895600" cy="11430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32104">
              <a:defRPr sz="3549"/>
            </a:lvl1pPr>
          </a:lstStyle>
          <a:p>
            <a:pPr lvl="0">
              <a:defRPr sz="1800"/>
            </a:pPr>
            <a:r>
              <a:rPr sz="3549"/>
              <a:t>Javadoc comments</a:t>
            </a:r>
          </a:p>
        </p:txBody>
      </p:sp>
      <p:grpSp>
        <p:nvGrpSpPr>
          <p:cNvPr id="161" name="Group 161"/>
          <p:cNvGrpSpPr/>
          <p:nvPr/>
        </p:nvGrpSpPr>
        <p:grpSpPr>
          <a:xfrm>
            <a:off x="152400" y="121577"/>
            <a:ext cx="5334000" cy="6553201"/>
            <a:chOff x="0" y="0"/>
            <a:chExt cx="5334000" cy="6553200"/>
          </a:xfrm>
        </p:grpSpPr>
        <p:sp>
          <p:nvSpPr>
            <p:cNvPr id="159" name="Shape 159"/>
            <p:cNvSpPr/>
            <p:nvPr/>
          </p:nvSpPr>
          <p:spPr>
            <a:xfrm>
              <a:off x="0" y="0"/>
              <a:ext cx="5334000" cy="65532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>
                <a:defRPr sz="1600" b="1">
                  <a:latin typeface="Courier New"/>
                  <a:ea typeface="Courier New"/>
                  <a:cs typeface="Courier New"/>
                  <a:sym typeface="Courier New"/>
                </a:defRPr>
              </a:pPr>
              <a:endParaRPr/>
            </a:p>
          </p:txBody>
        </p:sp>
        <p:sp>
          <p:nvSpPr>
            <p:cNvPr id="160" name="Shape 160"/>
            <p:cNvSpPr/>
            <p:nvPr/>
          </p:nvSpPr>
          <p:spPr>
            <a:xfrm>
              <a:off x="0" y="0"/>
              <a:ext cx="5334000" cy="612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/**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 Has a static method for computing n!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 (n factorial) and a main method that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 computes n! for n up to Factorial.MAX.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 @author Mike Hewner &amp; Delvin Defoe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*/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7F00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</a:t>
              </a: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sz="1600" b="1">
                  <a:solidFill>
                    <a:srgbClr val="7F00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Factorial {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/**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* Biggest factorial to compute.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*/</a:t>
              </a:r>
            </a:p>
            <a:p>
              <a:pPr lvl="0" algn="l">
                <a:defRPr sz="1800"/>
              </a:pP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sz="1600" b="1">
                  <a:solidFill>
                    <a:srgbClr val="7F00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</a:t>
              </a: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sz="1600" b="1">
                  <a:solidFill>
                    <a:srgbClr val="7F00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static</a:t>
              </a: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sz="1600" b="1">
                  <a:solidFill>
                    <a:srgbClr val="7F00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final</a:t>
              </a: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sz="1600" b="1">
                  <a:solidFill>
                    <a:srgbClr val="7F00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sz="1600" b="1">
                  <a:solidFill>
                    <a:srgbClr val="0000C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MAX</a:t>
              </a: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= 17;</a:t>
              </a:r>
            </a:p>
            <a:p>
              <a:pPr lvl="0" algn="l">
                <a:defRPr sz="1800"/>
              </a:pP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lvl="0" algn="l">
                <a:defRPr sz="1800"/>
              </a:pP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/**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* Computes n! for the given n.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*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* @param n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* @return n! for the given n.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r>
                <a:rPr sz="1600" b="1">
                  <a:solidFill>
                    <a:srgbClr val="00B0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*/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lvl="0" algn="l">
                <a:defRPr sz="1800"/>
              </a:pP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sz="1600" b="1">
                  <a:solidFill>
                    <a:srgbClr val="7F00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public</a:t>
              </a: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sz="1600" b="1">
                  <a:solidFill>
                    <a:srgbClr val="7F00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static</a:t>
              </a: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sz="1600" b="1">
                  <a:solidFill>
                    <a:srgbClr val="7F00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factorial (</a:t>
              </a:r>
              <a:r>
                <a:rPr sz="1600" b="1">
                  <a:solidFill>
                    <a:srgbClr val="7F00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n) {</a:t>
              </a:r>
            </a:p>
            <a:p>
              <a:pPr lvl="0" algn="l">
                <a:defRPr sz="1800"/>
              </a:pP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       ...</a:t>
              </a:r>
            </a:p>
            <a:p>
              <a:pPr lvl="0" algn="l">
                <a:defRPr sz="1800"/>
              </a:pP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   }</a:t>
              </a:r>
              <a:endParaRPr sz="3200">
                <a:latin typeface="Gill Sans"/>
                <a:ea typeface="Gill Sans"/>
                <a:cs typeface="Gill Sans"/>
                <a:sym typeface="Gill Sans"/>
              </a:endParaRPr>
            </a:p>
            <a:p>
              <a:pPr lvl="0" algn="l">
                <a:defRPr sz="1800"/>
              </a:pP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lvl="0" algn="l">
                <a:defRPr sz="1800"/>
              </a:pP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    ...</a:t>
              </a:r>
            </a:p>
            <a:p>
              <a:pPr lvl="0" algn="l">
                <a:defRPr sz="1800"/>
              </a:pP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lvl="0" algn="l">
                <a:defRPr sz="1800"/>
              </a:pPr>
              <a:r>
                <a:rPr sz="1600" b="1"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</a:p>
          </p:txBody>
        </p:sp>
      </p:grpSp>
      <p:sp>
        <p:nvSpPr>
          <p:cNvPr id="162" name="Shape 162"/>
          <p:cNvSpPr/>
          <p:nvPr/>
        </p:nvSpPr>
        <p:spPr>
          <a:xfrm>
            <a:off x="5562600" y="1371599"/>
            <a:ext cx="3352800" cy="2769989"/>
          </a:xfrm>
          <a:prstGeom prst="rect">
            <a:avLst/>
          </a:prstGeom>
          <a:solidFill>
            <a:srgbClr val="FFFF00"/>
          </a:solidFill>
          <a:ln>
            <a:solidFill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0" algn="l">
              <a:defRPr sz="1800"/>
            </a:pPr>
            <a:r>
              <a:rPr sz="2000" dirty="0">
                <a:latin typeface="Gill Sans"/>
                <a:ea typeface="Gill Sans"/>
                <a:cs typeface="Gill Sans"/>
                <a:sym typeface="Gill Sans"/>
              </a:rPr>
              <a:t>Java provides Javadoc comments (they begin with </a:t>
            </a:r>
            <a:r>
              <a:rPr sz="2000" dirty="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/**</a:t>
            </a:r>
            <a:r>
              <a:rPr sz="2000" dirty="0">
                <a:latin typeface="Gill Sans"/>
                <a:ea typeface="Gill Sans"/>
                <a:cs typeface="Gill Sans"/>
                <a:sym typeface="Gill Sans"/>
              </a:rPr>
              <a:t>) for both:</a:t>
            </a:r>
            <a:endParaRPr sz="3200" dirty="0">
              <a:latin typeface="Gill Sans"/>
              <a:ea typeface="Gill Sans"/>
              <a:cs typeface="Gill Sans"/>
              <a:sym typeface="Gill Sans"/>
            </a:endParaRPr>
          </a:p>
          <a:p>
            <a:pPr lvl="0" algn="l">
              <a:buSzPct val="100000"/>
              <a:buFont typeface="Arial"/>
              <a:buChar char="•"/>
              <a:defRPr sz="1800"/>
            </a:pPr>
            <a:r>
              <a:rPr sz="2000" dirty="0">
                <a:latin typeface="Gill Sans"/>
                <a:ea typeface="Gill Sans"/>
                <a:cs typeface="Gill Sans"/>
                <a:sym typeface="Gill Sans"/>
              </a:rPr>
              <a:t>  Internal documentation for when someone reads the code itself</a:t>
            </a:r>
            <a:endParaRPr sz="3200" dirty="0">
              <a:latin typeface="Gill Sans"/>
              <a:ea typeface="Gill Sans"/>
              <a:cs typeface="Gill Sans"/>
              <a:sym typeface="Gill Sans"/>
            </a:endParaRPr>
          </a:p>
          <a:p>
            <a:pPr lvl="0" algn="l">
              <a:buSzPct val="100000"/>
              <a:buFont typeface="Arial"/>
              <a:buChar char="•"/>
              <a:defRPr sz="1800"/>
            </a:pPr>
            <a:r>
              <a:rPr sz="2000" dirty="0">
                <a:latin typeface="Gill Sans"/>
                <a:ea typeface="Gill Sans"/>
                <a:cs typeface="Gill Sans"/>
                <a:sym typeface="Gill Sans"/>
              </a:rPr>
              <a:t>  External documentation for when someone re-uses the code</a:t>
            </a:r>
          </a:p>
        </p:txBody>
      </p:sp>
    </p:spTree>
    <p:extLst>
      <p:ext uri="{BB962C8B-B14F-4D97-AF65-F5344CB8AC3E}">
        <p14:creationId xmlns:p14="http://schemas.microsoft.com/office/powerpoint/2010/main" val="3327082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Writing Javadocs</a:t>
            </a:r>
          </a:p>
        </p:txBody>
      </p:sp>
      <p:sp>
        <p:nvSpPr>
          <p:cNvPr id="168" name="Shape 168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90000"/>
              </a:lnSpc>
              <a:spcBef>
                <a:spcPts val="600"/>
              </a:spcBef>
              <a:defRPr sz="1800"/>
            </a:pPr>
            <a:r>
              <a:rPr sz="2900" dirty="0"/>
              <a:t>Written in special comments: /** … */</a:t>
            </a:r>
          </a:p>
          <a:p>
            <a:pPr lvl="0">
              <a:lnSpc>
                <a:spcPct val="90000"/>
              </a:lnSpc>
              <a:spcBef>
                <a:spcPts val="600"/>
              </a:spcBef>
              <a:defRPr sz="1800"/>
            </a:pPr>
            <a:r>
              <a:rPr sz="2900" dirty="0"/>
              <a:t>Can come before: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defRPr sz="1800"/>
            </a:pPr>
            <a:r>
              <a:rPr sz="2500" dirty="0"/>
              <a:t>Class declarations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defRPr sz="1800"/>
            </a:pPr>
            <a:r>
              <a:rPr sz="2500" dirty="0"/>
              <a:t>Field declarations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defRPr sz="1800"/>
            </a:pPr>
            <a:r>
              <a:rPr sz="2500" dirty="0"/>
              <a:t>Constructor declarations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defRPr sz="1800"/>
            </a:pPr>
            <a:r>
              <a:rPr sz="2500" dirty="0"/>
              <a:t>Method declarations</a:t>
            </a:r>
          </a:p>
          <a:p>
            <a:pPr lvl="0">
              <a:lnSpc>
                <a:spcPct val="90000"/>
              </a:lnSpc>
              <a:spcBef>
                <a:spcPts val="600"/>
              </a:spcBef>
              <a:defRPr sz="1800"/>
            </a:pPr>
            <a:r>
              <a:rPr lang="en-US" sz="2900" dirty="0"/>
              <a:t>Your IDE</a:t>
            </a:r>
            <a:r>
              <a:rPr sz="2900" dirty="0"/>
              <a:t> is your friend!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defRPr sz="1800"/>
            </a:pPr>
            <a:r>
              <a:rPr sz="2500" dirty="0"/>
              <a:t>It will generate Javadoc comments automatically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defRPr sz="1800"/>
            </a:pPr>
            <a:r>
              <a:rPr sz="2500" dirty="0"/>
              <a:t>It will notice when you start typing a Javadoc comment</a:t>
            </a:r>
          </a:p>
        </p:txBody>
      </p:sp>
    </p:spTree>
    <p:extLst>
      <p:ext uri="{BB962C8B-B14F-4D97-AF65-F5344CB8AC3E}">
        <p14:creationId xmlns:p14="http://schemas.microsoft.com/office/powerpoint/2010/main" val="263730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In all your code:</a:t>
            </a:r>
          </a:p>
        </p:txBody>
      </p:sp>
      <p:sp>
        <p:nvSpPr>
          <p:cNvPr id="173" name="Shape 173"/>
          <p:cNvSpPr>
            <a:spLocks noGrp="1"/>
          </p:cNvSpPr>
          <p:nvPr>
            <p:ph type="body" idx="1"/>
          </p:nvPr>
        </p:nvSpPr>
        <p:spPr>
          <a:xfrm>
            <a:off x="457200" y="1312935"/>
            <a:ext cx="8229600" cy="452596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57175" lvl="0" indent="-257175">
              <a:spcBef>
                <a:spcPts val="500"/>
              </a:spcBef>
              <a:defRPr sz="1800"/>
            </a:pPr>
            <a:r>
              <a:rPr lang="en-US" sz="2400" dirty="0"/>
              <a:t>See: </a:t>
            </a:r>
            <a:r>
              <a:rPr lang="en-US" sz="2400" dirty="0">
                <a:hlinkClick r:id="rId2"/>
              </a:rPr>
              <a:t>https://github.com/RHIT-CSSE/csse220/blob/master/Docs/grading_guide.md</a:t>
            </a:r>
            <a:endParaRPr lang="en-US" sz="2400" dirty="0"/>
          </a:p>
          <a:p>
            <a:pPr marL="257175" lvl="0" indent="-257175">
              <a:spcBef>
                <a:spcPts val="500"/>
              </a:spcBef>
              <a:defRPr sz="1800"/>
            </a:pPr>
            <a:endParaRPr lang="en-US" sz="2400" dirty="0"/>
          </a:p>
          <a:p>
            <a:pPr marL="257175" lvl="0" indent="-257175">
              <a:spcBef>
                <a:spcPts val="500"/>
              </a:spcBef>
              <a:defRPr sz="1800"/>
            </a:pPr>
            <a:r>
              <a:rPr sz="2400" dirty="0"/>
              <a:t>Write appropriate comments:</a:t>
            </a:r>
          </a:p>
          <a:p>
            <a:pPr marL="661307" lvl="1" indent="-204107">
              <a:spcBef>
                <a:spcPts val="400"/>
              </a:spcBef>
              <a:defRPr sz="1800"/>
            </a:pPr>
            <a:r>
              <a:rPr sz="2000" dirty="0" err="1"/>
              <a:t>Javadoc</a:t>
            </a:r>
            <a:r>
              <a:rPr lang="en-US" sz="2000" dirty="0" err="1"/>
              <a:t>s</a:t>
            </a:r>
            <a:r>
              <a:rPr sz="2000" dirty="0"/>
              <a:t> </a:t>
            </a:r>
            <a:r>
              <a:rPr lang="en-US" sz="2000" dirty="0"/>
              <a:t> (  </a:t>
            </a:r>
            <a:r>
              <a:rPr lang="en-US" sz="2000" dirty="0">
                <a:latin typeface="Consolas" panose="020B0609020204030204" pitchFamily="49" charset="0"/>
              </a:rPr>
              <a:t>/** ....  */</a:t>
            </a:r>
            <a:r>
              <a:rPr lang="en-US" sz="2000" dirty="0"/>
              <a:t>   )</a:t>
            </a:r>
          </a:p>
          <a:p>
            <a:pPr marL="1061357" lvl="2" indent="-204107">
              <a:spcBef>
                <a:spcPts val="400"/>
              </a:spcBef>
              <a:defRPr sz="1800"/>
            </a:pPr>
            <a:r>
              <a:rPr lang="en-US" sz="1600" dirty="0"/>
              <a:t>Primarily</a:t>
            </a:r>
            <a:r>
              <a:rPr sz="1600" dirty="0"/>
              <a:t> for</a:t>
            </a:r>
            <a:r>
              <a:rPr lang="en-US" sz="1600" dirty="0"/>
              <a:t> classes, define the purpose at the top of the file</a:t>
            </a:r>
            <a:endParaRPr dirty="0"/>
          </a:p>
          <a:p>
            <a:pPr marL="661307" lvl="1" indent="-204107">
              <a:spcBef>
                <a:spcPts val="400"/>
              </a:spcBef>
              <a:defRPr sz="1800"/>
            </a:pPr>
            <a:r>
              <a:rPr lang="en-US" sz="2000" dirty="0"/>
              <a:t>In-line comments:  ( </a:t>
            </a:r>
            <a:r>
              <a:rPr lang="en-US" sz="2000" dirty="0">
                <a:latin typeface="Consolas" panose="020B0609020204030204" pitchFamily="49" charset="0"/>
              </a:rPr>
              <a:t>//add comments like this</a:t>
            </a:r>
            <a:r>
              <a:rPr lang="en-US" sz="2000" dirty="0"/>
              <a:t>   )</a:t>
            </a:r>
          </a:p>
          <a:p>
            <a:pPr marL="1061357" lvl="2" indent="-204107">
              <a:spcBef>
                <a:spcPts val="400"/>
              </a:spcBef>
              <a:defRPr sz="1800"/>
            </a:pPr>
            <a:r>
              <a:rPr sz="1600" dirty="0"/>
              <a:t>Explanations of anything else that is not obvious</a:t>
            </a:r>
            <a:r>
              <a:rPr lang="en-US" sz="1600" dirty="0"/>
              <a:t> in any spot</a:t>
            </a:r>
            <a:r>
              <a:rPr sz="1600" dirty="0"/>
              <a:t>.</a:t>
            </a:r>
            <a:endParaRPr dirty="0"/>
          </a:p>
          <a:p>
            <a:pPr marL="257175" lvl="0" indent="-257175">
              <a:spcBef>
                <a:spcPts val="500"/>
              </a:spcBef>
              <a:defRPr sz="1800"/>
            </a:pPr>
            <a:r>
              <a:rPr sz="2400" dirty="0"/>
              <a:t>Give self-documenting variable and method names:</a:t>
            </a:r>
          </a:p>
          <a:p>
            <a:pPr marL="661307" lvl="1" indent="-204107">
              <a:spcBef>
                <a:spcPts val="400"/>
              </a:spcBef>
              <a:defRPr sz="1800"/>
            </a:pPr>
            <a:r>
              <a:rPr sz="2000" dirty="0"/>
              <a:t>Use name completion </a:t>
            </a:r>
            <a:r>
              <a:rPr lang="en-US" sz="2000" dirty="0"/>
              <a:t>(</a:t>
            </a:r>
            <a:r>
              <a:rPr lang="en-US" sz="2000" dirty="0">
                <a:latin typeface="Consolas" panose="020B0609020204030204" pitchFamily="49" charset="0"/>
              </a:rPr>
              <a:t>Tab/Enter</a:t>
            </a:r>
            <a:r>
              <a:rPr lang="en-US" sz="2000" dirty="0"/>
              <a:t>)</a:t>
            </a:r>
            <a:r>
              <a:rPr sz="2000" dirty="0"/>
              <a:t> to keep typing cost low and readability high</a:t>
            </a:r>
            <a:endParaRPr sz="2800" dirty="0"/>
          </a:p>
          <a:p>
            <a:pPr marL="257175" lvl="0" indent="-257175">
              <a:spcBef>
                <a:spcPts val="500"/>
              </a:spcBef>
              <a:defRPr sz="1800"/>
            </a:pPr>
            <a:r>
              <a:rPr sz="2400" dirty="0"/>
              <a:t>Use </a:t>
            </a:r>
            <a:r>
              <a:rPr lang="en-US" sz="2400" i="1" dirty="0"/>
              <a:t>Code -&gt; Reformat Code</a:t>
            </a:r>
            <a:r>
              <a:rPr sz="2400" dirty="0"/>
              <a:t> </a:t>
            </a:r>
            <a:r>
              <a:rPr lang="en-US" sz="2400" dirty="0"/>
              <a:t>(</a:t>
            </a:r>
            <a:r>
              <a:rPr lang="en-US" sz="2400" dirty="0" err="1">
                <a:latin typeface="Consolas" panose="020B0609020204030204" pitchFamily="49" charset="0"/>
              </a:rPr>
              <a:t>Ctrl+Alt+L</a:t>
            </a:r>
            <a:r>
              <a:rPr lang="en-US" sz="2400" dirty="0"/>
              <a:t>) in IntelliJ </a:t>
            </a:r>
            <a:br>
              <a:rPr lang="en-US" sz="2400" dirty="0"/>
            </a:br>
            <a:r>
              <a:rPr sz="2400" dirty="0"/>
              <a:t>to format your code.</a:t>
            </a:r>
          </a:p>
        </p:txBody>
      </p:sp>
      <p:grpSp>
        <p:nvGrpSpPr>
          <p:cNvPr id="6" name="Group 66"/>
          <p:cNvGrpSpPr/>
          <p:nvPr/>
        </p:nvGrpSpPr>
        <p:grpSpPr>
          <a:xfrm>
            <a:off x="8001000" y="6248400"/>
            <a:ext cx="939800" cy="419100"/>
            <a:chOff x="0" y="0"/>
            <a:chExt cx="939800" cy="419100"/>
          </a:xfrm>
        </p:grpSpPr>
        <p:sp>
          <p:nvSpPr>
            <p:cNvPr id="7" name="Shape 64"/>
            <p:cNvSpPr/>
            <p:nvPr/>
          </p:nvSpPr>
          <p:spPr>
            <a:xfrm>
              <a:off x="0" y="0"/>
              <a:ext cx="939800" cy="419100"/>
            </a:xfrm>
            <a:prstGeom prst="rect">
              <a:avLst/>
            </a:prstGeom>
            <a:solidFill>
              <a:srgbClr val="9BBB59"/>
            </a:solidFill>
            <a:ln w="25400" cap="flat">
              <a:solidFill>
                <a:srgbClr val="718841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" name="Shape 65"/>
            <p:cNvSpPr/>
            <p:nvPr/>
          </p:nvSpPr>
          <p:spPr>
            <a:xfrm>
              <a:off x="0" y="55662"/>
              <a:ext cx="939800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en-US" sz="2000" dirty="0">
                  <a:solidFill>
                    <a:srgbClr val="FFFFFF"/>
                  </a:solidFill>
                </a:rPr>
                <a:t>  </a:t>
              </a:r>
              <a:r>
                <a:rPr sz="2000" dirty="0">
                  <a:solidFill>
                    <a:srgbClr val="FFFFFF"/>
                  </a:solidFill>
                </a:rPr>
                <a:t>Q</a:t>
              </a:r>
              <a:r>
                <a:rPr lang="en-US" dirty="0"/>
                <a:t>1</a:t>
              </a:r>
              <a:endParaRPr sz="2000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800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lvl="0">
              <a:defRPr sz="1800"/>
            </a:pPr>
            <a:r>
              <a:rPr lang="en-US" sz="4400" dirty="0"/>
              <a:t>Follow Javadoc Instructions in Videos</a:t>
            </a:r>
            <a:r>
              <a:rPr sz="4400" dirty="0"/>
              <a:t>:</a:t>
            </a:r>
          </a:p>
        </p:txBody>
      </p:sp>
      <p:sp>
        <p:nvSpPr>
          <p:cNvPr id="173" name="Shape 17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57175" lvl="0" indent="-257175">
              <a:spcBef>
                <a:spcPts val="500"/>
              </a:spcBef>
              <a:defRPr sz="1800"/>
            </a:pPr>
            <a:endParaRPr lang="en-US" sz="2400" dirty="0"/>
          </a:p>
          <a:p>
            <a:pPr marL="257175" lvl="0" indent="-257175">
              <a:spcBef>
                <a:spcPts val="500"/>
              </a:spcBef>
              <a:defRPr sz="1800"/>
            </a:pPr>
            <a:endParaRPr lang="en-US" sz="2400" dirty="0"/>
          </a:p>
          <a:p>
            <a:pPr marL="257175" lvl="0" indent="-257175">
              <a:spcBef>
                <a:spcPts val="500"/>
              </a:spcBef>
              <a:defRPr sz="1800"/>
            </a:pPr>
            <a:endParaRPr lang="en-US" sz="2400" dirty="0"/>
          </a:p>
          <a:p>
            <a:pPr marL="257175" lvl="0" indent="-257175">
              <a:spcBef>
                <a:spcPts val="500"/>
              </a:spcBef>
              <a:defRPr sz="1800"/>
            </a:pPr>
            <a:endParaRPr lang="en-US" sz="2400" dirty="0"/>
          </a:p>
          <a:p>
            <a:pPr marL="257175" lvl="0" indent="-257175">
              <a:spcBef>
                <a:spcPts val="500"/>
              </a:spcBef>
              <a:defRPr sz="1800"/>
            </a:pPr>
            <a:endParaRPr lang="en-US" sz="2400" dirty="0"/>
          </a:p>
          <a:p>
            <a:pPr marL="257175" lvl="0" indent="-257175">
              <a:spcBef>
                <a:spcPts val="500"/>
              </a:spcBef>
              <a:defRPr sz="1800"/>
            </a:pPr>
            <a:endParaRPr lang="en-US" sz="2400" dirty="0"/>
          </a:p>
          <a:p>
            <a:pPr marL="257175" lvl="0" indent="-257175">
              <a:spcBef>
                <a:spcPts val="500"/>
              </a:spcBef>
              <a:defRPr sz="1800"/>
            </a:pPr>
            <a:endParaRPr lang="en-US" sz="2400" dirty="0"/>
          </a:p>
          <a:p>
            <a:pPr marL="257175" lvl="0" indent="-257175">
              <a:spcBef>
                <a:spcPts val="500"/>
              </a:spcBef>
              <a:defRPr sz="1800"/>
            </a:pPr>
            <a:endParaRPr lang="en-US" sz="2400" dirty="0"/>
          </a:p>
          <a:p>
            <a:pPr marL="257175" lvl="0" indent="-257175">
              <a:spcBef>
                <a:spcPts val="500"/>
              </a:spcBef>
              <a:defRPr sz="1800"/>
            </a:pPr>
            <a:r>
              <a:rPr lang="en-US" sz="2400" dirty="0">
                <a:hlinkClick r:id="rId2"/>
              </a:rPr>
              <a:t>Panopto video folder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DB307D-AD70-1643-9AE7-6B213AE45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29" y="1089764"/>
            <a:ext cx="9026291" cy="397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53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2" ma:contentTypeDescription="Create a new document." ma:contentTypeScope="" ma:versionID="026ccaf10de5d9915dfa48c6db16b59b">
  <xsd:schema xmlns:xsd="http://www.w3.org/2001/XMLSchema" xmlns:xs="http://www.w3.org/2001/XMLSchema" xmlns:p="http://schemas.microsoft.com/office/2006/metadata/properties" xmlns:ns2="08600313-7276-4ca7-b5d3-7d86193ee0ac" targetNamespace="http://schemas.microsoft.com/office/2006/metadata/properties" ma:root="true" ma:fieldsID="c887e4ee215f388544e22a2030d7ea35" ns2:_="">
    <xsd:import namespace="08600313-7276-4ca7-b5d3-7d86193ee0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D2D98F-7772-4D77-9EAD-84CA989E91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7763C6-34AC-4EBA-9781-B781EFEF16E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C423C04-D2F3-4811-BE3A-D038CC7210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12104</TotalTime>
  <Words>433</Words>
  <Application>Microsoft Office PowerPoint</Application>
  <PresentationFormat>On-screen Show (4:3)</PresentationFormat>
  <Paragraphs>80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Consolas</vt:lpstr>
      <vt:lpstr>Courier New</vt:lpstr>
      <vt:lpstr>Gill Sans</vt:lpstr>
      <vt:lpstr>Office Theme</vt:lpstr>
      <vt:lpstr>Properly Documenting Code</vt:lpstr>
      <vt:lpstr>Functions</vt:lpstr>
      <vt:lpstr>Naming in Java</vt:lpstr>
      <vt:lpstr>Javadoc comments</vt:lpstr>
      <vt:lpstr>Writing Javadocs</vt:lpstr>
      <vt:lpstr>In all your code:</vt:lpstr>
      <vt:lpstr>Follow Javadoc Instructions in Videos:</vt:lpstr>
    </vt:vector>
  </TitlesOfParts>
  <Manager/>
  <Company>RHIT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Gregory Aaron Wilkin</dc:creator>
  <cp:keywords/>
  <dc:description/>
  <cp:lastModifiedBy>Ludden, Ian</cp:lastModifiedBy>
  <cp:revision>88</cp:revision>
  <dcterms:created xsi:type="dcterms:W3CDTF">2016-08-30T15:29:41Z</dcterms:created>
  <dcterms:modified xsi:type="dcterms:W3CDTF">2026-09-11T18:05:01Z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0x0101004285D81DBE5F5A448E892B34D6B8CF20</vt:lpwstr>
  </property>
  <property fmtid="{D5CDD505-2E9C-101B-9397-08002B2CF9AE}" pid="3" name="Order">
    <vt:r8>4100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