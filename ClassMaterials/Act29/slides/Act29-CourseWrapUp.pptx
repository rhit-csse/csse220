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70" r:id="rId6"/>
    <p:sldId id="267" r:id="rId7"/>
    <p:sldId id="266" r:id="rId8"/>
    <p:sldId id="26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14" autoAdjust="0"/>
  </p:normalViewPr>
  <p:slideViewPr>
    <p:cSldViewPr snapToGrid="0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1ED64-5437-457E-A017-AC0FF35A080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7A588-C7EA-4EA9-9CD2-7485F332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Useful when using/learning an unfamiliar language, library/API, etc., especially if you won’t be using it very much so there’s less value in reading the documentation yourself.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7A588-C7EA-4EA9-9CD2-7485F3327F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0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A525-518F-288B-FE88-F1DD3FB8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C4EA9-661D-A624-1268-72A387FAE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52C88-A483-F85C-F548-ACE2DBD2B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87B24-48B5-E263-B79D-D41ECB4F6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7A588-C7EA-4EA9-9CD2-7485F3327F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51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6C2C-B81F-3415-C879-AF3837A02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9C29E-1B24-5A37-1F79-1919D50F7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036D9-CA46-E4D5-2D34-BAF7E80C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BD7F-3197-002C-2C6D-EDEFC9BA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8E8F-5699-2822-2278-86562E05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6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F020-3FC1-0A54-C4F1-72D10F24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00C6-EACA-6575-11F3-89746A65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E2AA6-ECC2-048B-C83C-93BE6A4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ADEA-69BD-86D7-B998-4C9CE845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C0DE-F0B8-FBAF-5912-87FA437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8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E8C6-BD79-2513-DCB8-D7076F20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DD8B-BB2A-89D3-ACFD-5F2B1538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DBB80-F8F7-C4FE-9C7F-17F7247D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8627-1D20-52B3-5C02-1FC3CE33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A5F5-551F-4C85-4F58-C6B97E8C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5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D5B7-1537-882F-FD13-8530A1DE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274D-01A1-11B6-2DC0-DD6DF5C11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9546C-9C6A-FF50-DCC2-782A267D0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29F99-8337-96C3-DA1B-B3894E16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64B9B-E205-3158-E598-BDBDEF24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BD9FA-6650-F00D-A327-EED27E0F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5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A709-9857-CE5C-E54B-21ADC652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62C52-745D-B3B7-E6F0-3DEEB683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664F6-002B-2388-9B4A-FBC7A3B14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003AB-0595-BBBF-1F19-75A601A16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C58A2-3412-E9D5-780C-DC1FEAE6E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971CF-84B7-7783-1350-A5134008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81275-CA0E-77C4-8748-D8DCC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92741-C1F3-C938-A0DB-96D05630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F0C1-B956-76FD-A47A-10FDB3EC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1851E-EDDA-22B4-A295-02ADE0D8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2C347-3508-11B6-1474-667D0E47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F41E5-B91E-EAC3-4F66-2F96A32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6969-E516-C962-69B7-70B940A7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C9405-080B-5B1D-D77C-0837FEDD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0FBC5-8DFE-B8F2-58C8-C8D3FA7C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DD7-27A9-C63A-9085-60A6E5F0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E8F5-62DF-874C-8E68-E68ACBB1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0254-7A32-B7EB-3E9B-419ED388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CDBC7-ECF4-4534-4ABC-F72E774C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45524-5C67-606D-D7C1-0CBE6275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25CE5-24FC-17EE-C620-83BA924D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7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B7EB-D4A4-2762-19AC-CD9325B8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F9724-0FBC-2BDA-F1F7-60D1DB9C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38110-5258-41D2-EBD4-AB2DCD98C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A0B6-0A71-9C2C-887B-44E41A49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3A879-242A-E38C-9E5F-8CCD8001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8E46-6B66-7C10-A66A-8F20CDDE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B80-C1C6-C27F-6252-C2940683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B0CE-9676-3CE0-485A-470CA2744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3CA4-23C0-271F-E97C-487B3C0C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DD4A-3509-8432-E107-E5300EA7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B5B0-A08B-312D-6656-A2865FD3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8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AC76D-7B23-E871-C590-CC77FCC3B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4BD2A-1898-BA00-4E65-BC46647E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1D78-0FD8-EF51-55BB-3ED3EA54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5661A-9373-952E-24E9-C5CD40C0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265C-DE03-9A5A-491F-A3E4172D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6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9BA6B-1573-6B3C-CAE9-09806704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D5D0-0ED2-1785-FA88-B914A9DB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43DC-747C-EC9E-3A77-327B66CE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24116-F216-43F6-B0FD-B31235B02F4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34495-3E9B-17F6-6AC8-E81C1DF9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5D057-BAE6-39B4-6905-0E56FB8F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HIT-CSSE/csse220/blob/sig-2025/Docs/Handouts/Basic_OO_Principles_for_CSSE220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kotlinlang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aude.com/product/claude-code" TargetMode="External"/><Relationship Id="rId2" Type="http://schemas.openxmlformats.org/officeDocument/2006/relationships/hyperlink" Target="https://github.com/features/copil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indsurf.com/" TargetMode="External"/><Relationship Id="rId5" Type="http://schemas.openxmlformats.org/officeDocument/2006/relationships/hyperlink" Target="https://cursor.com/" TargetMode="External"/><Relationship Id="rId4" Type="http://schemas.openxmlformats.org/officeDocument/2006/relationships/hyperlink" Target="https://openai.com/codex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anludden.com/csse220-genai-guide/Ethics-and-Me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5859-AAF4-7D6E-43D1-580D645004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CSSE 220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Course Wrap-up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205B2-D346-4933-F5AE-6FACA3455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0366"/>
            <a:ext cx="9144000" cy="1655762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239994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AD48-E502-2D9B-32B8-BEF52E400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Recap - OODPs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2623-954B-5CCE-2A05-508C4166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215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Grandview" panose="020B0502040204020203" pitchFamily="34" charset="0"/>
              </a:rPr>
              <a:t>(blue </a:t>
            </a:r>
            <a:r>
              <a:rPr lang="en-US" dirty="0">
                <a:latin typeface="Grandview" panose="020B0502040204020203" pitchFamily="34" charset="0"/>
                <a:hlinkClick r:id="rId2"/>
              </a:rPr>
              <a:t>reference sheet</a:t>
            </a:r>
            <a:r>
              <a:rPr lang="en-US" dirty="0">
                <a:latin typeface="Grandview" panose="020B0502040204020203" pitchFamily="34" charset="0"/>
              </a:rPr>
              <a:t> on doc cam)</a:t>
            </a:r>
          </a:p>
          <a:p>
            <a:r>
              <a:rPr lang="en-US" dirty="0">
                <a:latin typeface="Grandview" panose="020B0502040204020203" pitchFamily="34" charset="0"/>
              </a:rPr>
              <a:t>Overall goal is to write software that’s </a:t>
            </a:r>
            <a:r>
              <a:rPr lang="en-US" b="1" i="1" dirty="0">
                <a:latin typeface="Grandview" panose="020B0502040204020203" pitchFamily="34" charset="0"/>
              </a:rPr>
              <a:t>functional</a:t>
            </a:r>
            <a:r>
              <a:rPr lang="en-US" b="1" dirty="0">
                <a:latin typeface="Grandview" panose="020B0502040204020203" pitchFamily="34" charset="0"/>
              </a:rPr>
              <a:t> </a:t>
            </a:r>
            <a:r>
              <a:rPr lang="en-US" dirty="0">
                <a:latin typeface="Grandview" panose="020B0502040204020203" pitchFamily="34" charset="0"/>
              </a:rPr>
              <a:t>and easy to: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Use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Read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Modify/extend/maintain</a:t>
            </a:r>
          </a:p>
          <a:p>
            <a:r>
              <a:rPr lang="en-US" dirty="0">
                <a:latin typeface="Grandview" panose="020B0502040204020203" pitchFamily="34" charset="0"/>
              </a:rPr>
              <a:t>Four “pillars” of object-oriented programming:</a:t>
            </a:r>
          </a:p>
          <a:p>
            <a:pPr lvl="1"/>
            <a:r>
              <a:rPr lang="en-US" b="1" dirty="0">
                <a:latin typeface="Grandview" panose="020B0502040204020203" pitchFamily="34" charset="0"/>
              </a:rPr>
              <a:t>Abstraction</a:t>
            </a:r>
            <a:r>
              <a:rPr lang="en-US" dirty="0">
                <a:latin typeface="Grandview" panose="020B0502040204020203" pitchFamily="34" charset="0"/>
              </a:rPr>
              <a:t> – provide simple public interface, hide implementation details</a:t>
            </a:r>
          </a:p>
          <a:p>
            <a:pPr lvl="1"/>
            <a:r>
              <a:rPr lang="en-US" b="1" dirty="0">
                <a:latin typeface="Grandview" panose="020B0502040204020203" pitchFamily="34" charset="0"/>
              </a:rPr>
              <a:t>Encapsulation</a:t>
            </a:r>
            <a:r>
              <a:rPr lang="en-US" dirty="0">
                <a:latin typeface="Grandview" panose="020B0502040204020203" pitchFamily="34" charset="0"/>
              </a:rPr>
              <a:t> – put data and related ops in a limited-access bundle</a:t>
            </a:r>
          </a:p>
          <a:p>
            <a:pPr lvl="1"/>
            <a:r>
              <a:rPr lang="en-US" b="1" dirty="0">
                <a:latin typeface="Grandview" panose="020B0502040204020203" pitchFamily="34" charset="0"/>
              </a:rPr>
              <a:t>Inheritance </a:t>
            </a:r>
            <a:r>
              <a:rPr lang="en-US" dirty="0">
                <a:latin typeface="Grandview" panose="020B0502040204020203" pitchFamily="34" charset="0"/>
              </a:rPr>
              <a:t>– reuse fields and methods</a:t>
            </a:r>
          </a:p>
          <a:p>
            <a:pPr lvl="1"/>
            <a:r>
              <a:rPr lang="en-US" b="1" dirty="0">
                <a:latin typeface="Grandview" panose="020B0502040204020203" pitchFamily="34" charset="0"/>
              </a:rPr>
              <a:t>Polymorphism </a:t>
            </a:r>
            <a:r>
              <a:rPr lang="en-US" dirty="0">
                <a:latin typeface="Grandview" panose="020B0502040204020203" pitchFamily="34" charset="0"/>
              </a:rPr>
              <a:t>– call correct method w/o knowing type at compile-time</a:t>
            </a:r>
          </a:p>
        </p:txBody>
      </p:sp>
    </p:spTree>
    <p:extLst>
      <p:ext uri="{BB962C8B-B14F-4D97-AF65-F5344CB8AC3E}">
        <p14:creationId xmlns:p14="http://schemas.microsoft.com/office/powerpoint/2010/main" val="92496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B609-781E-7B09-E71B-8000AB41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F64F-CB37-AA76-4794-5697A963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Design, then build (then iterate)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4F57-5BFC-E9F7-EA2D-484451AA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4359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Use UML class diagrams to quickly explore design ideas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Avoid wasting time implementing bad designs</a:t>
            </a:r>
          </a:p>
          <a:p>
            <a:r>
              <a:rPr lang="en-US" dirty="0">
                <a:latin typeface="Grandview" panose="020B0502040204020203" pitchFamily="34" charset="0"/>
              </a:rPr>
              <a:t>To evaluate alternate designs that look good, consider generating quick prototypes of core classes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How easy is each to build?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Now that you see the code, are any OODP violations more obvious?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Thought experiment: How would you handle new requirement X? (perhaps most expected, or least expected, change from client)</a:t>
            </a:r>
          </a:p>
          <a:p>
            <a:r>
              <a:rPr lang="en-US" dirty="0">
                <a:latin typeface="Grandview" panose="020B0502040204020203" pitchFamily="34" charset="0"/>
              </a:rPr>
              <a:t>As requirements evolve, revisit (UML) design and iterate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Refactor as needed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In real-world: refactor when cost of refactoring is less than cost of struggling to move forward with current design</a:t>
            </a:r>
          </a:p>
        </p:txBody>
      </p:sp>
    </p:spTree>
    <p:extLst>
      <p:ext uri="{BB962C8B-B14F-4D97-AF65-F5344CB8AC3E}">
        <p14:creationId xmlns:p14="http://schemas.microsoft.com/office/powerpoint/2010/main" val="394030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7F0-E09A-E801-08EC-ABD8DE52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2FBA-BE41-57BE-170E-926AB87E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LLM/</a:t>
            </a:r>
            <a:r>
              <a:rPr lang="en-US" dirty="0" err="1">
                <a:latin typeface="Grandview Display" panose="020B0502040204020203" pitchFamily="34" charset="0"/>
              </a:rPr>
              <a:t>genAI</a:t>
            </a:r>
            <a:r>
              <a:rPr lang="en-US" dirty="0">
                <a:latin typeface="Grandview Display" panose="020B0502040204020203" pitchFamily="34" charset="0"/>
              </a:rPr>
              <a:t>-assisted Software Dev: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When? Why? (</a:t>
            </a:r>
            <a:r>
              <a:rPr lang="en-US" i="1" dirty="0">
                <a:latin typeface="Grandview Display" panose="020B0502040204020203" pitchFamily="34" charset="0"/>
              </a:rPr>
              <a:t>How</a:t>
            </a:r>
            <a:r>
              <a:rPr lang="en-US" dirty="0">
                <a:latin typeface="Grandview Display" panose="020B0502040204020203" pitchFamily="34" charset="0"/>
              </a:rPr>
              <a:t> a bit later)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4F7E-40FC-20E9-3A99-CF72A16E3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Discussion: When does LLM/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 assistance seem helpful?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Discussion: Why use an LLM/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 tool over alternatives, like reading documentation, consulting forums, or asking a senior software engineer? 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92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62F9-706D-CF38-0B8E-DA2AF450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87E4-D447-5539-61DB-3E737992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LLM/</a:t>
            </a:r>
            <a:r>
              <a:rPr lang="en-US" dirty="0" err="1">
                <a:latin typeface="Grandview Display" panose="020B0502040204020203" pitchFamily="34" charset="0"/>
              </a:rPr>
              <a:t>genAI</a:t>
            </a:r>
            <a:r>
              <a:rPr lang="en-US" dirty="0">
                <a:latin typeface="Grandview Display" panose="020B0502040204020203" pitchFamily="34" charset="0"/>
              </a:rPr>
              <a:t>-assisted Software Dev: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Demo of Translating from Java to Kotlin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61B43-0E87-C197-A1A0-54A2DE9B6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235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In Act29/</a:t>
            </a:r>
            <a:r>
              <a:rPr lang="en-US" dirty="0" err="1">
                <a:latin typeface="Grandview" panose="020B0502040204020203" pitchFamily="34" charset="0"/>
              </a:rPr>
              <a:t>src</a:t>
            </a:r>
            <a:r>
              <a:rPr lang="en-US" dirty="0">
                <a:latin typeface="Grandview" panose="020B0502040204020203" pitchFamily="34" charset="0"/>
              </a:rPr>
              <a:t>, see old friends </a:t>
            </a:r>
            <a:r>
              <a:rPr lang="en-US" dirty="0" err="1">
                <a:latin typeface="Grandview" panose="020B0502040204020203" pitchFamily="34" charset="0"/>
              </a:rPr>
              <a:t>LoudToy</a:t>
            </a:r>
            <a:r>
              <a:rPr lang="en-US" dirty="0">
                <a:latin typeface="Grandview" panose="020B0502040204020203" pitchFamily="34" charset="0"/>
              </a:rPr>
              <a:t>, </a:t>
            </a:r>
            <a:r>
              <a:rPr lang="en-US" dirty="0" err="1">
                <a:latin typeface="Grandview" panose="020B0502040204020203" pitchFamily="34" charset="0"/>
              </a:rPr>
              <a:t>ToySheep</a:t>
            </a:r>
            <a:r>
              <a:rPr lang="en-US" dirty="0">
                <a:latin typeface="Grandview" panose="020B0502040204020203" pitchFamily="34" charset="0"/>
              </a:rPr>
              <a:t>, </a:t>
            </a:r>
            <a:r>
              <a:rPr lang="en-US" dirty="0" err="1">
                <a:latin typeface="Grandview" panose="020B0502040204020203" pitchFamily="34" charset="0"/>
              </a:rPr>
              <a:t>ToyRobot</a:t>
            </a:r>
            <a:r>
              <a:rPr lang="en-US" dirty="0">
                <a:latin typeface="Grandview" panose="020B0502040204020203" pitchFamily="34" charset="0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Ask a 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 tool to convert this program into Kotlin.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Test the conversion at </a:t>
            </a:r>
            <a:r>
              <a:rPr lang="en-US" dirty="0">
                <a:latin typeface="Grandview" panose="020B0502040204020203" pitchFamily="34" charset="0"/>
                <a:hlinkClick r:id="rId3"/>
              </a:rPr>
              <a:t>https://play.kotlinlang.org/</a:t>
            </a:r>
            <a:r>
              <a:rPr lang="en-US" dirty="0">
                <a:latin typeface="Grandview" panose="020B0502040204020203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What Java/Kotlin similarities do you notice? What differences?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3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7695-D875-913B-B256-4D7003BE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9B83-613A-E673-2159-A26519D3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LLM/</a:t>
            </a:r>
            <a:r>
              <a:rPr lang="en-US" dirty="0" err="1">
                <a:latin typeface="Grandview Display" panose="020B0502040204020203" pitchFamily="34" charset="0"/>
              </a:rPr>
              <a:t>genAI</a:t>
            </a:r>
            <a:r>
              <a:rPr lang="en-US" dirty="0">
                <a:latin typeface="Grandview Display" panose="020B0502040204020203" pitchFamily="34" charset="0"/>
              </a:rPr>
              <a:t>-assisted Software Dev: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How? (Current Industry Practices)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0418-88AA-20AD-D450-7095A3117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71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Instead of using LLMs via chatbots…</a:t>
            </a: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…directly integrate LLM-powered </a:t>
            </a:r>
            <a:r>
              <a:rPr lang="en-US" b="1" i="1" dirty="0">
                <a:latin typeface="Grandview" panose="020B0502040204020203" pitchFamily="34" charset="0"/>
              </a:rPr>
              <a:t>agents</a:t>
            </a:r>
            <a:r>
              <a:rPr lang="en-US" dirty="0">
                <a:latin typeface="Grandview" panose="020B0502040204020203" pitchFamily="34" charset="0"/>
              </a:rPr>
              <a:t> within IDE/terminal. </a:t>
            </a:r>
          </a:p>
          <a:p>
            <a:r>
              <a:rPr lang="en-US" dirty="0">
                <a:latin typeface="Grandview" panose="020B0502040204020203" pitchFamily="34" charset="0"/>
                <a:hlinkClick r:id="rId2"/>
              </a:rPr>
              <a:t>GitHub Copilot</a:t>
            </a:r>
            <a:r>
              <a:rPr lang="en-US" dirty="0">
                <a:latin typeface="Grandview" panose="020B0502040204020203" pitchFamily="34" charset="0"/>
              </a:rPr>
              <a:t> (Microsoft)</a:t>
            </a:r>
          </a:p>
          <a:p>
            <a:r>
              <a:rPr lang="en-US" dirty="0">
                <a:latin typeface="Grandview" panose="020B0502040204020203" pitchFamily="34" charset="0"/>
                <a:hlinkClick r:id="rId3"/>
              </a:rPr>
              <a:t>Claude Code</a:t>
            </a:r>
            <a:r>
              <a:rPr lang="en-US" dirty="0">
                <a:latin typeface="Grandview" panose="020B0502040204020203" pitchFamily="34" charset="0"/>
              </a:rPr>
              <a:t> (Anthropic)</a:t>
            </a:r>
          </a:p>
          <a:p>
            <a:r>
              <a:rPr lang="en-US" dirty="0">
                <a:latin typeface="Grandview" panose="020B0502040204020203" pitchFamily="34" charset="0"/>
                <a:hlinkClick r:id="rId4"/>
              </a:rPr>
              <a:t>Codex</a:t>
            </a:r>
            <a:r>
              <a:rPr lang="en-US" dirty="0">
                <a:latin typeface="Grandview" panose="020B0502040204020203" pitchFamily="34" charset="0"/>
              </a:rPr>
              <a:t> (OpenAI)</a:t>
            </a:r>
          </a:p>
          <a:p>
            <a:pPr marL="0" indent="0">
              <a:buNone/>
            </a:pPr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Also consider IDEs designed specifically for AI coding agents</a:t>
            </a:r>
          </a:p>
          <a:p>
            <a:r>
              <a:rPr lang="en-US" dirty="0">
                <a:latin typeface="Grandview" panose="020B0502040204020203" pitchFamily="34" charset="0"/>
                <a:hlinkClick r:id="rId5"/>
              </a:rPr>
              <a:t>Cursor</a:t>
            </a:r>
            <a:r>
              <a:rPr lang="en-US" dirty="0">
                <a:latin typeface="Grandview" panose="020B0502040204020203" pitchFamily="34" charset="0"/>
              </a:rPr>
              <a:t> </a:t>
            </a:r>
          </a:p>
          <a:p>
            <a:r>
              <a:rPr lang="en-US" dirty="0">
                <a:latin typeface="Grandview" panose="020B0502040204020203" pitchFamily="34" charset="0"/>
                <a:hlinkClick r:id="rId6"/>
              </a:rPr>
              <a:t>Windsurf</a:t>
            </a:r>
            <a:r>
              <a:rPr lang="en-US" dirty="0">
                <a:latin typeface="Grandview" panose="020B0502040204020203" pitchFamily="34" charset="0"/>
              </a:rPr>
              <a:t> (see WindsurfDemo.mp4)</a:t>
            </a:r>
          </a:p>
          <a:p>
            <a:pPr marL="0" indent="0">
              <a:buNone/>
            </a:pPr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Discussion: Advantages? Disadvantages? </a:t>
            </a:r>
          </a:p>
        </p:txBody>
      </p:sp>
    </p:spTree>
    <p:extLst>
      <p:ext uri="{BB962C8B-B14F-4D97-AF65-F5344CB8AC3E}">
        <p14:creationId xmlns:p14="http://schemas.microsoft.com/office/powerpoint/2010/main" val="55955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25539-3C7F-EDC1-DF7A-05677438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B866-08C8-C610-6B9C-1270DE31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LLM/</a:t>
            </a:r>
            <a:r>
              <a:rPr lang="en-US" dirty="0" err="1">
                <a:latin typeface="Grandview Display" panose="020B0502040204020203" pitchFamily="34" charset="0"/>
              </a:rPr>
              <a:t>genAI</a:t>
            </a:r>
            <a:r>
              <a:rPr lang="en-US" dirty="0">
                <a:latin typeface="Grandview Display" panose="020B0502040204020203" pitchFamily="34" charset="0"/>
              </a:rPr>
              <a:t>-assisted Software Dev: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Ethics and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50AC0-1DC0-31B5-3787-1D2F6EB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82" y="1825624"/>
            <a:ext cx="11959936" cy="4803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Select one article from the </a:t>
            </a:r>
            <a:r>
              <a:rPr lang="en-US" dirty="0">
                <a:latin typeface="Grandview" panose="020B0502040204020203" pitchFamily="34" charset="0"/>
                <a:hlinkClick r:id="rId2"/>
              </a:rPr>
              <a:t>CSSE220 GenAI Guide’s “Ethics and Meta” page</a:t>
            </a:r>
            <a:r>
              <a:rPr lang="en-US" dirty="0">
                <a:latin typeface="Grandview" panose="020B0502040204020203" pitchFamily="34" charset="0"/>
              </a:rPr>
              <a:t>, “Impacts on Society and the Environment” section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Read the article (for longer papers, abstract -&gt; intro -&gt; conclusion)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Discuss with others who read same article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Innovation Bargain: SE (podium)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Impact on socioeconomic </a:t>
            </a:r>
            <a:r>
              <a:rPr lang="en-US" dirty="0" err="1">
                <a:latin typeface="Grandview" panose="020B0502040204020203" pitchFamily="34" charset="0"/>
              </a:rPr>
              <a:t>ineq</a:t>
            </a:r>
            <a:r>
              <a:rPr lang="en-US" dirty="0">
                <a:latin typeface="Grandview" panose="020B0502040204020203" pitchFamily="34" charset="0"/>
              </a:rPr>
              <a:t>, policy: NW (toward Union)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Cognitive offloading: SW (by doors)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Environmental impact: NE (windows)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Prepare summary of article and your discussion for rest of class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How should this article inform our approach to AI-assisted software dev?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98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54AC-53A7-52E9-DABE-7C875557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211F-5C3D-9CFB-F2DE-B1FF0158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7832" cy="1325563"/>
          </a:xfrm>
        </p:spPr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Life after CSSE 220 (for CS/SE/ICS)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ED3C-701E-D73C-239A-D4A58ED43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825625"/>
            <a:ext cx="1134645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Grandview" panose="020B0502040204020203" pitchFamily="34" charset="0"/>
              </a:rPr>
              <a:t>Deeper dive into data structures and algorithm analysis: CSSE 230</a:t>
            </a:r>
          </a:p>
          <a:p>
            <a:r>
              <a:rPr lang="en-US" dirty="0">
                <a:latin typeface="Grandview" panose="020B0502040204020203" pitchFamily="34" charset="0"/>
              </a:rPr>
              <a:t>How to translate what client </a:t>
            </a:r>
            <a:r>
              <a:rPr lang="en-US" b="1" i="1" dirty="0">
                <a:latin typeface="Grandview" panose="020B0502040204020203" pitchFamily="34" charset="0"/>
              </a:rPr>
              <a:t>says</a:t>
            </a:r>
            <a:r>
              <a:rPr lang="en-US" dirty="0">
                <a:latin typeface="Grandview" panose="020B0502040204020203" pitchFamily="34" charset="0"/>
              </a:rPr>
              <a:t> they want into </a:t>
            </a:r>
            <a:r>
              <a:rPr lang="en-US" dirty="0" err="1">
                <a:latin typeface="Grandview" panose="020B0502040204020203" pitchFamily="34" charset="0"/>
              </a:rPr>
              <a:t>reqs</a:t>
            </a:r>
            <a:r>
              <a:rPr lang="en-US" dirty="0">
                <a:latin typeface="Grandview" panose="020B0502040204020203" pitchFamily="34" charset="0"/>
              </a:rPr>
              <a:t>: CSSE 371</a:t>
            </a:r>
          </a:p>
          <a:p>
            <a:r>
              <a:rPr lang="en-US" dirty="0">
                <a:latin typeface="Grandview" panose="020B0502040204020203" pitchFamily="34" charset="0"/>
              </a:rPr>
              <a:t>More advanced software architectures/design patterns: CSSE 374 </a:t>
            </a:r>
          </a:p>
          <a:p>
            <a:r>
              <a:rPr lang="en-US" dirty="0">
                <a:latin typeface="Grandview" panose="020B0502040204020203" pitchFamily="34" charset="0"/>
              </a:rPr>
              <a:t>How to manage storing/updating data on bigger scale: CSSE 333</a:t>
            </a:r>
          </a:p>
          <a:p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(If this is your last CSSE course, the practice with design &amp; project management will serve you in various courses, especially capstone.)</a:t>
            </a:r>
          </a:p>
        </p:txBody>
      </p:sp>
    </p:spTree>
    <p:extLst>
      <p:ext uri="{BB962C8B-B14F-4D97-AF65-F5344CB8AC3E}">
        <p14:creationId xmlns:p14="http://schemas.microsoft.com/office/powerpoint/2010/main" val="4570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F9D2-8DEE-DE8E-D0ED-2EF698B6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F47F-F137-5706-6D7A-0207EA6D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7832" cy="1325563"/>
          </a:xfrm>
        </p:spPr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Course Evaluations and Project Work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A424-F9D8-5863-88D4-152295E40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5" y="1825625"/>
            <a:ext cx="11585862" cy="4351338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Please complete course evaluation form (linked from Moodle)</a:t>
            </a:r>
          </a:p>
          <a:p>
            <a:r>
              <a:rPr lang="en-US" dirty="0">
                <a:latin typeface="Grandview" panose="020B0502040204020203" pitchFamily="34" charset="0"/>
              </a:rPr>
              <a:t>For open-ended questions, I’d especially like your input on: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mastery-based learning grading system</a:t>
            </a:r>
          </a:p>
          <a:p>
            <a:pPr lvl="1"/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-integrated activities and assignments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POGIL, and change in structure halfway through (adding lectures, live coding)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final project (open-endedness, scoping, requirements, etc.)</a:t>
            </a:r>
          </a:p>
          <a:p>
            <a:r>
              <a:rPr lang="en-US" dirty="0">
                <a:latin typeface="Grandview" panose="020B0502040204020203" pitchFamily="34" charset="0"/>
              </a:rPr>
              <a:t>Then, project work time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I’ll be in the Olin lobby if you have questions</a:t>
            </a:r>
          </a:p>
          <a:p>
            <a:pPr lvl="1"/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0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697</Words>
  <Application>Microsoft Office PowerPoint</Application>
  <PresentationFormat>Widescreen</PresentationFormat>
  <Paragraphs>77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Grandview</vt:lpstr>
      <vt:lpstr>Grandview Display</vt:lpstr>
      <vt:lpstr>Office Theme</vt:lpstr>
      <vt:lpstr>CSSE 220  Course Wrap-up</vt:lpstr>
      <vt:lpstr>Recap - OODPs</vt:lpstr>
      <vt:lpstr>Design, then build (then iterate)</vt:lpstr>
      <vt:lpstr>LLM/genAI-assisted Software Dev:  When? Why? (How a bit later)</vt:lpstr>
      <vt:lpstr>LLM/genAI-assisted Software Dev:  Demo of Translating from Java to Kotlin</vt:lpstr>
      <vt:lpstr>LLM/genAI-assisted Software Dev:  How? (Current Industry Practices)</vt:lpstr>
      <vt:lpstr>LLM/genAI-assisted Software Dev:  Ethics and Impact</vt:lpstr>
      <vt:lpstr>Life after CSSE 220 (for CS/SE/ICS)</vt:lpstr>
      <vt:lpstr>Course Evaluations and Project Work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Ludden, Ian</dc:creator>
  <cp:lastModifiedBy>Ludden, Ian</cp:lastModifiedBy>
  <cp:revision>65</cp:revision>
  <dcterms:created xsi:type="dcterms:W3CDTF">2025-10-15T20:42:50Z</dcterms:created>
  <dcterms:modified xsi:type="dcterms:W3CDTF">2025-11-11T12:42:13Z</dcterms:modified>
</cp:coreProperties>
</file>