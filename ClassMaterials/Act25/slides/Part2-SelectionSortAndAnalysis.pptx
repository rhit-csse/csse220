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4485" r:id="rId1"/>
  </p:sldMasterIdLst>
  <p:notesMasterIdLst>
    <p:notesMasterId r:id="rId16"/>
  </p:notesMasterIdLst>
  <p:handoutMasterIdLst>
    <p:handoutMasterId r:id="rId17"/>
  </p:handoutMasterIdLst>
  <p:sldIdLst>
    <p:sldId id="256" r:id="rId2"/>
    <p:sldId id="261" r:id="rId3"/>
    <p:sldId id="287" r:id="rId4"/>
    <p:sldId id="262" r:id="rId5"/>
    <p:sldId id="280" r:id="rId6"/>
    <p:sldId id="279" r:id="rId7"/>
    <p:sldId id="286" r:id="rId8"/>
    <p:sldId id="264" r:id="rId9"/>
    <p:sldId id="265" r:id="rId10"/>
    <p:sldId id="276" r:id="rId11"/>
    <p:sldId id="277" r:id="rId12"/>
    <p:sldId id="275" r:id="rId13"/>
    <p:sldId id="266" r:id="rId14"/>
    <p:sldId id="267" r:id="rId15"/>
  </p:sldIdLst>
  <p:sldSz cx="9144000" cy="6858000" type="screen4x3"/>
  <p:notesSz cx="7010400" cy="92964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DA1F28"/>
    <a:srgbClr val="EE7D3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C6BB0C4-C7D7-42CA-8DA1-B1337A4CAECA}" v="2" dt="2023-11-20T21:52:50.644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301" autoAdjust="0"/>
    <p:restoredTop sz="87619" autoAdjust="0"/>
  </p:normalViewPr>
  <p:slideViewPr>
    <p:cSldViewPr snapToObjects="1">
      <p:cViewPr varScale="1">
        <p:scale>
          <a:sx n="97" d="100"/>
          <a:sy n="97" d="100"/>
        </p:scale>
        <p:origin x="1968" y="7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handoutMaster" Target="handoutMasters/handoutMaster1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microsoft.com/office/2015/10/relationships/revisionInfo" Target="revisionInfo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Yoder, Jason" userId="28f4d4d8-da04-4f86-b14d-a21675737bc5" providerId="ADAL" clId="{3C6BB0C4-C7D7-42CA-8DA1-B1337A4CAECA}"/>
    <pc:docChg chg="custSel addSld delSld modSld">
      <pc:chgData name="Yoder, Jason" userId="28f4d4d8-da04-4f86-b14d-a21675737bc5" providerId="ADAL" clId="{3C6BB0C4-C7D7-42CA-8DA1-B1337A4CAECA}" dt="2023-11-20T21:55:01.256" v="163" actId="20577"/>
      <pc:docMkLst>
        <pc:docMk/>
      </pc:docMkLst>
      <pc:sldChg chg="addSp delSp modSp mod">
        <pc:chgData name="Yoder, Jason" userId="28f4d4d8-da04-4f86-b14d-a21675737bc5" providerId="ADAL" clId="{3C6BB0C4-C7D7-42CA-8DA1-B1337A4CAECA}" dt="2023-11-20T21:52:36.257" v="11"/>
        <pc:sldMkLst>
          <pc:docMk/>
          <pc:sldMk cId="0" sldId="256"/>
        </pc:sldMkLst>
        <pc:spChg chg="mod">
          <ac:chgData name="Yoder, Jason" userId="28f4d4d8-da04-4f86-b14d-a21675737bc5" providerId="ADAL" clId="{3C6BB0C4-C7D7-42CA-8DA1-B1337A4CAECA}" dt="2023-11-20T21:52:22.823" v="9" actId="20577"/>
          <ac:spMkLst>
            <pc:docMk/>
            <pc:sldMk cId="0" sldId="256"/>
            <ac:spMk id="3" creationId="{B07C73E1-123D-587B-9987-0F2E97F6208C}"/>
          </ac:spMkLst>
        </pc:spChg>
        <pc:spChg chg="del">
          <ac:chgData name="Yoder, Jason" userId="28f4d4d8-da04-4f86-b14d-a21675737bc5" providerId="ADAL" clId="{3C6BB0C4-C7D7-42CA-8DA1-B1337A4CAECA}" dt="2023-11-20T21:52:35.982" v="10" actId="478"/>
          <ac:spMkLst>
            <pc:docMk/>
            <pc:sldMk cId="0" sldId="256"/>
            <ac:spMk id="5" creationId="{26B3CE9F-948B-7C48-A057-E53E8192A79A}"/>
          </ac:spMkLst>
        </pc:spChg>
        <pc:spChg chg="add mod">
          <ac:chgData name="Yoder, Jason" userId="28f4d4d8-da04-4f86-b14d-a21675737bc5" providerId="ADAL" clId="{3C6BB0C4-C7D7-42CA-8DA1-B1337A4CAECA}" dt="2023-11-20T21:52:36.257" v="11"/>
          <ac:spMkLst>
            <pc:docMk/>
            <pc:sldMk cId="0" sldId="256"/>
            <ac:spMk id="6" creationId="{F711D897-0F0D-0878-287A-8B0F8F3BD42A}"/>
          </ac:spMkLst>
        </pc:spChg>
      </pc:sldChg>
      <pc:sldChg chg="modNotesTx">
        <pc:chgData name="Yoder, Jason" userId="28f4d4d8-da04-4f86-b14d-a21675737bc5" providerId="ADAL" clId="{3C6BB0C4-C7D7-42CA-8DA1-B1337A4CAECA}" dt="2023-11-20T21:55:01.256" v="163" actId="20577"/>
        <pc:sldMkLst>
          <pc:docMk/>
          <pc:sldMk cId="0" sldId="267"/>
        </pc:sldMkLst>
      </pc:sldChg>
      <pc:sldChg chg="del">
        <pc:chgData name="Yoder, Jason" userId="28f4d4d8-da04-4f86-b14d-a21675737bc5" providerId="ADAL" clId="{3C6BB0C4-C7D7-42CA-8DA1-B1337A4CAECA}" dt="2023-11-20T21:52:52.390" v="13" actId="47"/>
        <pc:sldMkLst>
          <pc:docMk/>
          <pc:sldMk cId="2264806080" sldId="278"/>
        </pc:sldMkLst>
      </pc:sldChg>
      <pc:sldChg chg="add">
        <pc:chgData name="Yoder, Jason" userId="28f4d4d8-da04-4f86-b14d-a21675737bc5" providerId="ADAL" clId="{3C6BB0C4-C7D7-42CA-8DA1-B1337A4CAECA}" dt="2023-11-20T21:52:50.642" v="12"/>
        <pc:sldMkLst>
          <pc:docMk/>
          <pc:sldMk cId="602523907" sldId="287"/>
        </pc:sldMkLst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 bwMode="auto">
          <a:xfrm>
            <a:off x="1" y="1"/>
            <a:ext cx="3038145" cy="46574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3141" tIns="46571" rIns="93141" bIns="46571" numCol="1" anchor="t" anchorCtr="0" compatLnSpc="1">
            <a:prstTxWarp prst="textNoShape">
              <a:avLst/>
            </a:prstTxWarp>
          </a:bodyPr>
          <a:lstStyle>
            <a:lvl1pPr defTabSz="913364">
              <a:defRPr sz="1100">
                <a:latin typeface="Calibri" pitchFamily="34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 bwMode="auto">
          <a:xfrm>
            <a:off x="3972257" y="1"/>
            <a:ext cx="3036623" cy="46574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3141" tIns="46571" rIns="93141" bIns="46571" numCol="1" anchor="t" anchorCtr="0" compatLnSpc="1">
            <a:prstTxWarp prst="textNoShape">
              <a:avLst/>
            </a:prstTxWarp>
          </a:bodyPr>
          <a:lstStyle>
            <a:lvl1pPr algn="r" defTabSz="913364">
              <a:defRPr sz="1100">
                <a:latin typeface="Calibri" pitchFamily="34" charset="0"/>
              </a:defRPr>
            </a:lvl1pPr>
          </a:lstStyle>
          <a:p>
            <a:pPr>
              <a:defRPr/>
            </a:pPr>
            <a:fld id="{2CC49ADF-2A1A-4A40-A2D6-BF6551205A10}" type="datetimeFigureOut">
              <a:rPr lang="en-US"/>
              <a:pPr>
                <a:defRPr/>
              </a:pPr>
              <a:t>10/31/2025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 bwMode="auto">
          <a:xfrm>
            <a:off x="1" y="8829122"/>
            <a:ext cx="3038145" cy="46574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3141" tIns="46571" rIns="93141" bIns="46571" numCol="1" anchor="b" anchorCtr="0" compatLnSpc="1">
            <a:prstTxWarp prst="textNoShape">
              <a:avLst/>
            </a:prstTxWarp>
          </a:bodyPr>
          <a:lstStyle>
            <a:lvl1pPr defTabSz="913364">
              <a:defRPr sz="1100">
                <a:latin typeface="Calibri" pitchFamily="34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 bwMode="auto">
          <a:xfrm>
            <a:off x="3972257" y="8829122"/>
            <a:ext cx="3036623" cy="46574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3141" tIns="46571" rIns="93141" bIns="46571" numCol="1" anchor="b" anchorCtr="0" compatLnSpc="1">
            <a:prstTxWarp prst="textNoShape">
              <a:avLst/>
            </a:prstTxWarp>
          </a:bodyPr>
          <a:lstStyle>
            <a:lvl1pPr algn="r" defTabSz="913364">
              <a:defRPr sz="1100">
                <a:latin typeface="Calibri" pitchFamily="34" charset="0"/>
              </a:defRPr>
            </a:lvl1pPr>
          </a:lstStyle>
          <a:p>
            <a:pPr>
              <a:defRPr/>
            </a:pPr>
            <a:fld id="{FC11F898-EA37-4B27-BA37-CC0A94FE74C2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6511655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 bwMode="auto">
          <a:xfrm>
            <a:off x="1" y="1"/>
            <a:ext cx="3038145" cy="46574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3141" tIns="46571" rIns="93141" bIns="46571" numCol="1" anchor="t" anchorCtr="0" compatLnSpc="1">
            <a:prstTxWarp prst="textNoShape">
              <a:avLst/>
            </a:prstTxWarp>
          </a:bodyPr>
          <a:lstStyle>
            <a:lvl1pPr defTabSz="913364">
              <a:defRPr sz="1100">
                <a:latin typeface="Calibri" pitchFamily="34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 bwMode="auto">
          <a:xfrm>
            <a:off x="3970734" y="1"/>
            <a:ext cx="3038145" cy="46574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3141" tIns="46571" rIns="93141" bIns="46571" numCol="1" anchor="t" anchorCtr="0" compatLnSpc="1">
            <a:prstTxWarp prst="textNoShape">
              <a:avLst/>
            </a:prstTxWarp>
          </a:bodyPr>
          <a:lstStyle>
            <a:lvl1pPr algn="r" defTabSz="913364">
              <a:defRPr sz="1100">
                <a:latin typeface="Calibri" pitchFamily="34" charset="0"/>
              </a:defRPr>
            </a:lvl1pPr>
          </a:lstStyle>
          <a:p>
            <a:pPr>
              <a:defRPr/>
            </a:pPr>
            <a:fld id="{9DF0B742-C9D5-4308-BEC1-0E69C8C46D2E}" type="datetimeFigureOut">
              <a:rPr lang="en-US"/>
              <a:pPr>
                <a:defRPr/>
              </a:pPr>
              <a:t>10/31/2025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82688" y="696913"/>
            <a:ext cx="4646612" cy="34861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89791" tIns="44897" rIns="89791" bIns="44897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 bwMode="auto">
          <a:xfrm>
            <a:off x="701345" y="4416100"/>
            <a:ext cx="5607712" cy="418399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3141" tIns="46571" rIns="93141" bIns="46571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 bwMode="auto">
          <a:xfrm>
            <a:off x="1" y="8829122"/>
            <a:ext cx="3038145" cy="46574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3141" tIns="46571" rIns="93141" bIns="46571" numCol="1" anchor="b" anchorCtr="0" compatLnSpc="1">
            <a:prstTxWarp prst="textNoShape">
              <a:avLst/>
            </a:prstTxWarp>
          </a:bodyPr>
          <a:lstStyle>
            <a:lvl1pPr defTabSz="913364">
              <a:defRPr sz="1100">
                <a:latin typeface="Calibri" pitchFamily="34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 bwMode="auto">
          <a:xfrm>
            <a:off x="3970734" y="8829122"/>
            <a:ext cx="3038145" cy="46574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3141" tIns="46571" rIns="93141" bIns="46571" numCol="1" anchor="b" anchorCtr="0" compatLnSpc="1">
            <a:prstTxWarp prst="textNoShape">
              <a:avLst/>
            </a:prstTxWarp>
          </a:bodyPr>
          <a:lstStyle>
            <a:lvl1pPr algn="r" defTabSz="913364">
              <a:defRPr sz="1100">
                <a:latin typeface="Calibri" pitchFamily="34" charset="0"/>
              </a:defRPr>
            </a:lvl1pPr>
          </a:lstStyle>
          <a:p>
            <a:pPr>
              <a:defRPr/>
            </a:pPr>
            <a:fld id="{46D753E5-955C-4A64-9F06-F70656B24BC8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3921765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rtl="0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rtl="0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rtl="0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rtl="0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3" Type="http://schemas.openxmlformats.org/officeDocument/2006/relationships/hyperlink" Target="https://docs.google.com/spreadsheets/d/19V1f8brgzNm9bcj1giJqIg5MVgJjqbOTsFt9p6tBq_o/edit#gid=0" TargetMode="External"/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28675" name="Notes Placeholder 2"/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Bring</a:t>
            </a:r>
            <a:r>
              <a:rPr lang="en-US" baseline="0" dirty="0"/>
              <a:t> </a:t>
            </a:r>
            <a:r>
              <a:rPr lang="en-US" dirty="0"/>
              <a:t>a few playing cards</a:t>
            </a:r>
            <a:r>
              <a:rPr lang="en-US" baseline="0" dirty="0"/>
              <a:t> or preferably BIG LETTERS or BIG NUMBERS.</a:t>
            </a:r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baseline="0" dirty="0"/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baseline="0" dirty="0"/>
              <a:t>Bring a copy of the yellow pages. Make sure the page numbers on the “</a:t>
            </a:r>
            <a:r>
              <a:rPr lang="en-US" b="1" baseline="0" dirty="0"/>
              <a:t>Searching</a:t>
            </a:r>
            <a:r>
              <a:rPr lang="en-US" baseline="0" dirty="0"/>
              <a:t>” slide are correct.</a:t>
            </a:r>
          </a:p>
          <a:p>
            <a:pPr eaLnBrk="1" hangingPunct="1">
              <a:spcBef>
                <a:spcPct val="0"/>
              </a:spcBef>
            </a:pPr>
            <a:endParaRPr lang="en-US" dirty="0"/>
          </a:p>
        </p:txBody>
      </p:sp>
      <p:sp>
        <p:nvSpPr>
          <p:cNvPr id="28676" name="Slide Number Placeholder 3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15CAF14A-A376-4D83-B35E-BD6BAD9B7207}" type="slidenum">
              <a:rPr lang="en-US" smtClean="0"/>
              <a:pPr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1253928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29699" name="Notes Placeholder 2"/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 dirty="0"/>
          </a:p>
          <a:p>
            <a:r>
              <a:rPr lang="en-US" dirty="0"/>
              <a:t>Odd</a:t>
            </a:r>
            <a:r>
              <a:rPr lang="en-US" baseline="0" dirty="0"/>
              <a:t> term, "sorting".  Knuth:  He was sort of out of sorts from sorting that sort of data.</a:t>
            </a:r>
          </a:p>
          <a:p>
            <a:endParaRPr lang="en-US" baseline="0" dirty="0"/>
          </a:p>
          <a:p>
            <a:r>
              <a:rPr lang="en-US" baseline="0"/>
              <a:t> My </a:t>
            </a:r>
            <a:r>
              <a:rPr lang="en-US" baseline="0" dirty="0"/>
              <a:t>boss ordered me to order a new tape drive so we can order our data several orders of magnitude faster.</a:t>
            </a:r>
            <a:endParaRPr lang="en-US" dirty="0"/>
          </a:p>
        </p:txBody>
      </p:sp>
      <p:sp>
        <p:nvSpPr>
          <p:cNvPr id="29700" name="Slide Number Placeholder 3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3FFD4DA8-4B04-4EBB-BC9B-0A736C9DEA45}" type="slidenum">
              <a:rPr lang="en-US" smtClean="0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128234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0723" name="Notes Placeholder 2"/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r>
              <a:rPr lang="en-US"/>
              <a:t>[see story on next hidden slide]</a:t>
            </a:r>
          </a:p>
        </p:txBody>
      </p:sp>
      <p:sp>
        <p:nvSpPr>
          <p:cNvPr id="30724" name="Slide Number Placeholder 3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D7AE92B3-6B60-497D-A48F-9148FF906E62}" type="slidenum">
              <a:rPr lang="en-US" smtClean="0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262863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4" name="Rectangle 2"/>
          <p:cNvSpPr>
            <a:spLocks noGrp="1" noRot="1" noChangeAspec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9395" name="Rectangle 3"/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6127057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4" name="Rectangle 2"/>
          <p:cNvSpPr>
            <a:spLocks noGrp="1" noRot="1" noChangeAspec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9395" name="Rectangle 3"/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r>
              <a:rPr lang="en-US" dirty="0"/>
              <a:t>reversed</a:t>
            </a:r>
          </a:p>
        </p:txBody>
      </p:sp>
    </p:spTree>
    <p:extLst>
      <p:ext uri="{BB962C8B-B14F-4D97-AF65-F5344CB8AC3E}">
        <p14:creationId xmlns:p14="http://schemas.microsoft.com/office/powerpoint/2010/main" val="379460778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1747" name="Notes Placeholder 2"/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r>
              <a:rPr lang="en-US" dirty="0"/>
              <a:t>Review algorithm with a few of the cards</a:t>
            </a:r>
            <a:r>
              <a:rPr lang="en-US" baseline="0" dirty="0"/>
              <a:t> or preferably the BIG LETTERS or big numbers</a:t>
            </a:r>
          </a:p>
          <a:p>
            <a:r>
              <a:rPr lang="en-US" baseline="0" dirty="0"/>
              <a:t> </a:t>
            </a:r>
            <a:endParaRPr lang="en-US" dirty="0"/>
          </a:p>
          <a:p>
            <a:r>
              <a:rPr lang="en-US" dirty="0"/>
              <a:t>Look at </a:t>
            </a:r>
            <a:r>
              <a:rPr lang="en-US" dirty="0" err="1"/>
              <a:t>sortAndSearch.SelectionSort</a:t>
            </a:r>
            <a:r>
              <a:rPr lang="en-US" dirty="0"/>
              <a:t>(), briefly explain use of generic methods.</a:t>
            </a:r>
          </a:p>
          <a:p>
            <a:endParaRPr lang="en-US" dirty="0"/>
          </a:p>
          <a:p>
            <a:r>
              <a:rPr lang="en-US" dirty="0"/>
              <a:t>Takeaways:</a:t>
            </a:r>
          </a:p>
          <a:p>
            <a:pPr marL="171450" indent="-171450">
              <a:buFont typeface="Courier New" charset="0"/>
              <a:buChar char="o"/>
            </a:pPr>
            <a:r>
              <a:rPr lang="en-US" dirty="0"/>
              <a:t>Start iterating from index</a:t>
            </a:r>
            <a:r>
              <a:rPr lang="en-US" baseline="0" dirty="0"/>
              <a:t> 0 (</a:t>
            </a:r>
            <a:r>
              <a:rPr lang="en-US" baseline="0" dirty="0" err="1"/>
              <a:t>firstUnsortedIndex</a:t>
            </a:r>
            <a:r>
              <a:rPr lang="en-US" baseline="0" dirty="0"/>
              <a:t>)</a:t>
            </a:r>
            <a:endParaRPr lang="en-US" dirty="0"/>
          </a:p>
          <a:p>
            <a:pPr marL="171450" indent="-171450">
              <a:buFont typeface="Courier New" charset="0"/>
              <a:buChar char="o"/>
            </a:pPr>
            <a:r>
              <a:rPr lang="en-US" dirty="0"/>
              <a:t>Smallest</a:t>
            </a:r>
            <a:r>
              <a:rPr lang="en-US" baseline="0" dirty="0"/>
              <a:t> remaining starts with value at index 0;</a:t>
            </a:r>
          </a:p>
          <a:p>
            <a:pPr marL="171450" indent="-171450">
              <a:buFont typeface="Courier New" charset="0"/>
              <a:buChar char="o"/>
            </a:pPr>
            <a:r>
              <a:rPr lang="en-US" baseline="0" dirty="0"/>
              <a:t>When smallest remaining element is found, swap with value at index from outer loop (</a:t>
            </a:r>
            <a:r>
              <a:rPr lang="en-US" baseline="0" dirty="0" err="1"/>
              <a:t>firstUnsortedIndex</a:t>
            </a:r>
            <a:r>
              <a:rPr lang="en-US" baseline="0" dirty="0"/>
              <a:t>).</a:t>
            </a:r>
          </a:p>
          <a:p>
            <a:endParaRPr lang="en-US" dirty="0"/>
          </a:p>
        </p:txBody>
      </p:sp>
      <p:sp>
        <p:nvSpPr>
          <p:cNvPr id="31748" name="Slide Number Placeholder 3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E81479FC-D5C0-4215-BF97-7E654B4A5203}" type="slidenum">
              <a:rPr lang="en-US" smtClean="0"/>
              <a:pPr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77242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2771" name="Notes Placeholder 2"/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r>
              <a:rPr lang="en-US" dirty="0"/>
              <a:t>[Plot data on whiteboard after they’re done]</a:t>
            </a:r>
          </a:p>
          <a:p>
            <a:r>
              <a:rPr lang="en-US" dirty="0"/>
              <a:t>[Or use Excel]</a:t>
            </a:r>
          </a:p>
          <a:p>
            <a:endParaRPr lang="en-US" dirty="0"/>
          </a:p>
          <a:p>
            <a:r>
              <a:rPr lang="en-US" dirty="0">
                <a:hlinkClick r:id="rId3"/>
              </a:rPr>
              <a:t>https://docs.google.com/spreadsheets/d/19V1f8brgzNm9bcj1giJqIg5MVgJjqbOTsFt9p6tBq_o/edit#gid=0</a:t>
            </a:r>
            <a:endParaRPr lang="en-US" dirty="0"/>
          </a:p>
        </p:txBody>
      </p:sp>
      <p:sp>
        <p:nvSpPr>
          <p:cNvPr id="32772" name="Slide Number Placeholder 3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2E727056-9A6D-4D35-ADE1-BD131FCCDFDA}" type="slidenum">
              <a:rPr lang="en-US" smtClean="0"/>
              <a:pPr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4532219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3795" name="Notes Placeholder 2"/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 dirty="0"/>
          </a:p>
        </p:txBody>
      </p:sp>
      <p:sp>
        <p:nvSpPr>
          <p:cNvPr id="33796" name="Slide Number Placeholder 3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D86FAE90-DB18-47D7-940A-B7F65A7F4AD1}" type="slidenum">
              <a:rPr lang="en-US" smtClean="0"/>
              <a:pPr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3913985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3795" name="Notes Placeholder 2"/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r>
              <a:rPr lang="en-US" dirty="0"/>
              <a:t>- Remember </a:t>
            </a:r>
            <a:r>
              <a:rPr lang="en-US" dirty="0" err="1"/>
              <a:t>Shlemiel</a:t>
            </a:r>
            <a:r>
              <a:rPr lang="en-US" dirty="0"/>
              <a:t>.  His technique worked well for small inputs (i.e., short roads), but got worse and worse.</a:t>
            </a:r>
          </a:p>
          <a:p>
            <a:r>
              <a:rPr lang="en-US" dirty="0"/>
              <a:t>Handy fact is animated.  Note that we can derive the fact for even n by working outside in.</a:t>
            </a:r>
          </a:p>
          <a:p>
            <a:endParaRPr lang="en-US" dirty="0"/>
          </a:p>
          <a:p>
            <a:r>
              <a:rPr lang="en-US" dirty="0"/>
              <a:t>Have them work on Q2-6.  Solve Q7 together on board.</a:t>
            </a:r>
          </a:p>
          <a:p>
            <a:r>
              <a:rPr lang="en-US" dirty="0"/>
              <a:t>After solving, ask: For very large n, what term of solution matters most? What term grows fastest? Do the other terms contribute much to the growth of the function?</a:t>
            </a:r>
          </a:p>
        </p:txBody>
      </p:sp>
      <p:sp>
        <p:nvSpPr>
          <p:cNvPr id="33796" name="Slide Number Placeholder 3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D86FAE90-DB18-47D7-940A-B7F65A7F4AD1}" type="slidenum">
              <a:rPr lang="en-US" smtClean="0"/>
              <a:pPr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02666545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3795" name="Notes Placeholder 2"/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 dirty="0"/>
          </a:p>
        </p:txBody>
      </p:sp>
      <p:sp>
        <p:nvSpPr>
          <p:cNvPr id="33796" name="Slide Number Placeholder 3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D86FAE90-DB18-47D7-940A-B7F65A7F4AD1}" type="slidenum">
              <a:rPr lang="en-US" smtClean="0"/>
              <a:pPr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8210999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3795" name="Notes Placeholder 2"/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 dirty="0"/>
          </a:p>
        </p:txBody>
      </p:sp>
      <p:sp>
        <p:nvSpPr>
          <p:cNvPr id="33796" name="Slide Number Placeholder 3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D86FAE90-DB18-47D7-940A-B7F65A7F4AD1}" type="slidenum">
              <a:rPr lang="en-US" smtClean="0"/>
              <a:pPr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72706889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8" name="Rectangle 2"/>
          <p:cNvSpPr>
            <a:spLocks noGrp="1" noRot="1" noChangeAspec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60419" name="Rectangle 3"/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674089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4819" name="Notes Placeholder 2"/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r>
              <a:rPr lang="en-US" dirty="0"/>
              <a:t>Can pick an example expression for this and work out on board if you like, but not needed in CSSE220 to do this</a:t>
            </a:r>
          </a:p>
        </p:txBody>
      </p:sp>
      <p:sp>
        <p:nvSpPr>
          <p:cNvPr id="34820" name="Slide Number Placeholder 3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E23E2C73-63C6-4FCF-828B-C7ABA99140E4}" type="slidenum">
              <a:rPr lang="en-US" smtClean="0"/>
              <a:pPr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433597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D0BEF334-81B7-4941-86B5-990807CBBF59}" type="datetime2">
              <a:rPr lang="en-US" smtClean="0"/>
              <a:pPr>
                <a:defRPr/>
              </a:pPr>
              <a:t>Friday, October 31, 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C04E8790-BF61-465A-A14E-CE2630D4BA1E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3840934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CE35D50A-5834-4711-A5D5-B1243AFB496D}" type="datetime2">
              <a:rPr lang="en-US" smtClean="0"/>
              <a:pPr>
                <a:defRPr/>
              </a:pPr>
              <a:t>Friday, October 31, 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3E8D24FC-151A-4C43-905E-936F26109E58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170341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7F65E79C-EA6B-4AA7-A212-05B150D5DC94}" type="datetime2">
              <a:rPr lang="en-US" smtClean="0"/>
              <a:pPr>
                <a:defRPr/>
              </a:pPr>
              <a:t>Friday, October 31, 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BBCA4350-6E3F-4910-98F6-5CDD47355CFE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086900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905FBDCC-2E41-4BF1-81F4-CFABB309B4F0}" type="datetime2">
              <a:rPr lang="en-US" smtClean="0"/>
              <a:pPr>
                <a:defRPr/>
              </a:pPr>
              <a:t>Friday, October 31, 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5FB1130B-5184-42CC-B26F-807E2AF7AB3B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94612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D3F5B2A1-699E-417D-8C0C-D04AE1DB19E4}" type="datetime2">
              <a:rPr lang="en-US" smtClean="0"/>
              <a:pPr>
                <a:defRPr/>
              </a:pPr>
              <a:t>Friday, October 31, 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A21E8C8-55D1-4528-872C-3B70DDD7ABB3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58999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4B024A7D-831E-4EE8-A2B5-7163FA45F2DB}" type="datetime2">
              <a:rPr lang="en-US" smtClean="0"/>
              <a:pPr>
                <a:defRPr/>
              </a:pPr>
              <a:t>Friday, October 31, 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3A73EA39-1198-4E32-8E74-D1606A34831F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5074951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31158661-8CFC-4DD4-BB69-CF9F06EBED00}" type="datetime2">
              <a:rPr lang="en-US" smtClean="0"/>
              <a:pPr>
                <a:defRPr/>
              </a:pPr>
              <a:t>Friday, October 31, 2025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7B78434-8063-4A03-8E77-8A3BC0C6C98C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762237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B84484A3-3765-4BFE-BFED-7B4984820264}" type="datetime2">
              <a:rPr lang="en-US" smtClean="0"/>
              <a:pPr>
                <a:defRPr/>
              </a:pPr>
              <a:t>Friday, October 31, 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F0D771F-06EE-493C-8F33-6A57BC23B7BC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869648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5F19D625-27E7-481F-9368-8C1C4571E616}" type="datetime2">
              <a:rPr lang="en-US" smtClean="0"/>
              <a:pPr>
                <a:defRPr/>
              </a:pPr>
              <a:t>Friday, October 31, 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A9E63C1-5B9E-4BDC-8369-C051B10B7901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3839669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556802ED-A274-404E-9F4C-C4A5171D9943}" type="datetime2">
              <a:rPr lang="en-US" smtClean="0"/>
              <a:pPr>
                <a:defRPr/>
              </a:pPr>
              <a:t>Friday, October 31, 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0A97C9C2-B361-4B8B-BFFC-F822158383DC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7460760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D436227F-554B-456C-8AB7-68AC595A35FF}" type="datetime2">
              <a:rPr lang="en-US" smtClean="0"/>
              <a:pPr>
                <a:defRPr/>
              </a:pPr>
              <a:t>Friday, October 31, 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DFFAD38-F61E-4C21-8F9A-0CDA91698EF6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725841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0F8084E-4555-4EA2-9F2A-1B3E8FECE31E}" type="datetime2">
              <a:rPr lang="en-US" smtClean="0"/>
              <a:pPr>
                <a:defRPr/>
              </a:pPr>
              <a:t>Friday, October 31, 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6B96B48D-2DFE-4746-9569-B1E1C0DCB0BF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6771019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486" r:id="rId1"/>
    <p:sldLayoutId id="2147484487" r:id="rId2"/>
    <p:sldLayoutId id="2147484488" r:id="rId3"/>
    <p:sldLayoutId id="2147484489" r:id="rId4"/>
    <p:sldLayoutId id="2147484490" r:id="rId5"/>
    <p:sldLayoutId id="2147484491" r:id="rId6"/>
    <p:sldLayoutId id="2147484492" r:id="rId7"/>
    <p:sldLayoutId id="2147484493" r:id="rId8"/>
    <p:sldLayoutId id="2147484494" r:id="rId9"/>
    <p:sldLayoutId id="2147484495" r:id="rId10"/>
    <p:sldLayoutId id="2147484496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jpe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gif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gif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dirty="0"/>
              <a:t>CSSE 220</a:t>
            </a:r>
          </a:p>
        </p:txBody>
      </p:sp>
      <p:sp>
        <p:nvSpPr>
          <p:cNvPr id="9219" name="Rectangle 2"/>
          <p:cNvSpPr>
            <a:spLocks noGrp="1"/>
          </p:cNvSpPr>
          <p:nvPr>
            <p:ph type="subTitle" idx="1"/>
          </p:nvPr>
        </p:nvSpPr>
        <p:spPr>
          <a:xfrm>
            <a:off x="1371600" y="3130550"/>
            <a:ext cx="6400800" cy="1752600"/>
          </a:xfrm>
        </p:spPr>
        <p:txBody>
          <a:bodyPr/>
          <a:lstStyle/>
          <a:p>
            <a:pPr marR="0" eaLnBrk="1" hangingPunct="1">
              <a:lnSpc>
                <a:spcPct val="90000"/>
              </a:lnSpc>
            </a:pPr>
            <a:r>
              <a:rPr lang="en-US" sz="2500" dirty="0"/>
              <a:t>Sorting Algorithms</a:t>
            </a:r>
          </a:p>
          <a:p>
            <a:pPr marR="0" eaLnBrk="1" hangingPunct="1">
              <a:lnSpc>
                <a:spcPct val="90000"/>
              </a:lnSpc>
            </a:pPr>
            <a:r>
              <a:rPr lang="en-US" sz="2500" dirty="0"/>
              <a:t>Algorithm Analysis and Big-O</a:t>
            </a:r>
          </a:p>
          <a:p>
            <a:pPr marR="0" eaLnBrk="1" hangingPunct="1">
              <a:lnSpc>
                <a:spcPct val="90000"/>
              </a:lnSpc>
            </a:pPr>
            <a:endParaRPr lang="en-US" sz="25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What is sorting?</a:t>
            </a:r>
          </a:p>
        </p:txBody>
      </p:sp>
      <p:sp>
        <p:nvSpPr>
          <p:cNvPr id="11267" name="Text Placeholder 5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Let’s see…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04800"/>
            <a:ext cx="7772400" cy="1362075"/>
          </a:xfrm>
        </p:spPr>
        <p:txBody>
          <a:bodyPr/>
          <a:lstStyle/>
          <a:p>
            <a:pPr>
              <a:defRPr/>
            </a:pPr>
            <a:r>
              <a:rPr lang="en-US" dirty="0"/>
              <a:t>Why study sorting?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D27E1182-F215-45C0-8B3D-DDE5897348A5}"/>
              </a:ext>
            </a:extLst>
          </p:cNvPr>
          <p:cNvSpPr/>
          <p:nvPr/>
        </p:nvSpPr>
        <p:spPr>
          <a:xfrm>
            <a:off x="732473" y="1300836"/>
            <a:ext cx="7573327" cy="510909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dirty="0">
                <a:latin typeface="+mn-lt"/>
              </a:rPr>
              <a:t>At least 5 well-known algorithms that have the same functionality:</a:t>
            </a:r>
          </a:p>
          <a:p>
            <a:pPr marL="971550" lvl="1" indent="-514350">
              <a:buFont typeface="+mj-lt"/>
              <a:buAutoNum type="arabicPeriod"/>
            </a:pPr>
            <a:r>
              <a:rPr lang="en-US" sz="2800" dirty="0">
                <a:latin typeface="+mn-lt"/>
              </a:rPr>
              <a:t>Selection (Covered Today)</a:t>
            </a:r>
          </a:p>
          <a:p>
            <a:pPr marL="971550" lvl="1" indent="-514350">
              <a:buFont typeface="+mj-lt"/>
              <a:buAutoNum type="arabicPeriod"/>
            </a:pPr>
            <a:r>
              <a:rPr lang="en-US" sz="2800" dirty="0">
                <a:latin typeface="+mn-lt"/>
              </a:rPr>
              <a:t>Insertion sort (Covered Today)</a:t>
            </a:r>
          </a:p>
          <a:p>
            <a:pPr marL="971550" lvl="1" indent="-514350">
              <a:buFont typeface="+mj-lt"/>
              <a:buAutoNum type="arabicPeriod"/>
            </a:pPr>
            <a:r>
              <a:rPr lang="en-US" sz="2800" dirty="0">
                <a:latin typeface="+mn-lt"/>
              </a:rPr>
              <a:t>Merge sort (Covered Next Class)</a:t>
            </a:r>
          </a:p>
          <a:p>
            <a:pPr marL="971550" lvl="1" indent="-514350">
              <a:buFont typeface="+mj-lt"/>
              <a:buAutoNum type="arabicPeriod"/>
            </a:pPr>
            <a:r>
              <a:rPr lang="en-US" sz="2800" dirty="0">
                <a:latin typeface="+mn-lt"/>
              </a:rPr>
              <a:t>Quick sort</a:t>
            </a:r>
          </a:p>
          <a:p>
            <a:pPr marL="971550" lvl="1" indent="-514350">
              <a:buFont typeface="+mj-lt"/>
              <a:buAutoNum type="arabicPeriod"/>
            </a:pPr>
            <a:r>
              <a:rPr lang="en-US" sz="2800" dirty="0">
                <a:latin typeface="+mn-lt"/>
              </a:rPr>
              <a:t>Heap sort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dirty="0">
                <a:latin typeface="+mn-lt"/>
              </a:rPr>
              <a:t>Can do an analysis of each algorithm and compare the results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dirty="0">
                <a:latin typeface="+mn-lt"/>
              </a:rPr>
              <a:t>Sorting is done every day all the time – think of the results of a web search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0252390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>
              <a:defRPr/>
            </a:pPr>
            <a:r>
              <a:rPr lang="en-US" dirty="0"/>
              <a:t>Course Goals for Sorting: </a:t>
            </a:r>
            <a:br>
              <a:rPr lang="en-US" dirty="0"/>
            </a:br>
            <a:r>
              <a:rPr lang="en-US" dirty="0"/>
              <a:t>You should…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defRPr/>
            </a:pPr>
            <a:r>
              <a:rPr lang="en-US" dirty="0"/>
              <a:t>Be able to </a:t>
            </a:r>
            <a:r>
              <a:rPr lang="en-US" dirty="0">
                <a:solidFill>
                  <a:schemeClr val="accent3"/>
                </a:solidFill>
              </a:rPr>
              <a:t>describe</a:t>
            </a:r>
            <a:r>
              <a:rPr lang="en-US" dirty="0"/>
              <a:t> basic sorting algorithms:</a:t>
            </a:r>
          </a:p>
          <a:p>
            <a:pPr lvl="1">
              <a:defRPr/>
            </a:pPr>
            <a:r>
              <a:rPr lang="en-US" dirty="0"/>
              <a:t>Selection sort – O(N</a:t>
            </a:r>
            <a:r>
              <a:rPr lang="en-US" baseline="30000" dirty="0"/>
              <a:t>2</a:t>
            </a:r>
            <a:r>
              <a:rPr lang="en-US" dirty="0"/>
              <a:t>)</a:t>
            </a:r>
          </a:p>
          <a:p>
            <a:pPr lvl="1">
              <a:defRPr/>
            </a:pPr>
            <a:r>
              <a:rPr lang="en-US" dirty="0"/>
              <a:t>Insertion sort – O(N</a:t>
            </a:r>
            <a:r>
              <a:rPr lang="en-US" baseline="30000" dirty="0"/>
              <a:t>2</a:t>
            </a:r>
            <a:r>
              <a:rPr lang="en-US" dirty="0"/>
              <a:t>)</a:t>
            </a:r>
          </a:p>
          <a:p>
            <a:pPr lvl="1">
              <a:defRPr/>
            </a:pPr>
            <a:r>
              <a:rPr lang="en-US" dirty="0"/>
              <a:t>Merge sort – O(N * log</a:t>
            </a:r>
            <a:r>
              <a:rPr lang="en-US" baseline="-25000" dirty="0"/>
              <a:t>2</a:t>
            </a:r>
            <a:r>
              <a:rPr lang="en-US" dirty="0"/>
              <a:t>(N))</a:t>
            </a:r>
          </a:p>
          <a:p>
            <a:pPr>
              <a:defRPr/>
            </a:pPr>
            <a:r>
              <a:rPr lang="en-US" dirty="0"/>
              <a:t>Know the </a:t>
            </a:r>
            <a:r>
              <a:rPr lang="en-US" dirty="0">
                <a:solidFill>
                  <a:schemeClr val="accent3"/>
                </a:solidFill>
              </a:rPr>
              <a:t>run-time efficiency </a:t>
            </a:r>
            <a:r>
              <a:rPr lang="en-US" dirty="0"/>
              <a:t>of each</a:t>
            </a:r>
          </a:p>
          <a:p>
            <a:pPr>
              <a:defRPr/>
            </a:pPr>
            <a:r>
              <a:rPr lang="en-US" dirty="0"/>
              <a:t>Know the </a:t>
            </a:r>
            <a:r>
              <a:rPr lang="en-US" dirty="0">
                <a:solidFill>
                  <a:schemeClr val="accent3"/>
                </a:solidFill>
              </a:rPr>
              <a:t>best and worst case</a:t>
            </a:r>
            <a:r>
              <a:rPr lang="en-US" dirty="0"/>
              <a:t> inputs for each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/>
          <p:cNvSpPr>
            <a:spLocks noGrp="1"/>
          </p:cNvSpPr>
          <p:nvPr>
            <p:ph idx="1"/>
          </p:nvPr>
        </p:nvSpPr>
        <p:spPr>
          <a:xfrm>
            <a:off x="304800" y="721838"/>
            <a:ext cx="8229600" cy="4525963"/>
          </a:xfrm>
        </p:spPr>
        <p:txBody>
          <a:bodyPr>
            <a:normAutofit/>
          </a:bodyPr>
          <a:lstStyle/>
          <a:p>
            <a:pPr>
              <a:defRPr/>
            </a:pPr>
            <a:r>
              <a:rPr lang="en-US" dirty="0"/>
              <a:t>Sorting Terminology:</a:t>
            </a:r>
          </a:p>
          <a:p>
            <a:pPr lvl="1">
              <a:defRPr/>
            </a:pPr>
            <a:r>
              <a:rPr lang="en-US" dirty="0"/>
              <a:t>Non-decreasing: use ≥</a:t>
            </a:r>
          </a:p>
          <a:p>
            <a:pPr lvl="1">
              <a:defRPr/>
            </a:pPr>
            <a:r>
              <a:rPr lang="en-US" dirty="0"/>
              <a:t>Non-increasing: use ≤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B884B9D0-7B0E-487A-A7F2-278E61286FC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0360" y="3276600"/>
            <a:ext cx="8382000" cy="3409950"/>
          </a:xfrm>
          <a:prstGeom prst="rect">
            <a:avLst/>
          </a:prstGeom>
        </p:spPr>
      </p:pic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EFD6752E-BBEE-4049-A7B4-A9AA7FED4948}"/>
              </a:ext>
            </a:extLst>
          </p:cNvPr>
          <p:cNvCxnSpPr/>
          <p:nvPr/>
        </p:nvCxnSpPr>
        <p:spPr>
          <a:xfrm flipH="1">
            <a:off x="228600" y="3200400"/>
            <a:ext cx="8610600" cy="0"/>
          </a:xfrm>
          <a:prstGeom prst="line">
            <a:avLst/>
          </a:prstGeom>
          <a:ln w="349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" name="Picture 2" descr="A story of Big O. To start from the beginning, Big O… | by Aleks Shineleva  | Medium">
            <a:extLst>
              <a:ext uri="{FF2B5EF4-FFF2-40B4-BE49-F238E27FC236}">
                <a16:creationId xmlns:a16="http://schemas.microsoft.com/office/drawing/2014/main" id="{680FC942-D7A2-73FF-1AAC-5261459E8AE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76800" y="139886"/>
            <a:ext cx="4166993" cy="276873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95751809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Selection Sort</a:t>
            </a:r>
          </a:p>
        </p:txBody>
      </p:sp>
      <p:sp>
        <p:nvSpPr>
          <p:cNvPr id="15362" name="Content Placeholder 1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/>
              <a:t>Basic idea:</a:t>
            </a:r>
          </a:p>
          <a:p>
            <a:pPr lvl="1"/>
            <a:r>
              <a:rPr lang="en-US" dirty="0"/>
              <a:t>Think of the </a:t>
            </a:r>
            <a:r>
              <a:rPr lang="en-US" strike="dblStrike" dirty="0"/>
              <a:t>list</a:t>
            </a:r>
            <a:r>
              <a:rPr lang="en-US" dirty="0"/>
              <a:t> array as having a </a:t>
            </a:r>
            <a:r>
              <a:rPr lang="en-US" dirty="0">
                <a:solidFill>
                  <a:srgbClr val="00B050"/>
                </a:solidFill>
              </a:rPr>
              <a:t>sorted part</a:t>
            </a:r>
            <a:r>
              <a:rPr lang="en-US" dirty="0">
                <a:solidFill>
                  <a:schemeClr val="accent3"/>
                </a:solidFill>
              </a:rPr>
              <a:t> </a:t>
            </a:r>
            <a:r>
              <a:rPr lang="en-US" dirty="0"/>
              <a:t>(at the beginning) and an </a:t>
            </a:r>
            <a:r>
              <a:rPr lang="en-US" dirty="0">
                <a:solidFill>
                  <a:srgbClr val="FF0000"/>
                </a:solidFill>
              </a:rPr>
              <a:t>unsorted part</a:t>
            </a:r>
            <a:r>
              <a:rPr lang="en-US" dirty="0">
                <a:solidFill>
                  <a:schemeClr val="accent3"/>
                </a:solidFill>
              </a:rPr>
              <a:t> </a:t>
            </a:r>
            <a:r>
              <a:rPr lang="en-US" dirty="0"/>
              <a:t>(the rest)</a:t>
            </a:r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lvl="1"/>
            <a:r>
              <a:rPr lang="en-US" dirty="0"/>
              <a:t>Find the </a:t>
            </a:r>
            <a:r>
              <a:rPr lang="en-US" dirty="0">
                <a:solidFill>
                  <a:schemeClr val="accent3"/>
                </a:solidFill>
              </a:rPr>
              <a:t>smallest</a:t>
            </a:r>
            <a:r>
              <a:rPr lang="en-US" dirty="0"/>
              <a:t> value</a:t>
            </a:r>
            <a:br>
              <a:rPr lang="en-US" dirty="0"/>
            </a:br>
            <a:r>
              <a:rPr lang="en-US" dirty="0"/>
              <a:t>in the unsorted part</a:t>
            </a:r>
          </a:p>
          <a:p>
            <a:pPr lvl="1"/>
            <a:r>
              <a:rPr lang="en-US" dirty="0"/>
              <a:t>Move it to the </a:t>
            </a:r>
            <a:r>
              <a:rPr lang="en-US" dirty="0">
                <a:solidFill>
                  <a:schemeClr val="accent3"/>
                </a:solidFill>
              </a:rPr>
              <a:t>end</a:t>
            </a:r>
            <a:r>
              <a:rPr lang="en-US" dirty="0"/>
              <a:t> of the </a:t>
            </a:r>
            <a:br>
              <a:rPr lang="en-US" dirty="0"/>
            </a:br>
            <a:r>
              <a:rPr lang="en-US" dirty="0"/>
              <a:t>sorted part (making the </a:t>
            </a:r>
            <a:br>
              <a:rPr lang="en-US" dirty="0"/>
            </a:br>
            <a:r>
              <a:rPr lang="en-US" dirty="0"/>
              <a:t>sorted part bigger and the </a:t>
            </a:r>
            <a:br>
              <a:rPr lang="en-US" dirty="0"/>
            </a:br>
            <a:r>
              <a:rPr lang="en-US" dirty="0"/>
              <a:t>unsorted part smaller)</a:t>
            </a:r>
          </a:p>
        </p:txBody>
      </p:sp>
      <p:sp>
        <p:nvSpPr>
          <p:cNvPr id="4" name="Right Brace 3"/>
          <p:cNvSpPr/>
          <p:nvPr/>
        </p:nvSpPr>
        <p:spPr>
          <a:xfrm>
            <a:off x="4724400" y="3733800"/>
            <a:ext cx="457200" cy="2286000"/>
          </a:xfrm>
          <a:prstGeom prst="righ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5" name="TextBox 4"/>
          <p:cNvSpPr txBox="1"/>
          <p:nvPr/>
        </p:nvSpPr>
        <p:spPr>
          <a:xfrm>
            <a:off x="5334000" y="4410075"/>
            <a:ext cx="1981200" cy="92392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>
            <a:spAutoFit/>
          </a:bodyPr>
          <a:lstStyle/>
          <a:p>
            <a:pPr>
              <a:defRPr/>
            </a:pPr>
            <a:r>
              <a:rPr lang="en-US" dirty="0"/>
              <a:t>Repeat until unsorted part is empty</a:t>
            </a:r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EBFE18AB-4D0C-4433-AF8B-8108C5FA1039}"/>
              </a:ext>
            </a:extLst>
          </p:cNvPr>
          <p:cNvGrpSpPr/>
          <p:nvPr/>
        </p:nvGrpSpPr>
        <p:grpSpPr>
          <a:xfrm>
            <a:off x="561975" y="2899410"/>
            <a:ext cx="8124825" cy="723900"/>
            <a:chOff x="561975" y="2899410"/>
            <a:chExt cx="8124825" cy="723900"/>
          </a:xfrm>
        </p:grpSpPr>
        <p:pic>
          <p:nvPicPr>
            <p:cNvPr id="2" name="Picture 1">
              <a:extLst>
                <a:ext uri="{FF2B5EF4-FFF2-40B4-BE49-F238E27FC236}">
                  <a16:creationId xmlns:a16="http://schemas.microsoft.com/office/drawing/2014/main" id="{3AF26B36-22D1-4D14-82FD-427183F26E61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561975" y="2899410"/>
              <a:ext cx="8124825" cy="723900"/>
            </a:xfrm>
            <a:prstGeom prst="rect">
              <a:avLst/>
            </a:prstGeom>
          </p:spPr>
        </p:pic>
        <p:sp>
          <p:nvSpPr>
            <p:cNvPr id="11" name="Rectangle: Rounded Corners 10">
              <a:extLst>
                <a:ext uri="{FF2B5EF4-FFF2-40B4-BE49-F238E27FC236}">
                  <a16:creationId xmlns:a16="http://schemas.microsoft.com/office/drawing/2014/main" id="{C993782F-5FB1-4EA3-A2C9-29EA5369D04D}"/>
                </a:ext>
              </a:extLst>
            </p:cNvPr>
            <p:cNvSpPr/>
            <p:nvPr/>
          </p:nvSpPr>
          <p:spPr>
            <a:xfrm>
              <a:off x="561975" y="2899410"/>
              <a:ext cx="2257425" cy="723900"/>
            </a:xfrm>
            <a:prstGeom prst="roundRect">
              <a:avLst/>
            </a:prstGeom>
            <a:noFill/>
            <a:ln w="19050">
              <a:solidFill>
                <a:srgbClr val="00B0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Rectangle: Rounded Corners 12">
              <a:extLst>
                <a:ext uri="{FF2B5EF4-FFF2-40B4-BE49-F238E27FC236}">
                  <a16:creationId xmlns:a16="http://schemas.microsoft.com/office/drawing/2014/main" id="{F83D9296-6B4B-452E-A15F-0FE592C5ACAA}"/>
                </a:ext>
              </a:extLst>
            </p:cNvPr>
            <p:cNvSpPr/>
            <p:nvPr/>
          </p:nvSpPr>
          <p:spPr>
            <a:xfrm>
              <a:off x="2933522" y="2899410"/>
              <a:ext cx="5648503" cy="723900"/>
            </a:xfrm>
            <a:prstGeom prst="roundRect">
              <a:avLst/>
            </a:prstGeom>
            <a:noFill/>
            <a:ln w="1905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388854298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10400" y="152400"/>
            <a:ext cx="1752600" cy="6502146"/>
          </a:xfrm>
          <a:prstGeom prst="rect">
            <a:avLst/>
          </a:prstGeom>
        </p:spPr>
      </p:pic>
      <p:sp>
        <p:nvSpPr>
          <p:cNvPr id="5" name="Title 2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pPr>
              <a:defRPr/>
            </a:pPr>
            <a:r>
              <a:rPr lang="en-US" dirty="0"/>
              <a:t>Selection Sort</a:t>
            </a:r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7E44DA22-6E29-0DD0-5A2A-7E1C6C42396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04800" y="1559879"/>
            <a:ext cx="5486400" cy="4525963"/>
          </a:xfrm>
        </p:spPr>
        <p:txBody>
          <a:bodyPr>
            <a:normAutofit fontScale="92500" lnSpcReduction="10000"/>
          </a:bodyPr>
          <a:lstStyle/>
          <a:p>
            <a:r>
              <a:rPr lang="en-US" dirty="0"/>
              <a:t>Basic idea:</a:t>
            </a:r>
          </a:p>
          <a:p>
            <a:pPr lvl="1"/>
            <a:r>
              <a:rPr lang="en-US" dirty="0"/>
              <a:t>Think of the </a:t>
            </a:r>
            <a:r>
              <a:rPr lang="en-US" strike="dblStrike" dirty="0"/>
              <a:t>list</a:t>
            </a:r>
            <a:r>
              <a:rPr lang="en-US" dirty="0"/>
              <a:t> array as having a </a:t>
            </a:r>
            <a:r>
              <a:rPr lang="en-US" dirty="0">
                <a:highlight>
                  <a:srgbClr val="FFFF00"/>
                </a:highlight>
              </a:rPr>
              <a:t>sorted part </a:t>
            </a:r>
            <a:r>
              <a:rPr lang="en-US" dirty="0"/>
              <a:t>(at the beginning) and an unsorted part (the rest)</a:t>
            </a:r>
          </a:p>
          <a:p>
            <a:pPr lvl="1"/>
            <a:endParaRPr lang="en-US" dirty="0"/>
          </a:p>
          <a:p>
            <a:pPr lvl="1"/>
            <a:r>
              <a:rPr lang="en-US" dirty="0"/>
              <a:t>Find the </a:t>
            </a:r>
            <a:r>
              <a:rPr lang="en-US" dirty="0">
                <a:highlight>
                  <a:srgbClr val="FF0000"/>
                </a:highlight>
              </a:rPr>
              <a:t>smallest</a:t>
            </a:r>
            <a:r>
              <a:rPr lang="en-US" dirty="0"/>
              <a:t> value</a:t>
            </a:r>
            <a:br>
              <a:rPr lang="en-US" dirty="0"/>
            </a:br>
            <a:r>
              <a:rPr lang="en-US" dirty="0"/>
              <a:t>in the </a:t>
            </a:r>
            <a:r>
              <a:rPr lang="en-US" dirty="0">
                <a:solidFill>
                  <a:schemeClr val="bg1"/>
                </a:solidFill>
                <a:highlight>
                  <a:srgbClr val="0000FF"/>
                </a:highlight>
              </a:rPr>
              <a:t>unsorted part</a:t>
            </a:r>
          </a:p>
          <a:p>
            <a:pPr lvl="1"/>
            <a:r>
              <a:rPr lang="en-US" dirty="0"/>
              <a:t>Move it to the end of the </a:t>
            </a:r>
            <a:br>
              <a:rPr lang="en-US" dirty="0"/>
            </a:br>
            <a:r>
              <a:rPr lang="en-US" dirty="0">
                <a:highlight>
                  <a:srgbClr val="FFFF00"/>
                </a:highlight>
              </a:rPr>
              <a:t>sorted part </a:t>
            </a:r>
            <a:r>
              <a:rPr lang="en-US" dirty="0"/>
              <a:t>(making the </a:t>
            </a:r>
            <a:br>
              <a:rPr lang="en-US" dirty="0"/>
            </a:br>
            <a:r>
              <a:rPr lang="en-US" dirty="0"/>
              <a:t>sorted part bigger and the </a:t>
            </a:r>
            <a:br>
              <a:rPr lang="en-US" dirty="0"/>
            </a:br>
            <a:r>
              <a:rPr lang="en-US" dirty="0"/>
              <a:t>unsorted part smaller)</a:t>
            </a:r>
          </a:p>
        </p:txBody>
      </p:sp>
      <p:sp>
        <p:nvSpPr>
          <p:cNvPr id="6" name="Right Brace 5">
            <a:extLst>
              <a:ext uri="{FF2B5EF4-FFF2-40B4-BE49-F238E27FC236}">
                <a16:creationId xmlns:a16="http://schemas.microsoft.com/office/drawing/2014/main" id="{541DCED2-57A2-5909-94E4-88099A8210AD}"/>
              </a:ext>
            </a:extLst>
          </p:cNvPr>
          <p:cNvSpPr/>
          <p:nvPr/>
        </p:nvSpPr>
        <p:spPr>
          <a:xfrm>
            <a:off x="4572000" y="3693479"/>
            <a:ext cx="457200" cy="2286000"/>
          </a:xfrm>
          <a:prstGeom prst="righ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FA6BB25-BDAE-DFE3-0266-21EE781494E6}"/>
              </a:ext>
            </a:extLst>
          </p:cNvPr>
          <p:cNvSpPr txBox="1"/>
          <p:nvPr/>
        </p:nvSpPr>
        <p:spPr>
          <a:xfrm>
            <a:off x="5181600" y="4369754"/>
            <a:ext cx="1981200" cy="92392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>
            <a:spAutoFit/>
          </a:bodyPr>
          <a:lstStyle/>
          <a:p>
            <a:pPr>
              <a:defRPr/>
            </a:pPr>
            <a:r>
              <a:rPr lang="en-US" dirty="0"/>
              <a:t>Repeat until unsorted part is empty</a:t>
            </a:r>
          </a:p>
        </p:txBody>
      </p:sp>
    </p:spTree>
    <p:extLst>
      <p:ext uri="{BB962C8B-B14F-4D97-AF65-F5344CB8AC3E}">
        <p14:creationId xmlns:p14="http://schemas.microsoft.com/office/powerpoint/2010/main" val="217280581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Profiling Selection Sort</a:t>
            </a:r>
          </a:p>
        </p:txBody>
      </p:sp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defRPr/>
            </a:pPr>
            <a:r>
              <a:rPr lang="en-US" dirty="0">
                <a:solidFill>
                  <a:schemeClr val="accent3"/>
                </a:solidFill>
              </a:rPr>
              <a:t>Profiling</a:t>
            </a:r>
            <a:r>
              <a:rPr lang="en-US" dirty="0"/>
              <a:t>: collecting data on the run-time behavior of an algorithm</a:t>
            </a:r>
          </a:p>
          <a:p>
            <a:pPr>
              <a:defRPr/>
            </a:pPr>
            <a:endParaRPr lang="en-US" dirty="0"/>
          </a:p>
          <a:p>
            <a:pPr>
              <a:defRPr/>
            </a:pPr>
            <a:r>
              <a:rPr lang="en-US" dirty="0"/>
              <a:t>How long does selection sort take on:</a:t>
            </a:r>
          </a:p>
          <a:p>
            <a:pPr lvl="1">
              <a:defRPr/>
            </a:pPr>
            <a:r>
              <a:rPr lang="en-US" dirty="0"/>
              <a:t>10,000 elements?</a:t>
            </a:r>
          </a:p>
          <a:p>
            <a:pPr lvl="1">
              <a:defRPr/>
            </a:pPr>
            <a:r>
              <a:rPr lang="en-US" dirty="0"/>
              <a:t>20,000 elements?</a:t>
            </a:r>
          </a:p>
          <a:p>
            <a:pPr lvl="1">
              <a:defRPr/>
            </a:pPr>
            <a:r>
              <a:rPr lang="en-US" dirty="0"/>
              <a:t>…</a:t>
            </a:r>
          </a:p>
          <a:p>
            <a:pPr lvl="1">
              <a:defRPr/>
            </a:pPr>
            <a:r>
              <a:rPr lang="en-US" dirty="0"/>
              <a:t>80,000 elements?</a:t>
            </a:r>
          </a:p>
          <a:p>
            <a:pPr lvl="1">
              <a:defRPr/>
            </a:pPr>
            <a:endParaRPr lang="en-US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Performance Analysis Basics</a:t>
            </a:r>
          </a:p>
        </p:txBody>
      </p:sp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457200" y="1295401"/>
            <a:ext cx="8229600" cy="228600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Come up with a math function f(n) such that it does the following:</a:t>
            </a:r>
          </a:p>
          <a:p>
            <a:r>
              <a:rPr lang="en-US" dirty="0"/>
              <a:t>input: n = size of the problem to be solved by the algorithm</a:t>
            </a:r>
          </a:p>
          <a:p>
            <a:pPr marL="0" indent="0">
              <a:buNone/>
              <a:defRPr/>
            </a:pPr>
            <a:endParaRPr lang="en-US" sz="2800" dirty="0"/>
          </a:p>
        </p:txBody>
      </p:sp>
      <p:pic>
        <p:nvPicPr>
          <p:cNvPr id="1026" name="Picture 2" descr="http://pages.iu.edu/~jholly/C455/Notes/Chapter3/quadrants.gif">
            <a:extLst>
              <a:ext uri="{FF2B5EF4-FFF2-40B4-BE49-F238E27FC236}">
                <a16:creationId xmlns:a16="http://schemas.microsoft.com/office/drawing/2014/main" id="{7770638D-821D-4A0D-99E7-E3A1EBA08F2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84868" y="3124200"/>
            <a:ext cx="3916232" cy="32041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F27F6201-3CBD-4867-9939-534DD0E74B7F}"/>
              </a:ext>
            </a:extLst>
          </p:cNvPr>
          <p:cNvSpPr/>
          <p:nvPr/>
        </p:nvSpPr>
        <p:spPr>
          <a:xfrm>
            <a:off x="609600" y="3604823"/>
            <a:ext cx="4267200" cy="255454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3200" dirty="0">
                <a:latin typeface="+mj-lt"/>
              </a:rPr>
              <a:t>output: y = f(n) - the number of instructions executed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3200" dirty="0">
                <a:latin typeface="+mj-lt"/>
              </a:rPr>
              <a:t>Only care about Quadrant I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AA0284B0-2301-48B5-BA87-A39F68854F6C}"/>
              </a:ext>
            </a:extLst>
          </p:cNvPr>
          <p:cNvSpPr/>
          <p:nvPr/>
        </p:nvSpPr>
        <p:spPr>
          <a:xfrm>
            <a:off x="6781800" y="3048000"/>
            <a:ext cx="609600" cy="381000"/>
          </a:xfrm>
          <a:prstGeom prst="round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06A34923-4B0A-49E3-8A19-6816B6669FD1}"/>
              </a:ext>
            </a:extLst>
          </p:cNvPr>
          <p:cNvSpPr/>
          <p:nvPr/>
        </p:nvSpPr>
        <p:spPr>
          <a:xfrm>
            <a:off x="8534400" y="4343400"/>
            <a:ext cx="266700" cy="263844"/>
          </a:xfrm>
          <a:prstGeom prst="round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Analyzing Selection Sort</a:t>
            </a:r>
          </a:p>
        </p:txBody>
      </p:sp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defRPr/>
            </a:pPr>
            <a:r>
              <a:rPr lang="en-US" sz="2800" dirty="0">
                <a:solidFill>
                  <a:schemeClr val="accent3"/>
                </a:solidFill>
              </a:rPr>
              <a:t>Analyzing</a:t>
            </a:r>
            <a:r>
              <a:rPr lang="en-US" sz="2800" dirty="0"/>
              <a:t>: calculating the performance of an algorithm by studying how it works, typically mathematically</a:t>
            </a:r>
          </a:p>
          <a:p>
            <a:pPr>
              <a:defRPr/>
            </a:pPr>
            <a:r>
              <a:rPr lang="en-US" sz="2800" dirty="0"/>
              <a:t>Typically we want the </a:t>
            </a:r>
            <a:r>
              <a:rPr lang="en-US" sz="2800" dirty="0">
                <a:solidFill>
                  <a:schemeClr val="accent3"/>
                </a:solidFill>
              </a:rPr>
              <a:t>relative</a:t>
            </a:r>
            <a:r>
              <a:rPr lang="en-US" sz="2800" dirty="0"/>
              <a:t> performance as a function of input size</a:t>
            </a:r>
          </a:p>
          <a:p>
            <a:pPr>
              <a:defRPr/>
            </a:pPr>
            <a:r>
              <a:rPr lang="en-US" sz="2800" dirty="0"/>
              <a:t>Example: For an array of length </a:t>
            </a:r>
            <a:r>
              <a:rPr lang="en-US" sz="2800" i="1" dirty="0"/>
              <a:t>n</a:t>
            </a:r>
            <a:r>
              <a:rPr lang="en-US" sz="2800" dirty="0"/>
              <a:t>, how many times does </a:t>
            </a:r>
            <a:r>
              <a:rPr lang="en-US" sz="2800" b="1" dirty="0" err="1">
                <a:latin typeface="Lucida Sans Typewriter" pitchFamily="49" charset="0"/>
              </a:rPr>
              <a:t>selectionSort</a:t>
            </a:r>
            <a:r>
              <a:rPr lang="en-US" sz="2800" b="1" dirty="0">
                <a:latin typeface="Lucida Sans Typewriter" pitchFamily="49" charset="0"/>
              </a:rPr>
              <a:t>()</a:t>
            </a:r>
            <a:r>
              <a:rPr lang="en-US" sz="2800" dirty="0"/>
              <a:t> call </a:t>
            </a:r>
            <a:r>
              <a:rPr lang="en-US" sz="2800" b="1" dirty="0" err="1">
                <a:latin typeface="Lucida Sans Typewriter" pitchFamily="49" charset="0"/>
              </a:rPr>
              <a:t>compareTo</a:t>
            </a:r>
            <a:r>
              <a:rPr lang="en-US" sz="2800" b="1" dirty="0">
                <a:latin typeface="Lucida Sans Typewriter" pitchFamily="49" charset="0"/>
              </a:rPr>
              <a:t>()</a:t>
            </a:r>
            <a:r>
              <a:rPr lang="en-US" sz="2800" dirty="0"/>
              <a:t>?</a:t>
            </a:r>
          </a:p>
          <a:p>
            <a:pPr>
              <a:defRPr/>
            </a:pPr>
            <a:r>
              <a:rPr lang="en-US" sz="2800" dirty="0"/>
              <a:t>Look at number of times </a:t>
            </a:r>
            <a:r>
              <a:rPr lang="en-US" sz="2800" dirty="0" err="1"/>
              <a:t>compareTo</a:t>
            </a:r>
            <a:r>
              <a:rPr lang="en-US" sz="2800" dirty="0"/>
              <a:t>() is called as a shortcut way to determine the Big-O</a:t>
            </a:r>
          </a:p>
        </p:txBody>
      </p:sp>
    </p:spTree>
    <p:extLst>
      <p:ext uri="{BB962C8B-B14F-4D97-AF65-F5344CB8AC3E}">
        <p14:creationId xmlns:p14="http://schemas.microsoft.com/office/powerpoint/2010/main" val="115366801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Summation Notation &amp; Facts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Content Placeholder 1"/>
              <p:cNvSpPr>
                <a:spLocks noGrp="1"/>
              </p:cNvSpPr>
              <p:nvPr>
                <p:ph idx="1"/>
              </p:nvPr>
            </p:nvSpPr>
            <p:spPr>
              <a:xfrm>
                <a:off x="457200" y="1143000"/>
                <a:ext cx="8229600" cy="4983163"/>
              </a:xfrm>
            </p:spPr>
            <p:txBody>
              <a:bodyPr>
                <a:normAutofit fontScale="92500"/>
              </a:bodyPr>
              <a:lstStyle/>
              <a:p>
                <a:pPr marL="0" indent="0">
                  <a:buNone/>
                  <a:defRPr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nary>
                        <m:naryPr>
                          <m:chr m:val="∑"/>
                          <m:limLoc m:val="undOvr"/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𝑘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=0</m:t>
                          </m:r>
                        </m:sub>
                        <m:sup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−1</m:t>
                          </m:r>
                        </m:sup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𝑘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= </m:t>
                          </m:r>
                          <m:r>
                            <a:rPr lang="en-US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?</m:t>
                          </m:r>
                        </m:e>
                      </m:nary>
                    </m:oMath>
                  </m:oMathPara>
                </a14:m>
                <a:endParaRPr lang="en-US" dirty="0"/>
              </a:p>
              <a:p>
                <a:pPr marL="0" indent="0">
                  <a:buNone/>
                  <a:defRPr/>
                </a:pPr>
                <a:endParaRPr lang="en-US" i="1" dirty="0"/>
              </a:p>
              <a:p>
                <a:pPr marL="0" indent="0">
                  <a:buNone/>
                  <a:defRPr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nary>
                        <m:naryPr>
                          <m:chr m:val="∑"/>
                          <m:limLoc m:val="undOvr"/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𝑘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=0</m:t>
                          </m:r>
                        </m:sub>
                        <m:sup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−1</m:t>
                          </m:r>
                        </m:sup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𝑘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=0+1+2+…+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 −1</m:t>
                          </m:r>
                        </m:e>
                      </m:nary>
                    </m:oMath>
                  </m:oMathPara>
                </a14:m>
                <a:endParaRPr lang="en-US" sz="2800" dirty="0"/>
              </a:p>
              <a:p>
                <a:pPr marL="0" indent="0">
                  <a:buNone/>
                  <a:defRPr/>
                </a:pPr>
                <a:endParaRPr lang="en-US" sz="2800" dirty="0"/>
              </a:p>
              <a:p>
                <a:pPr marL="0" indent="0">
                  <a:buNone/>
                  <a:defRPr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nary>
                        <m:naryPr>
                          <m:chr m:val="∑"/>
                          <m:limLoc m:val="undOvr"/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𝑘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=0</m:t>
                          </m:r>
                        </m:sub>
                        <m:sup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−1</m:t>
                          </m:r>
                        </m:sup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𝑘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= </m:t>
                          </m:r>
                          <m:f>
                            <m:f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∗ </m:t>
                              </m:r>
                              <m:d>
                                <m:d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e>
                              </m:d>
                            </m:num>
                            <m:den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den>
                          </m:f>
                        </m:e>
                      </m:nary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2" name="Content Placeholder 1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57200" y="1143000"/>
                <a:ext cx="8229600" cy="4983163"/>
              </a:xfr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Rectangle 5">
            <a:extLst>
              <a:ext uri="{FF2B5EF4-FFF2-40B4-BE49-F238E27FC236}">
                <a16:creationId xmlns:a16="http://schemas.microsoft.com/office/drawing/2014/main" id="{0741F591-16BD-46D8-A703-3994B0599D71}"/>
              </a:ext>
            </a:extLst>
          </p:cNvPr>
          <p:cNvSpPr/>
          <p:nvPr/>
        </p:nvSpPr>
        <p:spPr>
          <a:xfrm>
            <a:off x="6223370" y="2381880"/>
            <a:ext cx="1883849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800" dirty="0"/>
              <a:t>Open form</a:t>
            </a:r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C9EE9436-40F5-4B5E-9ABF-3688F5A86F40}"/>
              </a:ext>
            </a:extLst>
          </p:cNvPr>
          <p:cNvCxnSpPr>
            <a:cxnSpLocks/>
          </p:cNvCxnSpPr>
          <p:nvPr/>
        </p:nvCxnSpPr>
        <p:spPr>
          <a:xfrm flipH="1">
            <a:off x="5410200" y="2643490"/>
            <a:ext cx="775292" cy="685800"/>
          </a:xfrm>
          <a:prstGeom prst="straightConnector1">
            <a:avLst/>
          </a:prstGeom>
          <a:ln w="444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Rectangle 13">
            <a:extLst>
              <a:ext uri="{FF2B5EF4-FFF2-40B4-BE49-F238E27FC236}">
                <a16:creationId xmlns:a16="http://schemas.microsoft.com/office/drawing/2014/main" id="{F8665CC4-06D1-4C17-8C24-71D028205ABB}"/>
              </a:ext>
            </a:extLst>
          </p:cNvPr>
          <p:cNvSpPr/>
          <p:nvPr/>
        </p:nvSpPr>
        <p:spPr>
          <a:xfrm>
            <a:off x="6103146" y="5029200"/>
            <a:ext cx="2124299" cy="69249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800" dirty="0"/>
              <a:t>Closed form</a:t>
            </a:r>
            <a:endParaRPr lang="en-US" sz="1100" dirty="0"/>
          </a:p>
          <a:p>
            <a:r>
              <a:rPr lang="en-US" sz="1100" dirty="0"/>
              <a:t>Induction is used to </a:t>
            </a:r>
            <a:r>
              <a:rPr lang="en-US" sz="1100"/>
              <a:t>prove this</a:t>
            </a:r>
            <a:endParaRPr lang="en-US" sz="1100" dirty="0"/>
          </a:p>
        </p:txBody>
      </p: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7A13833B-B713-4167-AA2F-F3AD326C50AD}"/>
              </a:ext>
            </a:extLst>
          </p:cNvPr>
          <p:cNvCxnSpPr>
            <a:cxnSpLocks/>
          </p:cNvCxnSpPr>
          <p:nvPr/>
        </p:nvCxnSpPr>
        <p:spPr>
          <a:xfrm flipH="1">
            <a:off x="4699819" y="5328910"/>
            <a:ext cx="1295400" cy="0"/>
          </a:xfrm>
          <a:prstGeom prst="straightConnector1">
            <a:avLst/>
          </a:prstGeom>
          <a:ln w="444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607AC9E1-36AA-4BC5-B98F-3D877336B8AC}"/>
              </a:ext>
            </a:extLst>
          </p:cNvPr>
          <p:cNvSpPr/>
          <p:nvPr/>
        </p:nvSpPr>
        <p:spPr>
          <a:xfrm>
            <a:off x="457200" y="1219200"/>
            <a:ext cx="685800" cy="228600"/>
          </a:xfrm>
          <a:prstGeom prst="round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7C1E7702-6AEC-4EB7-8080-10130ED929FB}"/>
              </a:ext>
            </a:extLst>
          </p:cNvPr>
          <p:cNvSpPr/>
          <p:nvPr/>
        </p:nvSpPr>
        <p:spPr>
          <a:xfrm>
            <a:off x="476250" y="2267580"/>
            <a:ext cx="685800" cy="228600"/>
          </a:xfrm>
          <a:prstGeom prst="round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2390523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Summation Notation &amp; Facts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Content Placeholder 1"/>
              <p:cNvSpPr>
                <a:spLocks noGrp="1"/>
              </p:cNvSpPr>
              <p:nvPr>
                <p:ph idx="1"/>
              </p:nvPr>
            </p:nvSpPr>
            <p:spPr>
              <a:xfrm>
                <a:off x="457200" y="1143000"/>
                <a:ext cx="8229600" cy="4983163"/>
              </a:xfrm>
            </p:spPr>
            <p:txBody>
              <a:bodyPr>
                <a:normAutofit fontScale="92500"/>
              </a:bodyPr>
              <a:lstStyle/>
              <a:p>
                <a:pPr marL="0" indent="0">
                  <a:buNone/>
                  <a:defRPr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nary>
                        <m:naryPr>
                          <m:chr m:val="∑"/>
                          <m:limLoc m:val="undOvr"/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𝑘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𝑛</m:t>
                          </m:r>
                        </m:sup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𝑘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= </m:t>
                          </m:r>
                          <m:r>
                            <a:rPr lang="en-US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?</m:t>
                          </m:r>
                        </m:e>
                      </m:nary>
                    </m:oMath>
                  </m:oMathPara>
                </a14:m>
                <a:endParaRPr lang="en-US" dirty="0"/>
              </a:p>
              <a:p>
                <a:pPr marL="0" indent="0">
                  <a:buNone/>
                  <a:defRPr/>
                </a:pPr>
                <a:endParaRPr lang="en-US" i="1" dirty="0"/>
              </a:p>
              <a:p>
                <a:pPr marL="0" indent="0">
                  <a:buNone/>
                  <a:defRPr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nary>
                        <m:naryPr>
                          <m:chr m:val="∑"/>
                          <m:limLoc m:val="undOvr"/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𝑘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𝑛</m:t>
                          </m:r>
                        </m:sup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𝑘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=1+2+…+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𝑛</m:t>
                          </m:r>
                        </m:e>
                      </m:nary>
                    </m:oMath>
                  </m:oMathPara>
                </a14:m>
                <a:endParaRPr lang="en-US" sz="2800" dirty="0"/>
              </a:p>
              <a:p>
                <a:pPr marL="0" indent="0">
                  <a:buNone/>
                  <a:defRPr/>
                </a:pPr>
                <a:endParaRPr lang="en-US" sz="2800" dirty="0"/>
              </a:p>
              <a:p>
                <a:pPr marL="0" indent="0">
                  <a:buNone/>
                  <a:defRPr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nary>
                        <m:naryPr>
                          <m:chr m:val="∑"/>
                          <m:limLoc m:val="undOvr"/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𝑘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𝑛</m:t>
                          </m:r>
                        </m:sup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𝑘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= </m:t>
                          </m:r>
                          <m:f>
                            <m:f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∗ </m:t>
                              </m:r>
                              <m:d>
                                <m:d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+1</m:t>
                                  </m:r>
                                </m:e>
                              </m:d>
                            </m:num>
                            <m:den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den>
                          </m:f>
                        </m:e>
                      </m:nary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2" name="Content Placeholder 1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57200" y="1143000"/>
                <a:ext cx="8229600" cy="4983163"/>
              </a:xfr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" name="Rectangle 13">
            <a:extLst>
              <a:ext uri="{FF2B5EF4-FFF2-40B4-BE49-F238E27FC236}">
                <a16:creationId xmlns:a16="http://schemas.microsoft.com/office/drawing/2014/main" id="{F8665CC4-06D1-4C17-8C24-71D028205ABB}"/>
              </a:ext>
            </a:extLst>
          </p:cNvPr>
          <p:cNvSpPr/>
          <p:nvPr/>
        </p:nvSpPr>
        <p:spPr>
          <a:xfrm>
            <a:off x="6103146" y="5029200"/>
            <a:ext cx="2124299" cy="69249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800" dirty="0"/>
              <a:t>Closed form</a:t>
            </a:r>
          </a:p>
          <a:p>
            <a:r>
              <a:rPr lang="en-US" sz="1100" dirty="0"/>
              <a:t>Induction is used to prove this</a:t>
            </a:r>
          </a:p>
        </p:txBody>
      </p: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7A13833B-B713-4167-AA2F-F3AD326C50AD}"/>
              </a:ext>
            </a:extLst>
          </p:cNvPr>
          <p:cNvCxnSpPr>
            <a:cxnSpLocks/>
          </p:cNvCxnSpPr>
          <p:nvPr/>
        </p:nvCxnSpPr>
        <p:spPr>
          <a:xfrm flipH="1">
            <a:off x="4699819" y="5328910"/>
            <a:ext cx="1295400" cy="0"/>
          </a:xfrm>
          <a:prstGeom prst="straightConnector1">
            <a:avLst/>
          </a:prstGeom>
          <a:ln w="444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Rectangle 15">
            <a:extLst>
              <a:ext uri="{FF2B5EF4-FFF2-40B4-BE49-F238E27FC236}">
                <a16:creationId xmlns:a16="http://schemas.microsoft.com/office/drawing/2014/main" id="{A1B28F47-3634-4B38-B4B3-0FE70AE4A333}"/>
              </a:ext>
            </a:extLst>
          </p:cNvPr>
          <p:cNvSpPr/>
          <p:nvPr/>
        </p:nvSpPr>
        <p:spPr>
          <a:xfrm>
            <a:off x="6223370" y="2381880"/>
            <a:ext cx="1883849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800" dirty="0"/>
              <a:t>Open form</a:t>
            </a:r>
          </a:p>
        </p:txBody>
      </p: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C241B1F5-D052-4543-A41E-0F3C6B3F7E71}"/>
              </a:ext>
            </a:extLst>
          </p:cNvPr>
          <p:cNvCxnSpPr>
            <a:cxnSpLocks/>
          </p:cNvCxnSpPr>
          <p:nvPr/>
        </p:nvCxnSpPr>
        <p:spPr>
          <a:xfrm flipH="1">
            <a:off x="4267200" y="2643490"/>
            <a:ext cx="1918292" cy="785510"/>
          </a:xfrm>
          <a:prstGeom prst="straightConnector1">
            <a:avLst/>
          </a:prstGeom>
          <a:ln w="444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747596E8-62BD-4734-A7F3-8A3D91547224}"/>
              </a:ext>
            </a:extLst>
          </p:cNvPr>
          <p:cNvSpPr/>
          <p:nvPr/>
        </p:nvSpPr>
        <p:spPr>
          <a:xfrm>
            <a:off x="457200" y="1219200"/>
            <a:ext cx="685800" cy="228600"/>
          </a:xfrm>
          <a:prstGeom prst="round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75D64EE4-DDC8-4E97-993D-52C8D857A02C}"/>
              </a:ext>
            </a:extLst>
          </p:cNvPr>
          <p:cNvSpPr/>
          <p:nvPr/>
        </p:nvSpPr>
        <p:spPr>
          <a:xfrm>
            <a:off x="457200" y="2240280"/>
            <a:ext cx="685800" cy="228600"/>
          </a:xfrm>
          <a:prstGeom prst="round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3614623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Big-Oh Notation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8434" name="Content Placeholder 1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lnSpcReduction="10000"/>
              </a:bodyPr>
              <a:lstStyle/>
              <a:p>
                <a:r>
                  <a:rPr lang="en-US" dirty="0"/>
                  <a:t>In analysis of algorithms we care about differences between algorithms on very large inputs, i.e., as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→ ∞</m:t>
                    </m:r>
                  </m:oMath>
                </a14:m>
                <a:endParaRPr lang="en-US" dirty="0"/>
              </a:p>
              <a:p>
                <a:endParaRPr lang="en-US" dirty="0"/>
              </a:p>
              <a:p>
                <a:r>
                  <a:rPr lang="en-US" dirty="0"/>
                  <a:t>We say, “selection sort takes on the order of n</a:t>
                </a:r>
                <a:r>
                  <a:rPr lang="en-US" baseline="30000" dirty="0"/>
                  <a:t>2</a:t>
                </a:r>
                <a:r>
                  <a:rPr lang="en-US" dirty="0"/>
                  <a:t> steps”</a:t>
                </a:r>
              </a:p>
              <a:p>
                <a:endParaRPr lang="en-US" dirty="0"/>
              </a:p>
              <a:p>
                <a:r>
                  <a:rPr lang="en-US" dirty="0"/>
                  <a:t>Big-Oh gives a formal definition for</a:t>
                </a:r>
                <a:br>
                  <a:rPr lang="en-US" dirty="0"/>
                </a:br>
                <a:r>
                  <a:rPr lang="en-US" dirty="0"/>
                  <a:t>“on the order of”</a:t>
                </a:r>
              </a:p>
            </p:txBody>
          </p:sp>
        </mc:Choice>
        <mc:Fallback xmlns="">
          <p:sp>
            <p:nvSpPr>
              <p:cNvPr id="18434" name="Content Placeholder 1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3"/>
                <a:stretch>
                  <a:fillRect l="-1704" t="-2830" b="-229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Formally</a:t>
            </a:r>
          </a:p>
        </p:txBody>
      </p:sp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/>
            </a:pPr>
            <a:r>
              <a:rPr lang="en-US" sz="2400" dirty="0"/>
              <a:t>We write </a:t>
            </a:r>
            <a:r>
              <a:rPr lang="en-US" sz="2400" dirty="0">
                <a:solidFill>
                  <a:schemeClr val="accent3"/>
                </a:solidFill>
              </a:rPr>
              <a:t>f(n) = O(g(n))</a:t>
            </a:r>
            <a:r>
              <a:rPr lang="en-US" sz="2400" dirty="0"/>
              <a:t>, and </a:t>
            </a:r>
            <a:br>
              <a:rPr lang="en-US" sz="2400" dirty="0"/>
            </a:br>
            <a:r>
              <a:rPr lang="en-US" sz="2400" dirty="0"/>
              <a:t>say </a:t>
            </a:r>
            <a:r>
              <a:rPr lang="en-US" sz="2400" dirty="0">
                <a:solidFill>
                  <a:schemeClr val="accent3"/>
                </a:solidFill>
              </a:rPr>
              <a:t>“f is big-Oh of g”</a:t>
            </a:r>
          </a:p>
          <a:p>
            <a:pPr>
              <a:defRPr/>
            </a:pPr>
            <a:r>
              <a:rPr lang="en-US" sz="2400" dirty="0"/>
              <a:t>if there exists positive constants </a:t>
            </a:r>
            <a:r>
              <a:rPr lang="en-US" sz="2400" dirty="0">
                <a:solidFill>
                  <a:schemeClr val="accent3"/>
                </a:solidFill>
              </a:rPr>
              <a:t>c</a:t>
            </a:r>
            <a:r>
              <a:rPr lang="en-US" sz="2400" dirty="0"/>
              <a:t> and </a:t>
            </a:r>
            <a:r>
              <a:rPr lang="en-US" sz="2400" dirty="0">
                <a:solidFill>
                  <a:schemeClr val="accent3"/>
                </a:solidFill>
              </a:rPr>
              <a:t>n</a:t>
            </a:r>
            <a:r>
              <a:rPr lang="en-US" sz="2400" baseline="-25000" dirty="0">
                <a:solidFill>
                  <a:schemeClr val="accent3"/>
                </a:solidFill>
              </a:rPr>
              <a:t>0</a:t>
            </a:r>
            <a:r>
              <a:rPr lang="en-US" dirty="0"/>
              <a:t> </a:t>
            </a:r>
            <a:r>
              <a:rPr lang="en-US" sz="2400" dirty="0"/>
              <a:t>such that</a:t>
            </a:r>
          </a:p>
          <a:p>
            <a:pPr>
              <a:defRPr/>
            </a:pPr>
            <a:r>
              <a:rPr lang="en-US" sz="2400" dirty="0"/>
              <a:t>0 ≤ f(n) ≤ c g(n)</a:t>
            </a:r>
            <a:br>
              <a:rPr lang="en-US" sz="2400" dirty="0"/>
            </a:br>
            <a:r>
              <a:rPr lang="en-US" sz="2400" dirty="0"/>
              <a:t>for all n &gt; n</a:t>
            </a:r>
            <a:r>
              <a:rPr lang="en-US" sz="2400" baseline="-25000" dirty="0"/>
              <a:t>0</a:t>
            </a:r>
          </a:p>
          <a:p>
            <a:pPr>
              <a:defRPr/>
            </a:pPr>
            <a:r>
              <a:rPr lang="en-US" sz="2400" dirty="0"/>
              <a:t>g is a </a:t>
            </a:r>
            <a:r>
              <a:rPr lang="en-US" sz="2400" dirty="0">
                <a:solidFill>
                  <a:schemeClr val="accent3"/>
                </a:solidFill>
              </a:rPr>
              <a:t>ceiling</a:t>
            </a:r>
            <a:r>
              <a:rPr lang="en-US" sz="2400" dirty="0"/>
              <a:t> on f</a:t>
            </a:r>
          </a:p>
        </p:txBody>
      </p:sp>
      <p:pic>
        <p:nvPicPr>
          <p:cNvPr id="19460" name="Picture 3"/>
          <p:cNvPicPr>
            <a:picLocks noChangeAspect="1" noChangeArrowheads="1"/>
          </p:cNvPicPr>
          <p:nvPr/>
        </p:nvPicPr>
        <p:blipFill>
          <a:blip r:embed="rId3" cstate="print"/>
          <a:srcRect l="11957" t="39194" r="16304"/>
          <a:stretch>
            <a:fillRect/>
          </a:stretch>
        </p:blipFill>
        <p:spPr bwMode="auto">
          <a:xfrm>
            <a:off x="4267200" y="3021157"/>
            <a:ext cx="4800600" cy="383684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40000"/>
                <a:satMod val="155000"/>
              </a:schemeClr>
            </a:gs>
            <a:gs pos="65000">
              <a:schemeClr val="phClr">
                <a:shade val="85000"/>
                <a:satMod val="155000"/>
              </a:schemeClr>
            </a:gs>
            <a:gs pos="100000">
              <a:schemeClr val="phClr">
                <a:shade val="95000"/>
                <a:satMod val="155000"/>
              </a:schemeClr>
            </a:gs>
          </a:gsLst>
          <a:lin ang="16200000" scaled="0"/>
        </a:gradFill>
      </a:fillStyleLst>
      <a:lnStyleLst>
        <a:ln w="6350" cap="rnd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  <a:ln w="34925" cap="rnd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0800" algn="tl" rotWithShape="0">
              <a:srgbClr val="000000">
                <a:alpha val="64000"/>
              </a:srgbClr>
            </a:outerShdw>
          </a:effectLst>
        </a:effectStyle>
        <a:effectStyle>
          <a:effectLst>
            <a:outerShdw blurRad="39000" dist="25400" dir="5400000">
              <a:srgbClr val="000000">
                <a:alpha val="35000"/>
              </a:srgbClr>
            </a:outerShdw>
          </a:effectLst>
        </a:effectStyle>
        <a:effectStyle>
          <a:effectLst>
            <a:outerShdw blurRad="39000" dist="25400" dir="5400000">
              <a:srgbClr val="000000">
                <a:alpha val="35000"/>
              </a:srgbClr>
            </a:outerShdw>
          </a:effectLst>
          <a:scene3d>
            <a:camera prst="orthographicFront" fov="0">
              <a:rot lat="0" lon="0" rev="0"/>
            </a:camera>
            <a:lightRig rig="threePt" dir="t">
              <a:rot lat="0" lon="0" rev="0"/>
            </a:lightRig>
          </a:scene3d>
          <a:sp3d prstMaterial="matte">
            <a:bevelT h="22225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shade val="50000"/>
                <a:satMod val="155000"/>
              </a:schemeClr>
            </a:gs>
            <a:gs pos="35000">
              <a:schemeClr val="phClr">
                <a:shade val="75000"/>
                <a:satMod val="155000"/>
              </a:schemeClr>
            </a:gs>
            <a:gs pos="100000">
              <a:schemeClr val="phClr">
                <a:tint val="80000"/>
                <a:satMod val="255000"/>
              </a:schemeClr>
            </a:gs>
          </a:gsLst>
          <a:lin ang="16200000" scaled="0"/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100000" t="100000" r="100000" b="10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10790</TotalTime>
  <Words>894</Words>
  <Application>Microsoft Office PowerPoint</Application>
  <PresentationFormat>On-screen Show (4:3)</PresentationFormat>
  <Paragraphs>123</Paragraphs>
  <Slides>14</Slides>
  <Notes>13</Notes>
  <HiddenSlides>1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20" baseType="lpstr">
      <vt:lpstr>Arial</vt:lpstr>
      <vt:lpstr>Calibri</vt:lpstr>
      <vt:lpstr>Cambria Math</vt:lpstr>
      <vt:lpstr>Courier New</vt:lpstr>
      <vt:lpstr>Lucida Sans Typewriter</vt:lpstr>
      <vt:lpstr>Office Theme</vt:lpstr>
      <vt:lpstr>CSSE 220</vt:lpstr>
      <vt:lpstr>What is sorting?</vt:lpstr>
      <vt:lpstr>Why study sorting?</vt:lpstr>
      <vt:lpstr>Course Goals for Sorting:  You should…</vt:lpstr>
      <vt:lpstr>PowerPoint Presentation</vt:lpstr>
      <vt:lpstr>Selection Sort</vt:lpstr>
      <vt:lpstr>Selection Sort</vt:lpstr>
      <vt:lpstr>Profiling Selection Sort</vt:lpstr>
      <vt:lpstr>Performance Analysis Basics</vt:lpstr>
      <vt:lpstr>Analyzing Selection Sort</vt:lpstr>
      <vt:lpstr>Summation Notation &amp; Facts</vt:lpstr>
      <vt:lpstr>Summation Notation &amp; Facts</vt:lpstr>
      <vt:lpstr>Big-Oh Notation</vt:lpstr>
      <vt:lpstr>Formally</vt:lpstr>
    </vt:vector>
  </TitlesOfParts>
  <Manager/>
  <Company>RHIT CSSE</Company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subject/>
  <dc:creator>CSSE Faculty</dc:creator>
  <cp:keywords/>
  <dc:description/>
  <cp:lastModifiedBy>Ludden, Ian</cp:lastModifiedBy>
  <cp:revision>886</cp:revision>
  <cp:lastPrinted>2013-01-07T22:34:22Z</cp:lastPrinted>
  <dcterms:created xsi:type="dcterms:W3CDTF">2007-11-19T15:20:41Z</dcterms:created>
  <dcterms:modified xsi:type="dcterms:W3CDTF">2025-10-31T17:43:10Z</dcterms:modified>
  <cp:category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_TemplateID">
    <vt:lpwstr>TC101671231033</vt:lpwstr>
  </property>
</Properties>
</file>