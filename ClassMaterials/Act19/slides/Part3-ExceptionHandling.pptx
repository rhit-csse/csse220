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16"/>
  </p:notesMasterIdLst>
  <p:sldIdLst>
    <p:sldId id="256" r:id="rId6"/>
    <p:sldId id="264" r:id="rId7"/>
    <p:sldId id="265" r:id="rId8"/>
    <p:sldId id="273" r:id="rId9"/>
    <p:sldId id="266" r:id="rId10"/>
    <p:sldId id="267" r:id="rId11"/>
    <p:sldId id="268" r:id="rId12"/>
    <p:sldId id="269" r:id="rId13"/>
    <p:sldId id="270" r:id="rId14"/>
    <p:sldId id="271" r:id="rId15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5B193D-6709-4734-BCE0-822F77AAE2AD}" v="1" dt="2023-10-24T12:59:11.9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77764" autoAdjust="0"/>
  </p:normalViewPr>
  <p:slideViewPr>
    <p:cSldViewPr snapToGrid="0">
      <p:cViewPr varScale="1">
        <p:scale>
          <a:sx n="74" d="100"/>
          <a:sy n="74" d="100"/>
        </p:scale>
        <p:origin x="17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ham, Ben" userId="S::grahambd@rose-hulman.edu::ca9f0199-aa2c-4070-af24-56bd41cef7ca" providerId="AD" clId="Web-{6C7D68E5-FF66-49C3-8B9C-3F32F6E035AA}"/>
    <pc:docChg chg="modSld">
      <pc:chgData name="Graham, Ben" userId="S::grahambd@rose-hulman.edu::ca9f0199-aa2c-4070-af24-56bd41cef7ca" providerId="AD" clId="Web-{6C7D68E5-FF66-49C3-8B9C-3F32F6E035AA}" dt="2021-10-29T01:54:58.058" v="0" actId="1076"/>
      <pc:docMkLst>
        <pc:docMk/>
      </pc:docMkLst>
      <pc:sldChg chg="modSp">
        <pc:chgData name="Graham, Ben" userId="S::grahambd@rose-hulman.edu::ca9f0199-aa2c-4070-af24-56bd41cef7ca" providerId="AD" clId="Web-{6C7D68E5-FF66-49C3-8B9C-3F32F6E035AA}" dt="2021-10-29T01:54:58.058" v="0" actId="1076"/>
        <pc:sldMkLst>
          <pc:docMk/>
          <pc:sldMk cId="0" sldId="256"/>
        </pc:sldMkLst>
        <pc:spChg chg="mod">
          <ac:chgData name="Graham, Ben" userId="S::grahambd@rose-hulman.edu::ca9f0199-aa2c-4070-af24-56bd41cef7ca" providerId="AD" clId="Web-{6C7D68E5-FF66-49C3-8B9C-3F32F6E035AA}" dt="2021-10-29T01:54:58.058" v="0" actId="1076"/>
          <ac:spMkLst>
            <pc:docMk/>
            <pc:sldMk cId="0" sldId="256"/>
            <ac:spMk id="113" creationId="{00000000-0000-0000-0000-000000000000}"/>
          </ac:spMkLst>
        </pc:spChg>
      </pc:sldChg>
    </pc:docChg>
  </pc:docChgLst>
  <pc:docChgLst>
    <pc:chgData name="Yoder, Jason" userId="28f4d4d8-da04-4f86-b14d-a21675737bc5" providerId="ADAL" clId="{AB5B193D-6709-4734-BCE0-822F77AAE2AD}"/>
    <pc:docChg chg="custSel addSld modSld">
      <pc:chgData name="Yoder, Jason" userId="28f4d4d8-da04-4f86-b14d-a21675737bc5" providerId="ADAL" clId="{AB5B193D-6709-4734-BCE0-822F77AAE2AD}" dt="2023-10-24T13:19:51.285" v="1321" actId="6549"/>
      <pc:docMkLst>
        <pc:docMk/>
      </pc:docMkLst>
      <pc:sldChg chg="modNotesTx">
        <pc:chgData name="Yoder, Jason" userId="28f4d4d8-da04-4f86-b14d-a21675737bc5" providerId="ADAL" clId="{AB5B193D-6709-4734-BCE0-822F77AAE2AD}" dt="2023-10-24T12:36:38.336" v="417" actId="20577"/>
        <pc:sldMkLst>
          <pc:docMk/>
          <pc:sldMk cId="0" sldId="271"/>
        </pc:sldMkLst>
      </pc:sldChg>
      <pc:sldChg chg="addSp delSp modSp mod modNotesTx">
        <pc:chgData name="Yoder, Jason" userId="28f4d4d8-da04-4f86-b14d-a21675737bc5" providerId="ADAL" clId="{AB5B193D-6709-4734-BCE0-822F77AAE2AD}" dt="2023-10-24T13:19:51.285" v="1321" actId="6549"/>
        <pc:sldMkLst>
          <pc:docMk/>
          <pc:sldMk cId="0" sldId="272"/>
        </pc:sldMkLst>
        <pc:spChg chg="mod">
          <ac:chgData name="Yoder, Jason" userId="28f4d4d8-da04-4f86-b14d-a21675737bc5" providerId="ADAL" clId="{AB5B193D-6709-4734-BCE0-822F77AAE2AD}" dt="2023-10-24T13:19:51.285" v="1321" actId="6549"/>
          <ac:spMkLst>
            <pc:docMk/>
            <pc:sldMk cId="0" sldId="272"/>
            <ac:spMk id="197" creationId="{00000000-0000-0000-0000-000000000000}"/>
          </ac:spMkLst>
        </pc:spChg>
        <pc:picChg chg="add del mod">
          <ac:chgData name="Yoder, Jason" userId="28f4d4d8-da04-4f86-b14d-a21675737bc5" providerId="ADAL" clId="{AB5B193D-6709-4734-BCE0-822F77AAE2AD}" dt="2023-10-24T12:59:11.260" v="456" actId="21"/>
          <ac:picMkLst>
            <pc:docMk/>
            <pc:sldMk cId="0" sldId="272"/>
            <ac:picMk id="3" creationId="{4B3D79A6-28D8-0EFB-D189-16F762B62C27}"/>
          </ac:picMkLst>
        </pc:picChg>
      </pc:sldChg>
      <pc:sldChg chg="modNotesTx">
        <pc:chgData name="Yoder, Jason" userId="28f4d4d8-da04-4f86-b14d-a21675737bc5" providerId="ADAL" clId="{AB5B193D-6709-4734-BCE0-822F77AAE2AD}" dt="2023-10-24T13:07:32.981" v="1110" actId="20577"/>
        <pc:sldMkLst>
          <pc:docMk/>
          <pc:sldMk cId="3336966289" sldId="284"/>
        </pc:sldMkLst>
      </pc:sldChg>
      <pc:sldChg chg="addSp modSp new mod">
        <pc:chgData name="Yoder, Jason" userId="28f4d4d8-da04-4f86-b14d-a21675737bc5" providerId="ADAL" clId="{AB5B193D-6709-4734-BCE0-822F77AAE2AD}" dt="2023-10-24T13:00:54.058" v="683" actId="1076"/>
        <pc:sldMkLst>
          <pc:docMk/>
          <pc:sldMk cId="2054310034" sldId="285"/>
        </pc:sldMkLst>
        <pc:spChg chg="mod">
          <ac:chgData name="Yoder, Jason" userId="28f4d4d8-da04-4f86-b14d-a21675737bc5" providerId="ADAL" clId="{AB5B193D-6709-4734-BCE0-822F77AAE2AD}" dt="2023-10-24T12:59:19.046" v="459"/>
          <ac:spMkLst>
            <pc:docMk/>
            <pc:sldMk cId="2054310034" sldId="285"/>
            <ac:spMk id="2" creationId="{AD932DFD-9C15-7FAC-BF2C-D2E3FE7A812F}"/>
          </ac:spMkLst>
        </pc:spChg>
        <pc:spChg chg="mod">
          <ac:chgData name="Yoder, Jason" userId="28f4d4d8-da04-4f86-b14d-a21675737bc5" providerId="ADAL" clId="{AB5B193D-6709-4734-BCE0-822F77AAE2AD}" dt="2023-10-24T13:00:54.058" v="683" actId="1076"/>
          <ac:spMkLst>
            <pc:docMk/>
            <pc:sldMk cId="2054310034" sldId="285"/>
            <ac:spMk id="3" creationId="{69A103E3-E27A-D95A-A260-87280C85FB38}"/>
          </ac:spMkLst>
        </pc:spChg>
        <pc:picChg chg="add mod modCrop">
          <ac:chgData name="Yoder, Jason" userId="28f4d4d8-da04-4f86-b14d-a21675737bc5" providerId="ADAL" clId="{AB5B193D-6709-4734-BCE0-822F77AAE2AD}" dt="2023-10-24T13:00:15.549" v="608" actId="1076"/>
          <ac:picMkLst>
            <pc:docMk/>
            <pc:sldMk cId="2054310034" sldId="285"/>
            <ac:picMk id="4" creationId="{A9EECB26-34C6-57B9-88EE-E87D1C4806A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notes format</a:t>
            </a:r>
          </a:p>
        </p:txBody>
      </p:sp>
      <p:sp>
        <p:nvSpPr>
          <p:cNvPr id="109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&lt;header&gt;</a:t>
            </a:r>
          </a:p>
        </p:txBody>
      </p:sp>
      <p:sp>
        <p:nvSpPr>
          <p:cNvPr id="110" name="PlaceHolder 3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111" name="PlaceHolder 4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112" name="PlaceHolder 5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B630EBB8-CEB5-4E8D-9A06-06438377CF61}" type="slidenum"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pPr marL="216000" indent="-21528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3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AEF73CCB-14BF-447D-84A8-4E22699D9E82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Try to read</a:t>
            </a:r>
            <a:r>
              <a:rPr lang="en-US" sz="2000" b="0" strike="noStrike" spc="-1" baseline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from file when the file does not exist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3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9A3B7B5C-4FE7-427D-BDD2-2865C7667CBE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</a:rPr>
              <a:t>3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Try to read</a:t>
            </a:r>
            <a:r>
              <a:rPr lang="en-US" sz="2000" b="0" strike="noStrike" spc="-1" baseline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from file when the file does not exist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3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9A3B7B5C-4FE7-427D-BDD2-2865C7667CBE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</a:rPr>
              <a:t>4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71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5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A3EC0271-79ED-48A4-A24E-5240669E6027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</a:rPr>
              <a:t>5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7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340987E2-1337-49CA-ACF8-6BA2085908F3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</a:rPr>
              <a:t>6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9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C266F0AE-5ED4-467A-AB94-658D60AC6576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</a:rPr>
              <a:t>7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pPr marL="216000" indent="-215280">
              <a:lnSpc>
                <a:spcPct val="100000"/>
              </a:lnSpc>
            </a:pPr>
            <a:r>
              <a:rPr lang="en-US" sz="2000" b="1" strike="noStrike" spc="-1">
                <a:solidFill>
                  <a:srgbClr val="EB641B"/>
                </a:solidFill>
                <a:uFill>
                  <a:solidFill>
                    <a:srgbClr val="FFFFFF"/>
                  </a:solidFill>
                </a:uFill>
                <a:latin typeface="Lucida Sans Typewriter"/>
              </a:rPr>
              <a:t>IOException </a:t>
            </a:r>
            <a:r>
              <a:rPr lang="en-US" sz="2000" b="0" strike="noStrike" spc="-1">
                <a:solidFill>
                  <a:srgbClr val="EB641B"/>
                </a:solidFill>
                <a:uFill>
                  <a:solidFill>
                    <a:srgbClr val="FFFFFF"/>
                  </a:solidFill>
                </a:uFill>
                <a:latin typeface="Lucida Sans Typewriter"/>
              </a:rPr>
              <a:t>Signals that an I/O exception of some sort has occurred. This class is the general class of exceptions produced by failed or interrupted I/O operations. 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28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When having multiple catch statements be sure to move from more specific to more general.</a:t>
            </a:r>
          </a:p>
          <a:p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It is helpful to know the more specific type of exception as it may have features unknown as more a general type of exception.</a:t>
            </a:r>
          </a:p>
          <a:p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first catch that matches the type will be the only one that </a:t>
            </a:r>
            <a:r>
              <a:rPr lang="en-US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excecutes</a:t>
            </a:r>
            <a:endParaRPr lang="en-US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2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40B497DE-A164-4D94-A609-3C0CF437DB10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10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4" name="Picture 33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35" name="Picture 34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0" name="Picture 69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71" name="Picture 70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1"/>
          <p:cNvSpPr/>
          <p:nvPr/>
        </p:nvSpPr>
        <p:spPr>
          <a:xfrm>
            <a:off x="685800" y="2144857"/>
            <a:ext cx="7771320" cy="146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CSSE 220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4" name="CustomShape 2"/>
          <p:cNvSpPr/>
          <p:nvPr/>
        </p:nvSpPr>
        <p:spPr>
          <a:xfrm>
            <a:off x="1371600" y="3886200"/>
            <a:ext cx="6399720" cy="175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90000"/>
              </a:lnSpc>
            </a:pPr>
            <a:r>
              <a:rPr lang="en-US" sz="25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Exceptions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ustomShape 1"/>
          <p:cNvSpPr/>
          <p:nvPr/>
        </p:nvSpPr>
        <p:spPr>
          <a:xfrm>
            <a:off x="334851" y="223165"/>
            <a:ext cx="86857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Exception – What, When, Why, How?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3" name="CustomShape 2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What: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Used to signal that something in a called operation has gone wrong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When: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An error has occurred that cannot be handled in a called operation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Why: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It b</a:t>
            </a: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reaks the execution flow and passes exception up the call stack to the calling operation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Exception – How?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457200" y="1342623"/>
            <a:ext cx="8228520" cy="495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Java code for throwing an exception:</a:t>
            </a:r>
            <a:b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</a:b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throw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new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</a:t>
            </a:r>
            <a:r>
              <a:rPr lang="en-US" sz="24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EOFException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(“Missing column”);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Java code for handling (catching) an exception:</a:t>
            </a:r>
            <a:b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</a:b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6075">
              <a:lnSpc>
                <a:spcPct val="100000"/>
              </a:lnSpc>
              <a:tabLst>
                <a:tab pos="67945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try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{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6075">
              <a:lnSpc>
                <a:spcPct val="100000"/>
              </a:lnSpc>
              <a:tabLst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// Caller makes call(s) to operation(s) </a:t>
            </a:r>
          </a:p>
          <a:p>
            <a:pPr marL="346075">
              <a:lnSpc>
                <a:spcPct val="100000"/>
              </a:lnSpc>
              <a:tabLst>
                <a:tab pos="679450" algn="l"/>
              </a:tabLst>
            </a:pPr>
            <a:r>
              <a:rPr lang="en-US" sz="24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// 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that can</a:t>
            </a:r>
            <a:r>
              <a:rPr lang="en-US" sz="24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throw an exception(s)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6075">
              <a:lnSpc>
                <a:spcPct val="100000"/>
              </a:lnSpc>
              <a:tabLst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}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6075">
              <a:lnSpc>
                <a:spcPct val="100000"/>
              </a:lnSpc>
              <a:tabLst>
                <a:tab pos="67945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catch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(</a:t>
            </a:r>
            <a:r>
              <a:rPr lang="en-US" sz="24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ExceptionType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ex) {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6075">
              <a:lnSpc>
                <a:spcPct val="100000"/>
              </a:lnSpc>
              <a:tabLst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// Caller code that attem</a:t>
            </a:r>
            <a:r>
              <a:rPr lang="en-US" sz="24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pts to recover</a:t>
            </a:r>
          </a:p>
          <a:p>
            <a:pPr marL="346075">
              <a:lnSpc>
                <a:spcPct val="100000"/>
              </a:lnSpc>
              <a:tabLst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cs typeface="Courier New" panose="02070309020205020404" pitchFamily="49" charset="0"/>
              </a:rPr>
              <a:t>	// from the exception</a:t>
            </a:r>
          </a:p>
          <a:p>
            <a:pPr marL="346075">
              <a:lnSpc>
                <a:spcPct val="100000"/>
              </a:lnSpc>
              <a:tabLst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} // end try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6" name="CustomShape 3"/>
          <p:cNvSpPr/>
          <p:nvPr/>
        </p:nvSpPr>
        <p:spPr>
          <a:xfrm>
            <a:off x="8432640" y="6334560"/>
            <a:ext cx="557640" cy="417960"/>
          </a:xfrm>
          <a:prstGeom prst="rect">
            <a:avLst/>
          </a:prstGeom>
          <a:solidFill>
            <a:srgbClr val="E46C0A"/>
          </a:solidFill>
          <a:ln>
            <a:rou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Q5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984F10-98D6-E343-AA13-E56FA9F902F4}"/>
              </a:ext>
            </a:extLst>
          </p:cNvPr>
          <p:cNvCxnSpPr/>
          <p:nvPr/>
        </p:nvCxnSpPr>
        <p:spPr>
          <a:xfrm>
            <a:off x="592428" y="2382592"/>
            <a:ext cx="79076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Exception Handling – How?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457200" y="1600200"/>
            <a:ext cx="8228520" cy="495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1080">
              <a:lnSpc>
                <a:spcPct val="100000"/>
              </a:lnSpc>
              <a:buClr>
                <a:srgbClr val="000000"/>
              </a:buClr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When you write code in the catch part of a try-catch block, you can attempt to:</a:t>
            </a:r>
          </a:p>
          <a:p>
            <a:pPr marL="1080">
              <a:lnSpc>
                <a:spcPct val="100000"/>
              </a:lnSpc>
              <a:buClr>
                <a:srgbClr val="000000"/>
              </a:buClr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  <a:ea typeface="DejaVu Sans"/>
            </a:endParaRPr>
          </a:p>
          <a:p>
            <a:pPr marL="515430" indent="-514350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32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Recover from the error discovered in the caller</a:t>
            </a:r>
          </a:p>
          <a:p>
            <a:pPr marL="515430" indent="-514350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32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Not recover, and have the app exit gracefully, e.g., close all open scanners, files, etc., then exit the app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6" name="CustomShape 3"/>
          <p:cNvSpPr/>
          <p:nvPr/>
        </p:nvSpPr>
        <p:spPr>
          <a:xfrm>
            <a:off x="8432640" y="6334560"/>
            <a:ext cx="557640" cy="417960"/>
          </a:xfrm>
          <a:prstGeom prst="rect">
            <a:avLst/>
          </a:prstGeom>
          <a:solidFill>
            <a:srgbClr val="E46C0A"/>
          </a:solidFill>
          <a:ln>
            <a:rou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Q5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073154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What happens when </a:t>
            </a:r>
            <a:r>
              <a:rPr lang="en-US" sz="4400" b="0" i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no</a:t>
            </a: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exception is thrown?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8" name="CustomShape 2"/>
          <p:cNvSpPr/>
          <p:nvPr/>
        </p:nvSpPr>
        <p:spPr>
          <a:xfrm>
            <a:off x="457200" y="1600200"/>
            <a:ext cx="8228520" cy="39119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tabLst>
                <a:tab pos="333375" algn="l"/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Scanner s1;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3375" algn="l"/>
                <a:tab pos="67945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try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{			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3375" algn="l"/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 s1 = 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new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Scanner(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new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File(“</a:t>
            </a:r>
            <a:r>
              <a:rPr lang="en-US" sz="24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test.txt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”);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3375" algn="l"/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// code for reading lines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3375" algn="l"/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} 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catch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(</a:t>
            </a:r>
            <a:r>
              <a:rPr lang="en-US" sz="24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IOException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ex) {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3375" algn="l"/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</a:t>
            </a:r>
            <a:r>
              <a:rPr lang="en-US" sz="24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JOptionPane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.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3375" algn="l"/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	</a:t>
            </a:r>
            <a:r>
              <a:rPr lang="en-US" sz="24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showMessageDialog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("File not found.");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3375" algn="l"/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} 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finally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{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3375" algn="l"/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s1.close();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3375" algn="l"/>
                <a:tab pos="67945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} // end try-catch-finally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9" name="CustomShape 3"/>
          <p:cNvSpPr/>
          <p:nvPr/>
        </p:nvSpPr>
        <p:spPr>
          <a:xfrm rot="20547809">
            <a:off x="4607701" y="1599257"/>
            <a:ext cx="3072564" cy="409793"/>
          </a:xfrm>
          <a:prstGeom prst="lef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If this line is successful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0" name="CustomShape 4"/>
          <p:cNvSpPr/>
          <p:nvPr/>
        </p:nvSpPr>
        <p:spPr>
          <a:xfrm rot="295159">
            <a:off x="5566363" y="2851667"/>
            <a:ext cx="2513520" cy="381070"/>
          </a:xfrm>
          <a:prstGeom prst="lef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Code continues on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1" name="CustomShape 5"/>
          <p:cNvSpPr/>
          <p:nvPr/>
        </p:nvSpPr>
        <p:spPr>
          <a:xfrm>
            <a:off x="3027488" y="4520484"/>
            <a:ext cx="3885120" cy="426107"/>
          </a:xfrm>
          <a:prstGeom prst="lef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This runs after code in try completes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2" name="CustomShape 6"/>
          <p:cNvSpPr/>
          <p:nvPr/>
        </p:nvSpPr>
        <p:spPr>
          <a:xfrm rot="245414">
            <a:off x="5315756" y="3284111"/>
            <a:ext cx="3047040" cy="463345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The catch never executes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9CA714-7E86-A246-A57F-5BA36486D2CF}"/>
              </a:ext>
            </a:extLst>
          </p:cNvPr>
          <p:cNvSpPr txBox="1"/>
          <p:nvPr/>
        </p:nvSpPr>
        <p:spPr>
          <a:xfrm>
            <a:off x="476518" y="5705341"/>
            <a:ext cx="7688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Execution Progression: </a:t>
            </a:r>
            <a:r>
              <a:rPr lang="en-US" sz="2000" i="1">
                <a:latin typeface="Calibri" panose="020F0502020204030204" pitchFamily="34" charset="0"/>
                <a:cs typeface="Calibri" panose="020F0502020204030204" pitchFamily="34" charset="0"/>
              </a:rPr>
              <a:t>try</a:t>
            </a:r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 block, then </a:t>
            </a:r>
            <a:r>
              <a:rPr lang="en-US" sz="2000" i="1">
                <a:latin typeface="Calibri" panose="020F0502020204030204" pitchFamily="34" charset="0"/>
                <a:cs typeface="Calibri" panose="020F0502020204030204" pitchFamily="34" charset="0"/>
              </a:rPr>
              <a:t>finally</a:t>
            </a:r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 block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What happens when exception is thrown?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4" name="CustomShape 2"/>
          <p:cNvSpPr/>
          <p:nvPr/>
        </p:nvSpPr>
        <p:spPr>
          <a:xfrm>
            <a:off x="457200" y="1600200"/>
            <a:ext cx="8228520" cy="510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tabLst>
                <a:tab pos="331788" algn="l"/>
                <a:tab pos="674688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Scanner s1;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1788" algn="l"/>
                <a:tab pos="674688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try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{			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1788" algn="l"/>
                <a:tab pos="674688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 s1 = 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new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Scanner(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new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File(“</a:t>
            </a:r>
            <a:r>
              <a:rPr lang="en-US" sz="24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test.txt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”);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1788" algn="l"/>
                <a:tab pos="674688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// code for reading lines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1788" algn="l"/>
                <a:tab pos="674688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} 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catch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(</a:t>
            </a:r>
            <a:r>
              <a:rPr lang="en-US" sz="24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IOException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ex) {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1788" algn="l"/>
                <a:tab pos="674688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</a:t>
            </a:r>
            <a:r>
              <a:rPr lang="en-US" sz="24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JOptionPane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.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1788" algn="l"/>
                <a:tab pos="674688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	</a:t>
            </a:r>
            <a:r>
              <a:rPr lang="en-US" sz="24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showMessageDialog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("File not found.");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1788" algn="l"/>
                <a:tab pos="674688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} 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finally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{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1788" algn="l"/>
                <a:tab pos="674688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s1.close();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331788" algn="l"/>
                <a:tab pos="674688" algn="l"/>
              </a:tabLst>
            </a:pPr>
            <a:r>
              <a:rPr lang="en-US" sz="24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cs typeface="Courier New" panose="02070309020205020404" pitchFamily="49" charset="0"/>
              </a:rPr>
              <a:t>} // end try-catch-finally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5" name="CustomShape 3"/>
          <p:cNvSpPr/>
          <p:nvPr/>
        </p:nvSpPr>
        <p:spPr>
          <a:xfrm rot="20599371">
            <a:off x="4480487" y="1655180"/>
            <a:ext cx="3047040" cy="435864"/>
          </a:xfrm>
          <a:prstGeom prst="lef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If this line throws exception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6" name="CustomShape 4"/>
          <p:cNvSpPr/>
          <p:nvPr/>
        </p:nvSpPr>
        <p:spPr>
          <a:xfrm rot="347655">
            <a:off x="5211461" y="4249960"/>
            <a:ext cx="3486970" cy="425269"/>
          </a:xfrm>
          <a:prstGeom prst="lef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Code in </a:t>
            </a:r>
            <a:r>
              <a:rPr lang="en-US" sz="1800" b="0" i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catch</a:t>
            </a: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is executed next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7" name="CustomShape 5"/>
          <p:cNvSpPr/>
          <p:nvPr/>
        </p:nvSpPr>
        <p:spPr>
          <a:xfrm rot="841812">
            <a:off x="3021147" y="4986313"/>
            <a:ext cx="3427920" cy="435778"/>
          </a:xfrm>
          <a:prstGeom prst="lef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After catch is executed, this runs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8" name="CustomShape 6"/>
          <p:cNvSpPr/>
          <p:nvPr/>
        </p:nvSpPr>
        <p:spPr>
          <a:xfrm rot="640300">
            <a:off x="5399219" y="3044142"/>
            <a:ext cx="3732840" cy="477602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Code after exception never executes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B45FD2-55DF-7648-A9C4-18D44243D0DB}"/>
              </a:ext>
            </a:extLst>
          </p:cNvPr>
          <p:cNvSpPr txBox="1"/>
          <p:nvPr/>
        </p:nvSpPr>
        <p:spPr>
          <a:xfrm>
            <a:off x="476518" y="5705341"/>
            <a:ext cx="7688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Execution Progression: </a:t>
            </a:r>
            <a:r>
              <a:rPr lang="en-US" sz="2000" i="1">
                <a:latin typeface="Calibri" panose="020F0502020204030204" pitchFamily="34" charset="0"/>
                <a:cs typeface="Calibri" panose="020F0502020204030204" pitchFamily="34" charset="0"/>
              </a:rPr>
              <a:t>try</a:t>
            </a:r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 block, </a:t>
            </a:r>
            <a:r>
              <a:rPr lang="en-US" sz="2000" i="1">
                <a:latin typeface="Calibri" panose="020F0502020204030204" pitchFamily="34" charset="0"/>
                <a:cs typeface="Calibri" panose="020F0502020204030204" pitchFamily="34" charset="0"/>
              </a:rPr>
              <a:t>catch</a:t>
            </a:r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 block , then </a:t>
            </a:r>
            <a:r>
              <a:rPr lang="en-US" sz="2000" i="1">
                <a:latin typeface="Calibri" panose="020F0502020204030204" pitchFamily="34" charset="0"/>
                <a:cs typeface="Calibri" panose="020F0502020204030204" pitchFamily="34" charset="0"/>
              </a:rPr>
              <a:t>finally</a:t>
            </a:r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 block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CustomShape 1"/>
          <p:cNvSpPr/>
          <p:nvPr/>
        </p:nvSpPr>
        <p:spPr>
          <a:xfrm>
            <a:off x="457200" y="274680"/>
            <a:ext cx="8228520" cy="63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When exception is not handled?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0" name="CustomShape 2"/>
          <p:cNvSpPr/>
          <p:nvPr/>
        </p:nvSpPr>
        <p:spPr>
          <a:xfrm>
            <a:off x="304920" y="914400"/>
            <a:ext cx="8380800" cy="594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tabLst>
                <a:tab pos="215900" algn="l"/>
                <a:tab pos="560388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public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String </a:t>
            </a:r>
            <a:r>
              <a:rPr lang="en-US" sz="20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readData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(String filename) 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215900" algn="l"/>
                <a:tab pos="560388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		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throws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</a:t>
            </a:r>
            <a:r>
              <a:rPr lang="en-US" sz="20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IOException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{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215900" algn="l"/>
                <a:tab pos="560388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Scanner s1 = 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new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Scanner(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new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File(filename));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215900" algn="l"/>
                <a:tab pos="560388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// code for reading lines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215900" algn="l"/>
                <a:tab pos="560388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	s1.close();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tabLst>
                <a:tab pos="215900" algn="l"/>
                <a:tab pos="560388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main -&gt; </a:t>
            </a:r>
            <a:r>
              <a:rPr lang="en-US" sz="32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readAllFiles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-&gt; </a:t>
            </a:r>
            <a:r>
              <a:rPr lang="en-US" sz="32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readData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1" name="CustomShape 3"/>
          <p:cNvSpPr/>
          <p:nvPr/>
        </p:nvSpPr>
        <p:spPr>
          <a:xfrm rot="609716">
            <a:off x="5181480" y="2013995"/>
            <a:ext cx="3047040" cy="395895"/>
          </a:xfrm>
          <a:prstGeom prst="lef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If this line throws exception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2" name="CustomShape 4"/>
          <p:cNvSpPr/>
          <p:nvPr/>
        </p:nvSpPr>
        <p:spPr>
          <a:xfrm rot="644798">
            <a:off x="3188069" y="2064017"/>
            <a:ext cx="3787845" cy="104472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Client code after the call</a:t>
            </a: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does not execute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3" name="CustomShape 5"/>
          <p:cNvSpPr/>
          <p:nvPr/>
        </p:nvSpPr>
        <p:spPr>
          <a:xfrm rot="10800000">
            <a:off x="3353045" y="4048443"/>
            <a:ext cx="1215000" cy="730440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4" name="CustomShape 6"/>
          <p:cNvSpPr/>
          <p:nvPr/>
        </p:nvSpPr>
        <p:spPr>
          <a:xfrm>
            <a:off x="1921398" y="5393802"/>
            <a:ext cx="5992546" cy="122691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If exception is unhandled in </a:t>
            </a:r>
            <a:r>
              <a:rPr lang="en-US" sz="18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readData</a:t>
            </a: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, then it bounces to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the calling method, and then on up the call stack to </a:t>
            </a: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main</a:t>
            </a: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If </a:t>
            </a: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does not catch it, then program crashes with</a:t>
            </a: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an exception error</a:t>
            </a:r>
          </a:p>
        </p:txBody>
      </p:sp>
      <p:sp>
        <p:nvSpPr>
          <p:cNvPr id="185" name="CustomShape 7"/>
          <p:cNvSpPr/>
          <p:nvPr/>
        </p:nvSpPr>
        <p:spPr>
          <a:xfrm rot="10800000">
            <a:off x="885350" y="4025294"/>
            <a:ext cx="1215000" cy="730440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CustomShape 1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23880" indent="-513360">
              <a:lnSpc>
                <a:spcPct val="100000"/>
              </a:lnSpc>
              <a:buClr>
                <a:srgbClr val="800000"/>
              </a:buClr>
              <a:buFont typeface="Calibri"/>
              <a:buAutoNum type="arabicPeriod"/>
            </a:pPr>
            <a:r>
              <a:rPr lang="en-US" sz="3200" b="1" strike="noStrike" spc="-1">
                <a:solidFill>
                  <a:srgbClr val="8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Checked exceptions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: compiler </a:t>
            </a:r>
            <a:r>
              <a:rPr lang="en-US" sz="32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checks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that calling code </a:t>
            </a:r>
            <a:r>
              <a:rPr lang="en-US" sz="32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has try-catch to catch the exception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0172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Used for </a:t>
            </a:r>
            <a:r>
              <a:rPr lang="en-US" sz="2800" b="1" strike="noStrike" spc="-1">
                <a:solidFill>
                  <a:srgbClr val="8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expected</a:t>
            </a:r>
            <a:r>
              <a:rPr lang="en-US" sz="2800" b="0" strike="noStrike" spc="-1">
                <a:solidFill>
                  <a:srgbClr val="8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problems – e.g., opening files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24870" indent="-514350">
              <a:lnSpc>
                <a:spcPct val="100000"/>
              </a:lnSpc>
              <a:buClr>
                <a:srgbClr val="800000"/>
              </a:buClr>
              <a:buFont typeface="+mj-lt"/>
              <a:buAutoNum type="arabicPeriod" startAt="2"/>
            </a:pPr>
            <a:r>
              <a:rPr lang="en-US" sz="3200" b="1" strike="noStrike" spc="-1">
                <a:solidFill>
                  <a:srgbClr val="8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Unchecked exceptions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: compiler lets us ignore these if we want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0172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Used for fatal or avoidable problems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0172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Are subclasses of </a:t>
            </a:r>
            <a:r>
              <a:rPr lang="en-US" sz="28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RunTimeException</a:t>
            </a: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 or Error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7" name="CustomShape 2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Two Kinds of Exceptions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ustomShape 1"/>
          <p:cNvSpPr/>
          <p:nvPr/>
        </p:nvSpPr>
        <p:spPr>
          <a:xfrm>
            <a:off x="457200" y="990720"/>
            <a:ext cx="8478456" cy="5340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109440">
              <a:lnSpc>
                <a:spcPct val="100000"/>
              </a:lnSpc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Dealing with </a:t>
            </a:r>
            <a:r>
              <a:rPr lang="en-US" sz="3200" b="0" strike="noStrike" spc="-1">
                <a:solidFill>
                  <a:srgbClr val="8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checked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exceptions	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944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98520" indent="-289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Can </a:t>
            </a:r>
            <a:r>
              <a:rPr lang="en-US" sz="3200" b="1" strike="noStrike" spc="-1">
                <a:solidFill>
                  <a:srgbClr val="8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propagate</a:t>
            </a:r>
            <a:r>
              <a:rPr lang="en-US" sz="3200" b="0" strike="noStrike" spc="-1">
                <a:solidFill>
                  <a:srgbClr val="8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 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the exception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71500" lvl="1" indent="-274638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By declaring that our method will pass any exceptions along…</a:t>
            </a:r>
            <a:br>
              <a:rPr lang="en-US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</a:br>
            <a:r>
              <a:rPr lang="en-US" sz="20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ＭＳ Ｐゴシック"/>
              </a:rPr>
              <a:t>public void </a:t>
            </a:r>
            <a:r>
              <a:rPr lang="en-US" sz="2000" b="1" strike="noStrike" spc="-1" err="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ＭＳ Ｐゴシック"/>
              </a:rPr>
              <a:t>loadGameState</a:t>
            </a:r>
            <a:r>
              <a:rPr lang="en-US" sz="20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ＭＳ Ｐゴシック"/>
              </a:rPr>
              <a:t>() throws </a:t>
            </a:r>
            <a:r>
              <a:rPr lang="en-US" sz="2000" b="1" strike="noStrike" spc="-1" err="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ＭＳ Ｐゴシック"/>
              </a:rPr>
              <a:t>IOException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71500" indent="-274638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71500" lvl="1" indent="-274638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Used when our code isn’t able to rectify the problem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23430" indent="-514350">
              <a:lnSpc>
                <a:spcPct val="100000"/>
              </a:lnSpc>
              <a:buClr>
                <a:srgbClr val="000000"/>
              </a:buClr>
              <a:buFont typeface="+mj-lt"/>
              <a:buAutoNum type="arabicPeriod" startAt="2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Can </a:t>
            </a:r>
            <a:r>
              <a:rPr lang="en-US" sz="3200" b="0" strike="noStrike" spc="-1">
                <a:solidFill>
                  <a:srgbClr val="8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handle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 the exception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Used when our method can rectify the problem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By including a try-catch in our method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9" name="CustomShape 2"/>
          <p:cNvSpPr/>
          <p:nvPr/>
        </p:nvSpPr>
        <p:spPr>
          <a:xfrm>
            <a:off x="457200" y="124209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A Tale of Two Choices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0" name="CustomShape 3"/>
          <p:cNvSpPr/>
          <p:nvPr/>
        </p:nvSpPr>
        <p:spPr>
          <a:xfrm>
            <a:off x="8432640" y="6334560"/>
            <a:ext cx="557640" cy="417960"/>
          </a:xfrm>
          <a:prstGeom prst="rect">
            <a:avLst/>
          </a:prstGeom>
          <a:solidFill>
            <a:srgbClr val="E46C0A"/>
          </a:solidFill>
          <a:ln>
            <a:rou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Q6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268592-E3A2-8047-BEBE-6B7F6D49E9FC}"/>
              </a:ext>
            </a:extLst>
          </p:cNvPr>
          <p:cNvSpPr/>
          <p:nvPr/>
        </p:nvSpPr>
        <p:spPr>
          <a:xfrm>
            <a:off x="5324354" y="3136738"/>
            <a:ext cx="2905246" cy="30094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F5D67EC-4CFC-3045-B4FA-37D57F790360}"/>
              </a:ext>
            </a:extLst>
          </p:cNvPr>
          <p:cNvSpPr/>
          <p:nvPr/>
        </p:nvSpPr>
        <p:spPr>
          <a:xfrm>
            <a:off x="2850037" y="2581154"/>
            <a:ext cx="2381720" cy="520861"/>
          </a:xfrm>
          <a:custGeom>
            <a:avLst/>
            <a:gdLst>
              <a:gd name="connsiteX0" fmla="*/ 43634 w 2381720"/>
              <a:gd name="connsiteY0" fmla="*/ 0 h 520861"/>
              <a:gd name="connsiteX1" fmla="*/ 170955 w 2381720"/>
              <a:gd name="connsiteY1" fmla="*/ 162046 h 520861"/>
              <a:gd name="connsiteX2" fmla="*/ 1421021 w 2381720"/>
              <a:gd name="connsiteY2" fmla="*/ 127322 h 520861"/>
              <a:gd name="connsiteX3" fmla="*/ 2381720 w 2381720"/>
              <a:gd name="connsiteY3" fmla="*/ 520861 h 520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1720" h="520861">
                <a:moveTo>
                  <a:pt x="43634" y="0"/>
                </a:moveTo>
                <a:cubicBezTo>
                  <a:pt x="-7488" y="70413"/>
                  <a:pt x="-58609" y="140826"/>
                  <a:pt x="170955" y="162046"/>
                </a:cubicBezTo>
                <a:cubicBezTo>
                  <a:pt x="400519" y="183266"/>
                  <a:pt x="1052560" y="67520"/>
                  <a:pt x="1421021" y="127322"/>
                </a:cubicBezTo>
                <a:cubicBezTo>
                  <a:pt x="1789482" y="187125"/>
                  <a:pt x="2085601" y="353993"/>
                  <a:pt x="2381720" y="52086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ustomShape 1"/>
          <p:cNvSpPr/>
          <p:nvPr/>
        </p:nvSpPr>
        <p:spPr>
          <a:xfrm>
            <a:off x="434050" y="1079339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Use try-catch statement: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">
              <a:lnSpc>
                <a:spcPct val="100000"/>
              </a:lnSpc>
              <a:buClr>
                <a:srgbClr val="000000"/>
              </a:buClr>
            </a:pP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try {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80">
              <a:lnSpc>
                <a:spcPct val="100000"/>
              </a:lnSpc>
              <a:buClr>
                <a:srgbClr val="000000"/>
              </a:buClr>
            </a:pPr>
            <a:r>
              <a:rPr lang="en-US" sz="2400" b="1" strike="noStrike" spc="-1">
                <a:solidFill>
                  <a:srgbClr val="4F81BD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    // potentially “exceptional” code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80">
              <a:lnSpc>
                <a:spcPct val="100000"/>
              </a:lnSpc>
              <a:buClr>
                <a:srgbClr val="000000"/>
              </a:buClr>
            </a:pP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} catch (</a:t>
            </a:r>
            <a:r>
              <a:rPr lang="en-US" sz="2400" b="1" i="1" strike="noStrike" spc="-1" err="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ExceptionType</a:t>
            </a:r>
            <a:r>
              <a:rPr lang="en-US" sz="2400" b="1" i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 </a:t>
            </a:r>
            <a:r>
              <a:rPr lang="en-US" sz="2400" b="1" i="1" strike="noStrike" spc="-1" err="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var</a:t>
            </a: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) {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80">
              <a:lnSpc>
                <a:spcPct val="100000"/>
              </a:lnSpc>
              <a:buClr>
                <a:srgbClr val="000000"/>
              </a:buClr>
            </a:pPr>
            <a:r>
              <a:rPr lang="en-US" sz="2400" b="1" strike="noStrike" spc="-1">
                <a:solidFill>
                  <a:srgbClr val="4F81BD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    // handle exception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80">
              <a:lnSpc>
                <a:spcPct val="100000"/>
              </a:lnSpc>
              <a:buClr>
                <a:srgbClr val="000000"/>
              </a:buClr>
            </a:pP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}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endParaRPr lang="en-US" sz="16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">
              <a:lnSpc>
                <a:spcPct val="100000"/>
              </a:lnSpc>
              <a:buClr>
                <a:srgbClr val="000000"/>
              </a:buClr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Related, try-finally for clean up:</a:t>
            </a:r>
            <a:endParaRPr lang="en-US" sz="16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">
              <a:lnSpc>
                <a:spcPct val="100000"/>
              </a:lnSpc>
              <a:buClr>
                <a:srgbClr val="000000"/>
              </a:buClr>
            </a:pP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try {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80">
              <a:lnSpc>
                <a:spcPct val="100000"/>
              </a:lnSpc>
              <a:buClr>
                <a:srgbClr val="000000"/>
              </a:buClr>
            </a:pPr>
            <a:r>
              <a:rPr lang="en-US" sz="2400" b="1" strike="noStrike" spc="-1">
                <a:solidFill>
                  <a:srgbClr val="4F81BD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    // code that requires “clean up”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80">
              <a:lnSpc>
                <a:spcPct val="100000"/>
              </a:lnSpc>
              <a:buClr>
                <a:srgbClr val="000000"/>
              </a:buClr>
            </a:pP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} </a:t>
            </a:r>
            <a:r>
              <a:rPr lang="en-US" sz="2400" b="1" spc="-1">
                <a:solidFill>
                  <a:srgbClr val="4F81BD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// then maybe some catch blocks </a:t>
            </a:r>
            <a:endParaRPr lang="en-US" sz="2400" b="1" strike="noStrike" spc="-1">
              <a:solidFill>
                <a:srgbClr val="0000FF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ea typeface="ＭＳ Ｐゴシック"/>
              <a:cs typeface="Courier New" panose="02070309020205020404" pitchFamily="49" charset="0"/>
            </a:endParaRPr>
          </a:p>
          <a:p>
            <a:pPr marL="1080">
              <a:lnSpc>
                <a:spcPct val="100000"/>
              </a:lnSpc>
              <a:buClr>
                <a:srgbClr val="000000"/>
              </a:buClr>
            </a:pP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finally {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80">
              <a:lnSpc>
                <a:spcPct val="100000"/>
              </a:lnSpc>
              <a:buClr>
                <a:srgbClr val="000000"/>
              </a:buClr>
            </a:pPr>
            <a:r>
              <a:rPr lang="en-US" sz="2400" b="1" strike="noStrike" spc="-1">
                <a:solidFill>
                  <a:srgbClr val="4F81BD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    // runs even if exception occurred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ＭＳ Ｐゴシック"/>
                <a:cs typeface="Courier New" panose="02070309020205020404" pitchFamily="49" charset="0"/>
              </a:rPr>
              <a:t>}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2" name="CustomShape 2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Handling Exceptions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4" name="CustomShape 4"/>
          <p:cNvSpPr/>
          <p:nvPr/>
        </p:nvSpPr>
        <p:spPr>
          <a:xfrm>
            <a:off x="5301205" y="2985982"/>
            <a:ext cx="3525221" cy="845238"/>
          </a:xfrm>
          <a:prstGeom prst="rect">
            <a:avLst/>
          </a:prstGeom>
          <a:gradFill>
            <a:gsLst>
              <a:gs pos="0">
                <a:srgbClr val="DCE3F6"/>
              </a:gs>
              <a:gs pos="35001">
                <a:srgbClr val="CFD9EF"/>
              </a:gs>
              <a:gs pos="100000">
                <a:srgbClr val="9EAFD6"/>
              </a:gs>
            </a:gsLst>
            <a:lin ang="5400000"/>
          </a:gradFill>
          <a:ln w="9360">
            <a:solidFill>
              <a:srgbClr val="39639D"/>
            </a:solidFill>
            <a:miter/>
          </a:ln>
          <a:effectLst>
            <a:outerShdw dist="3810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Can repeat this </a:t>
            </a:r>
            <a:r>
              <a:rPr lang="en-US" sz="1800" b="0" i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catch </a:t>
            </a: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part for as many different exception types as you need.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5" name="CustomShape 5"/>
          <p:cNvSpPr/>
          <p:nvPr/>
        </p:nvSpPr>
        <p:spPr>
          <a:xfrm>
            <a:off x="8432640" y="6334560"/>
            <a:ext cx="557640" cy="417960"/>
          </a:xfrm>
          <a:prstGeom prst="rect">
            <a:avLst/>
          </a:prstGeom>
          <a:solidFill>
            <a:srgbClr val="E46C0A"/>
          </a:solidFill>
          <a:ln>
            <a:rou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Q7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85D81DBE5F5A448E892B34D6B8CF20" ma:contentTypeVersion="8" ma:contentTypeDescription="Create a new document." ma:contentTypeScope="" ma:versionID="ecce54155d2ea7caa9aed06c8b6b9867">
  <xsd:schema xmlns:xsd="http://www.w3.org/2001/XMLSchema" xmlns:xs="http://www.w3.org/2001/XMLSchema" xmlns:p="http://schemas.microsoft.com/office/2006/metadata/properties" xmlns:ns2="08600313-7276-4ca7-b5d3-7d86193ee0ac" xmlns:ns3="820f9cb1-409d-4c4b-8197-1d4f7dd48124" targetNamespace="http://schemas.microsoft.com/office/2006/metadata/properties" ma:root="true" ma:fieldsID="bfd7385540b70b2fe84ac888cc214377" ns2:_="" ns3:_="">
    <xsd:import namespace="08600313-7276-4ca7-b5d3-7d86193ee0ac"/>
    <xsd:import namespace="820f9cb1-409d-4c4b-8197-1d4f7dd481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00313-7276-4ca7-b5d3-7d86193ee0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1a83542-6b13-4414-947d-2211b265f7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f9cb1-409d-4c4b-8197-1d4f7dd4812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e4b8413-bde8-45bb-ad7f-2c4efb398c4d}" ma:internalName="TaxCatchAll" ma:showField="CatchAllData" ma:web="820f9cb1-409d-4c4b-8197-1d4f7dd48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20f9cb1-409d-4c4b-8197-1d4f7dd48124" xsi:nil="true"/>
    <lcf76f155ced4ddcb4097134ff3c332f xmlns="08600313-7276-4ca7-b5d3-7d86193ee0a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B957A52-5263-4C13-94EC-BADD6AC559B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4EDD9DE-4993-48BD-A320-B7ED6C2510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00313-7276-4ca7-b5d3-7d86193ee0ac"/>
    <ds:schemaRef ds:uri="820f9cb1-409d-4c4b-8197-1d4f7dd48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C30A03-96C5-4843-A046-F16D54BDCFE9}">
  <ds:schemaRefs>
    <ds:schemaRef ds:uri="http://schemas.microsoft.com/office/2006/metadata/properties"/>
    <ds:schemaRef ds:uri="http://schemas.microsoft.com/office/infopath/2007/PartnerControls"/>
    <ds:schemaRef ds:uri="820f9cb1-409d-4c4b-8197-1d4f7dd48124"/>
    <ds:schemaRef ds:uri="08600313-7276-4ca7-b5d3-7d86193ee0a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596</TotalTime>
  <Words>800</Words>
  <Application>Microsoft Office PowerPoint</Application>
  <PresentationFormat>On-screen Show (4:3)</PresentationFormat>
  <Paragraphs>132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Courier New</vt:lpstr>
      <vt:lpstr>Lucida Sans Typewriter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Delvin Defoe</dc:creator>
  <dc:description/>
  <cp:lastModifiedBy>Ludden, Ian</cp:lastModifiedBy>
  <cp:revision>12</cp:revision>
  <cp:lastPrinted>2012-01-26T10:38:16Z</cp:lastPrinted>
  <dcterms:created xsi:type="dcterms:W3CDTF">2011-04-27T01:38:22Z</dcterms:created>
  <dcterms:modified xsi:type="dcterms:W3CDTF">2025-10-17T20:54:46Z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12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18</vt:i4>
  </property>
  <property fmtid="{D5CDD505-2E9C-101B-9397-08002B2CF9AE}" pid="12" name="_TemplateID">
    <vt:lpwstr>TC101671231033</vt:lpwstr>
  </property>
  <property fmtid="{D5CDD505-2E9C-101B-9397-08002B2CF9AE}" pid="13" name="ContentTypeId">
    <vt:lpwstr>0x0101004285D81DBE5F5A448E892B34D6B8CF20</vt:lpwstr>
  </property>
</Properties>
</file>