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12"/>
  </p:notesMasterIdLst>
  <p:handoutMasterIdLst>
    <p:handoutMasterId r:id="rId13"/>
  </p:handoutMasterIdLst>
  <p:sldIdLst>
    <p:sldId id="284" r:id="rId5"/>
    <p:sldId id="422" r:id="rId6"/>
    <p:sldId id="435" r:id="rId7"/>
    <p:sldId id="423" r:id="rId8"/>
    <p:sldId id="424" r:id="rId9"/>
    <p:sldId id="425" r:id="rId10"/>
    <p:sldId id="258" r:id="rId11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indows User" initials="WU" lastIdx="3" clrIdx="0"/>
  <p:cmAuthor id="2" name="Yoder, Jason A" initials="YJA" lastIdx="1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/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618"/>
    <p:restoredTop sz="87483"/>
  </p:normalViewPr>
  <p:slideViewPr>
    <p:cSldViewPr snapToGrid="0">
      <p:cViewPr varScale="1">
        <p:scale>
          <a:sx n="97" d="100"/>
          <a:sy n="97" d="100"/>
        </p:scale>
        <p:origin x="1890" y="78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handoutMaster" Target="handoutMasters/handoutMaster1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notesMaster" Target="notesMasters/notesMaster1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commentAuthors" Target="commentAuthor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942F4A-6994-3A49-9461-EE810FAF072D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7FAD104-BF47-5C46-8BC3-3E27F8E455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603744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1374350-B736-4AC1-A1E7-19777DF1B0E1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C522A93-4968-4B29-BB16-64A77825438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269379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Slide Image Placeholder 1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Notes Placeholder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/>
          </a:p>
        </p:txBody>
      </p:sp>
      <p:sp>
        <p:nvSpPr>
          <p:cNvPr id="25604" name="Slide Number Placeholder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5EEE6D3C-5914-49B3-8B90-EF6D0ACD5512}" type="slidenum">
              <a:rPr lang="en-US" smtClean="0">
                <a:latin typeface="Calibri" pitchFamily="-106" charset="0"/>
              </a:rPr>
              <a:pPr/>
              <a:t>1</a:t>
            </a:fld>
            <a:endParaRPr lang="en-US">
              <a:latin typeface="Calibri" pitchFamily="-106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04853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Animation</a:t>
            </a:r>
            <a:r>
              <a:rPr lang="en-US" baseline="0" dirty="0"/>
              <a:t> for the two major goals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4832722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Hopefully they will come up with at least two ideas:</a:t>
            </a:r>
          </a:p>
          <a:p>
            <a:pPr marL="228600" indent="-228600">
              <a:buAutoNum type="arabicPeriod"/>
            </a:pPr>
            <a:r>
              <a:rPr lang="en-US"/>
              <a:t>Makes it less convenient to know what functions exist</a:t>
            </a:r>
          </a:p>
          <a:p>
            <a:pPr marL="228600" indent="-228600">
              <a:buAutoNum type="arabicPeriod"/>
            </a:pPr>
            <a:r>
              <a:rPr lang="en-US"/>
              <a:t>Stuck</a:t>
            </a:r>
            <a:r>
              <a:rPr lang="en-US" baseline="0"/>
              <a:t> implementing strings as character arrays</a:t>
            </a:r>
          </a:p>
          <a:p>
            <a:pPr marL="0" indent="0">
              <a:buNone/>
            </a:pPr>
            <a:endParaRPr lang="en-US" baseline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405793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/>
              <a:t>Which is easier to use?</a:t>
            </a:r>
          </a:p>
          <a:p>
            <a:r>
              <a:rPr lang="en-US"/>
              <a:t>Which is easier to understand?</a:t>
            </a:r>
          </a:p>
          <a:p>
            <a:endParaRPr lang="en-US"/>
          </a:p>
          <a:p>
            <a:r>
              <a:rPr lang="en-US"/>
              <a:t>Clearly</a:t>
            </a:r>
            <a:r>
              <a:rPr lang="en-US" baseline="0"/>
              <a:t> classes make sense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924307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Makes it harder to know what is</a:t>
            </a:r>
            <a:r>
              <a:rPr lang="en-US" baseline="0" dirty="0"/>
              <a:t> meant when you have a function say “add”  or length</a:t>
            </a:r>
          </a:p>
          <a:p>
            <a:r>
              <a:rPr lang="en-US" baseline="0" dirty="0"/>
              <a:t>Means you are loading more things than you might actually need</a:t>
            </a:r>
          </a:p>
          <a:p>
            <a:r>
              <a:rPr lang="en-US" dirty="0"/>
              <a:t>Try to keep conceptual</a:t>
            </a:r>
            <a:r>
              <a:rPr lang="en-US" baseline="0" dirty="0"/>
              <a:t> separation!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AC522A93-4968-4B29-BB16-64A77825438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17536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TAs can handle this with a form or something else if they prefer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F3BF035C-C190-4FBE-9474-8535FCFBFED8}" type="slidenum">
              <a:rPr lang="en-US" smtClean="0"/>
              <a:pPr>
                <a:defRPr/>
              </a:pPr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392474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240198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19099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750959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79429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5824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610779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40953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19110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736226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998333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56837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0A519B0-864F-436F-AD10-563B5AD2C023}" type="datetimeFigureOut">
              <a:rPr lang="en-US" smtClean="0"/>
              <a:t>9/19/2026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A608D1-2CAF-4A5C-8E44-47F726A6754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5675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oracle.com/javase/8/docs/api/java/lang/Math.html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docs.oracle.com/en/java/javase/11/docs/api/java.base/java/lang/String.html" TargetMode="Externa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/>
              <a:t>CSSE 220</a:t>
            </a:r>
          </a:p>
        </p:txBody>
      </p:sp>
      <p:sp>
        <p:nvSpPr>
          <p:cNvPr id="9219" name="Rectangle 2"/>
          <p:cNvSpPr>
            <a:spLocks noGrp="1"/>
          </p:cNvSpPr>
          <p:nvPr>
            <p:ph type="subTitle" idx="1"/>
          </p:nvPr>
        </p:nvSpPr>
        <p:spPr>
          <a:xfrm>
            <a:off x="533400" y="3611562"/>
            <a:ext cx="8229600" cy="1874837"/>
          </a:xfrm>
        </p:spPr>
        <p:txBody>
          <a:bodyPr>
            <a:normAutofit fontScale="85000" lnSpcReduction="20000"/>
          </a:bodyPr>
          <a:lstStyle/>
          <a:p>
            <a:pPr marR="0" eaLnBrk="1" hangingPunct="1">
              <a:lnSpc>
                <a:spcPct val="90000"/>
              </a:lnSpc>
            </a:pPr>
            <a:r>
              <a:rPr lang="en-US" sz="6000"/>
              <a:t>Design Principle #3</a:t>
            </a:r>
          </a:p>
          <a:p>
            <a:pPr marR="0" eaLnBrk="1" hangingPunct="1">
              <a:lnSpc>
                <a:spcPct val="90000"/>
              </a:lnSpc>
            </a:pPr>
            <a:r>
              <a:rPr lang="en-US" sz="6000"/>
              <a:t>Encapsulation</a:t>
            </a:r>
            <a:br>
              <a:rPr lang="en-US" sz="6000"/>
            </a:br>
            <a:br>
              <a:rPr lang="en-US" sz="2500"/>
            </a:br>
            <a:endParaRPr lang="en-US" sz="2500"/>
          </a:p>
        </p:txBody>
      </p:sp>
    </p:spTree>
    <p:extLst>
      <p:ext uri="{BB962C8B-B14F-4D97-AF65-F5344CB8AC3E}">
        <p14:creationId xmlns:p14="http://schemas.microsoft.com/office/powerpoint/2010/main" val="3205359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Major Goals of ALL Program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Suppose someone has written a program that works and it has no bugs, but it is </a:t>
            </a:r>
            <a:r>
              <a:rPr lang="en-US" i="1" dirty="0"/>
              <a:t>poorly designed</a:t>
            </a:r>
            <a:r>
              <a:rPr lang="en-US" dirty="0"/>
              <a:t>.  </a:t>
            </a:r>
          </a:p>
          <a:p>
            <a:pPr lvl="1"/>
            <a:r>
              <a:rPr lang="en-US" dirty="0"/>
              <a:t>What does that mean?  </a:t>
            </a:r>
          </a:p>
          <a:p>
            <a:pPr lvl="1"/>
            <a:r>
              <a:rPr lang="en-US" dirty="0"/>
              <a:t>Why do we care?</a:t>
            </a:r>
          </a:p>
          <a:p>
            <a:r>
              <a:rPr lang="en-US" dirty="0"/>
              <a:t>There are two major goals: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Easy to understand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2400" b="1" dirty="0"/>
              <a:t>Easy to modify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8382000" y="624840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Q1</a:t>
            </a:r>
          </a:p>
        </p:txBody>
      </p:sp>
    </p:spTree>
    <p:extLst>
      <p:ext uri="{BB962C8B-B14F-4D97-AF65-F5344CB8AC3E}">
        <p14:creationId xmlns:p14="http://schemas.microsoft.com/office/powerpoint/2010/main" val="1607390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6149" y="68102"/>
            <a:ext cx="7886700" cy="922498"/>
          </a:xfrm>
        </p:spPr>
        <p:txBody>
          <a:bodyPr>
            <a:normAutofit/>
          </a:bodyPr>
          <a:lstStyle/>
          <a:p>
            <a:r>
              <a:rPr lang="en-US" dirty="0"/>
              <a:t>CSSE220 Design Principles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6200" y="1137883"/>
            <a:ext cx="8991599" cy="5570375"/>
          </a:xfrm>
        </p:spPr>
        <p:txBody>
          <a:bodyPr>
            <a:noAutofit/>
          </a:bodyPr>
          <a:lstStyle/>
          <a:p>
            <a:pPr marL="457200" indent="-457200"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dirty="0"/>
              <a:t>Make sure your design </a:t>
            </a:r>
            <a:r>
              <a:rPr lang="en-US" sz="1800" b="1" dirty="0"/>
              <a:t>allows proper functionality</a:t>
            </a:r>
            <a:endParaRPr lang="en-US" sz="1800" dirty="0"/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dirty="0"/>
              <a:t>Must be able to </a:t>
            </a:r>
            <a:r>
              <a:rPr lang="en-US" sz="1800" b="1" dirty="0"/>
              <a:t>store required information</a:t>
            </a:r>
            <a:r>
              <a:rPr lang="en-US" sz="1800" dirty="0"/>
              <a:t> (one/many to one/many relationships)</a:t>
            </a:r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dirty="0"/>
              <a:t>Must be able to </a:t>
            </a:r>
            <a:r>
              <a:rPr lang="en-US" sz="1800" b="1" dirty="0"/>
              <a:t>access the required information</a:t>
            </a:r>
            <a:r>
              <a:rPr lang="en-US" sz="1800" dirty="0"/>
              <a:t> to accomplish tasks</a:t>
            </a:r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dirty="0"/>
              <a:t>Data should </a:t>
            </a:r>
            <a:r>
              <a:rPr lang="en-US" sz="1800" b="1" dirty="0"/>
              <a:t>not be duplicated</a:t>
            </a:r>
            <a:r>
              <a:rPr lang="en-US" sz="1800" dirty="0"/>
              <a:t> (id/identifiers are OK!)</a:t>
            </a:r>
          </a:p>
          <a:p>
            <a:pPr marL="457200" indent="-457200">
              <a:spcBef>
                <a:spcPts val="0"/>
              </a:spcBef>
              <a:buFont typeface="+mj-lt"/>
              <a:buAutoNum type="arabicPeriod"/>
            </a:pPr>
            <a:r>
              <a:rPr lang="en-US" sz="1800" dirty="0"/>
              <a:t>Structure design </a:t>
            </a:r>
            <a:r>
              <a:rPr lang="en-US" sz="1800" b="1" dirty="0"/>
              <a:t>around the data</a:t>
            </a:r>
            <a:r>
              <a:rPr lang="en-US" sz="1800" dirty="0"/>
              <a:t> to be stored</a:t>
            </a:r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b="1" dirty="0"/>
              <a:t>Nouns should become classes</a:t>
            </a:r>
            <a:endParaRPr lang="en-US" sz="1800" dirty="0"/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b="1" dirty="0"/>
              <a:t>Classes should have intelligent behaviors</a:t>
            </a:r>
            <a:r>
              <a:rPr lang="en-US" sz="1800" dirty="0"/>
              <a:t> (methods) </a:t>
            </a:r>
            <a:r>
              <a:rPr lang="en-US" sz="1800" b="1" dirty="0"/>
              <a:t>that may operate on their data</a:t>
            </a:r>
            <a:endParaRPr lang="en-US" sz="1800" dirty="0"/>
          </a:p>
          <a:p>
            <a:pPr marL="457200" indent="-457200"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dirty="0"/>
              <a:t>Functionality should be </a:t>
            </a:r>
            <a:r>
              <a:rPr lang="en-US" sz="1800" b="1" dirty="0"/>
              <a:t>distributed efficiently</a:t>
            </a:r>
            <a:endParaRPr lang="en-US" sz="1800" dirty="0"/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b="1" dirty="0"/>
              <a:t>No class/part should get too large</a:t>
            </a:r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b="1" dirty="0"/>
              <a:t>Each class should have a single responsibility</a:t>
            </a:r>
            <a:r>
              <a:rPr lang="en-US" sz="1800" dirty="0"/>
              <a:t> it accomplishes</a:t>
            </a:r>
          </a:p>
          <a:p>
            <a:pPr marL="457200" indent="-457200"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b="1" dirty="0"/>
              <a:t>Minimize dependencies</a:t>
            </a:r>
            <a:r>
              <a:rPr lang="en-US" sz="1800" dirty="0"/>
              <a:t> between objects when it does not disrupt usability or extendibility</a:t>
            </a:r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dirty="0"/>
              <a:t>Tell don't ask </a:t>
            </a:r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dirty="0"/>
              <a:t>Don't have message chains</a:t>
            </a:r>
          </a:p>
          <a:p>
            <a:pPr marL="457200" indent="-457200" fontAlgn="base">
              <a:spcBef>
                <a:spcPts val="0"/>
              </a:spcBef>
              <a:buFont typeface="+mj-lt"/>
              <a:buAutoNum type="arabicPeriod"/>
            </a:pPr>
            <a:r>
              <a:rPr lang="en-US" sz="1800" b="1" dirty="0"/>
              <a:t>Don't duplicate</a:t>
            </a:r>
            <a:r>
              <a:rPr lang="en-US" sz="1800" dirty="0"/>
              <a:t> code</a:t>
            </a:r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dirty="0"/>
              <a:t>Similar "chunks" of code should be </a:t>
            </a:r>
            <a:r>
              <a:rPr lang="en-US" sz="1800" b="1" dirty="0"/>
              <a:t>unified into functions</a:t>
            </a:r>
            <a:endParaRPr lang="en-US" sz="1800" dirty="0"/>
          </a:p>
          <a:p>
            <a:pPr marL="685800" lvl="1" indent="-342900" fontAlgn="base">
              <a:spcBef>
                <a:spcPts val="0"/>
              </a:spcBef>
              <a:buFont typeface="+mj-lt"/>
              <a:buAutoNum type="alphaLcParenR"/>
            </a:pPr>
            <a:r>
              <a:rPr lang="en-US" sz="1800" dirty="0"/>
              <a:t>Classes with similar features should be given </a:t>
            </a:r>
            <a:r>
              <a:rPr lang="en-US" sz="1800" b="1" dirty="0"/>
              <a:t>common interfaces</a:t>
            </a:r>
            <a:endParaRPr lang="en-US" sz="1800" dirty="0"/>
          </a:p>
          <a:p>
            <a:pPr marL="685800" lvl="1" indent="-342900">
              <a:spcBef>
                <a:spcPts val="0"/>
              </a:spcBef>
              <a:buFont typeface="+mj-lt"/>
              <a:buAutoNum type="alphaLcParenR"/>
            </a:pPr>
            <a:r>
              <a:rPr lang="en-US" sz="1800" dirty="0"/>
              <a:t>Classes with similar internals should be simplified using </a:t>
            </a:r>
            <a:r>
              <a:rPr lang="en-US" sz="1800" b="1" dirty="0"/>
              <a:t>inheritance</a:t>
            </a:r>
          </a:p>
          <a:p>
            <a:pPr marL="685800" lvl="1" indent="-342900">
              <a:spcBef>
                <a:spcPts val="0"/>
              </a:spcBef>
              <a:buFont typeface="+mj-lt"/>
              <a:buAutoNum type="alphaLcParenR"/>
            </a:pPr>
            <a:r>
              <a:rPr lang="en-US" sz="1800" dirty="0"/>
              <a:t>Avoid all type-predicated code by using </a:t>
            </a:r>
            <a:r>
              <a:rPr lang="en-US" sz="1800" b="1" dirty="0"/>
              <a:t>inheritance</a:t>
            </a:r>
            <a:endParaRPr lang="en-US" sz="1800" strike="sngStrike" dirty="0"/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5F37784B-2650-414D-A222-94B52BFFFEAE}"/>
              </a:ext>
            </a:extLst>
          </p:cNvPr>
          <p:cNvSpPr/>
          <p:nvPr/>
        </p:nvSpPr>
        <p:spPr>
          <a:xfrm>
            <a:off x="0" y="3116825"/>
            <a:ext cx="8866598" cy="806245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61491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sz="3600"/>
              <a:t>E.g., What if there were no String class?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/>
              <a:t>Instead, what if we just passed around arrays of characters - char[]</a:t>
            </a:r>
          </a:p>
          <a:p>
            <a:r>
              <a:rPr lang="en-US"/>
              <a:t>And every String function that exists now, would instead be a function that operated on arrays of characters</a:t>
            </a:r>
          </a:p>
          <a:p>
            <a:r>
              <a:rPr lang="en-US"/>
              <a:t>E.g.,</a:t>
            </a:r>
            <a:br>
              <a:rPr lang="en-US"/>
            </a:b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char[] </a:t>
            </a:r>
            <a:r>
              <a:rPr lang="en-US" sz="1600" err="1">
                <a:latin typeface="Courier New" panose="02070309020205020404" pitchFamily="49" charset="0"/>
                <a:cs typeface="Courier New" panose="02070309020205020404" pitchFamily="49" charset="0"/>
              </a:rPr>
              <a:t>stringSubstring</a:t>
            </a:r>
            <a:r>
              <a:rPr lang="en-US" sz="1600">
                <a:latin typeface="Courier New" panose="02070309020205020404" pitchFamily="49" charset="0"/>
                <a:cs typeface="Courier New" panose="02070309020205020404" pitchFamily="49" charset="0"/>
              </a:rPr>
              <a:t>(char[] input, int start, int end)</a:t>
            </a:r>
          </a:p>
          <a:p>
            <a:r>
              <a:rPr lang="en-US"/>
              <a:t>Would things be any different?  Discuss this with the person next to you.</a:t>
            </a:r>
          </a:p>
        </p:txBody>
      </p:sp>
    </p:spTree>
    <p:extLst>
      <p:ext uri="{BB962C8B-B14F-4D97-AF65-F5344CB8AC3E}">
        <p14:creationId xmlns:p14="http://schemas.microsoft.com/office/powerpoint/2010/main" val="24493188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Concatenate… compare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295400"/>
            <a:ext cx="8382000" cy="5334000"/>
          </a:xfrm>
        </p:spPr>
        <p:txBody>
          <a:bodyPr>
            <a:normAutofit fontScale="62500" lnSpcReduction="20000"/>
          </a:bodyPr>
          <a:lstStyle/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String stringName1 = "</a:t>
            </a:r>
            <a:r>
              <a:rPr lang="en-US" dirty="0" err="1">
                <a:latin typeface="Consolas" panose="020B0609020204030204" pitchFamily="49" charset="0"/>
              </a:rPr>
              <a:t>ian</a:t>
            </a:r>
            <a:r>
              <a:rPr lang="en-US" dirty="0">
                <a:latin typeface="Consolas" panose="020B0609020204030204" pitchFamily="49" charset="0"/>
              </a:rPr>
              <a:t>";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String stringName2 = "</a:t>
            </a:r>
            <a:r>
              <a:rPr lang="en-US" dirty="0" err="1">
                <a:latin typeface="Consolas" panose="020B0609020204030204" pitchFamily="49" charset="0"/>
              </a:rPr>
              <a:t>ludden</a:t>
            </a:r>
            <a:r>
              <a:rPr lang="en-US" dirty="0">
                <a:latin typeface="Consolas" panose="020B0609020204030204" pitchFamily="49" charset="0"/>
              </a:rPr>
              <a:t>";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String </a:t>
            </a:r>
            <a:r>
              <a:rPr lang="en-US" dirty="0" err="1">
                <a:latin typeface="Consolas" panose="020B0609020204030204" pitchFamily="49" charset="0"/>
              </a:rPr>
              <a:t>stringConcat</a:t>
            </a:r>
            <a:r>
              <a:rPr lang="en-US" dirty="0">
                <a:latin typeface="Consolas" panose="020B0609020204030204" pitchFamily="49" charset="0"/>
              </a:rPr>
              <a:t> = stringName1.concat( stringName2 );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  </a:t>
            </a:r>
            <a:r>
              <a:rPr lang="en-US" dirty="0" err="1">
                <a:latin typeface="Consolas" panose="020B0609020204030204" pitchFamily="49" charset="0"/>
              </a:rPr>
              <a:t>stringConcat</a:t>
            </a:r>
            <a:r>
              <a:rPr lang="en-US" dirty="0">
                <a:latin typeface="Consolas" panose="020B0609020204030204" pitchFamily="49" charset="0"/>
              </a:rPr>
              <a:t> );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----------------------------------------------------------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pt-BR" dirty="0">
                <a:latin typeface="Consolas" panose="020B0609020204030204" pitchFamily="49" charset="0"/>
              </a:rPr>
              <a:t>char[] charName1 = {'i','a','n'};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char[] charName2 = {'</a:t>
            </a:r>
            <a:r>
              <a:rPr lang="en-US" dirty="0" err="1">
                <a:latin typeface="Consolas" panose="020B0609020204030204" pitchFamily="49" charset="0"/>
              </a:rPr>
              <a:t>l','u','d','d','e','n</a:t>
            </a:r>
            <a:r>
              <a:rPr lang="en-US" dirty="0">
                <a:latin typeface="Consolas" panose="020B0609020204030204" pitchFamily="49" charset="0"/>
              </a:rPr>
              <a:t>'};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char[] </a:t>
            </a:r>
            <a:r>
              <a:rPr lang="en-US" dirty="0" err="1">
                <a:latin typeface="Consolas" panose="020B0609020204030204" pitchFamily="49" charset="0"/>
              </a:rPr>
              <a:t>charConcat</a:t>
            </a:r>
            <a:r>
              <a:rPr lang="en-US" dirty="0">
                <a:latin typeface="Consolas" panose="020B0609020204030204" pitchFamily="49" charset="0"/>
              </a:rPr>
              <a:t> = 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b="1" dirty="0">
                <a:latin typeface="Consolas" panose="020B0609020204030204" pitchFamily="49" charset="0"/>
              </a:rPr>
              <a:t>new</a:t>
            </a:r>
            <a:r>
              <a:rPr lang="en-US" dirty="0">
                <a:latin typeface="Consolas" panose="020B0609020204030204" pitchFamily="49" charset="0"/>
              </a:rPr>
              <a:t> char[charName1.length + charName2.length];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endParaRPr lang="en-US" dirty="0">
              <a:latin typeface="Consolas" panose="020B0609020204030204" pitchFamily="49" charset="0"/>
            </a:endParaRP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nn-NO" b="1" dirty="0">
                <a:latin typeface="Consolas" panose="020B0609020204030204" pitchFamily="49" charset="0"/>
              </a:rPr>
              <a:t>for</a:t>
            </a:r>
            <a:r>
              <a:rPr lang="nn-NO" dirty="0">
                <a:latin typeface="Consolas" panose="020B0609020204030204" pitchFamily="49" charset="0"/>
              </a:rPr>
              <a:t> (int i = 0; i &lt; charName1.length; i++) {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charConcat</a:t>
            </a:r>
            <a:r>
              <a:rPr lang="en-US" dirty="0">
                <a:latin typeface="Consolas" panose="020B0609020204030204" pitchFamily="49" charset="0"/>
              </a:rPr>
              <a:t>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charName1[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nn-NO" b="1" dirty="0">
                <a:latin typeface="Consolas" panose="020B0609020204030204" pitchFamily="49" charset="0"/>
              </a:rPr>
              <a:t>for</a:t>
            </a:r>
            <a:r>
              <a:rPr lang="nn-NO" dirty="0">
                <a:latin typeface="Consolas" panose="020B0609020204030204" pitchFamily="49" charset="0"/>
              </a:rPr>
              <a:t> (int i = 0; i &lt; charName2.length; i++) {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	</a:t>
            </a:r>
            <a:r>
              <a:rPr lang="en-US" dirty="0" err="1">
                <a:latin typeface="Consolas" panose="020B0609020204030204" pitchFamily="49" charset="0"/>
              </a:rPr>
              <a:t>charConcat</a:t>
            </a:r>
            <a:r>
              <a:rPr lang="en-US" dirty="0">
                <a:latin typeface="Consolas" panose="020B0609020204030204" pitchFamily="49" charset="0"/>
              </a:rPr>
              <a:t>[charName1.length + 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 = charName2[</a:t>
            </a:r>
            <a:r>
              <a:rPr lang="en-US" dirty="0" err="1">
                <a:latin typeface="Consolas" panose="020B0609020204030204" pitchFamily="49" charset="0"/>
              </a:rPr>
              <a:t>i</a:t>
            </a:r>
            <a:r>
              <a:rPr lang="en-US" dirty="0">
                <a:latin typeface="Consolas" panose="020B0609020204030204" pitchFamily="49" charset="0"/>
              </a:rPr>
              <a:t>];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>
                <a:latin typeface="Consolas" panose="020B0609020204030204" pitchFamily="49" charset="0"/>
              </a:rPr>
              <a:t>}</a:t>
            </a:r>
          </a:p>
          <a:p>
            <a:pPr marL="0" indent="0">
              <a:buNone/>
              <a:tabLst>
                <a:tab pos="333375" algn="l"/>
                <a:tab pos="677863" algn="l"/>
                <a:tab pos="1020763" algn="l"/>
              </a:tabLst>
            </a:pPr>
            <a:r>
              <a:rPr lang="en-US" dirty="0" err="1">
                <a:latin typeface="Consolas" panose="020B0609020204030204" pitchFamily="49" charset="0"/>
              </a:rPr>
              <a:t>System.out.println</a:t>
            </a:r>
            <a:r>
              <a:rPr lang="en-US" dirty="0">
                <a:latin typeface="Consolas" panose="020B0609020204030204" pitchFamily="49" charset="0"/>
              </a:rPr>
              <a:t>( </a:t>
            </a:r>
            <a:r>
              <a:rPr lang="en-US" dirty="0" err="1">
                <a:latin typeface="Consolas" panose="020B0609020204030204" pitchFamily="49" charset="0"/>
              </a:rPr>
              <a:t>Arrays.toString</a:t>
            </a:r>
            <a:r>
              <a:rPr lang="en-US" dirty="0">
                <a:latin typeface="Consolas" panose="020B0609020204030204" pitchFamily="49" charset="0"/>
              </a:rPr>
              <a:t>(</a:t>
            </a:r>
            <a:r>
              <a:rPr lang="en-US" dirty="0" err="1">
                <a:latin typeface="Consolas" panose="020B0609020204030204" pitchFamily="49" charset="0"/>
              </a:rPr>
              <a:t>charConcat</a:t>
            </a:r>
            <a:r>
              <a:rPr lang="en-US" dirty="0">
                <a:latin typeface="Consolas" panose="020B0609020204030204" pitchFamily="49" charset="0"/>
              </a:rPr>
              <a:t>)  );</a:t>
            </a:r>
          </a:p>
        </p:txBody>
      </p:sp>
      <p:sp>
        <p:nvSpPr>
          <p:cNvPr id="4" name="Rounded Rectangle 3">
            <a:extLst>
              <a:ext uri="{FF2B5EF4-FFF2-40B4-BE49-F238E27FC236}">
                <a16:creationId xmlns:a16="http://schemas.microsoft.com/office/drawing/2014/main" id="{FF27F927-1E62-824C-9BF8-6ED37E2DEC06}"/>
              </a:ext>
            </a:extLst>
          </p:cNvPr>
          <p:cNvSpPr/>
          <p:nvPr/>
        </p:nvSpPr>
        <p:spPr>
          <a:xfrm>
            <a:off x="76200" y="2819400"/>
            <a:ext cx="8822482" cy="3733800"/>
          </a:xfrm>
          <a:prstGeom prst="round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25C06EC9-2CAA-CF40-BD05-DDC130236DF2}"/>
              </a:ext>
            </a:extLst>
          </p:cNvPr>
          <p:cNvSpPr/>
          <p:nvPr/>
        </p:nvSpPr>
        <p:spPr>
          <a:xfrm>
            <a:off x="76200" y="1219200"/>
            <a:ext cx="8866598" cy="1295400"/>
          </a:xfrm>
          <a:prstGeom prst="roundRect">
            <a:avLst/>
          </a:prstGeom>
          <a:noFill/>
          <a:ln w="38100">
            <a:solidFill>
              <a:schemeClr val="accent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472627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Class sizes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Why not put all the Math utilities in the String class?</a:t>
            </a:r>
          </a:p>
          <a:p>
            <a:r>
              <a:rPr lang="en-US" dirty="0">
                <a:hlinkClick r:id="rId3"/>
              </a:rPr>
              <a:t>Math Java docs</a:t>
            </a:r>
            <a:endParaRPr lang="en-US" dirty="0"/>
          </a:p>
          <a:p>
            <a:r>
              <a:rPr lang="en-US" dirty="0">
                <a:hlinkClick r:id="rId4"/>
              </a:rPr>
              <a:t>String Java docs</a:t>
            </a:r>
            <a:endParaRPr lang="en-US" dirty="0"/>
          </a:p>
          <a:p>
            <a:pPr lvl="1"/>
            <a:r>
              <a:rPr lang="en-US" dirty="0"/>
              <a:t>We could just get anything we need done with Strings and Math with one library instead of two!</a:t>
            </a:r>
          </a:p>
        </p:txBody>
      </p:sp>
      <p:sp>
        <p:nvSpPr>
          <p:cNvPr id="4" name="Rectangle 3"/>
          <p:cNvSpPr/>
          <p:nvPr/>
        </p:nvSpPr>
        <p:spPr>
          <a:xfrm>
            <a:off x="8382000" y="6248400"/>
            <a:ext cx="609600" cy="45720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/>
              <a:t>Q2</a:t>
            </a:r>
          </a:p>
        </p:txBody>
      </p:sp>
    </p:spTree>
    <p:extLst>
      <p:ext uri="{BB962C8B-B14F-4D97-AF65-F5344CB8AC3E}">
        <p14:creationId xmlns:p14="http://schemas.microsoft.com/office/powerpoint/2010/main" val="11062899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5103" y="0"/>
            <a:ext cx="8229600" cy="640700"/>
          </a:xfrm>
        </p:spPr>
        <p:txBody>
          <a:bodyPr>
            <a:normAutofit fontScale="90000"/>
          </a:bodyPr>
          <a:lstStyle/>
          <a:p>
            <a:r>
              <a:rPr lang="en-US" dirty="0" err="1"/>
              <a:t>HWVaporSalesManager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49340" y="832885"/>
            <a:ext cx="8425363" cy="1242720"/>
          </a:xfrm>
        </p:spPr>
        <p:txBody>
          <a:bodyPr>
            <a:normAutofit/>
          </a:bodyPr>
          <a:lstStyle/>
          <a:p>
            <a:r>
              <a:rPr lang="en-US" sz="2000" dirty="0"/>
              <a:t>Paired assignment</a:t>
            </a:r>
            <a:r>
              <a:rPr lang="en-US" sz="2000" i="1" dirty="0"/>
              <a:t>, </a:t>
            </a:r>
            <a:r>
              <a:rPr lang="en-US" sz="2000" dirty="0"/>
              <a:t>one submission per team</a:t>
            </a:r>
          </a:p>
          <a:p>
            <a:r>
              <a:rPr lang="en-US" sz="2000" dirty="0"/>
              <a:t>First part: pair programming, no genAI tools</a:t>
            </a:r>
          </a:p>
          <a:p>
            <a:r>
              <a:rPr lang="en-US" sz="2000" dirty="0"/>
              <a:t>Second part: working together to use genAI tool and reflect on experience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DF59E53D-6A0E-DC6B-BF3C-779735F1222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0454" y="2265298"/>
            <a:ext cx="8698897" cy="3116112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10" name="Rectangle 9">
            <a:extLst>
              <a:ext uri="{FF2B5EF4-FFF2-40B4-BE49-F238E27FC236}">
                <a16:creationId xmlns:a16="http://schemas.microsoft.com/office/drawing/2014/main" id="{BCD356F5-8213-535E-E6A6-75199CF80B35}"/>
              </a:ext>
            </a:extLst>
          </p:cNvPr>
          <p:cNvSpPr/>
          <p:nvPr/>
        </p:nvSpPr>
        <p:spPr>
          <a:xfrm>
            <a:off x="1351935" y="5708754"/>
            <a:ext cx="6440129" cy="967349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>
                <a:solidFill>
                  <a:schemeClr val="tx1"/>
                </a:solidFill>
              </a:rPr>
              <a:t>Complete partner preferences form </a:t>
            </a:r>
            <a:br>
              <a:rPr lang="en-US" sz="2800" dirty="0">
                <a:solidFill>
                  <a:schemeClr val="tx1"/>
                </a:solidFill>
              </a:rPr>
            </a:br>
            <a:r>
              <a:rPr lang="en-US" sz="2800" dirty="0">
                <a:solidFill>
                  <a:schemeClr val="tx1"/>
                </a:solidFill>
              </a:rPr>
              <a:t>in Moodle by noon tomorrow</a:t>
            </a:r>
          </a:p>
        </p:txBody>
      </p:sp>
    </p:spTree>
    <p:extLst>
      <p:ext uri="{BB962C8B-B14F-4D97-AF65-F5344CB8AC3E}">
        <p14:creationId xmlns:p14="http://schemas.microsoft.com/office/powerpoint/2010/main" val="3490648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1570BCAAD2E4294F9443DCB038A55380" ma:contentTypeVersion="8" ma:contentTypeDescription="Create a new document." ma:contentTypeScope="" ma:versionID="9523c79d6bab9e2ad858b5223ec5ed94">
  <xsd:schema xmlns:xsd="http://www.w3.org/2001/XMLSchema" xmlns:xs="http://www.w3.org/2001/XMLSchema" xmlns:p="http://schemas.microsoft.com/office/2006/metadata/properties" xmlns:ns2="201674f6-2bdd-4f13-ba1e-424e4aa70473" targetNamespace="http://schemas.microsoft.com/office/2006/metadata/properties" ma:root="true" ma:fieldsID="587afc94f70b507ec5be5f4d78229b0b" ns2:_="">
    <xsd:import namespace="201674f6-2bdd-4f13-ba1e-424e4aa7047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DateTaken" minOccurs="0"/>
                <xsd:element ref="ns2:MediaServiceAutoTags" minOccurs="0"/>
                <xsd:element ref="ns2:MediaLengthInSeconds" minOccurs="0"/>
                <xsd:element ref="ns2:MediaServiceOCR" minOccurs="0"/>
                <xsd:element ref="ns2:MediaServiceGenerationTime" minOccurs="0"/>
                <xsd:element ref="ns2:MediaServiceEventHashCode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01674f6-2bdd-4f13-ba1e-424e4aa7047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DateTaken" ma:index="10" nillable="true" ma:displayName="MediaServiceDateTaken" ma:hidden="true" ma:internalName="MediaServiceDateTaken" ma:readOnly="true">
      <xsd:simpleType>
        <xsd:restriction base="dms:Text"/>
      </xsd:simpleType>
    </xsd:element>
    <xsd:element name="MediaServiceAutoTags" ma:index="11" nillable="true" ma:displayName="Tags" ma:internalName="MediaServiceAutoTags" ma:readOnly="true">
      <xsd:simpleType>
        <xsd:restriction base="dms:Text"/>
      </xsd:simpleType>
    </xsd:element>
    <xsd:element name="MediaLengthInSeconds" ma:index="12" nillable="true" ma:displayName="MediaLengthInSeconds" ma:hidden="true" ma:internalName="MediaLengthInSeconds" ma:readOnly="true">
      <xsd:simpleType>
        <xsd:restriction base="dms:Unknown"/>
      </xsd:simpleType>
    </xsd:element>
    <xsd:element name="MediaServiceOCR" ma:index="13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4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5" nillable="true" ma:displayName="MediaServiceEventHashCode" ma:hidden="true" ma:internalName="MediaServiceEventHashCode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B83796DB-86E9-4D44-9BCB-A762264A5AFE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A396EFD4-1250-457A-AB4B-16A5266B50A5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4055B637-E92D-4086-B83D-87288CBA5498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01674f6-2bdd-4f13-ba1e-424e4aa70473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575</TotalTime>
  <Words>624</Words>
  <Application>Microsoft Office PowerPoint</Application>
  <PresentationFormat>On-screen Show (4:3)</PresentationFormat>
  <Paragraphs>82</Paragraphs>
  <Slides>7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2" baseType="lpstr">
      <vt:lpstr>Arial</vt:lpstr>
      <vt:lpstr>Calibri</vt:lpstr>
      <vt:lpstr>Consolas</vt:lpstr>
      <vt:lpstr>Courier New</vt:lpstr>
      <vt:lpstr>Office Theme</vt:lpstr>
      <vt:lpstr>CSSE 220</vt:lpstr>
      <vt:lpstr>Major Goals of ALL Program Design</vt:lpstr>
      <vt:lpstr>CSSE220 Design Principles</vt:lpstr>
      <vt:lpstr>E.g., What if there were no String class?</vt:lpstr>
      <vt:lpstr>Concatenate… compare</vt:lpstr>
      <vt:lpstr>Class sizes</vt:lpstr>
      <vt:lpstr>HWVaporSalesManager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Encapsulation</dc:title>
  <dc:creator>Windows User</dc:creator>
  <cp:lastModifiedBy>Ludden, Ian</cp:lastModifiedBy>
  <cp:revision>32</cp:revision>
  <cp:lastPrinted>2016-09-27T10:57:46Z</cp:lastPrinted>
  <dcterms:created xsi:type="dcterms:W3CDTF">2013-12-22T20:42:02Z</dcterms:created>
  <dcterms:modified xsi:type="dcterms:W3CDTF">2026-09-19T19:15:18Z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0x0101001570BCAAD2E4294F9443DCB038A55380</vt:lpwstr>
  </property>
</Properties>
</file>