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handoutMasterIdLst>
    <p:handoutMasterId r:id="rId13"/>
  </p:handoutMasterIdLst>
  <p:sldIdLst>
    <p:sldId id="440" r:id="rId5"/>
    <p:sldId id="387" r:id="rId6"/>
    <p:sldId id="388" r:id="rId7"/>
    <p:sldId id="441" r:id="rId8"/>
    <p:sldId id="444" r:id="rId9"/>
    <p:sldId id="445" r:id="rId10"/>
    <p:sldId id="430"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U" lastIdx="3" clrIdx="0"/>
  <p:cmAuthor id="2" name="Yoder, Jason A" initials="YJA"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618"/>
    <p:restoredTop sz="87483"/>
  </p:normalViewPr>
  <p:slideViewPr>
    <p:cSldViewPr snapToGrid="0">
      <p:cViewPr varScale="1">
        <p:scale>
          <a:sx n="97" d="100"/>
          <a:sy n="97" d="100"/>
        </p:scale>
        <p:origin x="1890"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942F4A-6994-3A49-9461-EE810FAF072D}" type="datetimeFigureOut">
              <a:rPr lang="en-US" smtClean="0"/>
              <a:t>9/19/2026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FAD104-BF47-5C46-8BC3-3E27F8E455C7}" type="slidenum">
              <a:rPr lang="en-US" smtClean="0"/>
              <a:t>‹#›</a:t>
            </a:fld>
            <a:endParaRPr lang="en-US"/>
          </a:p>
        </p:txBody>
      </p:sp>
    </p:spTree>
    <p:extLst>
      <p:ext uri="{BB962C8B-B14F-4D97-AF65-F5344CB8AC3E}">
        <p14:creationId xmlns:p14="http://schemas.microsoft.com/office/powerpoint/2010/main" val="19056037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374350-B736-4AC1-A1E7-19777DF1B0E1}" type="datetimeFigureOut">
              <a:rPr lang="en-US" smtClean="0"/>
              <a:t>9/19/2026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C522A93-4968-4B29-BB16-64A778254383}" type="slidenum">
              <a:rPr lang="en-US" smtClean="0"/>
              <a:t>‹#›</a:t>
            </a:fld>
            <a:endParaRPr lang="en-US"/>
          </a:p>
        </p:txBody>
      </p:sp>
    </p:spTree>
    <p:extLst>
      <p:ext uri="{BB962C8B-B14F-4D97-AF65-F5344CB8AC3E}">
        <p14:creationId xmlns:p14="http://schemas.microsoft.com/office/powerpoint/2010/main" val="2726937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a:t>
            </a:r>
          </a:p>
        </p:txBody>
      </p:sp>
      <p:sp>
        <p:nvSpPr>
          <p:cNvPr id="4" name="Slide Number Placeholder 3"/>
          <p:cNvSpPr>
            <a:spLocks noGrp="1"/>
          </p:cNvSpPr>
          <p:nvPr>
            <p:ph type="sldNum" sz="quarter" idx="10"/>
          </p:nvPr>
        </p:nvSpPr>
        <p:spPr/>
        <p:txBody>
          <a:bodyPr/>
          <a:lstStyle/>
          <a:p>
            <a:fld id="{1EC41D83-A85E-494A-A425-5657A5A18AE9}" type="slidenum">
              <a:rPr lang="en-US" smtClean="0"/>
              <a:t>1</a:t>
            </a:fld>
            <a:endParaRPr lang="en-US"/>
          </a:p>
        </p:txBody>
      </p:sp>
    </p:spTree>
    <p:extLst>
      <p:ext uri="{BB962C8B-B14F-4D97-AF65-F5344CB8AC3E}">
        <p14:creationId xmlns:p14="http://schemas.microsoft.com/office/powerpoint/2010/main" val="85414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522A93-4968-4B29-BB16-64A778254383}" type="slidenum">
              <a:rPr lang="en-US" smtClean="0"/>
              <a:t>2</a:t>
            </a:fld>
            <a:endParaRPr lang="en-US"/>
          </a:p>
        </p:txBody>
      </p:sp>
    </p:spTree>
    <p:extLst>
      <p:ext uri="{BB962C8B-B14F-4D97-AF65-F5344CB8AC3E}">
        <p14:creationId xmlns:p14="http://schemas.microsoft.com/office/powerpoint/2010/main" val="1379671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C41D83-A85E-494A-A425-5657A5A18AE9}" type="slidenum">
              <a:rPr lang="en-US" smtClean="0"/>
              <a:t>4</a:t>
            </a:fld>
            <a:endParaRPr lang="en-US"/>
          </a:p>
        </p:txBody>
      </p:sp>
    </p:spTree>
    <p:extLst>
      <p:ext uri="{BB962C8B-B14F-4D97-AF65-F5344CB8AC3E}">
        <p14:creationId xmlns:p14="http://schemas.microsoft.com/office/powerpoint/2010/main" val="4162446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C41D83-A85E-494A-A425-5657A5A18AE9}" type="slidenum">
              <a:rPr lang="en-US" smtClean="0"/>
              <a:t>5</a:t>
            </a:fld>
            <a:endParaRPr lang="en-US"/>
          </a:p>
        </p:txBody>
      </p:sp>
    </p:spTree>
    <p:extLst>
      <p:ext uri="{BB962C8B-B14F-4D97-AF65-F5344CB8AC3E}">
        <p14:creationId xmlns:p14="http://schemas.microsoft.com/office/powerpoint/2010/main" val="117336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C41D83-A85E-494A-A425-5657A5A18AE9}" type="slidenum">
              <a:rPr lang="en-US" smtClean="0"/>
              <a:t>6</a:t>
            </a:fld>
            <a:endParaRPr lang="en-US"/>
          </a:p>
        </p:txBody>
      </p:sp>
    </p:spTree>
    <p:extLst>
      <p:ext uri="{BB962C8B-B14F-4D97-AF65-F5344CB8AC3E}">
        <p14:creationId xmlns:p14="http://schemas.microsoft.com/office/powerpoint/2010/main" val="1646346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0A519B0-864F-436F-AD10-563B5AD2C023}"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932401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519B0-864F-436F-AD10-563B5AD2C023}"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171909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A519B0-864F-436F-AD10-563B5AD2C023}"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875095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A519B0-864F-436F-AD10-563B5AD2C023}"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447942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A519B0-864F-436F-AD10-563B5AD2C023}" type="datetimeFigureOut">
              <a:rPr lang="en-US" smtClean="0"/>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165824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0A519B0-864F-436F-AD10-563B5AD2C023}" type="datetimeFigureOut">
              <a:rPr lang="en-US" smtClean="0"/>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461077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A519B0-864F-436F-AD10-563B5AD2C023}" type="datetimeFigureOut">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424095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A519B0-864F-436F-AD10-563B5AD2C023}"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481911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A519B0-864F-436F-AD10-563B5AD2C023}"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837362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519B0-864F-436F-AD10-563B5AD2C023}"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789983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519B0-864F-436F-AD10-563B5AD2C023}"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775683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A519B0-864F-436F-AD10-563B5AD2C023}" type="datetimeFigureOut">
              <a:rPr lang="en-US" smtClean="0"/>
              <a:t>9/19/2026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A608D1-2CAF-4A5C-8E44-47F726A67544}" type="slidenum">
              <a:rPr lang="en-US" smtClean="0"/>
              <a:t>‹#›</a:t>
            </a:fld>
            <a:endParaRPr lang="en-US"/>
          </a:p>
        </p:txBody>
      </p:sp>
    </p:spTree>
    <p:extLst>
      <p:ext uri="{BB962C8B-B14F-4D97-AF65-F5344CB8AC3E}">
        <p14:creationId xmlns:p14="http://schemas.microsoft.com/office/powerpoint/2010/main" val="153567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www.plantuml.com/plantuml/img/PP1D2i8m48NtFSNWoagzWY0MLrM4dc18enqwJKec8bMykqbjfSLDXlbxtvj8GwP3Xos8xrc7rv7ozvQJH36AGDdq9oG3hwH6Kx4kB5OvUhmIwxMoHhncHa_MdB7L6LHZBsRfk9EJT8pzdlamNv3rpM5Nav8qUK-ynKIW0fYW50AJqHAYU7GNApGeZFd1idLJKj9pc0z6Zz5aT6C6Dm2LmyU2CBFmxHOHyrSjW-wlc44tyZDGaPo11EPmnFHTsnsiDglbDHy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gif"/><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plantuml.com/plantuml/img/PP1D2i8m48NtFSNWoagzWY0MLrM4dc18enqwJKec8bMykqbjfSLDXlbxtvj8GwP3Xos8xrc7rv7ozvQJH36AGDdq9oG3hwH6Kx4kB5OvUhmIwxMoHhncHa_MdB7L6LHZBsRfk9EJT8pzdlamNv3rpM5Nav8qUK-ynKIW0fYW50AJqHAYU7GNApGeZFd1idLJKj9pc0z6Zz5aT6C6Dm2LmyU2CBFmxHOHyrSjW-wlc44tyZDGaPo11EPmnFHTsnsiDglbDHy0" TargetMode="External"/><Relationship Id="rId1" Type="http://schemas.openxmlformats.org/officeDocument/2006/relationships/slideLayout" Target="../slideLayouts/slideLayout2.xml"/><Relationship Id="rId4" Type="http://schemas.openxmlformats.org/officeDocument/2006/relationships/image" Target="../media/image1.gif"/></Relationships>
</file>

<file path=ppt/slides/_rels/slide4.xml.rels><?xml version="1.0" encoding="UTF-8" standalone="yes"?>
<Relationships xmlns="http://schemas.openxmlformats.org/package/2006/relationships"><Relationship Id="rId3" Type="http://schemas.openxmlformats.org/officeDocument/2006/relationships/hyperlink" Target="http://www.plantuml.com/plantuml/img/LP113i8W44Ntd6BIbJNs2YR6nbLrqnDCAEgaKsWOZAd6kmjQOzammCp_xuFqP4VqE824YKrSFUbm6rWfpIW2RJyTaImyrHLjnwPnsDKOy4niLjfP2OOP0pbxmi5ie9jxwLJEcffaP9nspFkbG5ONZ-ELj9JgzUDb4v4AOADJB4pMIAp0CS4XqHF6VZ00dSTx9bruVxjDqcUtVsWRq7zOenDAwhZLZfsFLUXXPeiqbcV-_KwrXM9TvE5L_fHgdaacRm00"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www.plantuml.com/plantuml/img/LP113i8W44Ntd6BIbJNs2YR6nbLrqnDCAEgaKsWOZAd6kmjQOzammCp_xuFqP4VqE824YKrSFUbm6rWfpIW2RJyTaImyrHLjnwPnsDKOy4niLjfP2OOP0pbxmi5ie9jxwLJEcffaP9nspFkbG5ONZ-ELj9JgzUDb4v4AOADJB4pMIAp0CS4XqHF6VZ00dSTx9bruVxjDqcUtVsWRq7zOenDAwhZLZfsFLUXXPeiqbcV-_KwrXM9TvE5L_fHgdaacRm00"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http://www.plantuml.com/plantuml/img/LP113i8W44Ntd6BIbJNs2YR6nbLrqnDCAEgaKsWOZAd6kmjQOzammCp_xuFqP4VqE824YKrSFUbm6rWfpIW2RJyTaImyrHLjnwPnsDKOy4niLjfP2OOP0pbxmi5ie9jxwLJEcffaP9nspFkbG5ONZ-ELj9JgzUDb4v4AOADJB4pMIAp0CS4XqHF6VZ00dSTx9bruVxjDqcUtVsWRq7zOenDAwhZLZfsFLUXXPeiqbcV-_KwrXM9TvE5L_fHgdaacRm00"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plantuml.com/plantuml/img/LP113i8W44Ntd6BIbJNs2YR6nbLrqnDCAEgaKsWOZAd6kmjQOzammCp_xuFqP4VqE824YKrSFUbm6rWfpIW2RJyTaImyrHLjnwPnsDKOy4niLjfP2OOP0pbxmi5ie9jxwLJEcffaP9nspFkbG5ONZ-ELj9JgzUDb4v4AOADJB4pMIAp0CS4XqHF6VZ00dSTx9bruVxjDqcUtVsWRq7zOenDAwhZLZfsFLUXXPeiqbcV-_KwrXM9TvE5L_fHgdaacRm0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61CDA-10D9-4E16-94B4-CFF5CFDAD515}"/>
              </a:ext>
            </a:extLst>
          </p:cNvPr>
          <p:cNvSpPr>
            <a:spLocks noGrp="1"/>
          </p:cNvSpPr>
          <p:nvPr>
            <p:ph type="title"/>
          </p:nvPr>
        </p:nvSpPr>
        <p:spPr>
          <a:xfrm>
            <a:off x="628650" y="22860"/>
            <a:ext cx="7886700" cy="1071987"/>
          </a:xfrm>
        </p:spPr>
        <p:txBody>
          <a:bodyPr>
            <a:normAutofit fontScale="90000"/>
          </a:bodyPr>
          <a:lstStyle/>
          <a:p>
            <a:r>
              <a:rPr lang="en-US"/>
              <a:t>Do the in-class activity </a:t>
            </a:r>
            <a:br>
              <a:rPr lang="en-US"/>
            </a:br>
            <a:r>
              <a:rPr lang="en-US"/>
              <a:t>     </a:t>
            </a:r>
          </a:p>
        </p:txBody>
      </p:sp>
      <p:sp>
        <p:nvSpPr>
          <p:cNvPr id="6" name="TextBox 5">
            <a:extLst>
              <a:ext uri="{FF2B5EF4-FFF2-40B4-BE49-F238E27FC236}">
                <a16:creationId xmlns:a16="http://schemas.microsoft.com/office/drawing/2014/main" id="{30FCF57C-A08C-4EA4-A46B-CF86C6E10D83}"/>
              </a:ext>
            </a:extLst>
          </p:cNvPr>
          <p:cNvSpPr txBox="1"/>
          <p:nvPr/>
        </p:nvSpPr>
        <p:spPr>
          <a:xfrm>
            <a:off x="1" y="643222"/>
            <a:ext cx="9127221" cy="59708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Arial"/>
              </a:rPr>
              <a:t>Constellation Problem</a:t>
            </a:r>
            <a:r>
              <a:rPr lang="en-US" sz="2400" dirty="0">
                <a:cs typeface="Arial"/>
              </a:rPr>
              <a:t>: A particular program is designed to load constellations from datafiles and draw them on the screen.  The datafiles include the names of the constellations and details about star location, size, and color as well as which stars ought to be connected to draw the constellation.  Depending on the star data, each star should be drawn differently (e.g., right size, right color). </a:t>
            </a:r>
          </a:p>
          <a:p>
            <a:endParaRPr lang="en-US" sz="1100" dirty="0">
              <a:latin typeface="Arial"/>
              <a:cs typeface="Arial"/>
            </a:endParaRPr>
          </a:p>
          <a:p>
            <a:endParaRPr lang="en-US" sz="1100" dirty="0">
              <a:latin typeface="Arial"/>
              <a:cs typeface="Arial"/>
            </a:endParaRPr>
          </a:p>
          <a:p>
            <a:r>
              <a:rPr lang="en-US" b="1" dirty="0"/>
              <a:t>To Do #1 </a:t>
            </a:r>
            <a:r>
              <a:rPr lang="en-US" dirty="0"/>
              <a:t>Identify all the </a:t>
            </a:r>
            <a:r>
              <a:rPr lang="en-US" i="1" u="sng" dirty="0"/>
              <a:t>primary nouns</a:t>
            </a:r>
            <a:r>
              <a:rPr lang="en-US" dirty="0"/>
              <a:t> – those that are eligible to be a Java class</a:t>
            </a:r>
            <a:endParaRPr lang="en-US" i="1" u="sng" dirty="0"/>
          </a:p>
          <a:p>
            <a:pPr marL="742950" lvl="1" indent="-285750">
              <a:buFont typeface="Arial" panose="020B0604020202020204" pitchFamily="34" charset="0"/>
              <a:buChar char="•"/>
            </a:pPr>
            <a:r>
              <a:rPr lang="en-US" dirty="0"/>
              <a:t>A </a:t>
            </a:r>
            <a:r>
              <a:rPr lang="en-US" i="1" dirty="0"/>
              <a:t>primary noun</a:t>
            </a:r>
            <a:r>
              <a:rPr lang="en-US" dirty="0"/>
              <a:t> is a noun in the problem that has </a:t>
            </a:r>
            <a:r>
              <a:rPr lang="en-US" i="1" u="sng" dirty="0"/>
              <a:t>attributes</a:t>
            </a:r>
            <a:r>
              <a:rPr lang="en-US" i="1" dirty="0"/>
              <a:t> (other nouns</a:t>
            </a:r>
            <a:r>
              <a:rPr lang="en-US" dirty="0"/>
              <a:t>)</a:t>
            </a:r>
          </a:p>
          <a:p>
            <a:pPr marL="742950" lvl="1" indent="-285750">
              <a:buFont typeface="Arial" panose="020B0604020202020204" pitchFamily="34" charset="0"/>
              <a:buChar char="•"/>
            </a:pPr>
            <a:r>
              <a:rPr lang="en-US" dirty="0"/>
              <a:t>Nouns that designate</a:t>
            </a:r>
            <a:r>
              <a:rPr lang="en-US" i="1" dirty="0"/>
              <a:t> actors</a:t>
            </a:r>
            <a:r>
              <a:rPr lang="en-US" dirty="0"/>
              <a:t> of the system (i.e., The </a:t>
            </a:r>
            <a:r>
              <a:rPr lang="en-US" i="1" dirty="0"/>
              <a:t>user</a:t>
            </a:r>
            <a:r>
              <a:rPr lang="en-US" dirty="0"/>
              <a:t> can click…) can be </a:t>
            </a:r>
            <a:r>
              <a:rPr lang="en-US" b="1" dirty="0"/>
              <a:t>excluded</a:t>
            </a:r>
            <a:endParaRPr lang="en-US" i="1" dirty="0"/>
          </a:p>
          <a:p>
            <a:r>
              <a:rPr lang="en-US" b="1" dirty="0"/>
              <a:t>To Do #2 </a:t>
            </a:r>
            <a:r>
              <a:rPr lang="en-US" dirty="0"/>
              <a:t>Write down the </a:t>
            </a:r>
            <a:r>
              <a:rPr lang="en-US" i="1" u="sng" dirty="0"/>
              <a:t>other nouns</a:t>
            </a:r>
            <a:r>
              <a:rPr lang="en-US" i="1" dirty="0"/>
              <a:t> (</a:t>
            </a:r>
            <a:r>
              <a:rPr lang="en-US" i="1" u="sng" dirty="0"/>
              <a:t>attributes</a:t>
            </a:r>
            <a:r>
              <a:rPr lang="en-US" i="1" dirty="0"/>
              <a:t>) </a:t>
            </a:r>
            <a:r>
              <a:rPr lang="en-US" dirty="0"/>
              <a:t>associated with the </a:t>
            </a:r>
            <a:r>
              <a:rPr lang="en-US" i="1" dirty="0"/>
              <a:t>primary nouns</a:t>
            </a:r>
          </a:p>
          <a:p>
            <a:r>
              <a:rPr lang="en-US" b="1" dirty="0"/>
              <a:t>To Do #3 </a:t>
            </a:r>
            <a:r>
              <a:rPr lang="en-US" dirty="0"/>
              <a:t>Identify all the </a:t>
            </a:r>
            <a:r>
              <a:rPr lang="en-US" i="1" dirty="0"/>
              <a:t>verbs</a:t>
            </a:r>
            <a:endParaRPr lang="en-US" dirty="0"/>
          </a:p>
          <a:p>
            <a:r>
              <a:rPr lang="en-US" b="1" dirty="0"/>
              <a:t>To Do #4 </a:t>
            </a:r>
            <a:r>
              <a:rPr lang="en-US" dirty="0"/>
              <a:t>Identify which </a:t>
            </a:r>
            <a:r>
              <a:rPr lang="en-US" i="1" u="sng" dirty="0"/>
              <a:t>primary nouns</a:t>
            </a:r>
            <a:r>
              <a:rPr lang="en-US" dirty="0"/>
              <a:t> are worked on by the </a:t>
            </a:r>
            <a:r>
              <a:rPr lang="en-US" i="1" u="sng" dirty="0"/>
              <a:t>verbs</a:t>
            </a:r>
            <a:r>
              <a:rPr lang="en-US" dirty="0"/>
              <a:t> </a:t>
            </a:r>
          </a:p>
          <a:p>
            <a:r>
              <a:rPr lang="en-US" b="1" dirty="0"/>
              <a:t>To Do #5 </a:t>
            </a:r>
            <a:r>
              <a:rPr lang="en-US" dirty="0"/>
              <a:t>Design a system using UML to handle this problem</a:t>
            </a:r>
          </a:p>
          <a:p>
            <a:endParaRPr lang="en-US" dirty="0"/>
          </a:p>
          <a:p>
            <a:r>
              <a:rPr lang="en-US" dirty="0"/>
              <a:t>If you do this all well, then you should hopefully be able to make classes where:</a:t>
            </a:r>
          </a:p>
          <a:p>
            <a:pPr marL="285750" indent="-285750">
              <a:buFont typeface="Arial" panose="020B0604020202020204" pitchFamily="34" charset="0"/>
              <a:buChar char="•"/>
            </a:pPr>
            <a:r>
              <a:rPr lang="en-US" dirty="0"/>
              <a:t>Each </a:t>
            </a:r>
            <a:r>
              <a:rPr lang="en-US" i="1" dirty="0"/>
              <a:t>primary noun</a:t>
            </a:r>
            <a:r>
              <a:rPr lang="en-US" dirty="0"/>
              <a:t> becomes a Class</a:t>
            </a:r>
          </a:p>
          <a:p>
            <a:pPr marL="285750" indent="-285750">
              <a:buFont typeface="Arial" panose="020B0604020202020204" pitchFamily="34" charset="0"/>
              <a:buChar char="•"/>
            </a:pPr>
            <a:r>
              <a:rPr lang="en-US" dirty="0"/>
              <a:t>Each </a:t>
            </a:r>
            <a:r>
              <a:rPr lang="en-US" i="1" dirty="0"/>
              <a:t>attribute</a:t>
            </a:r>
            <a:r>
              <a:rPr lang="en-US" dirty="0"/>
              <a:t> (</a:t>
            </a:r>
            <a:r>
              <a:rPr lang="en-US" i="1" dirty="0"/>
              <a:t>other noun</a:t>
            </a:r>
            <a:r>
              <a:rPr lang="en-US" dirty="0"/>
              <a:t>) becomes a field for its respective class</a:t>
            </a:r>
          </a:p>
          <a:p>
            <a:pPr marL="285750" indent="-285750">
              <a:buFont typeface="Arial" panose="020B0604020202020204" pitchFamily="34" charset="0"/>
              <a:buChar char="•"/>
            </a:pPr>
            <a:r>
              <a:rPr lang="en-US" dirty="0"/>
              <a:t>Each </a:t>
            </a:r>
            <a:r>
              <a:rPr lang="en-US" i="1" dirty="0"/>
              <a:t>verb</a:t>
            </a:r>
            <a:r>
              <a:rPr lang="en-US" dirty="0"/>
              <a:t> becomes the method for the respective class</a:t>
            </a:r>
            <a:endParaRPr lang="en-US" i="1" dirty="0"/>
          </a:p>
        </p:txBody>
      </p:sp>
      <p:pic>
        <p:nvPicPr>
          <p:cNvPr id="2050" name="Picture 2">
            <a:extLst>
              <a:ext uri="{FF2B5EF4-FFF2-40B4-BE49-F238E27FC236}">
                <a16:creationId xmlns:a16="http://schemas.microsoft.com/office/drawing/2014/main" id="{4672DF1B-6ED8-5C8A-1744-6BCAA944FA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5866490"/>
            <a:ext cx="2421622" cy="968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7123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1"/>
            <a:ext cx="8229600" cy="3505200"/>
          </a:xfrm>
        </p:spPr>
        <p:txBody>
          <a:bodyPr>
            <a:normAutofit/>
          </a:bodyPr>
          <a:lstStyle/>
          <a:p>
            <a:pPr marL="0" indent="0">
              <a:buNone/>
            </a:pPr>
            <a:r>
              <a:rPr lang="en-US" dirty="0"/>
              <a:t>Explain the problem with the given solution.</a:t>
            </a:r>
          </a:p>
          <a:p>
            <a:pPr marL="0" indent="0">
              <a:buNone/>
            </a:pPr>
            <a:endParaRPr lang="en-US" dirty="0"/>
          </a:p>
          <a:p>
            <a:pPr marL="0" indent="0">
              <a:buNone/>
            </a:pPr>
            <a:endParaRPr lang="en-US" dirty="0"/>
          </a:p>
          <a:p>
            <a:pPr marL="0" indent="0">
              <a:buNone/>
            </a:pPr>
            <a:r>
              <a:rPr lang="en-US" dirty="0"/>
              <a:t> Then start to propose a UML solution of your own. </a:t>
            </a:r>
          </a:p>
        </p:txBody>
      </p:sp>
      <p:pic>
        <p:nvPicPr>
          <p:cNvPr id="1026" name="Picture 2" descr="https://lh6.googleusercontent.com/5REdLDOtNyfOt_JuPpc-q3RyhUIBCdBm1HyNOCln9F0BtzYoNlBM6PIb6JIvNIxNAyetWy7_kpgPGltsNxanMtlgkCymJH2EfcuRVT-4-KjSbBifVDnOM7S3or7qY3DOQRQxYRJO">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3771182"/>
            <a:ext cx="8686800" cy="246149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E1DB649A-C46F-DE65-6657-89EBA12D5A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838200"/>
            <a:ext cx="2743200" cy="1097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6814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6.googleusercontent.com/5REdLDOtNyfOt_JuPpc-q3RyhUIBCdBm1HyNOCln9F0BtzYoNlBM6PIb6JIvNIxNAyetWy7_kpgPGltsNxanMtlgkCymJH2EfcuRVT-4-KjSbBifVDnOM7S3or7qY3DOQRQxYRJO">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85800"/>
            <a:ext cx="8686800" cy="246149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33400" y="3733800"/>
            <a:ext cx="8153400" cy="1938992"/>
          </a:xfrm>
          <a:prstGeom prst="rect">
            <a:avLst/>
          </a:prstGeom>
          <a:noFill/>
        </p:spPr>
        <p:txBody>
          <a:bodyPr wrap="square" rtlCol="0">
            <a:spAutoFit/>
          </a:bodyPr>
          <a:lstStyle/>
          <a:p>
            <a:r>
              <a:rPr lang="en-US" sz="2400" dirty="0"/>
              <a:t>3a.  Constellation does everything (except maybe the parsing done by main).</a:t>
            </a:r>
          </a:p>
          <a:p>
            <a:endParaRPr lang="en-US" sz="2400" dirty="0"/>
          </a:p>
          <a:p>
            <a:endParaRPr lang="en-US" sz="2400" dirty="0"/>
          </a:p>
          <a:p>
            <a:r>
              <a:rPr lang="en-US" sz="2400" dirty="0"/>
              <a:t>Finish your own solution!</a:t>
            </a:r>
          </a:p>
        </p:txBody>
      </p:sp>
      <p:pic>
        <p:nvPicPr>
          <p:cNvPr id="7172" name="Picture 4">
            <a:extLst>
              <a:ext uri="{FF2B5EF4-FFF2-40B4-BE49-F238E27FC236}">
                <a16:creationId xmlns:a16="http://schemas.microsoft.com/office/drawing/2014/main" id="{B25BA4D6-A45E-584B-8DD4-257573B065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4645272"/>
            <a:ext cx="457200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0359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61CDA-10D9-4E16-94B4-CFF5CFDAD515}"/>
              </a:ext>
            </a:extLst>
          </p:cNvPr>
          <p:cNvSpPr>
            <a:spLocks noGrp="1"/>
          </p:cNvSpPr>
          <p:nvPr>
            <p:ph type="title"/>
          </p:nvPr>
        </p:nvSpPr>
        <p:spPr>
          <a:xfrm>
            <a:off x="628650" y="22860"/>
            <a:ext cx="7886700" cy="1071987"/>
          </a:xfrm>
        </p:spPr>
        <p:txBody>
          <a:bodyPr>
            <a:normAutofit fontScale="90000"/>
          </a:bodyPr>
          <a:lstStyle/>
          <a:p>
            <a:r>
              <a:rPr lang="en-US" dirty="0"/>
              <a:t>Do the in-class activity </a:t>
            </a:r>
            <a:br>
              <a:rPr lang="en-US" dirty="0"/>
            </a:br>
            <a:r>
              <a:rPr lang="en-US" dirty="0"/>
              <a:t>     </a:t>
            </a:r>
          </a:p>
        </p:txBody>
      </p:sp>
      <p:sp>
        <p:nvSpPr>
          <p:cNvPr id="6" name="TextBox 5">
            <a:extLst>
              <a:ext uri="{FF2B5EF4-FFF2-40B4-BE49-F238E27FC236}">
                <a16:creationId xmlns:a16="http://schemas.microsoft.com/office/drawing/2014/main" id="{30FCF57C-A08C-4EA4-A46B-CF86C6E10D83}"/>
              </a:ext>
            </a:extLst>
          </p:cNvPr>
          <p:cNvSpPr txBox="1"/>
          <p:nvPr/>
        </p:nvSpPr>
        <p:spPr>
          <a:xfrm>
            <a:off x="1" y="643222"/>
            <a:ext cx="9127221" cy="624786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Arial"/>
              </a:rPr>
              <a:t>Constellation Problem</a:t>
            </a:r>
            <a:r>
              <a:rPr lang="en-US" sz="2400" dirty="0">
                <a:cs typeface="Arial"/>
              </a:rPr>
              <a:t>: A particular </a:t>
            </a:r>
            <a:r>
              <a:rPr lang="en-US" sz="2400" dirty="0">
                <a:highlight>
                  <a:srgbClr val="FFFF00"/>
                </a:highlight>
                <a:cs typeface="Arial"/>
              </a:rPr>
              <a:t>program</a:t>
            </a:r>
            <a:r>
              <a:rPr lang="en-US" sz="2400" dirty="0">
                <a:cs typeface="Arial"/>
              </a:rPr>
              <a:t> is designed to </a:t>
            </a:r>
            <a:r>
              <a:rPr lang="en-US" sz="2400" dirty="0">
                <a:highlight>
                  <a:srgbClr val="00FFFF"/>
                </a:highlight>
                <a:cs typeface="Arial"/>
              </a:rPr>
              <a:t>load</a:t>
            </a:r>
            <a:r>
              <a:rPr lang="en-US" sz="2400" dirty="0">
                <a:cs typeface="Arial"/>
              </a:rPr>
              <a:t> </a:t>
            </a:r>
            <a:r>
              <a:rPr lang="en-US" sz="2400" dirty="0">
                <a:highlight>
                  <a:srgbClr val="00FF00"/>
                </a:highlight>
                <a:cs typeface="Arial"/>
              </a:rPr>
              <a:t>constellations</a:t>
            </a:r>
            <a:r>
              <a:rPr lang="en-US" sz="2400" dirty="0">
                <a:cs typeface="Arial"/>
              </a:rPr>
              <a:t> from datafiles and </a:t>
            </a:r>
            <a:r>
              <a:rPr lang="en-US" sz="2400" dirty="0">
                <a:highlight>
                  <a:srgbClr val="00FFFF"/>
                </a:highlight>
                <a:cs typeface="Arial"/>
              </a:rPr>
              <a:t>draw</a:t>
            </a:r>
            <a:r>
              <a:rPr lang="en-US" sz="2400" dirty="0">
                <a:cs typeface="Arial"/>
              </a:rPr>
              <a:t> them on the screen.  The datafiles include the names of the constellations and details about star location, size, and color as well as which stars ought to be connected to draw the constellation.  Depending on the star data, each star should be drawn differently (e.g., right size, right color). </a:t>
            </a:r>
          </a:p>
          <a:p>
            <a:endParaRPr lang="en-US" sz="1100" dirty="0">
              <a:latin typeface="Arial"/>
              <a:cs typeface="Arial"/>
            </a:endParaRPr>
          </a:p>
          <a:p>
            <a:endParaRPr lang="en-US" sz="1100" dirty="0">
              <a:latin typeface="Arial"/>
              <a:cs typeface="Arial"/>
            </a:endParaRP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dirty="0"/>
          </a:p>
          <a:p>
            <a:endParaRPr lang="en-US" dirty="0"/>
          </a:p>
          <a:p>
            <a:r>
              <a:rPr lang="en-US" dirty="0"/>
              <a:t>If you do this all well, then you should naturally be able to make classes where:</a:t>
            </a:r>
          </a:p>
          <a:p>
            <a:pPr marL="285750" indent="-285750">
              <a:buFont typeface="Arial" panose="020B0604020202020204" pitchFamily="34" charset="0"/>
              <a:buChar char="•"/>
            </a:pPr>
            <a:r>
              <a:rPr lang="en-US" dirty="0"/>
              <a:t>Each </a:t>
            </a:r>
            <a:r>
              <a:rPr lang="en-US" i="1" dirty="0">
                <a:highlight>
                  <a:srgbClr val="FFFF00"/>
                </a:highlight>
              </a:rPr>
              <a:t>primary noun</a:t>
            </a:r>
            <a:r>
              <a:rPr lang="en-US" dirty="0"/>
              <a:t> becomes a Class</a:t>
            </a:r>
          </a:p>
          <a:p>
            <a:pPr marL="285750" indent="-285750">
              <a:buFont typeface="Arial" panose="020B0604020202020204" pitchFamily="34" charset="0"/>
              <a:buChar char="•"/>
            </a:pPr>
            <a:r>
              <a:rPr lang="en-US" dirty="0"/>
              <a:t>Each </a:t>
            </a:r>
            <a:r>
              <a:rPr lang="en-US" i="1" dirty="0">
                <a:highlight>
                  <a:srgbClr val="00FF00"/>
                </a:highlight>
              </a:rPr>
              <a:t>attribute</a:t>
            </a:r>
            <a:r>
              <a:rPr lang="en-US" dirty="0">
                <a:highlight>
                  <a:srgbClr val="00FF00"/>
                </a:highlight>
              </a:rPr>
              <a:t> (</a:t>
            </a:r>
            <a:r>
              <a:rPr lang="en-US" i="1" dirty="0">
                <a:highlight>
                  <a:srgbClr val="00FF00"/>
                </a:highlight>
              </a:rPr>
              <a:t>other noun</a:t>
            </a:r>
            <a:r>
              <a:rPr lang="en-US" dirty="0">
                <a:highlight>
                  <a:srgbClr val="00FF00"/>
                </a:highlight>
              </a:rPr>
              <a:t>)</a:t>
            </a:r>
            <a:r>
              <a:rPr lang="en-US" dirty="0"/>
              <a:t> becomes a field for its respective class</a:t>
            </a:r>
          </a:p>
          <a:p>
            <a:pPr marL="285750" indent="-285750">
              <a:buFont typeface="Arial" panose="020B0604020202020204" pitchFamily="34" charset="0"/>
              <a:buChar char="•"/>
            </a:pPr>
            <a:r>
              <a:rPr lang="en-US" dirty="0"/>
              <a:t>Each </a:t>
            </a:r>
            <a:r>
              <a:rPr lang="en-US" i="1" dirty="0">
                <a:highlight>
                  <a:srgbClr val="00FFFF"/>
                </a:highlight>
              </a:rPr>
              <a:t>verb</a:t>
            </a:r>
            <a:r>
              <a:rPr lang="en-US" dirty="0"/>
              <a:t> becomes the method for the respective class</a:t>
            </a:r>
            <a:endParaRPr lang="en-US" i="1" dirty="0"/>
          </a:p>
        </p:txBody>
      </p:sp>
      <p:cxnSp>
        <p:nvCxnSpPr>
          <p:cNvPr id="4" name="Connector: Elbow 3">
            <a:extLst>
              <a:ext uri="{FF2B5EF4-FFF2-40B4-BE49-F238E27FC236}">
                <a16:creationId xmlns:a16="http://schemas.microsoft.com/office/drawing/2014/main" id="{A3E3523F-F1D7-AFAF-06D8-2A7A013654EC}"/>
              </a:ext>
            </a:extLst>
          </p:cNvPr>
          <p:cNvCxnSpPr>
            <a:cxnSpLocks/>
          </p:cNvCxnSpPr>
          <p:nvPr/>
        </p:nvCxnSpPr>
        <p:spPr>
          <a:xfrm rot="5400000" flipH="1" flipV="1">
            <a:off x="4772003" y="1012847"/>
            <a:ext cx="387350" cy="342856"/>
          </a:xfrm>
          <a:prstGeom prst="bentConnector3">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5" name="Connector: Elbow 4">
            <a:extLst>
              <a:ext uri="{FF2B5EF4-FFF2-40B4-BE49-F238E27FC236}">
                <a16:creationId xmlns:a16="http://schemas.microsoft.com/office/drawing/2014/main" id="{A3667595-B697-1BBD-58E4-2FDB9D646395}"/>
              </a:ext>
            </a:extLst>
          </p:cNvPr>
          <p:cNvCxnSpPr>
            <a:cxnSpLocks/>
          </p:cNvCxnSpPr>
          <p:nvPr/>
        </p:nvCxnSpPr>
        <p:spPr>
          <a:xfrm rot="10800000">
            <a:off x="5644269" y="752882"/>
            <a:ext cx="1828800" cy="266545"/>
          </a:xfrm>
          <a:prstGeom prst="bent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7" name="Connector: Elbow 26">
            <a:extLst>
              <a:ext uri="{FF2B5EF4-FFF2-40B4-BE49-F238E27FC236}">
                <a16:creationId xmlns:a16="http://schemas.microsoft.com/office/drawing/2014/main" id="{BB453329-DC3D-9788-174C-9663F3339025}"/>
              </a:ext>
            </a:extLst>
          </p:cNvPr>
          <p:cNvCxnSpPr>
            <a:cxnSpLocks/>
          </p:cNvCxnSpPr>
          <p:nvPr/>
        </p:nvCxnSpPr>
        <p:spPr>
          <a:xfrm flipV="1">
            <a:off x="1772200" y="990600"/>
            <a:ext cx="2753686" cy="148300"/>
          </a:xfrm>
          <a:prstGeom prst="bentConnector3">
            <a:avLst>
              <a:gd name="adj1" fmla="val 50000"/>
            </a:avLst>
          </a:prstGeom>
          <a:ln>
            <a:tailEnd type="triangle"/>
          </a:ln>
        </p:spPr>
        <p:style>
          <a:lnRef idx="3">
            <a:schemeClr val="accent3"/>
          </a:lnRef>
          <a:fillRef idx="0">
            <a:schemeClr val="accent3"/>
          </a:fillRef>
          <a:effectRef idx="2">
            <a:schemeClr val="accent3"/>
          </a:effectRef>
          <a:fontRef idx="minor">
            <a:schemeClr val="tx1"/>
          </a:fontRef>
        </p:style>
      </p:cxnSp>
      <p:pic>
        <p:nvPicPr>
          <p:cNvPr id="34" name="Picture 4" descr="https://lh4.googleusercontent.com/Qz2yYBmRP8nAkZlfTMNL-3QNWzx3VQ5yAsrhp_85t2EombQZ05RLUVHy58QJb6_jouvQpirIl-10vtsklw9fvYIWAuJlIOooJ729ZwOOutQfS4s_9Ceu9o_L8CzLFvkPaF1JQrRq">
            <a:hlinkClick r:id="rId3"/>
            <a:extLst>
              <a:ext uri="{FF2B5EF4-FFF2-40B4-BE49-F238E27FC236}">
                <a16:creationId xmlns:a16="http://schemas.microsoft.com/office/drawing/2014/main" id="{2D3A5C05-23F6-B4AD-D543-E21D03143F9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8287"/>
          <a:stretch/>
        </p:blipFill>
        <p:spPr bwMode="auto">
          <a:xfrm>
            <a:off x="609294" y="3094301"/>
            <a:ext cx="7335096" cy="1549799"/>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a16="http://schemas.microsoft.com/office/drawing/2014/main" id="{848AA40C-3F07-58DC-88E5-46ADFCD6964D}"/>
              </a:ext>
            </a:extLst>
          </p:cNvPr>
          <p:cNvSpPr/>
          <p:nvPr/>
        </p:nvSpPr>
        <p:spPr>
          <a:xfrm>
            <a:off x="5486400" y="3505200"/>
            <a:ext cx="2362200" cy="1138900"/>
          </a:xfrm>
          <a:prstGeom prst="rect">
            <a:avLst/>
          </a:prstGeom>
          <a:solidFill>
            <a:srgbClr val="FEFEC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Star: 5 Points 38">
            <a:extLst>
              <a:ext uri="{FF2B5EF4-FFF2-40B4-BE49-F238E27FC236}">
                <a16:creationId xmlns:a16="http://schemas.microsoft.com/office/drawing/2014/main" id="{5635328C-4131-F1FF-1F04-BAF89BCC49FB}"/>
              </a:ext>
            </a:extLst>
          </p:cNvPr>
          <p:cNvSpPr/>
          <p:nvPr/>
        </p:nvSpPr>
        <p:spPr>
          <a:xfrm>
            <a:off x="5132912" y="3886200"/>
            <a:ext cx="304800" cy="304800"/>
          </a:xfrm>
          <a:prstGeom prst="star5">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1" name="Star: 5 Points 40">
            <a:extLst>
              <a:ext uri="{FF2B5EF4-FFF2-40B4-BE49-F238E27FC236}">
                <a16:creationId xmlns:a16="http://schemas.microsoft.com/office/drawing/2014/main" id="{2C8A49B0-04D1-7EC3-E8EC-CADB16AD6619}"/>
              </a:ext>
            </a:extLst>
          </p:cNvPr>
          <p:cNvSpPr/>
          <p:nvPr/>
        </p:nvSpPr>
        <p:spPr>
          <a:xfrm>
            <a:off x="422619" y="3626538"/>
            <a:ext cx="412062" cy="41206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Star: 5 Points 42">
            <a:extLst>
              <a:ext uri="{FF2B5EF4-FFF2-40B4-BE49-F238E27FC236}">
                <a16:creationId xmlns:a16="http://schemas.microsoft.com/office/drawing/2014/main" id="{CE504797-E430-3898-0EA1-3BF53E67CA67}"/>
              </a:ext>
            </a:extLst>
          </p:cNvPr>
          <p:cNvSpPr/>
          <p:nvPr/>
        </p:nvSpPr>
        <p:spPr>
          <a:xfrm>
            <a:off x="422619" y="4147203"/>
            <a:ext cx="412062" cy="41206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0316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1" grpId="0" animBg="1"/>
      <p:bldP spid="4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4" descr="https://lh4.googleusercontent.com/Qz2yYBmRP8nAkZlfTMNL-3QNWzx3VQ5yAsrhp_85t2EombQZ05RLUVHy58QJb6_jouvQpirIl-10vtsklw9fvYIWAuJlIOooJ729ZwOOutQfS4s_9Ceu9o_L8CzLFvkPaF1JQrRq">
            <a:hlinkClick r:id="rId3"/>
            <a:extLst>
              <a:ext uri="{FF2B5EF4-FFF2-40B4-BE49-F238E27FC236}">
                <a16:creationId xmlns:a16="http://schemas.microsoft.com/office/drawing/2014/main" id="{2D3A5C05-23F6-B4AD-D543-E21D03143F9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 r="3384" b="29465"/>
          <a:stretch/>
        </p:blipFill>
        <p:spPr bwMode="auto">
          <a:xfrm>
            <a:off x="609294" y="3094301"/>
            <a:ext cx="7086906" cy="26206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0661CDA-10D9-4E16-94B4-CFF5CFDAD515}"/>
              </a:ext>
            </a:extLst>
          </p:cNvPr>
          <p:cNvSpPr>
            <a:spLocks noGrp="1"/>
          </p:cNvSpPr>
          <p:nvPr>
            <p:ph type="title"/>
          </p:nvPr>
        </p:nvSpPr>
        <p:spPr>
          <a:xfrm>
            <a:off x="628650" y="22860"/>
            <a:ext cx="7886700" cy="1071987"/>
          </a:xfrm>
        </p:spPr>
        <p:txBody>
          <a:bodyPr>
            <a:normAutofit fontScale="90000"/>
          </a:bodyPr>
          <a:lstStyle/>
          <a:p>
            <a:r>
              <a:rPr lang="en-US" dirty="0"/>
              <a:t>Do the in-class activity </a:t>
            </a:r>
            <a:br>
              <a:rPr lang="en-US" dirty="0"/>
            </a:br>
            <a:r>
              <a:rPr lang="en-US" dirty="0"/>
              <a:t>     </a:t>
            </a:r>
          </a:p>
        </p:txBody>
      </p:sp>
      <p:sp>
        <p:nvSpPr>
          <p:cNvPr id="6" name="TextBox 5">
            <a:extLst>
              <a:ext uri="{FF2B5EF4-FFF2-40B4-BE49-F238E27FC236}">
                <a16:creationId xmlns:a16="http://schemas.microsoft.com/office/drawing/2014/main" id="{30FCF57C-A08C-4EA4-A46B-CF86C6E10D83}"/>
              </a:ext>
            </a:extLst>
          </p:cNvPr>
          <p:cNvSpPr txBox="1"/>
          <p:nvPr/>
        </p:nvSpPr>
        <p:spPr>
          <a:xfrm>
            <a:off x="1" y="643222"/>
            <a:ext cx="9127221" cy="624786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Arial"/>
              </a:rPr>
              <a:t>Constellation Problem</a:t>
            </a:r>
            <a:r>
              <a:rPr lang="en-US" sz="2400" dirty="0">
                <a:cs typeface="Arial"/>
              </a:rPr>
              <a:t>: A particular program is designed to </a:t>
            </a:r>
            <a:r>
              <a:rPr lang="en-US" sz="2400" dirty="0">
                <a:highlight>
                  <a:srgbClr val="00FFFF"/>
                </a:highlight>
                <a:cs typeface="Arial"/>
              </a:rPr>
              <a:t>load</a:t>
            </a:r>
            <a:r>
              <a:rPr lang="en-US" sz="2400" dirty="0">
                <a:cs typeface="Arial"/>
              </a:rPr>
              <a:t> </a:t>
            </a:r>
            <a:r>
              <a:rPr lang="en-US" sz="2400" dirty="0">
                <a:highlight>
                  <a:srgbClr val="FFFF00"/>
                </a:highlight>
                <a:cs typeface="Arial"/>
              </a:rPr>
              <a:t>constellations</a:t>
            </a:r>
            <a:r>
              <a:rPr lang="en-US" sz="2400" dirty="0">
                <a:cs typeface="Arial"/>
              </a:rPr>
              <a:t> from datafiles and draw them on the screen.  The datafiles include the </a:t>
            </a:r>
            <a:r>
              <a:rPr lang="en-US" sz="2400" dirty="0">
                <a:highlight>
                  <a:srgbClr val="00FF00"/>
                </a:highlight>
                <a:cs typeface="Arial"/>
              </a:rPr>
              <a:t>names</a:t>
            </a:r>
            <a:r>
              <a:rPr lang="en-US" sz="2400" dirty="0">
                <a:cs typeface="Arial"/>
              </a:rPr>
              <a:t> of the constellations and details about star location, size, and color as well as which </a:t>
            </a:r>
            <a:r>
              <a:rPr lang="en-US" sz="2400" dirty="0">
                <a:highlight>
                  <a:srgbClr val="00FF00"/>
                </a:highlight>
                <a:cs typeface="Arial"/>
              </a:rPr>
              <a:t>stars</a:t>
            </a:r>
            <a:r>
              <a:rPr lang="en-US" sz="2400" dirty="0">
                <a:cs typeface="Arial"/>
              </a:rPr>
              <a:t> ought to be connected to </a:t>
            </a:r>
            <a:r>
              <a:rPr lang="en-US" sz="2400" dirty="0">
                <a:highlight>
                  <a:srgbClr val="00FFFF"/>
                </a:highlight>
                <a:cs typeface="Arial"/>
              </a:rPr>
              <a:t>draw</a:t>
            </a:r>
            <a:r>
              <a:rPr lang="en-US" sz="2400" dirty="0">
                <a:cs typeface="Arial"/>
              </a:rPr>
              <a:t> the constellation.  Depending on the star data, each star should be drawn differently (e.g., right size, right color). </a:t>
            </a:r>
          </a:p>
          <a:p>
            <a:endParaRPr lang="en-US" sz="1100" dirty="0">
              <a:latin typeface="Arial"/>
              <a:cs typeface="Arial"/>
            </a:endParaRPr>
          </a:p>
          <a:p>
            <a:endParaRPr lang="en-US" sz="1100" dirty="0">
              <a:latin typeface="Arial"/>
              <a:cs typeface="Arial"/>
            </a:endParaRP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dirty="0"/>
          </a:p>
          <a:p>
            <a:endParaRPr lang="en-US" dirty="0"/>
          </a:p>
          <a:p>
            <a:r>
              <a:rPr lang="en-US" dirty="0"/>
              <a:t>If you do this all well, then you should naturally be able to make classes where:</a:t>
            </a:r>
          </a:p>
          <a:p>
            <a:pPr marL="285750" indent="-285750">
              <a:buFont typeface="Arial" panose="020B0604020202020204" pitchFamily="34" charset="0"/>
              <a:buChar char="•"/>
            </a:pPr>
            <a:r>
              <a:rPr lang="en-US" dirty="0"/>
              <a:t>Each </a:t>
            </a:r>
            <a:r>
              <a:rPr lang="en-US" i="1" dirty="0">
                <a:highlight>
                  <a:srgbClr val="FFFF00"/>
                </a:highlight>
              </a:rPr>
              <a:t>primary noun</a:t>
            </a:r>
            <a:r>
              <a:rPr lang="en-US" dirty="0"/>
              <a:t> becomes a Class</a:t>
            </a:r>
          </a:p>
          <a:p>
            <a:pPr marL="285750" indent="-285750">
              <a:buFont typeface="Arial" panose="020B0604020202020204" pitchFamily="34" charset="0"/>
              <a:buChar char="•"/>
            </a:pPr>
            <a:r>
              <a:rPr lang="en-US" dirty="0"/>
              <a:t>Each </a:t>
            </a:r>
            <a:r>
              <a:rPr lang="en-US" i="1" dirty="0">
                <a:highlight>
                  <a:srgbClr val="00FF00"/>
                </a:highlight>
              </a:rPr>
              <a:t>attribute</a:t>
            </a:r>
            <a:r>
              <a:rPr lang="en-US" dirty="0">
                <a:highlight>
                  <a:srgbClr val="00FF00"/>
                </a:highlight>
              </a:rPr>
              <a:t> (</a:t>
            </a:r>
            <a:r>
              <a:rPr lang="en-US" i="1" dirty="0">
                <a:highlight>
                  <a:srgbClr val="00FF00"/>
                </a:highlight>
              </a:rPr>
              <a:t>other noun</a:t>
            </a:r>
            <a:r>
              <a:rPr lang="en-US" dirty="0">
                <a:highlight>
                  <a:srgbClr val="00FF00"/>
                </a:highlight>
              </a:rPr>
              <a:t>)</a:t>
            </a:r>
            <a:r>
              <a:rPr lang="en-US" dirty="0"/>
              <a:t> becomes a field for its respective class</a:t>
            </a:r>
          </a:p>
          <a:p>
            <a:pPr marL="285750" indent="-285750">
              <a:buFont typeface="Arial" panose="020B0604020202020204" pitchFamily="34" charset="0"/>
              <a:buChar char="•"/>
            </a:pPr>
            <a:r>
              <a:rPr lang="en-US" dirty="0"/>
              <a:t>Each </a:t>
            </a:r>
            <a:r>
              <a:rPr lang="en-US" i="1" dirty="0">
                <a:highlight>
                  <a:srgbClr val="00FFFF"/>
                </a:highlight>
              </a:rPr>
              <a:t>verb</a:t>
            </a:r>
            <a:r>
              <a:rPr lang="en-US" dirty="0"/>
              <a:t> becomes the method for the respective class</a:t>
            </a:r>
            <a:endParaRPr lang="en-US" i="1" dirty="0"/>
          </a:p>
        </p:txBody>
      </p:sp>
      <p:cxnSp>
        <p:nvCxnSpPr>
          <p:cNvPr id="4" name="Connector: Elbow 3">
            <a:extLst>
              <a:ext uri="{FF2B5EF4-FFF2-40B4-BE49-F238E27FC236}">
                <a16:creationId xmlns:a16="http://schemas.microsoft.com/office/drawing/2014/main" id="{A3E3523F-F1D7-AFAF-06D8-2A7A013654EC}"/>
              </a:ext>
            </a:extLst>
          </p:cNvPr>
          <p:cNvCxnSpPr>
            <a:cxnSpLocks/>
          </p:cNvCxnSpPr>
          <p:nvPr/>
        </p:nvCxnSpPr>
        <p:spPr>
          <a:xfrm rot="5400000" flipH="1" flipV="1">
            <a:off x="394560" y="1640294"/>
            <a:ext cx="864733" cy="327347"/>
          </a:xfrm>
          <a:prstGeom prst="bentConnector3">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7" name="Connector: Elbow 26">
            <a:extLst>
              <a:ext uri="{FF2B5EF4-FFF2-40B4-BE49-F238E27FC236}">
                <a16:creationId xmlns:a16="http://schemas.microsoft.com/office/drawing/2014/main" id="{BB453329-DC3D-9788-174C-9663F3339025}"/>
              </a:ext>
            </a:extLst>
          </p:cNvPr>
          <p:cNvCxnSpPr>
            <a:cxnSpLocks/>
          </p:cNvCxnSpPr>
          <p:nvPr/>
        </p:nvCxnSpPr>
        <p:spPr>
          <a:xfrm rot="10800000">
            <a:off x="1752601" y="1371602"/>
            <a:ext cx="914400" cy="343607"/>
          </a:xfrm>
          <a:prstGeom prst="bentConnector3">
            <a:avLst>
              <a:gd name="adj1" fmla="val 50000"/>
            </a:avLst>
          </a:prstGeom>
          <a:ln>
            <a:tailEnd type="triangle"/>
          </a:ln>
        </p:spPr>
        <p:style>
          <a:lnRef idx="3">
            <a:schemeClr val="accent3"/>
          </a:lnRef>
          <a:fillRef idx="0">
            <a:schemeClr val="accent3"/>
          </a:fillRef>
          <a:effectRef idx="2">
            <a:schemeClr val="accent3"/>
          </a:effectRef>
          <a:fontRef idx="minor">
            <a:schemeClr val="tx1"/>
          </a:fontRef>
        </p:style>
      </p:cxnSp>
      <p:sp>
        <p:nvSpPr>
          <p:cNvPr id="39" name="Star: 5 Points 38">
            <a:extLst>
              <a:ext uri="{FF2B5EF4-FFF2-40B4-BE49-F238E27FC236}">
                <a16:creationId xmlns:a16="http://schemas.microsoft.com/office/drawing/2014/main" id="{5635328C-4131-F1FF-1F04-BAF89BCC49FB}"/>
              </a:ext>
            </a:extLst>
          </p:cNvPr>
          <p:cNvSpPr/>
          <p:nvPr/>
        </p:nvSpPr>
        <p:spPr>
          <a:xfrm>
            <a:off x="6019800" y="3504307"/>
            <a:ext cx="304800" cy="304800"/>
          </a:xfrm>
          <a:prstGeom prst="star5">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3" name="Star: 5 Points 42">
            <a:extLst>
              <a:ext uri="{FF2B5EF4-FFF2-40B4-BE49-F238E27FC236}">
                <a16:creationId xmlns:a16="http://schemas.microsoft.com/office/drawing/2014/main" id="{CE504797-E430-3898-0EA1-3BF53E67CA67}"/>
              </a:ext>
            </a:extLst>
          </p:cNvPr>
          <p:cNvSpPr/>
          <p:nvPr/>
        </p:nvSpPr>
        <p:spPr>
          <a:xfrm>
            <a:off x="7034867" y="4231323"/>
            <a:ext cx="331517" cy="33151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Connector: Elbow 6">
            <a:extLst>
              <a:ext uri="{FF2B5EF4-FFF2-40B4-BE49-F238E27FC236}">
                <a16:creationId xmlns:a16="http://schemas.microsoft.com/office/drawing/2014/main" id="{D52B62F1-0CB2-7D8F-D112-9A42CA81EBD9}"/>
              </a:ext>
            </a:extLst>
          </p:cNvPr>
          <p:cNvCxnSpPr>
            <a:cxnSpLocks/>
          </p:cNvCxnSpPr>
          <p:nvPr/>
        </p:nvCxnSpPr>
        <p:spPr>
          <a:xfrm rot="10800000" flipV="1">
            <a:off x="1752601" y="991219"/>
            <a:ext cx="5714999" cy="103628"/>
          </a:xfrm>
          <a:prstGeom prst="bentConnector3">
            <a:avLst/>
          </a:prstGeom>
          <a:ln>
            <a:tailEnd type="triangle"/>
          </a:ln>
        </p:spPr>
        <p:style>
          <a:lnRef idx="3">
            <a:schemeClr val="accent1"/>
          </a:lnRef>
          <a:fillRef idx="0">
            <a:schemeClr val="accent1"/>
          </a:fillRef>
          <a:effectRef idx="2">
            <a:schemeClr val="accent1"/>
          </a:effectRef>
          <a:fontRef idx="minor">
            <a:schemeClr val="tx1"/>
          </a:fontRef>
        </p:style>
      </p:cxnSp>
      <p:sp>
        <p:nvSpPr>
          <p:cNvPr id="11" name="Star: 5 Points 10">
            <a:extLst>
              <a:ext uri="{FF2B5EF4-FFF2-40B4-BE49-F238E27FC236}">
                <a16:creationId xmlns:a16="http://schemas.microsoft.com/office/drawing/2014/main" id="{8C081106-F870-9686-ADBB-577BE2591CB3}"/>
              </a:ext>
            </a:extLst>
          </p:cNvPr>
          <p:cNvSpPr/>
          <p:nvPr/>
        </p:nvSpPr>
        <p:spPr>
          <a:xfrm>
            <a:off x="6858000" y="3962400"/>
            <a:ext cx="233342" cy="23334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Connector: Elbow 11">
            <a:extLst>
              <a:ext uri="{FF2B5EF4-FFF2-40B4-BE49-F238E27FC236}">
                <a16:creationId xmlns:a16="http://schemas.microsoft.com/office/drawing/2014/main" id="{D26A4C49-EFE3-F595-0C81-FF15962FD157}"/>
              </a:ext>
            </a:extLst>
          </p:cNvPr>
          <p:cNvCxnSpPr>
            <a:cxnSpLocks/>
          </p:cNvCxnSpPr>
          <p:nvPr/>
        </p:nvCxnSpPr>
        <p:spPr>
          <a:xfrm rot="10800000">
            <a:off x="1828800" y="1219201"/>
            <a:ext cx="3352800" cy="870819"/>
          </a:xfrm>
          <a:prstGeom prst="bentConnector3">
            <a:avLst>
              <a:gd name="adj1" fmla="val 50000"/>
            </a:avLst>
          </a:prstGeom>
          <a:ln>
            <a:tailEnd type="triangle"/>
          </a:ln>
        </p:spPr>
        <p:style>
          <a:lnRef idx="3">
            <a:schemeClr val="accent3"/>
          </a:lnRef>
          <a:fillRef idx="0">
            <a:schemeClr val="accent3"/>
          </a:fillRef>
          <a:effectRef idx="2">
            <a:schemeClr val="accent3"/>
          </a:effectRef>
          <a:fontRef idx="minor">
            <a:schemeClr val="tx1"/>
          </a:fontRef>
        </p:style>
      </p:cxnSp>
      <p:sp>
        <p:nvSpPr>
          <p:cNvPr id="14" name="Star: 5 Points 13">
            <a:extLst>
              <a:ext uri="{FF2B5EF4-FFF2-40B4-BE49-F238E27FC236}">
                <a16:creationId xmlns:a16="http://schemas.microsoft.com/office/drawing/2014/main" id="{9A7DFEFA-7572-D856-DD89-15EABB8E3199}"/>
              </a:ext>
            </a:extLst>
          </p:cNvPr>
          <p:cNvSpPr/>
          <p:nvPr/>
        </p:nvSpPr>
        <p:spPr>
          <a:xfrm>
            <a:off x="6705600" y="5053709"/>
            <a:ext cx="304800" cy="304800"/>
          </a:xfrm>
          <a:prstGeom prst="star5">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3547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3" grpId="0" animBg="1"/>
      <p:bldP spid="11"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4" descr="https://lh4.googleusercontent.com/Qz2yYBmRP8nAkZlfTMNL-3QNWzx3VQ5yAsrhp_85t2EombQZ05RLUVHy58QJb6_jouvQpirIl-10vtsklw9fvYIWAuJlIOooJ729ZwOOutQfS4s_9Ceu9o_L8CzLFvkPaF1JQrRq">
            <a:hlinkClick r:id="rId3"/>
            <a:extLst>
              <a:ext uri="{FF2B5EF4-FFF2-40B4-BE49-F238E27FC236}">
                <a16:creationId xmlns:a16="http://schemas.microsoft.com/office/drawing/2014/main" id="{2D3A5C05-23F6-B4AD-D543-E21D03143F9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0646" t="62617" r="4422" b="2803"/>
          <a:stretch/>
        </p:blipFill>
        <p:spPr bwMode="auto">
          <a:xfrm>
            <a:off x="3124201" y="3292776"/>
            <a:ext cx="2671893" cy="187709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0661CDA-10D9-4E16-94B4-CFF5CFDAD515}"/>
              </a:ext>
            </a:extLst>
          </p:cNvPr>
          <p:cNvSpPr>
            <a:spLocks noGrp="1"/>
          </p:cNvSpPr>
          <p:nvPr>
            <p:ph type="title"/>
          </p:nvPr>
        </p:nvSpPr>
        <p:spPr>
          <a:xfrm>
            <a:off x="628650" y="22860"/>
            <a:ext cx="7886700" cy="1071987"/>
          </a:xfrm>
        </p:spPr>
        <p:txBody>
          <a:bodyPr>
            <a:normAutofit fontScale="90000"/>
          </a:bodyPr>
          <a:lstStyle/>
          <a:p>
            <a:r>
              <a:rPr lang="en-US" dirty="0"/>
              <a:t>Do the in-class activity </a:t>
            </a:r>
            <a:br>
              <a:rPr lang="en-US" dirty="0"/>
            </a:br>
            <a:r>
              <a:rPr lang="en-US" dirty="0"/>
              <a:t>     </a:t>
            </a:r>
          </a:p>
        </p:txBody>
      </p:sp>
      <p:sp>
        <p:nvSpPr>
          <p:cNvPr id="6" name="TextBox 5">
            <a:extLst>
              <a:ext uri="{FF2B5EF4-FFF2-40B4-BE49-F238E27FC236}">
                <a16:creationId xmlns:a16="http://schemas.microsoft.com/office/drawing/2014/main" id="{30FCF57C-A08C-4EA4-A46B-CF86C6E10D83}"/>
              </a:ext>
            </a:extLst>
          </p:cNvPr>
          <p:cNvSpPr txBox="1"/>
          <p:nvPr/>
        </p:nvSpPr>
        <p:spPr>
          <a:xfrm>
            <a:off x="1" y="643222"/>
            <a:ext cx="9143999" cy="624786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cs typeface="Arial"/>
              </a:rPr>
              <a:t>Constellation Problem</a:t>
            </a:r>
            <a:r>
              <a:rPr lang="en-US" sz="2400" dirty="0">
                <a:cs typeface="Arial"/>
              </a:rPr>
              <a:t>: A particular program is designed to load constellations from datafiles and draw them on the screen.  The datafiles include the names of the constellations and details about </a:t>
            </a:r>
            <a:r>
              <a:rPr lang="en-US" sz="2400" dirty="0">
                <a:highlight>
                  <a:srgbClr val="FFFF00"/>
                </a:highlight>
                <a:cs typeface="Arial"/>
              </a:rPr>
              <a:t>star</a:t>
            </a:r>
            <a:r>
              <a:rPr lang="en-US" sz="2400" dirty="0">
                <a:cs typeface="Arial"/>
              </a:rPr>
              <a:t> </a:t>
            </a:r>
            <a:r>
              <a:rPr lang="en-US" sz="2400" dirty="0">
                <a:highlight>
                  <a:srgbClr val="00FF00"/>
                </a:highlight>
                <a:cs typeface="Arial"/>
              </a:rPr>
              <a:t>location</a:t>
            </a:r>
            <a:r>
              <a:rPr lang="en-US" sz="2400" dirty="0">
                <a:cs typeface="Arial"/>
              </a:rPr>
              <a:t>, </a:t>
            </a:r>
            <a:r>
              <a:rPr lang="en-US" sz="2400" dirty="0">
                <a:highlight>
                  <a:srgbClr val="00FF00"/>
                </a:highlight>
                <a:cs typeface="Arial"/>
              </a:rPr>
              <a:t>size</a:t>
            </a:r>
            <a:r>
              <a:rPr lang="en-US" sz="2400" dirty="0">
                <a:cs typeface="Arial"/>
              </a:rPr>
              <a:t>, and </a:t>
            </a:r>
            <a:r>
              <a:rPr lang="en-US" sz="2400" dirty="0">
                <a:highlight>
                  <a:srgbClr val="00FF00"/>
                </a:highlight>
                <a:cs typeface="Arial"/>
              </a:rPr>
              <a:t>color</a:t>
            </a:r>
            <a:r>
              <a:rPr lang="en-US" sz="2400" dirty="0">
                <a:cs typeface="Arial"/>
              </a:rPr>
              <a:t> as well as which stars ought to be connected to draw the constellation.  Depending on the </a:t>
            </a:r>
            <a:r>
              <a:rPr lang="en-US" sz="2400" dirty="0">
                <a:highlight>
                  <a:srgbClr val="FFFF00"/>
                </a:highlight>
                <a:cs typeface="Arial"/>
              </a:rPr>
              <a:t>star</a:t>
            </a:r>
            <a:r>
              <a:rPr lang="en-US" sz="2400" dirty="0">
                <a:cs typeface="Arial"/>
              </a:rPr>
              <a:t> data, each star should be </a:t>
            </a:r>
            <a:r>
              <a:rPr lang="en-US" sz="2400" dirty="0">
                <a:highlight>
                  <a:srgbClr val="00FFFF"/>
                </a:highlight>
                <a:cs typeface="Arial"/>
              </a:rPr>
              <a:t>drawn</a:t>
            </a:r>
            <a:r>
              <a:rPr lang="en-US" sz="2400" dirty="0">
                <a:cs typeface="Arial"/>
              </a:rPr>
              <a:t> differently (e.g., right size, right color). </a:t>
            </a:r>
          </a:p>
          <a:p>
            <a:endParaRPr lang="en-US" sz="1100" dirty="0">
              <a:latin typeface="Arial"/>
              <a:cs typeface="Arial"/>
            </a:endParaRPr>
          </a:p>
          <a:p>
            <a:endParaRPr lang="en-US" sz="1100" dirty="0">
              <a:latin typeface="Arial"/>
              <a:cs typeface="Arial"/>
            </a:endParaRP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dirty="0"/>
          </a:p>
          <a:p>
            <a:endParaRPr lang="en-US" dirty="0"/>
          </a:p>
          <a:p>
            <a:r>
              <a:rPr lang="en-US" dirty="0"/>
              <a:t>If you do this all well, then you should naturally be able to make classes where:</a:t>
            </a:r>
          </a:p>
          <a:p>
            <a:pPr marL="285750" indent="-285750">
              <a:buFont typeface="Arial" panose="020B0604020202020204" pitchFamily="34" charset="0"/>
              <a:buChar char="•"/>
            </a:pPr>
            <a:r>
              <a:rPr lang="en-US" dirty="0"/>
              <a:t>Each </a:t>
            </a:r>
            <a:r>
              <a:rPr lang="en-US" i="1" dirty="0">
                <a:highlight>
                  <a:srgbClr val="FFFF00"/>
                </a:highlight>
              </a:rPr>
              <a:t>primary noun</a:t>
            </a:r>
            <a:r>
              <a:rPr lang="en-US" dirty="0"/>
              <a:t> becomes a Class</a:t>
            </a:r>
          </a:p>
          <a:p>
            <a:pPr marL="285750" indent="-285750">
              <a:buFont typeface="Arial" panose="020B0604020202020204" pitchFamily="34" charset="0"/>
              <a:buChar char="•"/>
            </a:pPr>
            <a:r>
              <a:rPr lang="en-US" dirty="0"/>
              <a:t>Each </a:t>
            </a:r>
            <a:r>
              <a:rPr lang="en-US" i="1" dirty="0">
                <a:highlight>
                  <a:srgbClr val="00FF00"/>
                </a:highlight>
              </a:rPr>
              <a:t>attribute</a:t>
            </a:r>
            <a:r>
              <a:rPr lang="en-US" dirty="0">
                <a:highlight>
                  <a:srgbClr val="00FF00"/>
                </a:highlight>
              </a:rPr>
              <a:t> (</a:t>
            </a:r>
            <a:r>
              <a:rPr lang="en-US" i="1" dirty="0">
                <a:highlight>
                  <a:srgbClr val="00FF00"/>
                </a:highlight>
              </a:rPr>
              <a:t>other noun</a:t>
            </a:r>
            <a:r>
              <a:rPr lang="en-US" dirty="0">
                <a:highlight>
                  <a:srgbClr val="00FF00"/>
                </a:highlight>
              </a:rPr>
              <a:t>)</a:t>
            </a:r>
            <a:r>
              <a:rPr lang="en-US" dirty="0"/>
              <a:t> becomes a field for its respective class</a:t>
            </a:r>
          </a:p>
          <a:p>
            <a:pPr marL="285750" indent="-285750">
              <a:buFont typeface="Arial" panose="020B0604020202020204" pitchFamily="34" charset="0"/>
              <a:buChar char="•"/>
            </a:pPr>
            <a:r>
              <a:rPr lang="en-US" dirty="0"/>
              <a:t>Each </a:t>
            </a:r>
            <a:r>
              <a:rPr lang="en-US" i="1" dirty="0">
                <a:highlight>
                  <a:srgbClr val="00FFFF"/>
                </a:highlight>
              </a:rPr>
              <a:t>verb</a:t>
            </a:r>
            <a:r>
              <a:rPr lang="en-US" dirty="0"/>
              <a:t> becomes the method for the respective class</a:t>
            </a:r>
            <a:endParaRPr lang="en-US" i="1" dirty="0"/>
          </a:p>
        </p:txBody>
      </p:sp>
      <p:cxnSp>
        <p:nvCxnSpPr>
          <p:cNvPr id="4" name="Connector: Elbow 3">
            <a:extLst>
              <a:ext uri="{FF2B5EF4-FFF2-40B4-BE49-F238E27FC236}">
                <a16:creationId xmlns:a16="http://schemas.microsoft.com/office/drawing/2014/main" id="{A3E3523F-F1D7-AFAF-06D8-2A7A013654EC}"/>
              </a:ext>
            </a:extLst>
          </p:cNvPr>
          <p:cNvCxnSpPr>
            <a:cxnSpLocks/>
          </p:cNvCxnSpPr>
          <p:nvPr/>
        </p:nvCxnSpPr>
        <p:spPr>
          <a:xfrm flipV="1">
            <a:off x="844401" y="2327211"/>
            <a:ext cx="4489599" cy="461974"/>
          </a:xfrm>
          <a:prstGeom prst="bentConnector3">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7" name="Connector: Elbow 26">
            <a:extLst>
              <a:ext uri="{FF2B5EF4-FFF2-40B4-BE49-F238E27FC236}">
                <a16:creationId xmlns:a16="http://schemas.microsoft.com/office/drawing/2014/main" id="{BB453329-DC3D-9788-174C-9663F3339025}"/>
              </a:ext>
            </a:extLst>
          </p:cNvPr>
          <p:cNvCxnSpPr>
            <a:cxnSpLocks/>
          </p:cNvCxnSpPr>
          <p:nvPr/>
        </p:nvCxnSpPr>
        <p:spPr>
          <a:xfrm flipV="1">
            <a:off x="826926" y="1468201"/>
            <a:ext cx="7478874" cy="592211"/>
          </a:xfrm>
          <a:prstGeom prst="bentConnector3">
            <a:avLst>
              <a:gd name="adj1" fmla="val 50000"/>
            </a:avLst>
          </a:prstGeom>
          <a:ln>
            <a:tailEnd type="triangle"/>
          </a:ln>
        </p:spPr>
        <p:style>
          <a:lnRef idx="3">
            <a:schemeClr val="accent3"/>
          </a:lnRef>
          <a:fillRef idx="0">
            <a:schemeClr val="accent3"/>
          </a:fillRef>
          <a:effectRef idx="2">
            <a:schemeClr val="accent3"/>
          </a:effectRef>
          <a:fontRef idx="minor">
            <a:schemeClr val="tx1"/>
          </a:fontRef>
        </p:style>
      </p:cxnSp>
      <p:sp>
        <p:nvSpPr>
          <p:cNvPr id="43" name="Star: 5 Points 42">
            <a:extLst>
              <a:ext uri="{FF2B5EF4-FFF2-40B4-BE49-F238E27FC236}">
                <a16:creationId xmlns:a16="http://schemas.microsoft.com/office/drawing/2014/main" id="{CE504797-E430-3898-0EA1-3BF53E67CA67}"/>
              </a:ext>
            </a:extLst>
          </p:cNvPr>
          <p:cNvSpPr/>
          <p:nvPr/>
        </p:nvSpPr>
        <p:spPr>
          <a:xfrm>
            <a:off x="2958442" y="4734994"/>
            <a:ext cx="331517" cy="33151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tar: 5 Points 13">
            <a:extLst>
              <a:ext uri="{FF2B5EF4-FFF2-40B4-BE49-F238E27FC236}">
                <a16:creationId xmlns:a16="http://schemas.microsoft.com/office/drawing/2014/main" id="{9A7DFEFA-7572-D856-DD89-15EABB8E3199}"/>
              </a:ext>
            </a:extLst>
          </p:cNvPr>
          <p:cNvSpPr/>
          <p:nvPr/>
        </p:nvSpPr>
        <p:spPr>
          <a:xfrm>
            <a:off x="4061670" y="3962400"/>
            <a:ext cx="533400" cy="533400"/>
          </a:xfrm>
          <a:prstGeom prst="star5">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6066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possible solution</a:t>
            </a:r>
          </a:p>
        </p:txBody>
      </p:sp>
      <p:pic>
        <p:nvPicPr>
          <p:cNvPr id="2052" name="Picture 4" descr="https://lh4.googleusercontent.com/Qz2yYBmRP8nAkZlfTMNL-3QNWzx3VQ5yAsrhp_85t2EombQZ05RLUVHy58QJb6_jouvQpirIl-10vtsklw9fvYIWAuJlIOooJ729ZwOOutQfS4s_9Ceu9o_L8CzLFvkPaF1JQrRq">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509" y="1417638"/>
            <a:ext cx="8095891" cy="410071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38509" y="3581400"/>
            <a:ext cx="5276491" cy="2246769"/>
          </a:xfrm>
          <a:prstGeom prst="rect">
            <a:avLst/>
          </a:prstGeom>
          <a:noFill/>
        </p:spPr>
        <p:txBody>
          <a:bodyPr wrap="square" rtlCol="0">
            <a:spAutoFit/>
          </a:bodyPr>
          <a:lstStyle/>
          <a:p>
            <a:pPr marL="457200" indent="-457200">
              <a:buFont typeface="Arial" panose="020B0604020202020204" pitchFamily="34" charset="0"/>
              <a:buChar char="•"/>
            </a:pPr>
            <a:r>
              <a:rPr lang="en-US" sz="2800" dirty="0"/>
              <a:t>Often, you need to find and extract a new class when things get complex.</a:t>
            </a:r>
          </a:p>
          <a:p>
            <a:pPr marL="457200" indent="-457200">
              <a:buFont typeface="Arial" panose="020B0604020202020204" pitchFamily="34" charset="0"/>
              <a:buChar char="•"/>
            </a:pPr>
            <a:r>
              <a:rPr lang="en-US" sz="2800" dirty="0"/>
              <a:t>Here, Star class was extracted from original Constellation class</a:t>
            </a:r>
          </a:p>
        </p:txBody>
      </p:sp>
    </p:spTree>
    <p:extLst>
      <p:ext uri="{BB962C8B-B14F-4D97-AF65-F5344CB8AC3E}">
        <p14:creationId xmlns:p14="http://schemas.microsoft.com/office/powerpoint/2010/main" val="28465829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570BCAAD2E4294F9443DCB038A55380" ma:contentTypeVersion="8" ma:contentTypeDescription="Create a new document." ma:contentTypeScope="" ma:versionID="9523c79d6bab9e2ad858b5223ec5ed94">
  <xsd:schema xmlns:xsd="http://www.w3.org/2001/XMLSchema" xmlns:xs="http://www.w3.org/2001/XMLSchema" xmlns:p="http://schemas.microsoft.com/office/2006/metadata/properties" xmlns:ns2="201674f6-2bdd-4f13-ba1e-424e4aa70473" targetNamespace="http://schemas.microsoft.com/office/2006/metadata/properties" ma:root="true" ma:fieldsID="587afc94f70b507ec5be5f4d78229b0b" ns2:_="">
    <xsd:import namespace="201674f6-2bdd-4f13-ba1e-424e4aa7047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1674f6-2bdd-4f13-ba1e-424e4aa704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055B637-E92D-4086-B83D-87288CBA54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1674f6-2bdd-4f13-ba1e-424e4aa7047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396EFD4-1250-457A-AB4B-16A5266B50A5}">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83796DB-86E9-4D44-9BCB-A762264A5A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527</TotalTime>
  <Words>689</Words>
  <Application>Microsoft Office PowerPoint</Application>
  <PresentationFormat>On-screen Show (4:3)</PresentationFormat>
  <Paragraphs>84</Paragraphs>
  <Slides>7</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Do the in-class activity       </vt:lpstr>
      <vt:lpstr>PowerPoint Presentation</vt:lpstr>
      <vt:lpstr>PowerPoint Presentation</vt:lpstr>
      <vt:lpstr>Do the in-class activity       </vt:lpstr>
      <vt:lpstr>Do the in-class activity       </vt:lpstr>
      <vt:lpstr>Do the in-class activity       </vt:lpstr>
      <vt:lpstr>A possible solution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Encapsulation</dc:title>
  <dc:creator>Windows User</dc:creator>
  <cp:lastModifiedBy>Ludden, Ian</cp:lastModifiedBy>
  <cp:revision>24</cp:revision>
  <cp:lastPrinted>2016-09-27T10:57:46Z</cp:lastPrinted>
  <dcterms:created xsi:type="dcterms:W3CDTF">2013-12-22T20:42:02Z</dcterms:created>
  <dcterms:modified xsi:type="dcterms:W3CDTF">2026-09-19T20:31:17Z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0x0101001570BCAAD2E4294F9443DCB038A55380</vt:lpwstr>
  </property>
</Properties>
</file>