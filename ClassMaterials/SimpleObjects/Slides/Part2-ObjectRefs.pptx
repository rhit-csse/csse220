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7"/>
  </p:notesMasterIdLst>
  <p:sldIdLst>
    <p:sldId id="257" r:id="rId5"/>
    <p:sldId id="259" r:id="rId6"/>
    <p:sldId id="256" r:id="rId7"/>
    <p:sldId id="261" r:id="rId8"/>
    <p:sldId id="262" r:id="rId9"/>
    <p:sldId id="263" r:id="rId10"/>
    <p:sldId id="275" r:id="rId11"/>
    <p:sldId id="274" r:id="rId12"/>
    <p:sldId id="277" r:id="rId13"/>
    <p:sldId id="266" r:id="rId14"/>
    <p:sldId id="273" r:id="rId15"/>
    <p:sldId id="268" r:id="rId16"/>
    <p:sldId id="278" r:id="rId17"/>
    <p:sldId id="269" r:id="rId18"/>
    <p:sldId id="279" r:id="rId19"/>
    <p:sldId id="270" r:id="rId20"/>
    <p:sldId id="271" r:id="rId21"/>
    <p:sldId id="280" r:id="rId22"/>
    <p:sldId id="281" r:id="rId23"/>
    <p:sldId id="393" r:id="rId24"/>
    <p:sldId id="272" r:id="rId25"/>
    <p:sldId id="394" r:id="rId2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56CAA-DABC-41BE-9608-968AE04FA974}" v="1" dt="2021-12-11T16:29:44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94839" autoAdjust="0"/>
  </p:normalViewPr>
  <p:slideViewPr>
    <p:cSldViewPr snapToGrid="0" snapToObjects="1">
      <p:cViewPr varScale="1">
        <p:scale>
          <a:sx n="100" d="100"/>
          <a:sy n="100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rritos, Esly" userId="S::cerritem@rose-hulman.edu::b1d8a0f8-f6ee-47cf-a2fb-9c053cf51e98" providerId="AD" clId="Web-{4FB56CAA-DABC-41BE-9608-968AE04FA974}"/>
    <pc:docChg chg="delSld">
      <pc:chgData name="Cerritos, Esly" userId="S::cerritem@rose-hulman.edu::b1d8a0f8-f6ee-47cf-a2fb-9c053cf51e98" providerId="AD" clId="Web-{4FB56CAA-DABC-41BE-9608-968AE04FA974}" dt="2021-12-11T16:29:44.525" v="0"/>
      <pc:docMkLst>
        <pc:docMk/>
      </pc:docMkLst>
      <pc:sldChg chg="del">
        <pc:chgData name="Cerritos, Esly" userId="S::cerritem@rose-hulman.edu::b1d8a0f8-f6ee-47cf-a2fb-9c053cf51e98" providerId="AD" clId="Web-{4FB56CAA-DABC-41BE-9608-968AE04FA974}" dt="2021-12-11T16:29:44.525" v="0"/>
        <pc:sldMkLst>
          <pc:docMk/>
          <pc:sldMk cId="132364016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8E27A71-88A0-42AC-8446-7577892AB166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05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2072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Live code the solution with them, you can intentionally leave in a bug by now initializing the HashMap and then use the debugger to trace through and see 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happens</a:t>
            </a:r>
          </a:p>
        </p:txBody>
      </p:sp>
      <p:sp>
        <p:nvSpPr>
          <p:cNvPr id="235" name="TextShape 2"/>
          <p:cNvSpPr txBox="1"/>
          <p:nvPr/>
        </p:nvSpPr>
        <p:spPr>
          <a:xfrm>
            <a:off x="4143240" y="9118440"/>
            <a:ext cx="3169800" cy="48060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C2714CC-4B12-40B9-8966-857B3F047F24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2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0542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Aim to start quiz with 5 minutes to spare in the first hour.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C4E740-43A9-4CB1-B37F-A3A8D36E574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6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Draw box and pointer diagrams on board showing:</a:t>
            </a:r>
          </a:p>
          <a:p>
            <a:r>
              <a:rPr lang="en-US" dirty="0"/>
              <a:t>x : 10</a:t>
            </a:r>
          </a:p>
          <a:p>
            <a:r>
              <a:rPr lang="en-US" dirty="0"/>
              <a:t>y : 20</a:t>
            </a:r>
          </a:p>
          <a:p>
            <a:r>
              <a:rPr lang="en-US" dirty="0"/>
              <a:t>Rectangle object with values 10, 20, 5, 5</a:t>
            </a:r>
          </a:p>
          <a:p>
            <a:r>
              <a:rPr lang="en-US" dirty="0"/>
              <a:t>box : arrow pointing to Rectangle object</a:t>
            </a:r>
          </a:p>
          <a:p>
            <a:endParaRPr lang="en-US" dirty="0"/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Primitives always lower case</a:t>
            </a: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Usually not using    byte, short, float</a:t>
            </a: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value stored in the box variable is a memory location</a:t>
            </a:r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it is a reference to a memory location</a:t>
            </a:r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B8593A-7963-4D3B-8B2F-E76B6C26D70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62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Draw step-by-step on the board.  </a:t>
            </a:r>
          </a:p>
          <a:p>
            <a:endParaRPr lang="en-US" dirty="0"/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Translate moves 4-&gt;9, 6-&gt;10</a:t>
            </a:r>
          </a:p>
          <a:p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25BEBA-391D-4869-AB46-6E2ADD51715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75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2072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3" name="TextShape 2"/>
          <p:cNvSpPr txBox="1"/>
          <p:nvPr/>
        </p:nvSpPr>
        <p:spPr>
          <a:xfrm>
            <a:off x="4143240" y="9118440"/>
            <a:ext cx="3169800" cy="48060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0FF01DAD-E2BB-4C6A-94B4-8C5DE289AA7D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6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0538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2072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== operator in String is a weird animal. Depending on which JVM you are using, it may cache the string literal or not. If the JVM caches the String literal, then == returns true otherwise it returns false. It is always the best to use the equals() method on String.</a:t>
            </a:r>
          </a:p>
        </p:txBody>
      </p:sp>
      <p:sp>
        <p:nvSpPr>
          <p:cNvPr id="243" name="TextShape 2"/>
          <p:cNvSpPr txBox="1"/>
          <p:nvPr/>
        </p:nvSpPr>
        <p:spPr>
          <a:xfrm>
            <a:off x="4143240" y="9118440"/>
            <a:ext cx="3169800" cy="48060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0FF01DAD-E2BB-4C6A-94B4-8C5DE289AA7D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7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2984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Defoe: This is when they complete the quiz.</a:t>
            </a:r>
          </a:p>
          <a:p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Yoder: Point out the box and pointer diagrams on the course page</a:t>
            </a:r>
          </a:p>
          <a:p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 ARROWS FOR PRIMITIVES!</a:t>
            </a:r>
          </a:p>
          <a:p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Key word new is a clue… draw a box</a:t>
            </a:r>
          </a:p>
          <a:p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you pass an Object into a method YOU PASS THE REFERENCE, so if you change it, it changes elsewhere!</a:t>
            </a:r>
          </a:p>
          <a:p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sym typeface="Wingdings" panose="05000000000000000000" pitchFamily="2" charset="2"/>
              </a:rPr>
              <a:t>Notice arrow pointing to null,  null is not in a box!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SMALL BOXES MUST NOT POINT TO OTHER  SMALL BOXES</a:t>
            </a:r>
          </a:p>
          <a:p>
            <a:endParaRPr lang="en-US" sz="1200" b="1" strike="noStrike" spc="-1" baseline="0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13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Start at second hour 0:30 minutes to have </a:t>
            </a: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20 </a:t>
            </a:r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minutes needed to go over this</a:t>
            </a:r>
          </a:p>
          <a:p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Look at schedule, EXAM soon! Non-coding/Written part first, programming part second.</a:t>
            </a: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Review Exams</a:t>
            </a:r>
          </a:p>
          <a:p>
            <a:r>
              <a:rPr lang="en-US" sz="1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Grades</a:t>
            </a:r>
            <a:r>
              <a:rPr lang="en-US" sz="1200" b="0" strike="noStrike" spc="-1" baseline="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– see me at break or after class if you feel your grade is wrong.</a:t>
            </a:r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C4E740-43A9-4CB1-B37F-A3A8D36E574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6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Yoder- I don’t use this normally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2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Math.pow</a:t>
            </a:r>
            <a:r>
              <a:rPr lang="en-US" dirty="0"/>
              <a:t>( )</a:t>
            </a:r>
          </a:p>
          <a:p>
            <a:r>
              <a:rPr lang="en-US" dirty="0" err="1"/>
              <a:t>Math.sqrt</a:t>
            </a:r>
            <a:r>
              <a:rPr lang="en-US" dirty="0"/>
              <a:t>( )</a:t>
            </a:r>
          </a:p>
          <a:p>
            <a:r>
              <a:rPr lang="en-US" dirty="0"/>
              <a:t>Utilities,</a:t>
            </a:r>
            <a:r>
              <a:rPr lang="en-US" baseline="0" dirty="0"/>
              <a:t> nothing specific to an instance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56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 to write code like this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47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</a:t>
            </a:r>
            <a:r>
              <a:rPr lang="en-US" baseline="0" dirty="0"/>
              <a:t> the students, which is static? Which is non-static/instance?</a:t>
            </a:r>
          </a:p>
          <a:p>
            <a:r>
              <a:rPr lang="en-US" baseline="0" dirty="0"/>
              <a:t>Might consider asking the students to role play as point A and point B and point C, ask a random student how far apart A and B are? </a:t>
            </a:r>
          </a:p>
          <a:p>
            <a:r>
              <a:rPr lang="en-US" baseline="0" dirty="0"/>
              <a:t>Then ask A how far away he/she is from B? Then ask C how far away they are from B?</a:t>
            </a:r>
          </a:p>
          <a:p>
            <a:r>
              <a:rPr lang="en-US" baseline="0" dirty="0"/>
              <a:t>It DEPENDS upon who you ask with and instance call, but it does matter who you ask with a static call.</a:t>
            </a:r>
          </a:p>
          <a:p>
            <a:endParaRPr lang="en-US" baseline="0" dirty="0"/>
          </a:p>
          <a:p>
            <a:r>
              <a:rPr lang="en-US" baseline="0" dirty="0"/>
              <a:t>Then live code the class methods with them.  </a:t>
            </a:r>
            <a:r>
              <a:rPr lang="en-US" baseline="0" dirty="0" err="1"/>
              <a:t>distanceFormulaCalc</a:t>
            </a:r>
            <a:r>
              <a:rPr lang="en-US" baseline="0" dirty="0"/>
              <a:t> is provided to make this as quick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18E27A71-88A0-42AC-8446-7577892AB166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18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8536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8E27A71-88A0-42AC-8446-7577892AB166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20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3202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1080" cy="432072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9" name="TextShape 2"/>
          <p:cNvSpPr txBox="1"/>
          <p:nvPr/>
        </p:nvSpPr>
        <p:spPr>
          <a:xfrm>
            <a:off x="4143240" y="9118440"/>
            <a:ext cx="3169800" cy="480600"/>
          </a:xfrm>
          <a:prstGeom prst="rect">
            <a:avLst/>
          </a:prstGeom>
          <a:noFill/>
          <a:ln w="9360">
            <a:noFill/>
          </a:ln>
        </p:spPr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40F29AF-BE6B-4325-9FD3-75713ABAC464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21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995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Picture 75"/>
          <p:cNvPicPr/>
          <p:nvPr/>
        </p:nvPicPr>
        <p:blipFill>
          <a:blip r:embed="rId2"/>
          <a:stretch/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1735560" y="1599840"/>
            <a:ext cx="5671800" cy="4525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7D7991-EA90-452F-8320-3944AC6ACE17}" type="datetime2">
              <a:rPr lang="en-US" smtClean="0"/>
              <a:pPr>
                <a:defRPr/>
              </a:pPr>
              <a:t>Wednesday, September 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5B93D7-BBD0-414E-AA31-A2C3C4F82E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56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00CD71-0390-4FFF-86B3-34A2B208A500}" type="datetime2">
              <a:rPr lang="en-US" smtClean="0"/>
              <a:pPr>
                <a:defRPr/>
              </a:pPr>
              <a:t>Wednesday, September 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7FE096-D0D1-4E3A-83E8-C4CFA5980E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6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9/11/17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466AC9E2-460C-4DD9-B843-110103D8C5D7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Talk about object references and box and pointer diagrams</a:t>
            </a:r>
          </a:p>
          <a:p>
            <a:r>
              <a:rPr lang="en-US"/>
              <a:t>Talk about static methods</a:t>
            </a:r>
          </a:p>
          <a:p>
            <a:r>
              <a:rPr lang="en-US"/>
              <a:t>Continue working on writing your own classes</a:t>
            </a:r>
          </a:p>
          <a:p>
            <a:r>
              <a:rPr lang="en-US"/>
              <a:t>Get started on your new assignment</a:t>
            </a:r>
          </a:p>
        </p:txBody>
      </p:sp>
    </p:spTree>
    <p:extLst>
      <p:ext uri="{BB962C8B-B14F-4D97-AF65-F5344CB8AC3E}">
        <p14:creationId xmlns:p14="http://schemas.microsoft.com/office/powerpoint/2010/main" val="2719131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Finishing up from last time...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Complete the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StudentGradebook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problem in the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SuperSimpleObject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project (or the one from last class)</a:t>
            </a:r>
          </a:p>
        </p:txBody>
      </p:sp>
    </p:spTree>
    <p:extLst>
      <p:ext uri="{BB962C8B-B14F-4D97-AF65-F5344CB8AC3E}">
        <p14:creationId xmlns:p14="http://schemas.microsoft.com/office/powerpoint/2010/main" val="15958574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Object References &amp; Box and </a:t>
            </a:r>
            <a:r>
              <a:rPr lang="en-US" sz="2500"/>
              <a:t>Pointer Diagrams</a:t>
            </a:r>
            <a:endParaRPr lang="en-US" sz="2500" dirty="0"/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EAFEF-51F0-F46C-31AE-B69335D17A8E}"/>
              </a:ext>
            </a:extLst>
          </p:cNvPr>
          <p:cNvSpPr/>
          <p:nvPr/>
        </p:nvSpPr>
        <p:spPr>
          <a:xfrm>
            <a:off x="304800" y="4762500"/>
            <a:ext cx="8534400" cy="15651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PracticeSuperSimpleObjectsSolution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PracticeSuperSimpleObjectsBoxAndPointers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7585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Do Variables Really Store?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Variables of </a:t>
            </a:r>
            <a:r>
              <a:rPr lang="en-US" dirty="0">
                <a:solidFill>
                  <a:srgbClr val="0070C0"/>
                </a:solidFill>
              </a:rPr>
              <a:t>primitive type </a:t>
            </a:r>
            <a:r>
              <a:rPr lang="en-US" dirty="0"/>
              <a:t>store </a:t>
            </a:r>
            <a:r>
              <a:rPr lang="en-US" i="1" dirty="0">
                <a:solidFill>
                  <a:srgbClr val="0070C0"/>
                </a:solidFill>
              </a:rPr>
              <a:t>values</a:t>
            </a:r>
          </a:p>
          <a:p>
            <a:pPr>
              <a:defRPr/>
            </a:pPr>
            <a:r>
              <a:rPr lang="en-US" dirty="0"/>
              <a:t>Variables of </a:t>
            </a:r>
            <a:r>
              <a:rPr lang="en-US" dirty="0">
                <a:solidFill>
                  <a:schemeClr val="accent3"/>
                </a:solidFill>
              </a:rPr>
              <a:t>class type </a:t>
            </a:r>
            <a:r>
              <a:rPr lang="en-US" dirty="0"/>
              <a:t>store </a:t>
            </a:r>
            <a:r>
              <a:rPr lang="en-US" i="1" dirty="0">
                <a:solidFill>
                  <a:schemeClr val="accent3"/>
                </a:solidFill>
              </a:rPr>
              <a:t>references</a:t>
            </a:r>
            <a:br>
              <a:rPr lang="en-US" i="1" dirty="0">
                <a:solidFill>
                  <a:schemeClr val="accent3"/>
                </a:solidFill>
              </a:rPr>
            </a:br>
            <a:r>
              <a:rPr lang="en-US" i="1" dirty="0">
                <a:solidFill>
                  <a:schemeClr val="accent3"/>
                </a:solidFill>
              </a:rPr>
              <a:t>reference = memory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269" y="4960166"/>
            <a:ext cx="8401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err="1">
                <a:solidFill>
                  <a:srgbClr val="0070C0"/>
                </a:solidFill>
                <a:latin typeface="Lucida Sans Typewriter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Lucida Sans Typewriter" pitchFamily="49" charset="0"/>
              </a:rPr>
              <a:t> x = 10;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err="1">
                <a:solidFill>
                  <a:srgbClr val="0070C0"/>
                </a:solidFill>
                <a:latin typeface="Lucida Sans Typewriter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Lucida Sans Typewriter" pitchFamily="49" charset="0"/>
              </a:rPr>
              <a:t> y = 20;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accent3"/>
                </a:solidFill>
                <a:latin typeface="Lucida Sans Typewriter" pitchFamily="49" charset="0"/>
              </a:rPr>
              <a:t>Rectangle box = new Rectangle(x, y, 5, 5);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886450" y="4423795"/>
            <a:ext cx="1143000" cy="407988"/>
            <a:chOff x="4572000" y="3935412"/>
            <a:chExt cx="1143000" cy="407988"/>
          </a:xfrm>
        </p:grpSpPr>
        <p:sp>
          <p:nvSpPr>
            <p:cNvPr id="8" name="Rectangle 7"/>
            <p:cNvSpPr/>
            <p:nvPr/>
          </p:nvSpPr>
          <p:spPr>
            <a:xfrm>
              <a:off x="5086350" y="3935412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2000" y="3935412"/>
              <a:ext cx="628650" cy="4079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886450" y="5183413"/>
            <a:ext cx="1143000" cy="415926"/>
            <a:chOff x="4572000" y="4621212"/>
            <a:chExt cx="1143000" cy="415926"/>
          </a:xfrm>
        </p:grpSpPr>
        <p:sp>
          <p:nvSpPr>
            <p:cNvPr id="9" name="Rectangle 8"/>
            <p:cNvSpPr/>
            <p:nvPr/>
          </p:nvSpPr>
          <p:spPr>
            <a:xfrm>
              <a:off x="5086350" y="4629150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20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72000" y="4621212"/>
              <a:ext cx="628650" cy="4079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y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772400" y="2718198"/>
            <a:ext cx="885826" cy="2547144"/>
            <a:chOff x="7629525" y="2310606"/>
            <a:chExt cx="885826" cy="2547144"/>
          </a:xfrm>
        </p:grpSpPr>
        <p:sp>
          <p:nvSpPr>
            <p:cNvPr id="15" name="Rectangle 14"/>
            <p:cNvSpPr/>
            <p:nvPr/>
          </p:nvSpPr>
          <p:spPr>
            <a:xfrm>
              <a:off x="7772400" y="4229100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629525" y="2310606"/>
              <a:ext cx="885826" cy="2547144"/>
              <a:chOff x="7629525" y="2310606"/>
              <a:chExt cx="885826" cy="2547144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772400" y="251460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10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772400" y="3074988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20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7772400" y="365760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629525" y="2310606"/>
                <a:ext cx="885826" cy="2547144"/>
              </a:xfrm>
              <a:prstGeom prst="rect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5857875" y="3550842"/>
            <a:ext cx="1914525" cy="407988"/>
            <a:chOff x="5715000" y="3143250"/>
            <a:chExt cx="1914525" cy="407988"/>
          </a:xfrm>
        </p:grpSpPr>
        <p:grpSp>
          <p:nvGrpSpPr>
            <p:cNvPr id="24" name="Group 23"/>
            <p:cNvGrpSpPr/>
            <p:nvPr/>
          </p:nvGrpSpPr>
          <p:grpSpPr>
            <a:xfrm>
              <a:off x="5715000" y="3143250"/>
              <a:ext cx="1371600" cy="407988"/>
              <a:chOff x="5715000" y="3143250"/>
              <a:chExt cx="1371600" cy="407988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6457950" y="314325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715000" y="3143250"/>
                <a:ext cx="857250" cy="4079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box</a:t>
                </a:r>
              </a:p>
            </p:txBody>
          </p:sp>
        </p:grpSp>
        <p:cxnSp>
          <p:nvCxnSpPr>
            <p:cNvPr id="20" name="Straight Arrow Connector 19"/>
            <p:cNvCxnSpPr/>
            <p:nvPr/>
          </p:nvCxnSpPr>
          <p:spPr>
            <a:xfrm flipV="1">
              <a:off x="6800850" y="3143250"/>
              <a:ext cx="828675" cy="17145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946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Assignment Copies </a:t>
            </a:r>
            <a:r>
              <a:rPr lang="en-US" dirty="0">
                <a:solidFill>
                  <a:schemeClr val="accent3"/>
                </a:solidFill>
              </a:rPr>
              <a:t>Values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1300" y="121523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Actual</a:t>
            </a:r>
            <a:r>
              <a:rPr lang="en-US" dirty="0"/>
              <a:t> value for number types</a:t>
            </a:r>
          </a:p>
          <a:p>
            <a:pPr>
              <a:defRPr/>
            </a:pPr>
            <a:r>
              <a:rPr lang="en-US" b="1" dirty="0">
                <a:solidFill>
                  <a:schemeClr val="accent3"/>
                </a:solidFill>
              </a:rPr>
              <a:t>Reference</a:t>
            </a:r>
            <a:r>
              <a:rPr lang="en-US" dirty="0"/>
              <a:t> value for object types</a:t>
            </a:r>
          </a:p>
          <a:p>
            <a:pPr lvl="1">
              <a:defRPr/>
            </a:pPr>
            <a:r>
              <a:rPr lang="en-US" dirty="0"/>
              <a:t>The actual </a:t>
            </a:r>
            <a:r>
              <a:rPr lang="en-US" b="1" dirty="0">
                <a:solidFill>
                  <a:schemeClr val="accent3"/>
                </a:solidFill>
              </a:rPr>
              <a:t>object is not copied</a:t>
            </a:r>
          </a:p>
          <a:p>
            <a:pPr lvl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chemeClr val="accent3"/>
                </a:solidFill>
              </a:rPr>
              <a:t>reference value </a:t>
            </a:r>
            <a:r>
              <a:rPr lang="en-US" dirty="0"/>
              <a:t>(“the </a:t>
            </a:r>
            <a:r>
              <a:rPr lang="en-US" i="1" dirty="0"/>
              <a:t>address</a:t>
            </a:r>
            <a:r>
              <a:rPr lang="en-US" dirty="0"/>
              <a:t> or </a:t>
            </a:r>
            <a:r>
              <a:rPr lang="en-US" i="1" dirty="0"/>
              <a:t>pointer</a:t>
            </a:r>
            <a:r>
              <a:rPr lang="en-US" dirty="0"/>
              <a:t>”) </a:t>
            </a:r>
            <a:r>
              <a:rPr lang="en-US" b="1" dirty="0">
                <a:solidFill>
                  <a:schemeClr val="accent3"/>
                </a:solidFill>
              </a:rPr>
              <a:t>is copied</a:t>
            </a:r>
          </a:p>
          <a:p>
            <a:pPr>
              <a:defRPr/>
            </a:pPr>
            <a:r>
              <a:rPr lang="en-US" dirty="0"/>
              <a:t>Consider:</a:t>
            </a:r>
          </a:p>
          <a:p>
            <a:pPr lvl="1">
              <a:defRPr/>
            </a:pP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0733" y="4125322"/>
            <a:ext cx="85959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err="1">
                <a:solidFill>
                  <a:srgbClr val="0070C0"/>
                </a:solidFill>
                <a:latin typeface="Lucida Sans Typewriter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Lucida Sans Typewriter" pitchFamily="49" charset="0"/>
              </a:rPr>
              <a:t> x = 10;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err="1">
                <a:solidFill>
                  <a:srgbClr val="0070C0"/>
                </a:solidFill>
                <a:latin typeface="Lucida Sans Typewriter" pitchFamily="49" charset="0"/>
              </a:rPr>
              <a:t>int</a:t>
            </a:r>
            <a:r>
              <a:rPr lang="en-US" sz="2400" dirty="0">
                <a:solidFill>
                  <a:srgbClr val="0070C0"/>
                </a:solidFill>
                <a:latin typeface="Lucida Sans Typewriter" pitchFamily="49" charset="0"/>
              </a:rPr>
              <a:t> y = x;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solidFill>
                  <a:srgbClr val="0070C0"/>
                </a:solidFill>
                <a:latin typeface="Lucida Sans Typewriter" pitchFamily="49" charset="0"/>
              </a:rPr>
              <a:t>y = 20;</a:t>
            </a:r>
            <a:endParaRPr lang="en-US" sz="2400" dirty="0">
              <a:solidFill>
                <a:schemeClr val="accent3"/>
              </a:solidFill>
              <a:latin typeface="Lucida Sans Typewriter" pitchFamily="49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accent3"/>
                </a:solidFill>
                <a:latin typeface="Lucida Sans Typewriter" pitchFamily="49" charset="0"/>
              </a:rPr>
              <a:t>Rectangle box = new Rectangle(5, 6, 7, 8);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accent3"/>
                </a:solidFill>
                <a:latin typeface="Lucida Sans Typewriter" pitchFamily="49" charset="0"/>
              </a:rPr>
              <a:t>Rectangle box2 = box; </a:t>
            </a:r>
            <a:endParaRPr lang="en-US" dirty="0">
              <a:solidFill>
                <a:schemeClr val="accent3"/>
              </a:solidFill>
              <a:latin typeface="Lucida Sans Typewriter" pitchFamily="49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accent3"/>
                </a:solidFill>
                <a:latin typeface="Lucida Sans Typewriter" pitchFamily="49" charset="0"/>
              </a:rPr>
              <a:t>box2.translate(4, 4);</a:t>
            </a:r>
            <a:r>
              <a:rPr lang="en-US" dirty="0">
                <a:solidFill>
                  <a:schemeClr val="accent3"/>
                </a:solidFill>
                <a:latin typeface="Lucida Sans Typewriter" pitchFamily="49" charset="0"/>
              </a:rPr>
              <a:t> // called shallow copy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143250" y="3583782"/>
            <a:ext cx="1143000" cy="407988"/>
            <a:chOff x="4572000" y="3935412"/>
            <a:chExt cx="1143000" cy="407988"/>
          </a:xfrm>
        </p:grpSpPr>
        <p:sp>
          <p:nvSpPr>
            <p:cNvPr id="7" name="Rectangle 6"/>
            <p:cNvSpPr/>
            <p:nvPr/>
          </p:nvSpPr>
          <p:spPr>
            <a:xfrm>
              <a:off x="5086350" y="3935412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72000" y="3935412"/>
              <a:ext cx="628650" cy="4079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143250" y="4334670"/>
            <a:ext cx="1143000" cy="415926"/>
            <a:chOff x="4572000" y="4621212"/>
            <a:chExt cx="1143000" cy="415926"/>
          </a:xfrm>
        </p:grpSpPr>
        <p:sp>
          <p:nvSpPr>
            <p:cNvPr id="10" name="Rectangle 9"/>
            <p:cNvSpPr/>
            <p:nvPr/>
          </p:nvSpPr>
          <p:spPr>
            <a:xfrm>
              <a:off x="5086350" y="4629150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572000" y="4621212"/>
              <a:ext cx="628650" cy="4079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769988" y="2343150"/>
            <a:ext cx="885826" cy="2547144"/>
            <a:chOff x="7629525" y="2310606"/>
            <a:chExt cx="885826" cy="2547144"/>
          </a:xfrm>
        </p:grpSpPr>
        <p:sp>
          <p:nvSpPr>
            <p:cNvPr id="13" name="Rectangle 12"/>
            <p:cNvSpPr/>
            <p:nvPr/>
          </p:nvSpPr>
          <p:spPr>
            <a:xfrm>
              <a:off x="7772400" y="4229100"/>
              <a:ext cx="628650" cy="40798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grpSp>
          <p:nvGrpSpPr>
            <p:cNvPr id="14" name="Group 22"/>
            <p:cNvGrpSpPr/>
            <p:nvPr/>
          </p:nvGrpSpPr>
          <p:grpSpPr>
            <a:xfrm>
              <a:off x="7629525" y="2310606"/>
              <a:ext cx="885826" cy="2547144"/>
              <a:chOff x="7629525" y="2310606"/>
              <a:chExt cx="885826" cy="2547144"/>
            </a:xfrm>
          </p:grpSpPr>
          <p:sp>
            <p:nvSpPr>
              <p:cNvPr id="15" name="Rectangle 11"/>
              <p:cNvSpPr/>
              <p:nvPr/>
            </p:nvSpPr>
            <p:spPr>
              <a:xfrm>
                <a:off x="7772400" y="251460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772400" y="3074988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7772400" y="365760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629525" y="2310606"/>
                <a:ext cx="885826" cy="2547144"/>
              </a:xfrm>
              <a:prstGeom prst="rect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5943599" y="3478212"/>
            <a:ext cx="1914525" cy="407988"/>
            <a:chOff x="5715000" y="3143250"/>
            <a:chExt cx="1914525" cy="407988"/>
          </a:xfrm>
        </p:grpSpPr>
        <p:grpSp>
          <p:nvGrpSpPr>
            <p:cNvPr id="20" name="Group 23"/>
            <p:cNvGrpSpPr/>
            <p:nvPr/>
          </p:nvGrpSpPr>
          <p:grpSpPr>
            <a:xfrm>
              <a:off x="5715000" y="3143250"/>
              <a:ext cx="1371600" cy="407988"/>
              <a:chOff x="5715000" y="3143250"/>
              <a:chExt cx="1371600" cy="407988"/>
            </a:xfrm>
          </p:grpSpPr>
          <p:sp>
            <p:nvSpPr>
              <p:cNvPr id="22" name="Rectangle 15"/>
              <p:cNvSpPr/>
              <p:nvPr/>
            </p:nvSpPr>
            <p:spPr>
              <a:xfrm>
                <a:off x="6457950" y="314325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715000" y="3143250"/>
                <a:ext cx="857250" cy="4079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box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V="1">
              <a:off x="6800850" y="3143250"/>
              <a:ext cx="828675" cy="17145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3884133" y="4099051"/>
            <a:ext cx="1282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×</a:t>
            </a:r>
            <a:r>
              <a:rPr lang="en-US" sz="2400" b="1" dirty="0">
                <a:solidFill>
                  <a:srgbClr val="FF0000"/>
                </a:solidFill>
              </a:rPr>
              <a:t>20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626864" y="3616722"/>
            <a:ext cx="2054988" cy="1020366"/>
            <a:chOff x="5486400" y="2530872"/>
            <a:chExt cx="2054988" cy="1020366"/>
          </a:xfrm>
        </p:grpSpPr>
        <p:grpSp>
          <p:nvGrpSpPr>
            <p:cNvPr id="27" name="Group 23"/>
            <p:cNvGrpSpPr/>
            <p:nvPr/>
          </p:nvGrpSpPr>
          <p:grpSpPr>
            <a:xfrm>
              <a:off x="5486400" y="3143250"/>
              <a:ext cx="1600200" cy="407988"/>
              <a:chOff x="5486400" y="3143250"/>
              <a:chExt cx="1600200" cy="407988"/>
            </a:xfrm>
          </p:grpSpPr>
          <p:sp>
            <p:nvSpPr>
              <p:cNvPr id="29" name="Rectangle 15"/>
              <p:cNvSpPr/>
              <p:nvPr/>
            </p:nvSpPr>
            <p:spPr>
              <a:xfrm>
                <a:off x="6457950" y="3143250"/>
                <a:ext cx="628650" cy="407988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5486400" y="3143250"/>
                <a:ext cx="1085850" cy="4079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box2  </a:t>
                </a:r>
              </a:p>
            </p:txBody>
          </p:sp>
        </p:grpSp>
        <p:cxnSp>
          <p:nvCxnSpPr>
            <p:cNvPr id="28" name="Straight Arrow Connector 27"/>
            <p:cNvCxnSpPr>
              <a:endCxn id="18" idx="1"/>
            </p:cNvCxnSpPr>
            <p:nvPr/>
          </p:nvCxnSpPr>
          <p:spPr>
            <a:xfrm flipV="1">
              <a:off x="6712714" y="2530872"/>
              <a:ext cx="828674" cy="78382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8056082" y="2321116"/>
            <a:ext cx="1085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× </a:t>
            </a:r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2216" y="2861719"/>
            <a:ext cx="1085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×</a:t>
            </a:r>
            <a:r>
              <a:rPr lang="en-US" sz="2400" b="1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2927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26"/>
          <p:cNvSpPr/>
          <p:nvPr/>
        </p:nvSpPr>
        <p:spPr>
          <a:xfrm>
            <a:off x="599740" y="1256040"/>
            <a:ext cx="7366000" cy="2048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1.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ArrayList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&lt;Integer&gt; l1 = new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ArrayList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&lt;Integer&gt;();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2. l1.add(1);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3. l1.add(2);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4.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ArrayList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&lt;Integer&gt; l2 = new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ArrayList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&lt;Integer&gt;();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5. l2.add(1);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6. l2.add(2);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7.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System.out.println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(l1 == l2);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8. </a:t>
            </a:r>
            <a:r>
              <a:rPr lang="en-US" sz="1600" b="0" strike="noStrike" spc="-1" dirty="0" err="1">
                <a:uFill>
                  <a:solidFill>
                    <a:srgbClr val="FFFFFF"/>
                  </a:solidFill>
                </a:uFill>
                <a:latin typeface="Monaco"/>
              </a:rPr>
              <a:t>System.out.println</a:t>
            </a:r>
            <a:r>
              <a:rPr lang="en-US" sz="1600" b="0" strike="noStrike" spc="-1" dirty="0">
                <a:uFill>
                  <a:solidFill>
                    <a:srgbClr val="FFFFFF"/>
                  </a:solidFill>
                </a:uFill>
                <a:latin typeface="Monaco"/>
              </a:rPr>
              <a:t>(l1.equals(l2));</a:t>
            </a:r>
            <a:endParaRPr lang="en-US" sz="16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9" name="TextShape 1"/>
          <p:cNvSpPr txBox="1"/>
          <p:nvPr/>
        </p:nvSpPr>
        <p:spPr>
          <a:xfrm>
            <a:off x="457380" y="-5100"/>
            <a:ext cx="8229240" cy="802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Reference vs Value:  ==  &amp;  .equals</a:t>
            </a:r>
            <a:endParaRPr lang="en-US" sz="3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510380" y="821080"/>
            <a:ext cx="3147220" cy="43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What gets printed here?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CustomShape 5"/>
          <p:cNvSpPr/>
          <p:nvPr/>
        </p:nvSpPr>
        <p:spPr>
          <a:xfrm>
            <a:off x="1809000" y="4736520"/>
            <a:ext cx="576000" cy="3618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4" name="CustomShape 6"/>
          <p:cNvSpPr/>
          <p:nvPr/>
        </p:nvSpPr>
        <p:spPr>
          <a:xfrm>
            <a:off x="1407240" y="4753440"/>
            <a:ext cx="363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l1</a:t>
            </a:r>
          </a:p>
        </p:txBody>
      </p:sp>
      <p:sp>
        <p:nvSpPr>
          <p:cNvPr id="175" name="CustomShape 7"/>
          <p:cNvSpPr/>
          <p:nvPr/>
        </p:nvSpPr>
        <p:spPr>
          <a:xfrm>
            <a:off x="3105720" y="4333680"/>
            <a:ext cx="1076040" cy="114228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6" name="CustomShape 8"/>
          <p:cNvSpPr/>
          <p:nvPr/>
        </p:nvSpPr>
        <p:spPr>
          <a:xfrm>
            <a:off x="3533760" y="4445280"/>
            <a:ext cx="534240" cy="38592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9"/>
          <p:cNvSpPr/>
          <p:nvPr/>
        </p:nvSpPr>
        <p:spPr>
          <a:xfrm>
            <a:off x="3236040" y="446220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0</a:t>
            </a:r>
          </a:p>
        </p:txBody>
      </p:sp>
      <p:sp>
        <p:nvSpPr>
          <p:cNvPr id="178" name="CustomShape 10"/>
          <p:cNvSpPr/>
          <p:nvPr/>
        </p:nvSpPr>
        <p:spPr>
          <a:xfrm>
            <a:off x="3533760" y="4939560"/>
            <a:ext cx="534240" cy="38592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11"/>
          <p:cNvSpPr/>
          <p:nvPr/>
        </p:nvSpPr>
        <p:spPr>
          <a:xfrm>
            <a:off x="3236040" y="495648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</a:t>
            </a:r>
          </a:p>
        </p:txBody>
      </p:sp>
      <p:sp>
        <p:nvSpPr>
          <p:cNvPr id="180" name="CustomShape 12"/>
          <p:cNvSpPr/>
          <p:nvPr/>
        </p:nvSpPr>
        <p:spPr>
          <a:xfrm flipV="1">
            <a:off x="2385360" y="4905000"/>
            <a:ext cx="720000" cy="12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5" name="CustomShape 17"/>
          <p:cNvSpPr/>
          <p:nvPr/>
        </p:nvSpPr>
        <p:spPr>
          <a:xfrm flipH="1">
            <a:off x="3657600" y="3023100"/>
            <a:ext cx="2941920" cy="1243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6" name="CustomShape 18"/>
          <p:cNvSpPr/>
          <p:nvPr/>
        </p:nvSpPr>
        <p:spPr>
          <a:xfrm>
            <a:off x="5130720" y="4668840"/>
            <a:ext cx="555480" cy="4028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7" name="CustomShape 19"/>
          <p:cNvSpPr/>
          <p:nvPr/>
        </p:nvSpPr>
        <p:spPr>
          <a:xfrm>
            <a:off x="4696920" y="4685760"/>
            <a:ext cx="4006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l2</a:t>
            </a:r>
          </a:p>
        </p:txBody>
      </p:sp>
      <p:sp>
        <p:nvSpPr>
          <p:cNvPr id="188" name="CustomShape 20"/>
          <p:cNvSpPr/>
          <p:nvPr/>
        </p:nvSpPr>
        <p:spPr>
          <a:xfrm>
            <a:off x="6315480" y="4304520"/>
            <a:ext cx="1076040" cy="114228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9" name="CustomShape 21"/>
          <p:cNvSpPr/>
          <p:nvPr/>
        </p:nvSpPr>
        <p:spPr>
          <a:xfrm>
            <a:off x="6743520" y="4415760"/>
            <a:ext cx="534240" cy="38592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0" name="CustomShape 22"/>
          <p:cNvSpPr/>
          <p:nvPr/>
        </p:nvSpPr>
        <p:spPr>
          <a:xfrm>
            <a:off x="6445800" y="443268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0</a:t>
            </a:r>
          </a:p>
        </p:txBody>
      </p:sp>
      <p:sp>
        <p:nvSpPr>
          <p:cNvPr id="191" name="CustomShape 23"/>
          <p:cNvSpPr/>
          <p:nvPr/>
        </p:nvSpPr>
        <p:spPr>
          <a:xfrm>
            <a:off x="6743520" y="4910400"/>
            <a:ext cx="534240" cy="38592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CustomShape 24"/>
          <p:cNvSpPr/>
          <p:nvPr/>
        </p:nvSpPr>
        <p:spPr>
          <a:xfrm>
            <a:off x="6445800" y="492732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</a:t>
            </a:r>
          </a:p>
        </p:txBody>
      </p:sp>
      <p:sp>
        <p:nvSpPr>
          <p:cNvPr id="193" name="CustomShape 25"/>
          <p:cNvSpPr/>
          <p:nvPr/>
        </p:nvSpPr>
        <p:spPr>
          <a:xfrm>
            <a:off x="5686920" y="4870440"/>
            <a:ext cx="628200" cy="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5" name="CustomShape 27"/>
          <p:cNvSpPr/>
          <p:nvPr/>
        </p:nvSpPr>
        <p:spPr>
          <a:xfrm flipH="1">
            <a:off x="6599520" y="2891160"/>
            <a:ext cx="1366220" cy="303480"/>
          </a:xfrm>
          <a:prstGeom prst="rect">
            <a:avLst/>
          </a:prstGeom>
          <a:ln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Prints </a:t>
            </a: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true</a:t>
            </a:r>
            <a:endParaRPr lang="en-US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6" name="CustomShape 28"/>
          <p:cNvSpPr/>
          <p:nvPr/>
        </p:nvSpPr>
        <p:spPr>
          <a:xfrm flipH="1">
            <a:off x="3236040" y="2576880"/>
            <a:ext cx="3363480" cy="2957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7" name="CustomShape 29"/>
          <p:cNvSpPr/>
          <p:nvPr/>
        </p:nvSpPr>
        <p:spPr>
          <a:xfrm flipH="1">
            <a:off x="6599520" y="2427480"/>
            <a:ext cx="1366220" cy="350640"/>
          </a:xfrm>
          <a:prstGeom prst="rect">
            <a:avLst/>
          </a:prstGeom>
          <a:ln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Prints </a:t>
            </a: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false</a:t>
            </a:r>
            <a:endParaRPr lang="en-US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8" name="CustomShape 30"/>
          <p:cNvSpPr/>
          <p:nvPr/>
        </p:nvSpPr>
        <p:spPr>
          <a:xfrm>
            <a:off x="1538500" y="3601440"/>
            <a:ext cx="5737460" cy="364680"/>
          </a:xfrm>
          <a:prstGeom prst="rect">
            <a:avLst/>
          </a:prstGeom>
          <a:ln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line 7, == operator compares references of two objects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9" name="CustomShape 31"/>
          <p:cNvSpPr/>
          <p:nvPr/>
        </p:nvSpPr>
        <p:spPr>
          <a:xfrm>
            <a:off x="1797020" y="5900760"/>
            <a:ext cx="5910480" cy="36468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line 8, equals(), in general, compares values of two objects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0" name="CustomShape 32"/>
          <p:cNvSpPr/>
          <p:nvPr/>
        </p:nvSpPr>
        <p:spPr>
          <a:xfrm flipH="1">
            <a:off x="2286360" y="3958220"/>
            <a:ext cx="544580" cy="8686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1" name="CustomShape 33"/>
          <p:cNvSpPr/>
          <p:nvPr/>
        </p:nvSpPr>
        <p:spPr>
          <a:xfrm flipH="1">
            <a:off x="5567760" y="3970800"/>
            <a:ext cx="433440" cy="782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2" name="CustomShape 34"/>
          <p:cNvSpPr/>
          <p:nvPr/>
        </p:nvSpPr>
        <p:spPr>
          <a:xfrm flipH="1" flipV="1">
            <a:off x="3896640" y="4712760"/>
            <a:ext cx="772200" cy="118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3" name="CustomShape 35"/>
          <p:cNvSpPr/>
          <p:nvPr/>
        </p:nvSpPr>
        <p:spPr>
          <a:xfrm flipV="1">
            <a:off x="4696920" y="4645080"/>
            <a:ext cx="2179080" cy="1254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4" name="CustomShape 36"/>
          <p:cNvSpPr/>
          <p:nvPr/>
        </p:nvSpPr>
        <p:spPr>
          <a:xfrm flipH="1" flipV="1">
            <a:off x="3909600" y="5226480"/>
            <a:ext cx="1907640" cy="673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5" name="CustomShape 37"/>
          <p:cNvSpPr/>
          <p:nvPr/>
        </p:nvSpPr>
        <p:spPr>
          <a:xfrm flipV="1">
            <a:off x="5845320" y="5172480"/>
            <a:ext cx="1057680" cy="72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22323-CC35-DAB0-8E4C-D0A46510EACC}"/>
              </a:ext>
            </a:extLst>
          </p:cNvPr>
          <p:cNvSpPr txBox="1"/>
          <p:nvPr/>
        </p:nvSpPr>
        <p:spPr>
          <a:xfrm>
            <a:off x="1809720" y="4730234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327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FA2E4-C27B-CC3C-D935-47D6670457BB}"/>
              </a:ext>
            </a:extLst>
          </p:cNvPr>
          <p:cNvSpPr txBox="1"/>
          <p:nvPr/>
        </p:nvSpPr>
        <p:spPr>
          <a:xfrm>
            <a:off x="5138940" y="4730234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781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2364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  <p:bldP spid="172" grpId="0"/>
      <p:bldP spid="174" grpId="0"/>
      <p:bldP spid="176" grpId="0" animBg="1"/>
      <p:bldP spid="177" grpId="0"/>
      <p:bldP spid="178" grpId="0" animBg="1"/>
      <p:bldP spid="179" grpId="0"/>
      <p:bldP spid="187" grpId="0"/>
      <p:bldP spid="189" grpId="0" animBg="1"/>
      <p:bldP spid="190" grpId="0"/>
      <p:bldP spid="191" grpId="0" animBg="1"/>
      <p:bldP spid="192" grpId="0"/>
      <p:bldP spid="195" grpId="0" animBg="1"/>
      <p:bldP spid="197" grpId="0" animBg="1"/>
      <p:bldP spid="198" grpId="0" animBg="1"/>
      <p:bldP spid="19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452880" y="6012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String - Reference vs Value: ==  &amp;  .equals</a:t>
            </a:r>
            <a:endParaRPr lang="en-US" sz="3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304800" y="1598760"/>
            <a:ext cx="4824120" cy="112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1. String 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t1 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= </a:t>
            </a:r>
            <a:r>
              <a:rPr lang="en-US" sz="1600" b="0" strike="noStrike" spc="-1" dirty="0">
                <a:solidFill>
                  <a:srgbClr val="3933F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"hello"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2. String 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t2 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= </a:t>
            </a:r>
            <a:r>
              <a:rPr lang="en-US" sz="1600" b="0" strike="noStrike" spc="-1" dirty="0">
                <a:solidFill>
                  <a:srgbClr val="3933F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"hello"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3.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System.</a:t>
            </a:r>
            <a:r>
              <a:rPr lang="en-US" sz="1600" b="0" strike="noStrike" spc="-1" dirty="0" err="1">
                <a:solidFill>
                  <a:srgbClr val="0326CC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out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.println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(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t1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 == 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t2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4.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System.</a:t>
            </a:r>
            <a:r>
              <a:rPr lang="en-US" sz="1600" b="0" strike="noStrike" spc="-1" dirty="0" err="1">
                <a:solidFill>
                  <a:srgbClr val="0326CC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out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.println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(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t1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.equals(</a:t>
            </a:r>
            <a:r>
              <a:rPr lang="en-US" sz="1600" b="0" strike="noStrike" spc="-1" dirty="0">
                <a:solidFill>
                  <a:srgbClr val="7E504F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t2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onaco" pitchFamily="2" charset="77"/>
              </a:rPr>
              <a:t>));</a:t>
            </a:r>
          </a:p>
        </p:txBody>
      </p:sp>
      <p:sp>
        <p:nvSpPr>
          <p:cNvPr id="173" name="CustomShape 5"/>
          <p:cNvSpPr/>
          <p:nvPr/>
        </p:nvSpPr>
        <p:spPr>
          <a:xfrm>
            <a:off x="1227260" y="3944100"/>
            <a:ext cx="576000" cy="3618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4" name="CustomShape 6"/>
          <p:cNvSpPr/>
          <p:nvPr/>
        </p:nvSpPr>
        <p:spPr>
          <a:xfrm>
            <a:off x="736600" y="3961020"/>
            <a:ext cx="4528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t1</a:t>
            </a:r>
          </a:p>
        </p:txBody>
      </p:sp>
      <p:sp>
        <p:nvSpPr>
          <p:cNvPr id="175" name="CustomShape 7"/>
          <p:cNvSpPr/>
          <p:nvPr/>
        </p:nvSpPr>
        <p:spPr>
          <a:xfrm>
            <a:off x="2523980" y="3541260"/>
            <a:ext cx="1076040" cy="8133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7" name="CustomShape 9"/>
          <p:cNvSpPr/>
          <p:nvPr/>
        </p:nvSpPr>
        <p:spPr>
          <a:xfrm>
            <a:off x="2654300" y="3555480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String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11"/>
          <p:cNvSpPr/>
          <p:nvPr/>
        </p:nvSpPr>
        <p:spPr>
          <a:xfrm>
            <a:off x="2730500" y="3960860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hello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12"/>
          <p:cNvSpPr/>
          <p:nvPr/>
        </p:nvSpPr>
        <p:spPr>
          <a:xfrm flipV="1">
            <a:off x="1803620" y="3970435"/>
            <a:ext cx="720000" cy="13058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1" name="CustomShape 13"/>
          <p:cNvSpPr/>
          <p:nvPr/>
        </p:nvSpPr>
        <p:spPr>
          <a:xfrm flipH="1">
            <a:off x="5564520" y="1380551"/>
            <a:ext cx="2296780" cy="401360"/>
          </a:xfrm>
          <a:prstGeom prst="rect">
            <a:avLst/>
          </a:prstGeom>
          <a:ln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May print </a:t>
            </a: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true</a:t>
            </a: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or </a:t>
            </a: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false</a:t>
            </a:r>
            <a:endParaRPr lang="en-US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14"/>
          <p:cNvSpPr/>
          <p:nvPr/>
        </p:nvSpPr>
        <p:spPr>
          <a:xfrm flipH="1">
            <a:off x="5991860" y="1942615"/>
            <a:ext cx="1869440" cy="364680"/>
          </a:xfrm>
          <a:prstGeom prst="rect">
            <a:avLst/>
          </a:prstGeom>
          <a:ln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Always prints </a:t>
            </a: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true</a:t>
            </a:r>
            <a:endParaRPr lang="en-US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15"/>
          <p:cNvSpPr/>
          <p:nvPr/>
        </p:nvSpPr>
        <p:spPr>
          <a:xfrm flipH="1">
            <a:off x="2994562" y="1609289"/>
            <a:ext cx="1303850" cy="6640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4" name="CustomShape 16"/>
          <p:cNvSpPr/>
          <p:nvPr/>
        </p:nvSpPr>
        <p:spPr>
          <a:xfrm flipH="1">
            <a:off x="3392940" y="2111949"/>
            <a:ext cx="2598920" cy="4009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9" name="CustomShape 31"/>
          <p:cNvSpPr/>
          <p:nvPr/>
        </p:nvSpPr>
        <p:spPr>
          <a:xfrm>
            <a:off x="452880" y="5610398"/>
            <a:ext cx="3807790" cy="665270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line 3 for Version 1: false is printed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line 3 for Version 2: true is printed</a:t>
            </a: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60BF8-F30E-E650-E05A-555855D5D4FD}"/>
              </a:ext>
            </a:extLst>
          </p:cNvPr>
          <p:cNvSpPr txBox="1"/>
          <p:nvPr/>
        </p:nvSpPr>
        <p:spPr>
          <a:xfrm>
            <a:off x="1227980" y="3937814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130</a:t>
            </a:r>
            <a:endParaRPr lang="en-US" sz="1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984D7D-C1F0-BBBF-4411-17F14B5755B6}"/>
              </a:ext>
            </a:extLst>
          </p:cNvPr>
          <p:cNvCxnSpPr>
            <a:stCxn id="175" idx="1"/>
            <a:endCxn id="175" idx="3"/>
          </p:cNvCxnSpPr>
          <p:nvPr/>
        </p:nvCxnSpPr>
        <p:spPr>
          <a:xfrm>
            <a:off x="2523980" y="3947930"/>
            <a:ext cx="1076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ustomShape 5">
            <a:extLst>
              <a:ext uri="{FF2B5EF4-FFF2-40B4-BE49-F238E27FC236}">
                <a16:creationId xmlns:a16="http://schemas.microsoft.com/office/drawing/2014/main" id="{B9772A1E-313B-0112-07A5-B59A389A10A2}"/>
              </a:ext>
            </a:extLst>
          </p:cNvPr>
          <p:cNvSpPr/>
          <p:nvPr/>
        </p:nvSpPr>
        <p:spPr>
          <a:xfrm>
            <a:off x="1253680" y="5023150"/>
            <a:ext cx="576000" cy="3618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74700F39-A332-261E-B95D-E3735F6DBE26}"/>
              </a:ext>
            </a:extLst>
          </p:cNvPr>
          <p:cNvSpPr/>
          <p:nvPr/>
        </p:nvSpPr>
        <p:spPr>
          <a:xfrm>
            <a:off x="763020" y="5040070"/>
            <a:ext cx="4528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t2</a:t>
            </a:r>
          </a:p>
        </p:txBody>
      </p:sp>
      <p:sp>
        <p:nvSpPr>
          <p:cNvPr id="7" name="CustomShape 7">
            <a:extLst>
              <a:ext uri="{FF2B5EF4-FFF2-40B4-BE49-F238E27FC236}">
                <a16:creationId xmlns:a16="http://schemas.microsoft.com/office/drawing/2014/main" id="{A2709FCB-423C-9AC8-F85D-2C8C12AE66ED}"/>
              </a:ext>
            </a:extLst>
          </p:cNvPr>
          <p:cNvSpPr/>
          <p:nvPr/>
        </p:nvSpPr>
        <p:spPr>
          <a:xfrm>
            <a:off x="2550400" y="4620310"/>
            <a:ext cx="1076040" cy="8133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CustomShape 9">
            <a:extLst>
              <a:ext uri="{FF2B5EF4-FFF2-40B4-BE49-F238E27FC236}">
                <a16:creationId xmlns:a16="http://schemas.microsoft.com/office/drawing/2014/main" id="{7EB30C25-C053-F220-CB56-C3DC56006FD3}"/>
              </a:ext>
            </a:extLst>
          </p:cNvPr>
          <p:cNvSpPr/>
          <p:nvPr/>
        </p:nvSpPr>
        <p:spPr>
          <a:xfrm>
            <a:off x="2680720" y="4634530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String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CustomShape 11">
            <a:extLst>
              <a:ext uri="{FF2B5EF4-FFF2-40B4-BE49-F238E27FC236}">
                <a16:creationId xmlns:a16="http://schemas.microsoft.com/office/drawing/2014/main" id="{B5340E3B-9651-A990-5FF0-9C48A092CF5D}"/>
              </a:ext>
            </a:extLst>
          </p:cNvPr>
          <p:cNvSpPr/>
          <p:nvPr/>
        </p:nvSpPr>
        <p:spPr>
          <a:xfrm>
            <a:off x="2756920" y="5039910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hello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CustomShape 12">
            <a:extLst>
              <a:ext uri="{FF2B5EF4-FFF2-40B4-BE49-F238E27FC236}">
                <a16:creationId xmlns:a16="http://schemas.microsoft.com/office/drawing/2014/main" id="{F25B510B-A359-AC9C-828E-8076E96BFAA5}"/>
              </a:ext>
            </a:extLst>
          </p:cNvPr>
          <p:cNvSpPr/>
          <p:nvPr/>
        </p:nvSpPr>
        <p:spPr>
          <a:xfrm flipV="1">
            <a:off x="1830040" y="4965788"/>
            <a:ext cx="720000" cy="23808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87AA76-EC1E-D01E-2F10-878E85A2C2BE}"/>
              </a:ext>
            </a:extLst>
          </p:cNvPr>
          <p:cNvSpPr txBox="1"/>
          <p:nvPr/>
        </p:nvSpPr>
        <p:spPr>
          <a:xfrm>
            <a:off x="1254400" y="5016864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150</a:t>
            </a:r>
            <a:endParaRPr lang="en-US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5E656E-A1F2-1E9E-B67A-F56CD205BADF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2550400" y="5026980"/>
            <a:ext cx="1076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stomShape 5">
            <a:extLst>
              <a:ext uri="{FF2B5EF4-FFF2-40B4-BE49-F238E27FC236}">
                <a16:creationId xmlns:a16="http://schemas.microsoft.com/office/drawing/2014/main" id="{13FB97B4-B9C0-9FBA-6445-4659549FA609}"/>
              </a:ext>
            </a:extLst>
          </p:cNvPr>
          <p:cNvSpPr/>
          <p:nvPr/>
        </p:nvSpPr>
        <p:spPr>
          <a:xfrm>
            <a:off x="5527950" y="3976721"/>
            <a:ext cx="576000" cy="3618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CustomShape 6">
            <a:extLst>
              <a:ext uri="{FF2B5EF4-FFF2-40B4-BE49-F238E27FC236}">
                <a16:creationId xmlns:a16="http://schemas.microsoft.com/office/drawing/2014/main" id="{C4E5F311-8425-1750-FB11-93843F725899}"/>
              </a:ext>
            </a:extLst>
          </p:cNvPr>
          <p:cNvSpPr/>
          <p:nvPr/>
        </p:nvSpPr>
        <p:spPr>
          <a:xfrm>
            <a:off x="5037290" y="3993641"/>
            <a:ext cx="4528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t1</a:t>
            </a:r>
          </a:p>
        </p:txBody>
      </p:sp>
      <p:sp>
        <p:nvSpPr>
          <p:cNvPr id="15" name="CustomShape 7">
            <a:extLst>
              <a:ext uri="{FF2B5EF4-FFF2-40B4-BE49-F238E27FC236}">
                <a16:creationId xmlns:a16="http://schemas.microsoft.com/office/drawing/2014/main" id="{F3C26302-451D-8320-446F-DE1BAEE3DE43}"/>
              </a:ext>
            </a:extLst>
          </p:cNvPr>
          <p:cNvSpPr/>
          <p:nvPr/>
        </p:nvSpPr>
        <p:spPr>
          <a:xfrm>
            <a:off x="6824670" y="3573881"/>
            <a:ext cx="1076040" cy="8133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CustomShape 9">
            <a:extLst>
              <a:ext uri="{FF2B5EF4-FFF2-40B4-BE49-F238E27FC236}">
                <a16:creationId xmlns:a16="http://schemas.microsoft.com/office/drawing/2014/main" id="{050D2978-BCE9-3D4F-BF98-26B258F245F1}"/>
              </a:ext>
            </a:extLst>
          </p:cNvPr>
          <p:cNvSpPr/>
          <p:nvPr/>
        </p:nvSpPr>
        <p:spPr>
          <a:xfrm>
            <a:off x="6954990" y="3588101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String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1">
            <a:extLst>
              <a:ext uri="{FF2B5EF4-FFF2-40B4-BE49-F238E27FC236}">
                <a16:creationId xmlns:a16="http://schemas.microsoft.com/office/drawing/2014/main" id="{F2A4D867-1B7C-BD9F-725F-6BF61FEA9DEC}"/>
              </a:ext>
            </a:extLst>
          </p:cNvPr>
          <p:cNvSpPr/>
          <p:nvPr/>
        </p:nvSpPr>
        <p:spPr>
          <a:xfrm>
            <a:off x="7031190" y="3993481"/>
            <a:ext cx="7122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hello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2">
            <a:extLst>
              <a:ext uri="{FF2B5EF4-FFF2-40B4-BE49-F238E27FC236}">
                <a16:creationId xmlns:a16="http://schemas.microsoft.com/office/drawing/2014/main" id="{F98FA122-6D5E-3ED1-9571-30DCBFD265DC}"/>
              </a:ext>
            </a:extLst>
          </p:cNvPr>
          <p:cNvSpPr/>
          <p:nvPr/>
        </p:nvSpPr>
        <p:spPr>
          <a:xfrm flipV="1">
            <a:off x="6104310" y="3849597"/>
            <a:ext cx="693380" cy="3078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ED2A20-46DD-6387-977A-CF86B88771DE}"/>
              </a:ext>
            </a:extLst>
          </p:cNvPr>
          <p:cNvSpPr txBox="1"/>
          <p:nvPr/>
        </p:nvSpPr>
        <p:spPr>
          <a:xfrm>
            <a:off x="5528670" y="3970435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130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D22D0B-FBF2-BBAA-78CA-E276E7575C45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6824670" y="3980551"/>
            <a:ext cx="1076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ustomShape 5">
            <a:extLst>
              <a:ext uri="{FF2B5EF4-FFF2-40B4-BE49-F238E27FC236}">
                <a16:creationId xmlns:a16="http://schemas.microsoft.com/office/drawing/2014/main" id="{3B6AD990-6A37-9A23-EAFD-691E706D5236}"/>
              </a:ext>
            </a:extLst>
          </p:cNvPr>
          <p:cNvSpPr/>
          <p:nvPr/>
        </p:nvSpPr>
        <p:spPr>
          <a:xfrm>
            <a:off x="5554370" y="5055771"/>
            <a:ext cx="576000" cy="3618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" name="CustomShape 6">
            <a:extLst>
              <a:ext uri="{FF2B5EF4-FFF2-40B4-BE49-F238E27FC236}">
                <a16:creationId xmlns:a16="http://schemas.microsoft.com/office/drawing/2014/main" id="{0A79BC90-502F-E657-6CD8-FA33ADC2CFF7}"/>
              </a:ext>
            </a:extLst>
          </p:cNvPr>
          <p:cNvSpPr/>
          <p:nvPr/>
        </p:nvSpPr>
        <p:spPr>
          <a:xfrm>
            <a:off x="5063710" y="5072691"/>
            <a:ext cx="4528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t2</a:t>
            </a:r>
          </a:p>
        </p:txBody>
      </p:sp>
      <p:sp>
        <p:nvSpPr>
          <p:cNvPr id="26" name="CustomShape 12">
            <a:extLst>
              <a:ext uri="{FF2B5EF4-FFF2-40B4-BE49-F238E27FC236}">
                <a16:creationId xmlns:a16="http://schemas.microsoft.com/office/drawing/2014/main" id="{1B212A51-6643-99BE-BC9B-108E634B38C6}"/>
              </a:ext>
            </a:extLst>
          </p:cNvPr>
          <p:cNvSpPr/>
          <p:nvPr/>
        </p:nvSpPr>
        <p:spPr>
          <a:xfrm flipV="1">
            <a:off x="6129350" y="4375795"/>
            <a:ext cx="720360" cy="8547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168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D1332-F55C-C65B-85C5-439C72155E84}"/>
              </a:ext>
            </a:extLst>
          </p:cNvPr>
          <p:cNvSpPr txBox="1"/>
          <p:nvPr/>
        </p:nvSpPr>
        <p:spPr>
          <a:xfrm>
            <a:off x="5555090" y="5049485"/>
            <a:ext cx="619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" dirty="0">
                <a:uFill>
                  <a:solidFill>
                    <a:srgbClr val="FFFFFF"/>
                  </a:solidFill>
                </a:uFill>
                <a:latin typeface="Monaco"/>
              </a:rPr>
              <a:t>130</a:t>
            </a:r>
            <a:endParaRPr lang="en-US" sz="1600" dirty="0"/>
          </a:p>
        </p:txBody>
      </p:sp>
      <p:sp>
        <p:nvSpPr>
          <p:cNvPr id="29" name="CustomShape 4">
            <a:extLst>
              <a:ext uri="{FF2B5EF4-FFF2-40B4-BE49-F238E27FC236}">
                <a16:creationId xmlns:a16="http://schemas.microsoft.com/office/drawing/2014/main" id="{7C7C55AA-EC8E-63EB-061A-3A9E210452B5}"/>
              </a:ext>
            </a:extLst>
          </p:cNvPr>
          <p:cNvSpPr/>
          <p:nvPr/>
        </p:nvSpPr>
        <p:spPr>
          <a:xfrm>
            <a:off x="304800" y="1085975"/>
            <a:ext cx="3147220" cy="43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What gets printed here?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CustomShape 4">
            <a:extLst>
              <a:ext uri="{FF2B5EF4-FFF2-40B4-BE49-F238E27FC236}">
                <a16:creationId xmlns:a16="http://schemas.microsoft.com/office/drawing/2014/main" id="{9D5A8E41-1D12-C705-FE5A-BFE705365FEB}"/>
              </a:ext>
            </a:extLst>
          </p:cNvPr>
          <p:cNvSpPr/>
          <p:nvPr/>
        </p:nvSpPr>
        <p:spPr>
          <a:xfrm>
            <a:off x="388440" y="2738367"/>
            <a:ext cx="3745990" cy="655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Version 1</a:t>
            </a: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: Java run-time </a:t>
            </a:r>
          </a:p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might store t1 and t2 like this:</a:t>
            </a:r>
          </a:p>
        </p:txBody>
      </p:sp>
      <p:sp>
        <p:nvSpPr>
          <p:cNvPr id="32" name="CustomShape 31">
            <a:extLst>
              <a:ext uri="{FF2B5EF4-FFF2-40B4-BE49-F238E27FC236}">
                <a16:creationId xmlns:a16="http://schemas.microsoft.com/office/drawing/2014/main" id="{31B82743-C301-5698-F559-BDBC121E7A48}"/>
              </a:ext>
            </a:extLst>
          </p:cNvPr>
          <p:cNvSpPr/>
          <p:nvPr/>
        </p:nvSpPr>
        <p:spPr>
          <a:xfrm>
            <a:off x="4407450" y="5623483"/>
            <a:ext cx="4546050" cy="955115"/>
          </a:xfrm>
          <a:prstGeom prst="rect">
            <a:avLst/>
          </a:prstGeom>
          <a:ln>
            <a:rou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.equals</a:t>
            </a: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always compares the characters stored </a:t>
            </a: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 t1 and t2, so on line 4, for both versions: </a:t>
            </a: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true is printed</a:t>
            </a: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</a:p>
        </p:txBody>
      </p:sp>
      <p:sp>
        <p:nvSpPr>
          <p:cNvPr id="33" name="CustomShape 4">
            <a:extLst>
              <a:ext uri="{FF2B5EF4-FFF2-40B4-BE49-F238E27FC236}">
                <a16:creationId xmlns:a16="http://schemas.microsoft.com/office/drawing/2014/main" id="{6ED22039-AF93-5772-6087-FDD9AE30D38F}"/>
              </a:ext>
            </a:extLst>
          </p:cNvPr>
          <p:cNvSpPr/>
          <p:nvPr/>
        </p:nvSpPr>
        <p:spPr>
          <a:xfrm>
            <a:off x="4407450" y="2738367"/>
            <a:ext cx="3745990" cy="655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Version 2</a:t>
            </a: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: Java run-time </a:t>
            </a:r>
          </a:p>
          <a:p>
            <a:pPr>
              <a:lnSpc>
                <a:spcPct val="100000"/>
              </a:lnSpc>
            </a:pPr>
            <a:r>
              <a:rPr lang="en-US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might store t1 and t2 like this:</a:t>
            </a:r>
          </a:p>
        </p:txBody>
      </p:sp>
    </p:spTree>
    <p:extLst>
      <p:ext uri="{BB962C8B-B14F-4D97-AF65-F5344CB8AC3E}">
        <p14:creationId xmlns:p14="http://schemas.microsoft.com/office/powerpoint/2010/main" val="325129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  <p:bldP spid="174" grpId="0"/>
      <p:bldP spid="177" grpId="0"/>
      <p:bldP spid="179" grpId="0"/>
      <p:bldP spid="181" grpId="0" animBg="1"/>
      <p:bldP spid="182" grpId="0" animBg="1"/>
      <p:bldP spid="199" grpId="0" animBg="1"/>
      <p:bldP spid="2" grpId="0"/>
      <p:bldP spid="6" grpId="0"/>
      <p:bldP spid="8" grpId="0"/>
      <p:bldP spid="9" grpId="0"/>
      <p:bldP spid="11" grpId="0"/>
      <p:bldP spid="14" grpId="0"/>
      <p:bldP spid="16" grpId="0"/>
      <p:bldP spid="17" grpId="0"/>
      <p:bldP spid="19" grpId="0"/>
      <p:bldP spid="22" grpId="0"/>
      <p:bldP spid="27" grpId="0"/>
      <p:bldP spid="29" grpId="0"/>
      <p:bldP spid="30" grpId="0"/>
      <p:bldP spid="32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Boxes and lines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220"/>
            <a:ext cx="8229240" cy="4955180"/>
          </a:xfrm>
        </p:spPr>
        <p:txBody>
          <a:bodyPr/>
          <a:lstStyle/>
          <a:p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NO ARROWS FOR PRIMITIVES!</a:t>
            </a:r>
          </a:p>
          <a:p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Key word </a:t>
            </a:r>
            <a:r>
              <a:rPr lang="en-US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new</a:t>
            </a: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is a clue… draw 2 boxes</a:t>
            </a:r>
            <a:b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</a:b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1 for the tail of the arrow and 1 for the arrowhead</a:t>
            </a:r>
          </a:p>
          <a:p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When you pass an Object to a method THE REFERENCE (memory address) GETS PASSED, so if you change what is referenced, other parts of the program with the same reference see that change!</a:t>
            </a:r>
          </a:p>
          <a:p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sym typeface="Wingdings" panose="05000000000000000000" pitchFamily="2" charset="2"/>
              </a:rPr>
              <a:t>Notice arrow pointing to </a:t>
            </a:r>
            <a:r>
              <a:rPr lang="en-US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sym typeface="Wingdings" panose="05000000000000000000" pitchFamily="2" charset="2"/>
              </a:rPr>
              <a:t>null</a:t>
            </a: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sym typeface="Wingdings" panose="05000000000000000000" pitchFamily="2" charset="2"/>
              </a:rPr>
              <a:t>, </a:t>
            </a:r>
            <a:r>
              <a:rPr lang="en-US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sym typeface="Wingdings" panose="05000000000000000000" pitchFamily="2" charset="2"/>
              </a:rPr>
              <a:t>null</a:t>
            </a: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sym typeface="Wingdings" panose="05000000000000000000" pitchFamily="2" charset="2"/>
              </a:rPr>
              <a:t> is not in a box!</a:t>
            </a:r>
          </a:p>
          <a:p>
            <a:r>
              <a:rPr lang="en-US" dirty="0"/>
              <a:t>SMALL BOXES (arrow tail boxes)</a:t>
            </a:r>
            <a:br>
              <a:rPr lang="en-US" dirty="0"/>
            </a:br>
            <a:r>
              <a:rPr lang="en-US" dirty="0"/>
              <a:t>MUST NOT POINT TO OTHER  SMALL BOXES</a:t>
            </a:r>
          </a:p>
          <a:p>
            <a:endParaRPr lang="en-US" dirty="0"/>
          </a:p>
        </p:txBody>
      </p:sp>
      <p:sp>
        <p:nvSpPr>
          <p:cNvPr id="4" name="Rectangle 9"/>
          <p:cNvSpPr>
            <a:spLocks/>
          </p:cNvSpPr>
          <p:nvPr/>
        </p:nvSpPr>
        <p:spPr bwMode="auto">
          <a:xfrm>
            <a:off x="7480300" y="6248400"/>
            <a:ext cx="14605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Q1 – Q11</a:t>
            </a:r>
          </a:p>
        </p:txBody>
      </p:sp>
    </p:spTree>
    <p:extLst>
      <p:ext uri="{BB962C8B-B14F-4D97-AF65-F5344CB8AC3E}">
        <p14:creationId xmlns:p14="http://schemas.microsoft.com/office/powerpoint/2010/main" val="79290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Static Fields &amp; Methods</a:t>
            </a:r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B4C52-3679-057F-B9FA-C5E3B4259E4D}"/>
              </a:ext>
            </a:extLst>
          </p:cNvPr>
          <p:cNvSpPr/>
          <p:nvPr/>
        </p:nvSpPr>
        <p:spPr>
          <a:xfrm>
            <a:off x="304800" y="4762500"/>
            <a:ext cx="8534400" cy="15651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PracticeSuperSimpleObjectsSolution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PracticeSuperSimpleObjectsBoxAndPointers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692914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8237" y="914400"/>
            <a:ext cx="391577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StudentV1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 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 @Override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     " has a grade of 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+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7200" y="126979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fields can’t always be static – StudentV1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2970" y="428196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OUTPUT – from Client program: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Adam has a grade of A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Becky has a grade of B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Casey has a grade of C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08400" y="1143000"/>
            <a:ext cx="5608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// StudentV1Driver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"Adam"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"Becky"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StudentV1(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"Casey"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'C'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EE8BA-BC4D-4E52-8BBA-2C93DFC1CA6E}"/>
              </a:ext>
            </a:extLst>
          </p:cNvPr>
          <p:cNvSpPr/>
          <p:nvPr/>
        </p:nvSpPr>
        <p:spPr>
          <a:xfrm>
            <a:off x="288237" y="1143000"/>
            <a:ext cx="3356663" cy="5126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6CB8C-2CC8-4683-9D4B-70A2FCEC9941}"/>
              </a:ext>
            </a:extLst>
          </p:cNvPr>
          <p:cNvSpPr/>
          <p:nvPr/>
        </p:nvSpPr>
        <p:spPr>
          <a:xfrm>
            <a:off x="3695700" y="1143000"/>
            <a:ext cx="5448300" cy="5126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E14B-96CA-4665-A463-1ECB4C81ACBA}"/>
              </a:ext>
            </a:extLst>
          </p:cNvPr>
          <p:cNvSpPr txBox="1"/>
          <p:nvPr/>
        </p:nvSpPr>
        <p:spPr>
          <a:xfrm>
            <a:off x="4495800" y="778419"/>
            <a:ext cx="399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program – of </a:t>
            </a:r>
            <a:r>
              <a:rPr lang="en-US" dirty="0">
                <a:highlight>
                  <a:srgbClr val="00FF00"/>
                </a:highlight>
              </a:rPr>
              <a:t>StudentV1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64531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3937" y="914400"/>
            <a:ext cx="357256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StudentV2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private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  char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StudentV2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 @Override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   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     " has a grade of 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+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grade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57200" y="126979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fields can’t always be static – StudentV2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2970" y="428196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OUTPUT – from Client program: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Adam has a grade of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Becky has a grade of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Casey has a grade of C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848100" y="1143000"/>
            <a:ext cx="54687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// StudentV2Driver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"Adam"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"Becky"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Student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StudentV2(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"Casey"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'C'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System.</a:t>
            </a:r>
            <a:r>
              <a:rPr lang="en-US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n-US" b="1" i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EE8BA-BC4D-4E52-8BBA-2C93DFC1CA6E}"/>
              </a:ext>
            </a:extLst>
          </p:cNvPr>
          <p:cNvSpPr/>
          <p:nvPr/>
        </p:nvSpPr>
        <p:spPr>
          <a:xfrm>
            <a:off x="212036" y="1143000"/>
            <a:ext cx="3542235" cy="51267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F6CB8C-2CC8-4683-9D4B-70A2FCEC9941}"/>
              </a:ext>
            </a:extLst>
          </p:cNvPr>
          <p:cNvSpPr/>
          <p:nvPr/>
        </p:nvSpPr>
        <p:spPr>
          <a:xfrm>
            <a:off x="3810000" y="1155700"/>
            <a:ext cx="5334000" cy="51267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E14B-96CA-4665-A463-1ECB4C81ACBA}"/>
              </a:ext>
            </a:extLst>
          </p:cNvPr>
          <p:cNvSpPr txBox="1"/>
          <p:nvPr/>
        </p:nvSpPr>
        <p:spPr>
          <a:xfrm>
            <a:off x="4343400" y="740319"/>
            <a:ext cx="442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program – of </a:t>
            </a:r>
            <a:r>
              <a:rPr lang="en-US" dirty="0">
                <a:highlight>
                  <a:srgbClr val="00FF00"/>
                </a:highlight>
              </a:rPr>
              <a:t>StudentV2</a:t>
            </a:r>
            <a:r>
              <a:rPr lang="en-US" dirty="0"/>
              <a:t>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FBA5E6-1BF8-4A93-A843-F6EB4A27A02E}"/>
              </a:ext>
            </a:extLst>
          </p:cNvPr>
          <p:cNvSpPr/>
          <p:nvPr/>
        </p:nvSpPr>
        <p:spPr>
          <a:xfrm>
            <a:off x="2176546" y="5716851"/>
            <a:ext cx="6881315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Static means there's </a:t>
            </a:r>
            <a:r>
              <a:rPr lang="en-US" sz="2000" b="1" u="sng" dirty="0"/>
              <a:t>only one shared copy</a:t>
            </a:r>
            <a:r>
              <a:rPr lang="en-US" sz="2000" dirty="0"/>
              <a:t> of a field/method for ALL instances of a class that's created. </a:t>
            </a:r>
          </a:p>
          <a:p>
            <a:r>
              <a:rPr lang="en-US" sz="2000" dirty="0"/>
              <a:t>So when you change a grade, they all change.</a:t>
            </a:r>
          </a:p>
        </p:txBody>
      </p:sp>
    </p:spTree>
    <p:extLst>
      <p:ext uri="{BB962C8B-B14F-4D97-AF65-F5344CB8AC3E}">
        <p14:creationId xmlns:p14="http://schemas.microsoft.com/office/powerpoint/2010/main" val="386206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Eclipse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PracticeSuperSimpleObjects</a:t>
            </a:r>
            <a:endParaRPr lang="en-US" dirty="0"/>
          </a:p>
          <a:p>
            <a:r>
              <a:rPr lang="en-US" dirty="0"/>
              <a:t>Right now – draw Box &amp; Pointer diagram of </a:t>
            </a:r>
            <a:r>
              <a:rPr lang="en-US" i="1" dirty="0"/>
              <a:t>StudentV1Driver</a:t>
            </a:r>
          </a:p>
          <a:p>
            <a:r>
              <a:rPr lang="en-US" dirty="0"/>
              <a:t>Work in pairs</a:t>
            </a:r>
          </a:p>
          <a:p>
            <a:r>
              <a:rPr lang="en-US" dirty="0"/>
              <a:t>After you all finish I’ll do Box &amp; </a:t>
            </a:r>
            <a:r>
              <a:rPr lang="en-US" dirty="0" err="1"/>
              <a:t>Ptr</a:t>
            </a:r>
            <a:r>
              <a:rPr lang="en-US" dirty="0"/>
              <a:t> of </a:t>
            </a:r>
            <a:r>
              <a:rPr lang="en-US" i="1" dirty="0"/>
              <a:t>StudentV2Driver</a:t>
            </a:r>
          </a:p>
        </p:txBody>
      </p:sp>
    </p:spTree>
    <p:extLst>
      <p:ext uri="{BB962C8B-B14F-4D97-AF65-F5344CB8AC3E}">
        <p14:creationId xmlns:p14="http://schemas.microsoft.com/office/powerpoint/2010/main" val="1678625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do we make methods static?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Utility Methods</a:t>
            </a:r>
          </a:p>
          <a:p>
            <a:pPr lvl="1"/>
            <a:r>
              <a:rPr lang="en-US" dirty="0"/>
              <a:t>Things like Math class's abs, sqrt, etc. </a:t>
            </a:r>
          </a:p>
          <a:p>
            <a:pPr lvl="1"/>
            <a:r>
              <a:rPr lang="en-US" dirty="0"/>
              <a:t>Don’t need an instance of a class to run them</a:t>
            </a:r>
          </a:p>
          <a:p>
            <a:pPr lvl="1">
              <a:tabLst>
                <a:tab pos="1193800" algn="l"/>
              </a:tabLst>
            </a:pPr>
            <a:r>
              <a:rPr lang="en-US" dirty="0"/>
              <a:t>Examples</a:t>
            </a:r>
            <a:br>
              <a:rPr lang="en-US" dirty="0"/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y = -3.3;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Math.abs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(y);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ySqR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How do I know if it is static?</a:t>
            </a:r>
          </a:p>
          <a:p>
            <a:pPr lvl="1"/>
            <a:r>
              <a:rPr lang="en-US" dirty="0"/>
              <a:t>No references to non-static fields/methods</a:t>
            </a:r>
          </a:p>
          <a:p>
            <a:pPr lvl="1"/>
            <a:r>
              <a:rPr lang="en-US" dirty="0"/>
              <a:t>No “this” keyword used in method</a:t>
            </a:r>
          </a:p>
        </p:txBody>
      </p:sp>
    </p:spTree>
    <p:extLst>
      <p:ext uri="{BB962C8B-B14F-4D97-AF65-F5344CB8AC3E}">
        <p14:creationId xmlns:p14="http://schemas.microsoft.com/office/powerpoint/2010/main" val="59030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When do we make fields static?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457200" y="1600200"/>
            <a:ext cx="8229240" cy="420024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Never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Seriously, this is disallowed for all the code you submit in CSSE220 (exception: CONSTANTS)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 almost always makes your designs worse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it wasn’t disallowed, when would you use it?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Very rarely for memory efficiency, state that can’t be duplicated, or really </a:t>
            </a:r>
            <a:r>
              <a:rPr lang="en-US" sz="28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meta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code/variables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BUT even professional programmers misuse static and cause themselves major problems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They’ll talk about some positive uses in CSSE374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624309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Two Example Classes 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ith Static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Car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Bicycle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54520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8844" y="104097"/>
            <a:ext cx="928314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Car {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private 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mileage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    //other stuff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getMilesTravelled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this.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mileage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convertMilesToKm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</a:t>
            </a:r>
            <a:r>
              <a:rPr lang="en-US" b="1" dirty="0">
                <a:solidFill>
                  <a:srgbClr val="7F0055"/>
                </a:solidFill>
                <a:highlight>
                  <a:srgbClr val="D4D4D4"/>
                </a:highlight>
                <a:latin typeface="Consolas"/>
              </a:rPr>
              <a:t>double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numberOfMiles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numberOfMiles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* 1.609344f;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//Elsewhere in a client program of Car class</a:t>
            </a:r>
          </a:p>
          <a:p>
            <a:endParaRPr lang="en-US" dirty="0">
              <a:solidFill>
                <a:srgbClr val="3F7F5F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//requires you to have a car object</a:t>
            </a:r>
            <a:endParaRPr lang="en-US" dirty="0">
              <a:solidFill>
                <a:srgbClr val="000000"/>
              </a:solidFill>
              <a:latin typeface="Consolas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Car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myCar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Car();</a:t>
            </a: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 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getMilesTravelled</a:t>
            </a:r>
            <a:r>
              <a:rPr lang="en-US" dirty="0">
                <a:solidFill>
                  <a:srgbClr val="3F7F5F"/>
                </a:solidFill>
                <a:latin typeface="Consolas"/>
              </a:rPr>
              <a:t> requires you to have a car object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myCar.getMilesTravelled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());//output depends on code</a:t>
            </a: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convertMilesToKm</a:t>
            </a:r>
            <a:r>
              <a:rPr lang="en-US" dirty="0">
                <a:solidFill>
                  <a:srgbClr val="3F7F5F"/>
                </a:solidFill>
                <a:latin typeface="Consolas"/>
              </a:rPr>
              <a:t> can be called on the class Car itself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Car.</a:t>
            </a:r>
            <a:r>
              <a:rPr lang="en-US" i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convertMilesToKm</a:t>
            </a:r>
            <a:r>
              <a:rPr lang="en-US" i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(77));//output is </a:t>
            </a:r>
            <a:r>
              <a:rPr lang="en-US" sz="2000" b="1" i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123.919488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59E2A-CBC6-4970-B6BE-9C00BED1A058}"/>
              </a:ext>
            </a:extLst>
          </p:cNvPr>
          <p:cNvSpPr/>
          <p:nvPr/>
        </p:nvSpPr>
        <p:spPr>
          <a:xfrm>
            <a:off x="248481" y="104098"/>
            <a:ext cx="8855764" cy="42591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470EA-C8FE-4A5D-84BC-7816000841EB}"/>
              </a:ext>
            </a:extLst>
          </p:cNvPr>
          <p:cNvSpPr/>
          <p:nvPr/>
        </p:nvSpPr>
        <p:spPr>
          <a:xfrm>
            <a:off x="248481" y="5049948"/>
            <a:ext cx="8855765" cy="178817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9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8905" y="31553"/>
            <a:ext cx="9283148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 {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private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private </a:t>
            </a:r>
            <a:r>
              <a:rPr lang="en-US" b="1" dirty="0">
                <a:solidFill>
                  <a:srgbClr val="7F0055"/>
                </a:solidFill>
                <a:highlight>
                  <a:srgbClr val="FFFF00"/>
                </a:highlight>
                <a:latin typeface="Consolas"/>
              </a:rPr>
              <a:t>static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 = 0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public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Bicycle(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speed) {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 speed;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Bicycle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C0"/>
                </a:solidFill>
                <a:latin typeface="Consolas"/>
              </a:rPr>
              <a:t>++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getSpeed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speed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 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getNumCreated</a:t>
            </a:r>
            <a:r>
              <a:rPr lang="en-US" b="1" dirty="0">
                <a:solidFill>
                  <a:srgbClr val="000000"/>
                </a:solidFill>
                <a:highlight>
                  <a:srgbClr val="D4D4D4"/>
                </a:highlight>
                <a:latin typeface="Consolas"/>
              </a:rPr>
              <a:t>()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        return </a:t>
            </a:r>
            <a:r>
              <a:rPr lang="en-US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Bicycle</a:t>
            </a:r>
            <a:r>
              <a:rPr lang="en-US" b="1" dirty="0" err="1">
                <a:solidFill>
                  <a:srgbClr val="7F0055"/>
                </a:solidFill>
                <a:latin typeface="Consolas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/>
              </a:rPr>
              <a:t>numCreated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 }</a:t>
            </a:r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solidFill>
                <a:srgbClr val="3F7F5F"/>
              </a:solidFill>
              <a:latin typeface="Consolas"/>
            </a:endParaRPr>
          </a:p>
          <a:p>
            <a:r>
              <a:rPr lang="en-US" dirty="0">
                <a:solidFill>
                  <a:srgbClr val="3F7F5F"/>
                </a:solidFill>
                <a:latin typeface="Consolas"/>
              </a:rPr>
              <a:t>// Client does not need Bicycle object for calling </a:t>
            </a:r>
            <a:r>
              <a:rPr lang="en-US" i="1" dirty="0" err="1">
                <a:solidFill>
                  <a:srgbClr val="3F7F5F"/>
                </a:solidFill>
                <a:latin typeface="Consolas"/>
              </a:rPr>
              <a:t>getNumCreated</a:t>
            </a:r>
            <a:endParaRPr lang="en-US" i="1" dirty="0">
              <a:solidFill>
                <a:srgbClr val="000000"/>
              </a:solidFill>
              <a:latin typeface="Consolas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Bicycle.getNumCreated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Bicycle myBike1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18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Bicycle myBike2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Bicycle(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Bicycle.getNumCreated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en-US" dirty="0"/>
              <a:t>"  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+ myBike1.getSpeed());</a:t>
            </a:r>
          </a:p>
          <a:p>
            <a:r>
              <a:rPr lang="en-US" sz="2200" b="1" dirty="0"/>
              <a:t>0</a:t>
            </a:r>
          </a:p>
          <a:p>
            <a:r>
              <a:rPr lang="en-US" sz="2200" b="1" dirty="0"/>
              <a:t>2 18</a:t>
            </a:r>
          </a:p>
        </p:txBody>
      </p:sp>
      <p:sp>
        <p:nvSpPr>
          <p:cNvPr id="3" name="Rectangle 9"/>
          <p:cNvSpPr>
            <a:spLocks/>
          </p:cNvSpPr>
          <p:nvPr/>
        </p:nvSpPr>
        <p:spPr bwMode="auto">
          <a:xfrm>
            <a:off x="7625172" y="6309350"/>
            <a:ext cx="1036926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Q12 - Q16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FC12C-35E0-4F1D-AAC8-BEA6B36C28BD}"/>
              </a:ext>
            </a:extLst>
          </p:cNvPr>
          <p:cNvSpPr/>
          <p:nvPr/>
        </p:nvSpPr>
        <p:spPr>
          <a:xfrm>
            <a:off x="238542" y="104097"/>
            <a:ext cx="8855764" cy="440826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44365-DE8E-49F7-B06F-273DFD243B49}"/>
              </a:ext>
            </a:extLst>
          </p:cNvPr>
          <p:cNvSpPr/>
          <p:nvPr/>
        </p:nvSpPr>
        <p:spPr>
          <a:xfrm>
            <a:off x="238542" y="4584909"/>
            <a:ext cx="8855765" cy="22125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8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do one thing:</a:t>
            </a:r>
            <a:br>
              <a:rPr lang="en-US" dirty="0"/>
            </a:br>
            <a:r>
              <a:rPr lang="en-US" dirty="0"/>
              <a:t>Static and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Point class we used as a Quiz</a:t>
            </a:r>
          </a:p>
          <a:p>
            <a:r>
              <a:rPr lang="en-US" dirty="0"/>
              <a:t>Let’s write code to enable the following to run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Point a = new Point( 0, 0 );</a:t>
            </a:r>
          </a:p>
          <a:p>
            <a:pPr marL="0" indent="0">
              <a:buNone/>
            </a:pPr>
            <a:r>
              <a:rPr lang="en-US" dirty="0"/>
              <a:t>Point b = new Point( 3, 4);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   </a:t>
            </a:r>
            <a:r>
              <a:rPr lang="en-US" dirty="0" err="1"/>
              <a:t>Point.distanceBetween</a:t>
            </a:r>
            <a:r>
              <a:rPr lang="en-US" dirty="0"/>
              <a:t>(</a:t>
            </a:r>
            <a:r>
              <a:rPr lang="en-US" dirty="0" err="1"/>
              <a:t>a,b</a:t>
            </a:r>
            <a:r>
              <a:rPr lang="en-US" dirty="0"/>
              <a:t>) 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  </a:t>
            </a:r>
            <a:r>
              <a:rPr lang="en-US" dirty="0" err="1"/>
              <a:t>a.distanceTo</a:t>
            </a:r>
            <a:r>
              <a:rPr lang="en-US" dirty="0"/>
              <a:t>( b )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0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4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1488-BD03-CBF6-BE7F-9D78DEE5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Instance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D0DE4-EAC3-1724-02C2-98B105FA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34" y="1572677"/>
            <a:ext cx="6670524" cy="1856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F337C7-F0DC-990B-589B-C47F1D199039}"/>
              </a:ext>
            </a:extLst>
          </p:cNvPr>
          <p:cNvSpPr txBox="1"/>
          <p:nvPr/>
        </p:nvSpPr>
        <p:spPr>
          <a:xfrm>
            <a:off x="0" y="3672929"/>
            <a:ext cx="434636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Belongs to the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require any objects to be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related to any </a:t>
            </a:r>
            <a:r>
              <a:rPr lang="en-US" b="1" i="1" dirty="0"/>
              <a:t>specific</a:t>
            </a:r>
            <a:r>
              <a:rPr lang="en-US" dirty="0"/>
              <a:t>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use the keyword </a:t>
            </a:r>
            <a:r>
              <a:rPr lang="en-US" b="1" dirty="0"/>
              <a:t>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main </a:t>
            </a:r>
            <a:r>
              <a:rPr lang="en-US" dirty="0"/>
              <a:t>method is static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78D64-92DD-DD98-B20C-D8503DE341D3}"/>
              </a:ext>
            </a:extLst>
          </p:cNvPr>
          <p:cNvSpPr txBox="1"/>
          <p:nvPr/>
        </p:nvSpPr>
        <p:spPr>
          <a:xfrm>
            <a:off x="4149547" y="3672929"/>
            <a:ext cx="50945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Belongs to an INSTANCE or specific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creating a specific object since it pertains to a specific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the keyword </a:t>
            </a:r>
            <a:r>
              <a:rPr lang="en-US" b="1" dirty="0"/>
              <a:t>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method is NOT an instance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4540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Reminder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296883" y="1600200"/>
            <a:ext cx="8389557" cy="27674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You can work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the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HWMaps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Work with a partner on 1 of the operations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If you are confused about what to do, get help!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Fail in front of Instructor or TA -&gt; Now is the time to fail, not at 23:45 the night it is due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9C6BA3-3175-9705-5787-DD22560E72CE}"/>
              </a:ext>
            </a:extLst>
          </p:cNvPr>
          <p:cNvSpPr txBox="1"/>
          <p:nvPr/>
        </p:nvSpPr>
        <p:spPr>
          <a:xfrm>
            <a:off x="1398494" y="4873079"/>
            <a:ext cx="5959737" cy="144655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Review MS Team Channel for Pairings</a:t>
            </a:r>
          </a:p>
        </p:txBody>
      </p:sp>
    </p:spTree>
    <p:extLst>
      <p:ext uri="{BB962C8B-B14F-4D97-AF65-F5344CB8AC3E}">
        <p14:creationId xmlns:p14="http://schemas.microsoft.com/office/powerpoint/2010/main" val="38316153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60CF-F086-30B7-A289-07F84B11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761"/>
            <a:ext cx="8229240" cy="1142640"/>
          </a:xfrm>
        </p:spPr>
        <p:txBody>
          <a:bodyPr/>
          <a:lstStyle/>
          <a:p>
            <a:r>
              <a:rPr lang="en-US" dirty="0"/>
              <a:t>Teams – </a:t>
            </a:r>
            <a:r>
              <a:rPr lang="en-US" dirty="0" err="1"/>
              <a:t>HWMaps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4D5EEA-051C-4816-12DC-8D10F3B07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82380"/>
              </p:ext>
            </p:extLst>
          </p:nvPr>
        </p:nvGraphicFramePr>
        <p:xfrm>
          <a:off x="51556" y="1322348"/>
          <a:ext cx="909244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658">
                  <a:extLst>
                    <a:ext uri="{9D8B030D-6E8A-4147-A177-3AD203B41FA5}">
                      <a16:colId xmlns:a16="http://schemas.microsoft.com/office/drawing/2014/main" val="3324401982"/>
                    </a:ext>
                  </a:extLst>
                </a:gridCol>
                <a:gridCol w="966153">
                  <a:extLst>
                    <a:ext uri="{9D8B030D-6E8A-4147-A177-3AD203B41FA5}">
                      <a16:colId xmlns:a16="http://schemas.microsoft.com/office/drawing/2014/main" val="606250080"/>
                    </a:ext>
                  </a:extLst>
                </a:gridCol>
                <a:gridCol w="2381844">
                  <a:extLst>
                    <a:ext uri="{9D8B030D-6E8A-4147-A177-3AD203B41FA5}">
                      <a16:colId xmlns:a16="http://schemas.microsoft.com/office/drawing/2014/main" val="1824237942"/>
                    </a:ext>
                  </a:extLst>
                </a:gridCol>
                <a:gridCol w="1180913">
                  <a:extLst>
                    <a:ext uri="{9D8B030D-6E8A-4147-A177-3AD203B41FA5}">
                      <a16:colId xmlns:a16="http://schemas.microsoft.com/office/drawing/2014/main" val="154575802"/>
                    </a:ext>
                  </a:extLst>
                </a:gridCol>
                <a:gridCol w="940728">
                  <a:extLst>
                    <a:ext uri="{9D8B030D-6E8A-4147-A177-3AD203B41FA5}">
                      <a16:colId xmlns:a16="http://schemas.microsoft.com/office/drawing/2014/main" val="2341048207"/>
                    </a:ext>
                  </a:extLst>
                </a:gridCol>
                <a:gridCol w="2772148">
                  <a:extLst>
                    <a:ext uri="{9D8B030D-6E8A-4147-A177-3AD203B41FA5}">
                      <a16:colId xmlns:a16="http://schemas.microsoft.com/office/drawing/2014/main" val="1425695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3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Jayce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Dayton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daytonja@rose-hulman.edu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Baruni Jigisha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Cherukuri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cherukbj@rose-hulman.edu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58841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Maddy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Alfeldt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alfeldme@rose-hulman.edu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Ryan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Scholten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scholtrr@rose-hulman.edu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63273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Garrett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Canova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canovagj@rose-hulman.edu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Denis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Fulks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fulksdm@rose-hulman.edu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806324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Alexa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Miller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milleral@rose-hulman.edu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Dane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Blackburn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blackbdr@rose-hulman.edu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225351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Mushfiq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alamm1@rose-hulman.edu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H.M. Ibtihal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Utsho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utshoh@rose-hulman.edu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55630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Joseph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zerujb@rose-hulman.edu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Minyoung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Park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parkm1@rose-hulman.edu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220381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Jack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Banta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bantajs@rose-hulman.edu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Noorani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noorani@rose-hulman.edu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276974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Zihang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Zhuang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zhuangz@rose-hulman.edu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Harrison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jix@rose-hulman.edu</a:t>
                      </a: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211397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Aaron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Slisher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slishear@rose-hulman.edu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464688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Mugdha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Vuyyuru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vuyyurm@rose-hulman.edu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338317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Hampton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Gryniewicz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gryniehd@rose-hulman.edu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1201102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Ashutosh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Komali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komalia@rose-hulman.edu</a:t>
                      </a: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/>
                </a:tc>
                <a:extLst>
                  <a:ext uri="{0D108BD9-81ED-4DB2-BD59-A6C34878D82A}">
                    <a16:rowId xmlns:a16="http://schemas.microsoft.com/office/drawing/2014/main" val="842020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4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CA9CB0E-EE65-449F-9559-F04F363595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4DCD66-1C57-4C3C-B2C3-DF827DC9D6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E3997C-5427-46BC-8C47-AFD73EF2B262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1366</TotalTime>
  <Words>2295</Words>
  <Application>Microsoft Office PowerPoint</Application>
  <PresentationFormat>On-screen Show (4:3)</PresentationFormat>
  <Paragraphs>417</Paragraphs>
  <Slides>22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Lucida Sans Typewriter</vt:lpstr>
      <vt:lpstr>Monaco</vt:lpstr>
      <vt:lpstr>Symbol</vt:lpstr>
      <vt:lpstr>Times New Roman</vt:lpstr>
      <vt:lpstr>Wingdings</vt:lpstr>
      <vt:lpstr>Office Theme</vt:lpstr>
      <vt:lpstr>Plan for today</vt:lpstr>
      <vt:lpstr>PowerPoint Presentation</vt:lpstr>
      <vt:lpstr>CSSE 220</vt:lpstr>
      <vt:lpstr>What Do Variables Really Store?</vt:lpstr>
      <vt:lpstr>Assignment Copies Values</vt:lpstr>
      <vt:lpstr>PowerPoint Presentation</vt:lpstr>
      <vt:lpstr>PowerPoint Presentation</vt:lpstr>
      <vt:lpstr>Boxes and lines exercise</vt:lpstr>
      <vt:lpstr>CSSE 220</vt:lpstr>
      <vt:lpstr>Why fields can’t always be static – StudentV1</vt:lpstr>
      <vt:lpstr>Why fields can’t always be static – StudentV2</vt:lpstr>
      <vt:lpstr>In Eclipse</vt:lpstr>
      <vt:lpstr>When do we make methods static?</vt:lpstr>
      <vt:lpstr>PowerPoint Presentation</vt:lpstr>
      <vt:lpstr>PowerPoint Presentation</vt:lpstr>
      <vt:lpstr>PowerPoint Presentation</vt:lpstr>
      <vt:lpstr>PowerPoint Presentation</vt:lpstr>
      <vt:lpstr>Two ways to do one thing: Static and Instance</vt:lpstr>
      <vt:lpstr>Live code</vt:lpstr>
      <vt:lpstr>Static vs. Instance Variables</vt:lpstr>
      <vt:lpstr>PowerPoint Presentation</vt:lpstr>
      <vt:lpstr>Teams – HWMaps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dc:description/>
  <cp:lastModifiedBy>Ludden, Ian</cp:lastModifiedBy>
  <cp:revision>83</cp:revision>
  <dcterms:created xsi:type="dcterms:W3CDTF">2011-03-10T14:54:15Z</dcterms:created>
  <dcterms:modified xsi:type="dcterms:W3CDTF">2026-09-09T20:50:26Z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15.0031</vt:lpwstr>
  </property>
  <property fmtid="{D5CDD505-2E9C-101B-9397-08002B2CF9AE}" pid="3" name="HiddenSlides">
    <vt:i4>2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