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4"/>
  </p:sldMasterIdLst>
  <p:notesMasterIdLst>
    <p:notesMasterId r:id="rId12"/>
  </p:notesMasterIdLst>
  <p:sldIdLst>
    <p:sldId id="259" r:id="rId5"/>
    <p:sldId id="256" r:id="rId6"/>
    <p:sldId id="261" r:id="rId7"/>
    <p:sldId id="262" r:id="rId8"/>
    <p:sldId id="263" r:id="rId9"/>
    <p:sldId id="275" r:id="rId10"/>
    <p:sldId id="274" r:id="rId11"/>
  </p:sldIdLst>
  <p:sldSz cx="9144000" cy="6858000" type="screen4x3"/>
  <p:notesSz cx="7315200" cy="96012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B56CAA-DABC-41BE-9608-968AE04FA974}" v="1" dt="2021-12-11T16:29:44.5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041"/>
    <p:restoredTop sz="86915" autoAdjust="0"/>
  </p:normalViewPr>
  <p:slideViewPr>
    <p:cSldViewPr snapToGrid="0" snapToObjects="1">
      <p:cViewPr varScale="1">
        <p:scale>
          <a:sx n="96" d="100"/>
          <a:sy n="96" d="100"/>
        </p:scale>
        <p:origin x="218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theme" Target="theme/theme1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erritos, Esly" userId="S::cerritem@rose-hulman.edu::b1d8a0f8-f6ee-47cf-a2fb-9c053cf51e98" providerId="AD" clId="Web-{4FB56CAA-DABC-41BE-9608-968AE04FA974}"/>
    <pc:docChg chg="delSld">
      <pc:chgData name="Cerritos, Esly" userId="S::cerritem@rose-hulman.edu::b1d8a0f8-f6ee-47cf-a2fb-9c053cf51e98" providerId="AD" clId="Web-{4FB56CAA-DABC-41BE-9608-968AE04FA974}" dt="2021-12-11T16:29:44.525" v="0"/>
      <pc:docMkLst>
        <pc:docMk/>
      </pc:docMkLst>
      <pc:sldChg chg="del">
        <pc:chgData name="Cerritos, Esly" userId="S::cerritem@rose-hulman.edu::b1d8a0f8-f6ee-47cf-a2fb-9c053cf51e98" providerId="AD" clId="Web-{4FB56CAA-DABC-41BE-9608-968AE04FA974}" dt="2021-12-11T16:29:44.525" v="0"/>
        <pc:sldMkLst>
          <pc:docMk/>
          <pc:sldMk cId="1323640160" sldId="263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Click to edit the notes format</a:t>
            </a:r>
          </a:p>
        </p:txBody>
      </p:sp>
      <p:sp>
        <p:nvSpPr>
          <p:cNvPr id="118" name="PlaceHolder 2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</p:spPr>
        <p:txBody>
          <a:bodyPr lIns="0" tIns="0" rIns="0" bIns="0"/>
          <a:lstStyle/>
          <a:p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&lt;header&gt;</a:t>
            </a:r>
          </a:p>
        </p:txBody>
      </p:sp>
      <p:sp>
        <p:nvSpPr>
          <p:cNvPr id="119" name="PlaceHolder 3"/>
          <p:cNvSpPr>
            <a:spLocks noGrp="1"/>
          </p:cNvSpPr>
          <p:nvPr>
            <p:ph type="dt"/>
          </p:nvPr>
        </p:nvSpPr>
        <p:spPr>
          <a:xfrm>
            <a:off x="4399200" y="0"/>
            <a:ext cx="3372840" cy="502560"/>
          </a:xfrm>
          <a:prstGeom prst="rect">
            <a:avLst/>
          </a:prstGeom>
        </p:spPr>
        <p:txBody>
          <a:bodyPr lIns="0" tIns="0" rIns="0" bIns="0"/>
          <a:lstStyle/>
          <a:p>
            <a:pPr algn="r"/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&lt;date/time&gt;</a:t>
            </a:r>
          </a:p>
        </p:txBody>
      </p:sp>
      <p:sp>
        <p:nvSpPr>
          <p:cNvPr id="120" name="PlaceHolder 4"/>
          <p:cNvSpPr>
            <a:spLocks noGrp="1"/>
          </p:cNvSpPr>
          <p:nvPr>
            <p:ph type="ftr"/>
          </p:nvPr>
        </p:nvSpPr>
        <p:spPr>
          <a:xfrm>
            <a:off x="0" y="9555480"/>
            <a:ext cx="3372840" cy="502560"/>
          </a:xfrm>
          <a:prstGeom prst="rect">
            <a:avLst/>
          </a:prstGeom>
        </p:spPr>
        <p:txBody>
          <a:bodyPr lIns="0" tIns="0" rIns="0" bIns="0" anchor="b"/>
          <a:lstStyle/>
          <a:p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&lt;footer&gt;</a:t>
            </a:r>
          </a:p>
        </p:txBody>
      </p:sp>
      <p:sp>
        <p:nvSpPr>
          <p:cNvPr id="121" name="PlaceHolder 5"/>
          <p:cNvSpPr>
            <a:spLocks noGrp="1"/>
          </p:cNvSpPr>
          <p:nvPr>
            <p:ph type="sldNum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</p:spPr>
        <p:txBody>
          <a:bodyPr lIns="0" tIns="0" rIns="0" bIns="0" anchor="b"/>
          <a:lstStyle/>
          <a:p>
            <a:pPr algn="r"/>
            <a:fld id="{18E27A71-88A0-42AC-8446-7577892AB166}" type="slidenum"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Times New Roman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PlaceHolder 1"/>
          <p:cNvSpPr>
            <a:spLocks noGrp="1"/>
          </p:cNvSpPr>
          <p:nvPr>
            <p:ph type="body"/>
          </p:nvPr>
        </p:nvSpPr>
        <p:spPr>
          <a:xfrm>
            <a:off x="731880" y="4560840"/>
            <a:ext cx="5851080" cy="4320720"/>
          </a:xfrm>
          <a:prstGeom prst="rect">
            <a:avLst/>
          </a:prstGeom>
        </p:spPr>
        <p:txBody>
          <a:bodyPr lIns="96480" tIns="48240" rIns="96480" bIns="48240"/>
          <a:lstStyle/>
          <a:p>
            <a:r>
              <a:rPr lang="en-US" sz="20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Live code the solution with them, you can intentionally leave in a bug by not initializing the HashMap and then use the debugger to trace through and see what happens</a:t>
            </a:r>
          </a:p>
        </p:txBody>
      </p:sp>
      <p:sp>
        <p:nvSpPr>
          <p:cNvPr id="235" name="TextShape 2"/>
          <p:cNvSpPr txBox="1"/>
          <p:nvPr/>
        </p:nvSpPr>
        <p:spPr>
          <a:xfrm>
            <a:off x="4143240" y="9118440"/>
            <a:ext cx="3169800" cy="480600"/>
          </a:xfrm>
          <a:prstGeom prst="rect">
            <a:avLst/>
          </a:prstGeom>
          <a:noFill/>
          <a:ln w="9360">
            <a:noFill/>
          </a:ln>
        </p:spPr>
        <p:txBody>
          <a:bodyPr lIns="96480" tIns="48240" rIns="96480" bIns="48240" anchor="b"/>
          <a:lstStyle/>
          <a:p>
            <a:pPr algn="r">
              <a:lnSpc>
                <a:spcPct val="100000"/>
              </a:lnSpc>
            </a:pPr>
            <a:fld id="{AC2714CC-4B12-40B9-8966-857B3F047F24}" type="slidenum">
              <a:rPr lang="en-US" sz="1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+mn-ea"/>
              </a:rPr>
              <a:t>1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3054220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23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>
              <a:spcBef>
                <a:spcPct val="0"/>
              </a:spcBef>
            </a:pPr>
            <a:r>
              <a:rPr lang="en-US" dirty="0"/>
              <a:t>Aim to start quiz with 5 minutes to spare in the first hour.</a:t>
            </a:r>
          </a:p>
        </p:txBody>
      </p:sp>
      <p:sp>
        <p:nvSpPr>
          <p:cNvPr id="30724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DC4E740-43A9-4CB1-B37F-A3A8D36E5746}" type="slidenum">
              <a:rPr lang="en-US" smtClean="0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2761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1987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Draw box and pointer diagrams on board showing:</a:t>
            </a:r>
          </a:p>
          <a:p>
            <a:r>
              <a:rPr lang="en-US" dirty="0"/>
              <a:t>x : 10</a:t>
            </a:r>
          </a:p>
          <a:p>
            <a:r>
              <a:rPr lang="en-US" dirty="0"/>
              <a:t>y : 20</a:t>
            </a:r>
          </a:p>
          <a:p>
            <a:r>
              <a:rPr lang="en-US" dirty="0"/>
              <a:t>Rectangle object with values 10, 20, 5, 5</a:t>
            </a:r>
          </a:p>
          <a:p>
            <a:r>
              <a:rPr lang="en-US" dirty="0"/>
              <a:t>box : arrow pointing to Rectangle object</a:t>
            </a:r>
          </a:p>
          <a:p>
            <a:endParaRPr lang="en-US" dirty="0"/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Primitives always lower case</a:t>
            </a:r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Usually not using    byte, short, float</a:t>
            </a:r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The value stored in the box variable is a memory location</a:t>
            </a:r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 it is a reference to a memory location</a:t>
            </a:r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endParaRPr lang="en-US" dirty="0"/>
          </a:p>
        </p:txBody>
      </p:sp>
      <p:sp>
        <p:nvSpPr>
          <p:cNvPr id="41988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B3B8593A-7963-4D3B-8B2F-E76B6C26D700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796226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Slide Image Placeholder 1"/>
          <p:cNvSpPr>
            <a:spLocks noGrp="1" noRot="1" noChangeAspect="1" noTextEdi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43011" name="Notes Placeholder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Draw step-by-step on the board.  </a:t>
            </a:r>
          </a:p>
          <a:p>
            <a:endParaRPr lang="en-US" dirty="0"/>
          </a:p>
          <a:p>
            <a:endParaRPr lang="en-US" sz="12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Translate moves 4-&gt;9, 6-&gt;10</a:t>
            </a:r>
          </a:p>
          <a:p>
            <a:endParaRPr lang="en-US" dirty="0"/>
          </a:p>
        </p:txBody>
      </p:sp>
      <p:sp>
        <p:nvSpPr>
          <p:cNvPr id="43012" name="Slide Number Placehold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F825BEBA-391D-4869-AB46-6E2ADD51715F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037588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body"/>
          </p:nvPr>
        </p:nvSpPr>
        <p:spPr>
          <a:xfrm>
            <a:off x="731880" y="4560840"/>
            <a:ext cx="5851080" cy="4320720"/>
          </a:xfrm>
          <a:prstGeom prst="rect">
            <a:avLst/>
          </a:prstGeom>
        </p:spPr>
        <p:txBody>
          <a:bodyPr lIns="96480" tIns="48240" rIns="96480" bIns="48240"/>
          <a:lstStyle/>
          <a:p>
            <a:endParaRPr lang="en-US" sz="20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43" name="TextShape 2"/>
          <p:cNvSpPr txBox="1"/>
          <p:nvPr/>
        </p:nvSpPr>
        <p:spPr>
          <a:xfrm>
            <a:off x="4143240" y="9118440"/>
            <a:ext cx="3169800" cy="480600"/>
          </a:xfrm>
          <a:prstGeom prst="rect">
            <a:avLst/>
          </a:prstGeom>
          <a:noFill/>
          <a:ln w="9360">
            <a:noFill/>
          </a:ln>
        </p:spPr>
        <p:txBody>
          <a:bodyPr lIns="96480" tIns="48240" rIns="96480" bIns="48240" anchor="b"/>
          <a:lstStyle/>
          <a:p>
            <a:pPr algn="r">
              <a:lnSpc>
                <a:spcPct val="100000"/>
              </a:lnSpc>
            </a:pPr>
            <a:fld id="{0FF01DAD-E2BB-4C6A-94B4-8C5DE289AA7D}" type="slidenum">
              <a:rPr lang="en-US" sz="1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+mn-ea"/>
              </a:rPr>
              <a:t>5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94053846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PlaceHolder 1"/>
          <p:cNvSpPr>
            <a:spLocks noGrp="1"/>
          </p:cNvSpPr>
          <p:nvPr>
            <p:ph type="body"/>
          </p:nvPr>
        </p:nvSpPr>
        <p:spPr>
          <a:xfrm>
            <a:off x="731880" y="4560840"/>
            <a:ext cx="5851080" cy="4320720"/>
          </a:xfrm>
          <a:prstGeom prst="rect">
            <a:avLst/>
          </a:prstGeom>
        </p:spPr>
        <p:txBody>
          <a:bodyPr lIns="96480" tIns="48240" rIns="96480" bIns="48240"/>
          <a:lstStyle/>
          <a:p>
            <a:r>
              <a:rPr lang="en-US" sz="20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== operator in String is a weird animal. Depending on which JVM you are using, it may cache the string literal or not. If the JVM caches the String literal, then == returns true otherwise it returns false. It is always the best to use the equals() method on String.</a:t>
            </a:r>
          </a:p>
        </p:txBody>
      </p:sp>
      <p:sp>
        <p:nvSpPr>
          <p:cNvPr id="243" name="TextShape 2"/>
          <p:cNvSpPr txBox="1"/>
          <p:nvPr/>
        </p:nvSpPr>
        <p:spPr>
          <a:xfrm>
            <a:off x="4143240" y="9118440"/>
            <a:ext cx="3169800" cy="480600"/>
          </a:xfrm>
          <a:prstGeom prst="rect">
            <a:avLst/>
          </a:prstGeom>
          <a:noFill/>
          <a:ln w="9360">
            <a:noFill/>
          </a:ln>
        </p:spPr>
        <p:txBody>
          <a:bodyPr lIns="96480" tIns="48240" rIns="96480" bIns="48240" anchor="b"/>
          <a:lstStyle/>
          <a:p>
            <a:pPr algn="r">
              <a:lnSpc>
                <a:spcPct val="100000"/>
              </a:lnSpc>
            </a:pPr>
            <a:fld id="{0FF01DAD-E2BB-4C6A-94B4-8C5DE289AA7D}" type="slidenum">
              <a:rPr lang="en-US" sz="1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  <a:ea typeface="+mn-ea"/>
              </a:rPr>
              <a:t>6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83298468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Defoe: This is when they complete the quiz.</a:t>
            </a:r>
          </a:p>
          <a:p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Yoder: Point out the box and pointer diagrams on the course page</a:t>
            </a:r>
          </a:p>
          <a:p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NO ARROWS FOR PRIMITIVES!</a:t>
            </a:r>
          </a:p>
          <a:p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Key word new is a clue… draw a box</a:t>
            </a:r>
          </a:p>
          <a:p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When you pass an Object into a method YOU PASS THE REFERENCE, so if you change it, it changes elsewhere!</a:t>
            </a:r>
          </a:p>
          <a:p>
            <a:r>
              <a:rPr lang="en-US" sz="1200" b="0" strike="noStrike" spc="-1" baseline="0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  <a:sym typeface="Wingdings" panose="05000000000000000000" pitchFamily="2" charset="2"/>
              </a:rPr>
              <a:t>Notice arrow pointing to null,  null is not in a box!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SMALL BOXES MUST NOT POINT TO OTHER  SMALL BOXES</a:t>
            </a:r>
          </a:p>
          <a:p>
            <a:endParaRPr lang="en-US" sz="1200" b="1" strike="noStrike" spc="-1" baseline="0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F3BF035C-C190-4FBE-9474-8535FCFBFED8}" type="slidenum">
              <a:rPr lang="en-US" smtClean="0"/>
              <a:pPr>
                <a:defRPr/>
              </a:pPr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53134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subTitle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subTitle"/>
          </p:nvPr>
        </p:nvSpPr>
        <p:spPr>
          <a:xfrm>
            <a:off x="457200" y="274680"/>
            <a:ext cx="8229240" cy="5297760"/>
          </a:xfrm>
          <a:prstGeom prst="rect">
            <a:avLst/>
          </a:prstGeom>
        </p:spPr>
        <p:txBody>
          <a:bodyPr lIns="0" tIns="0" rIns="0" bIns="0" anchor="ctr"/>
          <a:lstStyle/>
          <a:p>
            <a:pPr algn="ctr"/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58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59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0" name="PlaceHolder 4"/>
          <p:cNvSpPr>
            <a:spLocks noGrp="1"/>
          </p:cNvSpPr>
          <p:nvPr>
            <p:ph type="body"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4" name="PlaceHolder 4"/>
          <p:cNvSpPr>
            <a:spLocks noGrp="1"/>
          </p:cNvSpPr>
          <p:nvPr>
            <p:ph type="body"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body"/>
          </p:nvPr>
        </p:nvSpPr>
        <p:spPr>
          <a:xfrm>
            <a:off x="457200" y="3964320"/>
            <a:ext cx="822924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60020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457200" y="3964320"/>
            <a:ext cx="4015800" cy="2158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lIns="0" tIns="0" rIns="0" bIns="0" anchor="ctr"/>
          <a:lstStyle/>
          <a:p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 lIns="0" tIns="0" rIns="0" bIns="0"/>
          <a:lstStyle/>
          <a:p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pic>
        <p:nvPicPr>
          <p:cNvPr id="76" name="Picture 75"/>
          <p:cNvPicPr/>
          <p:nvPr/>
        </p:nvPicPr>
        <p:blipFill>
          <a:blip r:embed="rId2"/>
          <a:stretch/>
        </p:blipFill>
        <p:spPr>
          <a:xfrm>
            <a:off x="1735560" y="1599840"/>
            <a:ext cx="5671800" cy="4525560"/>
          </a:xfrm>
          <a:prstGeom prst="rect">
            <a:avLst/>
          </a:prstGeom>
          <a:ln>
            <a:noFill/>
          </a:ln>
        </p:spPr>
      </p:pic>
      <p:pic>
        <p:nvPicPr>
          <p:cNvPr id="77" name="Picture 76"/>
          <p:cNvPicPr/>
          <p:nvPr/>
        </p:nvPicPr>
        <p:blipFill>
          <a:blip r:embed="rId2"/>
          <a:stretch/>
        </p:blipFill>
        <p:spPr>
          <a:xfrm>
            <a:off x="1735560" y="1599840"/>
            <a:ext cx="5671800" cy="4525560"/>
          </a:xfrm>
          <a:prstGeom prst="rect">
            <a:avLst/>
          </a:prstGeom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27D7991-EA90-452F-8320-3944AC6ACE17}" type="datetime2">
              <a:rPr lang="en-US" smtClean="0"/>
              <a:pPr>
                <a:defRPr/>
              </a:pPr>
              <a:t>Tuesday, September 15,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55B93D7-BBD0-414E-AA31-A2C3C4F82EFC}" type="slidenum">
              <a:rPr lang="en-US" smtClean="0"/>
              <a:pPr>
                <a:defRPr/>
              </a:pPr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905651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D00CD71-0390-4FFF-86B3-34A2B208A500}" type="datetime2">
              <a:rPr lang="en-US" smtClean="0"/>
              <a:pPr>
                <a:defRPr/>
              </a:pPr>
              <a:t>Tuesday, September 15, 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67FE096-D0D1-4E3A-83E8-C4CFA5980E00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9634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Click to edit Master title style</a:t>
            </a:r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40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</p:spPr>
        <p:txBody>
          <a:bodyPr/>
          <a:lstStyle/>
          <a:p>
            <a:pPr marL="432000" indent="-324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Click to edit the outline text format</a:t>
            </a:r>
          </a:p>
          <a:p>
            <a:pPr marL="864000" lvl="1" indent="-324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Second Outline Level</a:t>
            </a:r>
          </a:p>
          <a:p>
            <a:pPr marL="1296000" lvl="2" indent="-288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Third Outline Level</a:t>
            </a:r>
          </a:p>
          <a:p>
            <a:pPr marL="1728000" lvl="3" indent="-216000"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Fourth Outline Level</a:t>
            </a:r>
          </a:p>
          <a:p>
            <a:pPr marL="2160000" lvl="4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Fifth Outline Level</a:t>
            </a:r>
          </a:p>
          <a:p>
            <a:pPr marL="2592000" lvl="5" indent="-216000"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Sixth Outline Level</a:t>
            </a:r>
          </a:p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Seventh Outline LevelClick to edit Master text styles</a:t>
            </a:r>
          </a:p>
          <a:p>
            <a:pPr marL="743040" lvl="1" indent="-28548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Second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1143000" lvl="2" indent="-22824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2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Third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1600200" lvl="3" indent="-228240">
              <a:lnSpc>
                <a:spcPct val="100000"/>
              </a:lnSpc>
              <a:buClr>
                <a:srgbClr val="000000"/>
              </a:buClr>
              <a:buFont typeface="Arial"/>
              <a:buChar char="–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Fourth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  <a:p>
            <a:pPr marL="2057400" lvl="4" indent="-228240">
              <a:lnSpc>
                <a:spcPct val="100000"/>
              </a:lnSpc>
              <a:buClr>
                <a:srgbClr val="000000"/>
              </a:buClr>
              <a:buFont typeface="Arial"/>
              <a:buChar char="»"/>
            </a:pPr>
            <a:r>
              <a:rPr lang="en-US" sz="20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Fifth level</a:t>
            </a:r>
            <a:endParaRPr lang="en-US" sz="32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41" name="PlaceHolder 3"/>
          <p:cNvSpPr>
            <a:spLocks noGrp="1"/>
          </p:cNvSpPr>
          <p:nvPr>
            <p:ph type="dt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</p:spPr>
        <p:txBody>
          <a:bodyPr anchor="ctr"/>
          <a:lstStyle/>
          <a:p>
            <a:pPr>
              <a:lnSpc>
                <a:spcPct val="100000"/>
              </a:lnSpc>
            </a:pPr>
            <a:r>
              <a:rPr lang="en-US" sz="1200" b="0" strike="noStrike" spc="-1">
                <a:solidFill>
                  <a:srgbClr val="8B8B8B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9/11/17</a:t>
            </a:r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2" name="PlaceHolder 4"/>
          <p:cNvSpPr>
            <a:spLocks noGrp="1"/>
          </p:cNvSpPr>
          <p:nvPr>
            <p:ph type="ftr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</p:spPr>
        <p:txBody>
          <a:bodyPr anchor="ctr"/>
          <a:lstStyle/>
          <a:p>
            <a:endParaRPr lang="en-US" sz="2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  <p:sp>
        <p:nvSpPr>
          <p:cNvPr id="43" name="PlaceHolder 5"/>
          <p:cNvSpPr>
            <a:spLocks noGrp="1"/>
          </p:cNvSpPr>
          <p:nvPr>
            <p:ph type="sldNum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</p:spPr>
        <p:txBody>
          <a:bodyPr anchor="ctr"/>
          <a:lstStyle/>
          <a:p>
            <a:pPr algn="r">
              <a:lnSpc>
                <a:spcPct val="100000"/>
              </a:lnSpc>
            </a:pPr>
            <a:fld id="{466AC9E2-460C-4DD9-B843-110103D8C5D7}" type="slidenum">
              <a:rPr lang="en-US" sz="1200" b="0" strike="noStrike" spc="-1">
                <a:solidFill>
                  <a:srgbClr val="8B8B8B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‹#›</a:t>
            </a:fld>
            <a:endParaRPr lang="en-US" sz="1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  <p:sldLayoutId id="2147483672" r:id="rId11"/>
    <p:sldLayoutId id="2147483673" r:id="rId12"/>
    <p:sldLayoutId id="2147483674" r:id="rId13"/>
    <p:sldLayoutId id="2147483675" r:id="rId14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Shape 1"/>
          <p:cNvSpPr txBox="1"/>
          <p:nvPr/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4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Finishing up from last time...</a:t>
            </a:r>
            <a:endParaRPr lang="en-US" sz="44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28" name="TextShape 2"/>
          <p:cNvSpPr txBox="1"/>
          <p:nvPr/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marL="343080" indent="-34272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Complete the </a:t>
            </a:r>
            <a:r>
              <a:rPr lang="en-US" sz="32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StudentGradebook</a:t>
            </a: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problem in the </a:t>
            </a:r>
            <a:r>
              <a:rPr lang="en-US" sz="32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SuperSimpleObject</a:t>
            </a:r>
            <a:r>
              <a:rPr lang="en-US" sz="32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project (or the one from last class)</a:t>
            </a:r>
          </a:p>
        </p:txBody>
      </p:sp>
    </p:spTree>
    <p:extLst>
      <p:ext uri="{BB962C8B-B14F-4D97-AF65-F5344CB8AC3E}">
        <p14:creationId xmlns:p14="http://schemas.microsoft.com/office/powerpoint/2010/main" val="1595857429"/>
      </p:ext>
    </p:extLst>
  </p:cSld>
  <p:clrMapOvr>
    <a:masterClrMapping/>
  </p:clrMapOvr>
  <p:timing>
    <p:tnLst>
      <p:par>
        <p:cTn id="1" dur="indefinite" restart="never" nodeType="tmRoot">
          <p:childTnLst>
            <p:seq>
              <p:cTn id="2" nodeType="mainSeq"/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dirty="0"/>
              <a:t>CSSE 220</a:t>
            </a:r>
          </a:p>
        </p:txBody>
      </p:sp>
      <p:sp>
        <p:nvSpPr>
          <p:cNvPr id="9219" name="Rectang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marR="0" eaLnBrk="1" hangingPunct="1">
              <a:lnSpc>
                <a:spcPct val="90000"/>
              </a:lnSpc>
            </a:pPr>
            <a:r>
              <a:rPr lang="en-US" sz="2500" dirty="0"/>
              <a:t>Object References &amp; Box and </a:t>
            </a:r>
            <a:r>
              <a:rPr lang="en-US" sz="2500"/>
              <a:t>Pointer Diagrams</a:t>
            </a:r>
            <a:endParaRPr lang="en-US" sz="2500" dirty="0"/>
          </a:p>
          <a:p>
            <a:pPr marR="0" eaLnBrk="1" hangingPunct="1">
              <a:lnSpc>
                <a:spcPct val="90000"/>
              </a:lnSpc>
            </a:pPr>
            <a:endParaRPr lang="en-US" sz="250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B9EAFEF-51F0-F46C-31AE-B69335D17A8E}"/>
              </a:ext>
            </a:extLst>
          </p:cNvPr>
          <p:cNvSpPr/>
          <p:nvPr/>
        </p:nvSpPr>
        <p:spPr>
          <a:xfrm>
            <a:off x="304800" y="4762500"/>
            <a:ext cx="8534400" cy="1565186"/>
          </a:xfrm>
          <a:prstGeom prst="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400" dirty="0">
                <a:solidFill>
                  <a:srgbClr val="FFFFFF"/>
                </a:solidFill>
              </a:rPr>
              <a:t>The </a:t>
            </a:r>
            <a:r>
              <a:rPr lang="en-US" sz="2400" i="1" dirty="0">
                <a:solidFill>
                  <a:srgbClr val="FFFFFF"/>
                </a:solidFill>
              </a:rPr>
              <a:t>git</a:t>
            </a:r>
            <a:r>
              <a:rPr lang="en-US" sz="2400" dirty="0">
                <a:solidFill>
                  <a:srgbClr val="FFFFFF"/>
                </a:solidFill>
              </a:rPr>
              <a:t> projects for today are: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PracticeSuperSimpleObjectsSolution</a:t>
            </a:r>
            <a:endParaRPr lang="en-US" sz="2400" i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i="1" dirty="0" err="1"/>
              <a:t>PracticeSuperSimpleObjectsBoxAndPointers</a:t>
            </a:r>
            <a:endParaRPr lang="en-US" sz="2400" i="1" dirty="0"/>
          </a:p>
        </p:txBody>
      </p:sp>
    </p:spTree>
    <p:extLst>
      <p:ext uri="{BB962C8B-B14F-4D97-AF65-F5344CB8AC3E}">
        <p14:creationId xmlns:p14="http://schemas.microsoft.com/office/powerpoint/2010/main" val="4758505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What Do Variables Really Store?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Variables of </a:t>
            </a:r>
            <a:r>
              <a:rPr lang="en-US" dirty="0">
                <a:solidFill>
                  <a:srgbClr val="0070C0"/>
                </a:solidFill>
              </a:rPr>
              <a:t>primitive type </a:t>
            </a:r>
            <a:r>
              <a:rPr lang="en-US" dirty="0"/>
              <a:t>store </a:t>
            </a:r>
            <a:r>
              <a:rPr lang="en-US" i="1" dirty="0">
                <a:solidFill>
                  <a:srgbClr val="0070C0"/>
                </a:solidFill>
              </a:rPr>
              <a:t>values</a:t>
            </a:r>
          </a:p>
          <a:p>
            <a:pPr>
              <a:defRPr/>
            </a:pPr>
            <a:r>
              <a:rPr lang="en-US" dirty="0"/>
              <a:t>Variables of </a:t>
            </a:r>
            <a:r>
              <a:rPr lang="en-US" dirty="0">
                <a:solidFill>
                  <a:schemeClr val="accent3"/>
                </a:solidFill>
              </a:rPr>
              <a:t>class type </a:t>
            </a:r>
            <a:r>
              <a:rPr lang="en-US" dirty="0"/>
              <a:t>store </a:t>
            </a:r>
            <a:r>
              <a:rPr lang="en-US" i="1" dirty="0">
                <a:solidFill>
                  <a:schemeClr val="accent3"/>
                </a:solidFill>
              </a:rPr>
              <a:t>references</a:t>
            </a:r>
            <a:br>
              <a:rPr lang="en-US" i="1" dirty="0">
                <a:solidFill>
                  <a:schemeClr val="accent3"/>
                </a:solidFill>
              </a:rPr>
            </a:br>
            <a:r>
              <a:rPr lang="en-US" i="1" dirty="0">
                <a:solidFill>
                  <a:schemeClr val="accent3"/>
                </a:solidFill>
              </a:rPr>
              <a:t>reference = memory address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10269" y="4960166"/>
            <a:ext cx="840105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 err="1">
                <a:solidFill>
                  <a:srgbClr val="0070C0"/>
                </a:solidFill>
                <a:latin typeface="Lucida Sans Typewriter" pitchFamily="49" charset="0"/>
              </a:rPr>
              <a:t>int</a:t>
            </a:r>
            <a:r>
              <a:rPr lang="en-US" sz="2400" dirty="0">
                <a:solidFill>
                  <a:srgbClr val="0070C0"/>
                </a:solidFill>
                <a:latin typeface="Lucida Sans Typewriter" pitchFamily="49" charset="0"/>
              </a:rPr>
              <a:t> x = 10;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 err="1">
                <a:solidFill>
                  <a:srgbClr val="0070C0"/>
                </a:solidFill>
                <a:latin typeface="Lucida Sans Typewriter" pitchFamily="49" charset="0"/>
              </a:rPr>
              <a:t>int</a:t>
            </a:r>
            <a:r>
              <a:rPr lang="en-US" sz="2400" dirty="0">
                <a:solidFill>
                  <a:srgbClr val="0070C0"/>
                </a:solidFill>
                <a:latin typeface="Lucida Sans Typewriter" pitchFamily="49" charset="0"/>
              </a:rPr>
              <a:t> y = 20;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solidFill>
                  <a:schemeClr val="accent3"/>
                </a:solidFill>
                <a:latin typeface="Lucida Sans Typewriter" pitchFamily="49" charset="0"/>
              </a:rPr>
              <a:t>Rectangle box = new Rectangle(x, y, 5, 5);</a:t>
            </a:r>
          </a:p>
        </p:txBody>
      </p:sp>
      <p:grpSp>
        <p:nvGrpSpPr>
          <p:cNvPr id="21" name="Group 20"/>
          <p:cNvGrpSpPr/>
          <p:nvPr/>
        </p:nvGrpSpPr>
        <p:grpSpPr>
          <a:xfrm>
            <a:off x="5886450" y="4423795"/>
            <a:ext cx="1143000" cy="407988"/>
            <a:chOff x="4572000" y="3935412"/>
            <a:chExt cx="1143000" cy="407988"/>
          </a:xfrm>
        </p:grpSpPr>
        <p:sp>
          <p:nvSpPr>
            <p:cNvPr id="8" name="Rectangle 7"/>
            <p:cNvSpPr/>
            <p:nvPr/>
          </p:nvSpPr>
          <p:spPr>
            <a:xfrm>
              <a:off x="5086350" y="3935412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10" name="Rectangle 9"/>
            <p:cNvSpPr/>
            <p:nvPr/>
          </p:nvSpPr>
          <p:spPr>
            <a:xfrm>
              <a:off x="4572000" y="3935412"/>
              <a:ext cx="628650" cy="4079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x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5886450" y="5183413"/>
            <a:ext cx="1143000" cy="415926"/>
            <a:chOff x="4572000" y="4621212"/>
            <a:chExt cx="1143000" cy="415926"/>
          </a:xfrm>
        </p:grpSpPr>
        <p:sp>
          <p:nvSpPr>
            <p:cNvPr id="9" name="Rectangle 8"/>
            <p:cNvSpPr/>
            <p:nvPr/>
          </p:nvSpPr>
          <p:spPr>
            <a:xfrm>
              <a:off x="5086350" y="4629150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20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72000" y="4621212"/>
              <a:ext cx="628650" cy="4079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y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7772400" y="2718198"/>
            <a:ext cx="885826" cy="2547144"/>
            <a:chOff x="7629525" y="2310606"/>
            <a:chExt cx="885826" cy="2547144"/>
          </a:xfrm>
        </p:grpSpPr>
        <p:sp>
          <p:nvSpPr>
            <p:cNvPr id="15" name="Rectangle 14"/>
            <p:cNvSpPr/>
            <p:nvPr/>
          </p:nvSpPr>
          <p:spPr>
            <a:xfrm>
              <a:off x="7772400" y="4229100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5</a:t>
              </a:r>
            </a:p>
          </p:txBody>
        </p:sp>
        <p:grpSp>
          <p:nvGrpSpPr>
            <p:cNvPr id="23" name="Group 22"/>
            <p:cNvGrpSpPr/>
            <p:nvPr/>
          </p:nvGrpSpPr>
          <p:grpSpPr>
            <a:xfrm>
              <a:off x="7629525" y="2310606"/>
              <a:ext cx="885826" cy="2547144"/>
              <a:chOff x="7629525" y="2310606"/>
              <a:chExt cx="885826" cy="2547144"/>
            </a:xfrm>
          </p:grpSpPr>
          <p:sp>
            <p:nvSpPr>
              <p:cNvPr id="12" name="Rectangle 11"/>
              <p:cNvSpPr/>
              <p:nvPr/>
            </p:nvSpPr>
            <p:spPr>
              <a:xfrm>
                <a:off x="7772400" y="251460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10</a:t>
                </a:r>
              </a:p>
            </p:txBody>
          </p:sp>
          <p:sp>
            <p:nvSpPr>
              <p:cNvPr id="13" name="Rectangle 12"/>
              <p:cNvSpPr/>
              <p:nvPr/>
            </p:nvSpPr>
            <p:spPr>
              <a:xfrm>
                <a:off x="7772400" y="3074988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20</a:t>
                </a:r>
              </a:p>
            </p:txBody>
          </p:sp>
          <p:sp>
            <p:nvSpPr>
              <p:cNvPr id="14" name="Rectangle 13"/>
              <p:cNvSpPr/>
              <p:nvPr/>
            </p:nvSpPr>
            <p:spPr>
              <a:xfrm>
                <a:off x="7772400" y="365760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7629525" y="2310606"/>
                <a:ext cx="885826" cy="2547144"/>
              </a:xfrm>
              <a:prstGeom prst="rect">
                <a:avLst/>
              </a:prstGeom>
              <a:noFill/>
              <a:ln w="762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26" name="Group 25"/>
          <p:cNvGrpSpPr/>
          <p:nvPr/>
        </p:nvGrpSpPr>
        <p:grpSpPr>
          <a:xfrm>
            <a:off x="5857875" y="3550842"/>
            <a:ext cx="1914525" cy="407988"/>
            <a:chOff x="5715000" y="3143250"/>
            <a:chExt cx="1914525" cy="407988"/>
          </a:xfrm>
        </p:grpSpPr>
        <p:grpSp>
          <p:nvGrpSpPr>
            <p:cNvPr id="24" name="Group 23"/>
            <p:cNvGrpSpPr/>
            <p:nvPr/>
          </p:nvGrpSpPr>
          <p:grpSpPr>
            <a:xfrm>
              <a:off x="5715000" y="3143250"/>
              <a:ext cx="1371600" cy="407988"/>
              <a:chOff x="5715000" y="3143250"/>
              <a:chExt cx="1371600" cy="407988"/>
            </a:xfrm>
          </p:grpSpPr>
          <p:sp>
            <p:nvSpPr>
              <p:cNvPr id="16" name="Rectangle 15"/>
              <p:cNvSpPr/>
              <p:nvPr/>
            </p:nvSpPr>
            <p:spPr>
              <a:xfrm>
                <a:off x="6457950" y="314325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5715000" y="3143250"/>
                <a:ext cx="857250" cy="4079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sz="2000" dirty="0">
                    <a:solidFill>
                      <a:srgbClr val="FF0000"/>
                    </a:solidFill>
                  </a:rPr>
                  <a:t>box</a:t>
                </a:r>
              </a:p>
            </p:txBody>
          </p:sp>
        </p:grpSp>
        <p:cxnSp>
          <p:nvCxnSpPr>
            <p:cNvPr id="20" name="Straight Arrow Connector 19"/>
            <p:cNvCxnSpPr/>
            <p:nvPr/>
          </p:nvCxnSpPr>
          <p:spPr>
            <a:xfrm flipV="1">
              <a:off x="6800850" y="3143250"/>
              <a:ext cx="828675" cy="17145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094612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/>
            </a:pPr>
            <a:r>
              <a:rPr lang="en-US" dirty="0"/>
              <a:t>Assignment Copies </a:t>
            </a:r>
            <a:r>
              <a:rPr lang="en-US" dirty="0">
                <a:solidFill>
                  <a:schemeClr val="accent3"/>
                </a:solidFill>
              </a:rPr>
              <a:t>Values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>
          <a:xfrm>
            <a:off x="241300" y="1215230"/>
            <a:ext cx="8229600" cy="4525963"/>
          </a:xfrm>
        </p:spPr>
        <p:txBody>
          <a:bodyPr/>
          <a:lstStyle/>
          <a:p>
            <a:pPr>
              <a:defRPr/>
            </a:pPr>
            <a:r>
              <a:rPr lang="en-US" dirty="0">
                <a:solidFill>
                  <a:srgbClr val="0070C0"/>
                </a:solidFill>
              </a:rPr>
              <a:t>Actual</a:t>
            </a:r>
            <a:r>
              <a:rPr lang="en-US" dirty="0"/>
              <a:t> value for number (primitive) types</a:t>
            </a:r>
          </a:p>
          <a:p>
            <a:pPr>
              <a:defRPr/>
            </a:pPr>
            <a:r>
              <a:rPr lang="en-US" b="1" dirty="0">
                <a:solidFill>
                  <a:schemeClr val="accent3"/>
                </a:solidFill>
              </a:rPr>
              <a:t>Reference</a:t>
            </a:r>
            <a:r>
              <a:rPr lang="en-US" dirty="0"/>
              <a:t> value for object types</a:t>
            </a:r>
          </a:p>
          <a:p>
            <a:pPr lvl="1">
              <a:defRPr/>
            </a:pPr>
            <a:r>
              <a:rPr lang="en-US" dirty="0"/>
              <a:t>The actual </a:t>
            </a:r>
            <a:r>
              <a:rPr lang="en-US" b="1" dirty="0">
                <a:solidFill>
                  <a:schemeClr val="accent3"/>
                </a:solidFill>
              </a:rPr>
              <a:t>object is not copied</a:t>
            </a:r>
          </a:p>
          <a:p>
            <a:pPr lvl="1">
              <a:defRPr/>
            </a:pPr>
            <a:r>
              <a:rPr lang="en-US" dirty="0"/>
              <a:t>The </a:t>
            </a:r>
            <a:r>
              <a:rPr lang="en-US" b="1" dirty="0">
                <a:solidFill>
                  <a:schemeClr val="accent3"/>
                </a:solidFill>
              </a:rPr>
              <a:t>reference value </a:t>
            </a:r>
            <a:r>
              <a:rPr lang="en-US" dirty="0"/>
              <a:t>(“the </a:t>
            </a:r>
            <a:r>
              <a:rPr lang="en-US" i="1" dirty="0"/>
              <a:t>address</a:t>
            </a:r>
            <a:r>
              <a:rPr lang="en-US" dirty="0"/>
              <a:t> or </a:t>
            </a:r>
            <a:r>
              <a:rPr lang="en-US" i="1" dirty="0"/>
              <a:t>pointer</a:t>
            </a:r>
            <a:r>
              <a:rPr lang="en-US" dirty="0"/>
              <a:t>”) </a:t>
            </a:r>
            <a:r>
              <a:rPr lang="en-US" b="1" dirty="0">
                <a:solidFill>
                  <a:schemeClr val="accent3"/>
                </a:solidFill>
              </a:rPr>
              <a:t>is copied</a:t>
            </a:r>
          </a:p>
          <a:p>
            <a:pPr>
              <a:defRPr/>
            </a:pPr>
            <a:r>
              <a:rPr lang="en-US" dirty="0"/>
              <a:t>Consider:</a:t>
            </a:r>
          </a:p>
          <a:p>
            <a:pPr lvl="1">
              <a:defRPr/>
            </a:pPr>
            <a:endParaRPr lang="en-US" b="1" dirty="0">
              <a:solidFill>
                <a:schemeClr val="accent3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60733" y="4125322"/>
            <a:ext cx="859598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 err="1">
                <a:solidFill>
                  <a:srgbClr val="0070C0"/>
                </a:solidFill>
                <a:latin typeface="Lucida Sans Typewriter" pitchFamily="49" charset="0"/>
              </a:rPr>
              <a:t>int</a:t>
            </a:r>
            <a:r>
              <a:rPr lang="en-US" sz="2400" dirty="0">
                <a:solidFill>
                  <a:srgbClr val="0070C0"/>
                </a:solidFill>
                <a:latin typeface="Lucida Sans Typewriter" pitchFamily="49" charset="0"/>
              </a:rPr>
              <a:t> x = 10;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 err="1">
                <a:solidFill>
                  <a:srgbClr val="0070C0"/>
                </a:solidFill>
                <a:latin typeface="Lucida Sans Typewriter" pitchFamily="49" charset="0"/>
              </a:rPr>
              <a:t>int</a:t>
            </a:r>
            <a:r>
              <a:rPr lang="en-US" sz="2400" dirty="0">
                <a:solidFill>
                  <a:srgbClr val="0070C0"/>
                </a:solidFill>
                <a:latin typeface="Lucida Sans Typewriter" pitchFamily="49" charset="0"/>
              </a:rPr>
              <a:t> y = x;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solidFill>
                  <a:srgbClr val="0070C0"/>
                </a:solidFill>
                <a:latin typeface="Lucida Sans Typewriter" pitchFamily="49" charset="0"/>
              </a:rPr>
              <a:t>y = 20;</a:t>
            </a:r>
            <a:endParaRPr lang="en-US" sz="2400" dirty="0">
              <a:solidFill>
                <a:schemeClr val="accent3"/>
              </a:solidFill>
              <a:latin typeface="Lucida Sans Typewriter" pitchFamily="49" charset="0"/>
            </a:endParaRP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solidFill>
                  <a:schemeClr val="accent3"/>
                </a:solidFill>
                <a:latin typeface="Lucida Sans Typewriter" pitchFamily="49" charset="0"/>
              </a:rPr>
              <a:t>Rectangle box = new Rectangle(5, 6, 7, 8);</a:t>
            </a: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solidFill>
                  <a:schemeClr val="accent3"/>
                </a:solidFill>
                <a:latin typeface="Lucida Sans Typewriter" pitchFamily="49" charset="0"/>
              </a:rPr>
              <a:t>Rectangle box2 = box; </a:t>
            </a:r>
            <a:endParaRPr lang="en-US" dirty="0">
              <a:solidFill>
                <a:schemeClr val="accent3"/>
              </a:solidFill>
              <a:latin typeface="Lucida Sans Typewriter" pitchFamily="49" charset="0"/>
            </a:endParaRPr>
          </a:p>
          <a:p>
            <a:pPr marL="457200" indent="-457200">
              <a:buFont typeface="+mj-lt"/>
              <a:buAutoNum type="arabicPeriod"/>
              <a:defRPr/>
            </a:pPr>
            <a:r>
              <a:rPr lang="en-US" sz="2400" dirty="0">
                <a:solidFill>
                  <a:schemeClr val="accent3"/>
                </a:solidFill>
                <a:latin typeface="Lucida Sans Typewriter" pitchFamily="49" charset="0"/>
              </a:rPr>
              <a:t>box2.translate(4, 4);</a:t>
            </a:r>
            <a:r>
              <a:rPr lang="en-US" dirty="0">
                <a:solidFill>
                  <a:schemeClr val="accent3"/>
                </a:solidFill>
                <a:latin typeface="Lucida Sans Typewriter" pitchFamily="49" charset="0"/>
              </a:rPr>
              <a:t> // called shallow copy</a:t>
            </a:r>
          </a:p>
        </p:txBody>
      </p:sp>
      <p:grpSp>
        <p:nvGrpSpPr>
          <p:cNvPr id="6" name="Group 5"/>
          <p:cNvGrpSpPr/>
          <p:nvPr/>
        </p:nvGrpSpPr>
        <p:grpSpPr>
          <a:xfrm>
            <a:off x="3143250" y="3583782"/>
            <a:ext cx="1143000" cy="407988"/>
            <a:chOff x="4572000" y="3935412"/>
            <a:chExt cx="1143000" cy="407988"/>
          </a:xfrm>
        </p:grpSpPr>
        <p:sp>
          <p:nvSpPr>
            <p:cNvPr id="7" name="Rectangle 6"/>
            <p:cNvSpPr/>
            <p:nvPr/>
          </p:nvSpPr>
          <p:spPr>
            <a:xfrm>
              <a:off x="5086350" y="3935412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8" name="Rectangle 7"/>
            <p:cNvSpPr/>
            <p:nvPr/>
          </p:nvSpPr>
          <p:spPr>
            <a:xfrm>
              <a:off x="4572000" y="3935412"/>
              <a:ext cx="628650" cy="4079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x</a:t>
              </a:r>
            </a:p>
          </p:txBody>
        </p:sp>
      </p:grpSp>
      <p:grpSp>
        <p:nvGrpSpPr>
          <p:cNvPr id="9" name="Group 8"/>
          <p:cNvGrpSpPr/>
          <p:nvPr/>
        </p:nvGrpSpPr>
        <p:grpSpPr>
          <a:xfrm>
            <a:off x="3143250" y="4334670"/>
            <a:ext cx="1143000" cy="415926"/>
            <a:chOff x="4572000" y="4621212"/>
            <a:chExt cx="1143000" cy="415926"/>
          </a:xfrm>
        </p:grpSpPr>
        <p:sp>
          <p:nvSpPr>
            <p:cNvPr id="10" name="Rectangle 9"/>
            <p:cNvSpPr/>
            <p:nvPr/>
          </p:nvSpPr>
          <p:spPr>
            <a:xfrm>
              <a:off x="5086350" y="4629150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10</a:t>
              </a:r>
            </a:p>
          </p:txBody>
        </p:sp>
        <p:sp>
          <p:nvSpPr>
            <p:cNvPr id="11" name="Rectangle 10"/>
            <p:cNvSpPr/>
            <p:nvPr/>
          </p:nvSpPr>
          <p:spPr>
            <a:xfrm>
              <a:off x="4572000" y="4621212"/>
              <a:ext cx="628650" cy="407988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sz="2000" dirty="0">
                  <a:solidFill>
                    <a:srgbClr val="FF0000"/>
                  </a:solidFill>
                </a:rPr>
                <a:t>y</a:t>
              </a:r>
            </a:p>
          </p:txBody>
        </p:sp>
      </p:grpSp>
      <p:grpSp>
        <p:nvGrpSpPr>
          <p:cNvPr id="12" name="Group 11"/>
          <p:cNvGrpSpPr/>
          <p:nvPr/>
        </p:nvGrpSpPr>
        <p:grpSpPr>
          <a:xfrm>
            <a:off x="7769988" y="2343150"/>
            <a:ext cx="885826" cy="2547144"/>
            <a:chOff x="7629525" y="2310606"/>
            <a:chExt cx="885826" cy="2547144"/>
          </a:xfrm>
        </p:grpSpPr>
        <p:sp>
          <p:nvSpPr>
            <p:cNvPr id="13" name="Rectangle 12"/>
            <p:cNvSpPr/>
            <p:nvPr/>
          </p:nvSpPr>
          <p:spPr>
            <a:xfrm>
              <a:off x="7772400" y="4229100"/>
              <a:ext cx="628650" cy="407988"/>
            </a:xfrm>
            <a:prstGeom prst="rect">
              <a:avLst/>
            </a:prstGeom>
            <a:solidFill>
              <a:srgbClr val="00B0F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1440" bIns="91440" rtlCol="0" anchor="ctr"/>
            <a:lstStyle/>
            <a:p>
              <a:pPr algn="ctr"/>
              <a:r>
                <a:rPr lang="en-US" dirty="0"/>
                <a:t>8</a:t>
              </a:r>
            </a:p>
          </p:txBody>
        </p:sp>
        <p:grpSp>
          <p:nvGrpSpPr>
            <p:cNvPr id="14" name="Group 22"/>
            <p:cNvGrpSpPr/>
            <p:nvPr/>
          </p:nvGrpSpPr>
          <p:grpSpPr>
            <a:xfrm>
              <a:off x="7629525" y="2310606"/>
              <a:ext cx="885826" cy="2547144"/>
              <a:chOff x="7629525" y="2310606"/>
              <a:chExt cx="885826" cy="2547144"/>
            </a:xfrm>
          </p:grpSpPr>
          <p:sp>
            <p:nvSpPr>
              <p:cNvPr id="15" name="Rectangle 11"/>
              <p:cNvSpPr/>
              <p:nvPr/>
            </p:nvSpPr>
            <p:spPr>
              <a:xfrm>
                <a:off x="7772400" y="251460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5</a:t>
                </a:r>
              </a:p>
            </p:txBody>
          </p:sp>
          <p:sp>
            <p:nvSpPr>
              <p:cNvPr id="16" name="Rectangle 15"/>
              <p:cNvSpPr/>
              <p:nvPr/>
            </p:nvSpPr>
            <p:spPr>
              <a:xfrm>
                <a:off x="7772400" y="3074988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6</a:t>
                </a:r>
              </a:p>
            </p:txBody>
          </p:sp>
          <p:sp>
            <p:nvSpPr>
              <p:cNvPr id="17" name="Rectangle 16"/>
              <p:cNvSpPr/>
              <p:nvPr/>
            </p:nvSpPr>
            <p:spPr>
              <a:xfrm>
                <a:off x="7772400" y="365760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dirty="0"/>
                  <a:t>7</a:t>
                </a:r>
              </a:p>
            </p:txBody>
          </p:sp>
          <p:sp>
            <p:nvSpPr>
              <p:cNvPr id="18" name="Rectangle 17"/>
              <p:cNvSpPr/>
              <p:nvPr/>
            </p:nvSpPr>
            <p:spPr>
              <a:xfrm>
                <a:off x="7629525" y="2310606"/>
                <a:ext cx="885826" cy="2547144"/>
              </a:xfrm>
              <a:prstGeom prst="rect">
                <a:avLst/>
              </a:prstGeom>
              <a:noFill/>
              <a:ln w="762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endParaRPr lang="en-US" dirty="0"/>
              </a:p>
            </p:txBody>
          </p:sp>
        </p:grpSp>
      </p:grpSp>
      <p:grpSp>
        <p:nvGrpSpPr>
          <p:cNvPr id="19" name="Group 18"/>
          <p:cNvGrpSpPr/>
          <p:nvPr/>
        </p:nvGrpSpPr>
        <p:grpSpPr>
          <a:xfrm>
            <a:off x="5943599" y="3478212"/>
            <a:ext cx="1914525" cy="407988"/>
            <a:chOff x="5715000" y="3143250"/>
            <a:chExt cx="1914525" cy="407988"/>
          </a:xfrm>
        </p:grpSpPr>
        <p:grpSp>
          <p:nvGrpSpPr>
            <p:cNvPr id="20" name="Group 23"/>
            <p:cNvGrpSpPr/>
            <p:nvPr/>
          </p:nvGrpSpPr>
          <p:grpSpPr>
            <a:xfrm>
              <a:off x="5715000" y="3143250"/>
              <a:ext cx="1371600" cy="407988"/>
              <a:chOff x="5715000" y="3143250"/>
              <a:chExt cx="1371600" cy="407988"/>
            </a:xfrm>
          </p:grpSpPr>
          <p:sp>
            <p:nvSpPr>
              <p:cNvPr id="22" name="Rectangle 15"/>
              <p:cNvSpPr/>
              <p:nvPr/>
            </p:nvSpPr>
            <p:spPr>
              <a:xfrm>
                <a:off x="6457950" y="314325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23" name="Rectangle 22"/>
              <p:cNvSpPr/>
              <p:nvPr/>
            </p:nvSpPr>
            <p:spPr>
              <a:xfrm>
                <a:off x="5715000" y="3143250"/>
                <a:ext cx="857250" cy="4079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sz="2000" dirty="0">
                    <a:solidFill>
                      <a:srgbClr val="FF0000"/>
                    </a:solidFill>
                  </a:rPr>
                  <a:t>box</a:t>
                </a:r>
              </a:p>
            </p:txBody>
          </p:sp>
        </p:grpSp>
        <p:cxnSp>
          <p:nvCxnSpPr>
            <p:cNvPr id="21" name="Straight Arrow Connector 20"/>
            <p:cNvCxnSpPr/>
            <p:nvPr/>
          </p:nvCxnSpPr>
          <p:spPr>
            <a:xfrm flipV="1">
              <a:off x="6800850" y="3143250"/>
              <a:ext cx="828675" cy="171450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4" name="TextBox 23"/>
          <p:cNvSpPr txBox="1"/>
          <p:nvPr/>
        </p:nvSpPr>
        <p:spPr>
          <a:xfrm>
            <a:off x="3884133" y="4099051"/>
            <a:ext cx="128277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×</a:t>
            </a:r>
            <a:r>
              <a:rPr lang="en-US" sz="2400" b="1" dirty="0">
                <a:solidFill>
                  <a:srgbClr val="FF0000"/>
                </a:solidFill>
              </a:rPr>
              <a:t>20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5626864" y="3616722"/>
            <a:ext cx="2054988" cy="1020366"/>
            <a:chOff x="5486400" y="2530872"/>
            <a:chExt cx="2054988" cy="1020366"/>
          </a:xfrm>
        </p:grpSpPr>
        <p:grpSp>
          <p:nvGrpSpPr>
            <p:cNvPr id="27" name="Group 23"/>
            <p:cNvGrpSpPr/>
            <p:nvPr/>
          </p:nvGrpSpPr>
          <p:grpSpPr>
            <a:xfrm>
              <a:off x="5486400" y="3143250"/>
              <a:ext cx="1600200" cy="407988"/>
              <a:chOff x="5486400" y="3143250"/>
              <a:chExt cx="1600200" cy="407988"/>
            </a:xfrm>
          </p:grpSpPr>
          <p:sp>
            <p:nvSpPr>
              <p:cNvPr id="29" name="Rectangle 15"/>
              <p:cNvSpPr/>
              <p:nvPr/>
            </p:nvSpPr>
            <p:spPr>
              <a:xfrm>
                <a:off x="6457950" y="3143250"/>
                <a:ext cx="628650" cy="407988"/>
              </a:xfrm>
              <a:prstGeom prst="rect">
                <a:avLst/>
              </a:prstGeom>
              <a:solidFill>
                <a:srgbClr val="00B0F0"/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30" name="Rectangle 29"/>
              <p:cNvSpPr/>
              <p:nvPr/>
            </p:nvSpPr>
            <p:spPr>
              <a:xfrm>
                <a:off x="5486400" y="3143250"/>
                <a:ext cx="1085850" cy="407988"/>
              </a:xfrm>
              <a:prstGeom prst="rect">
                <a:avLst/>
              </a:prstGeom>
              <a:no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tIns="91440" bIns="91440" rtlCol="0" anchor="ctr"/>
              <a:lstStyle/>
              <a:p>
                <a:pPr algn="ctr"/>
                <a:r>
                  <a:rPr lang="en-US" sz="2000" dirty="0">
                    <a:solidFill>
                      <a:srgbClr val="FF0000"/>
                    </a:solidFill>
                  </a:rPr>
                  <a:t>box2  </a:t>
                </a:r>
              </a:p>
            </p:txBody>
          </p:sp>
        </p:grpSp>
        <p:cxnSp>
          <p:nvCxnSpPr>
            <p:cNvPr id="28" name="Straight Arrow Connector 27"/>
            <p:cNvCxnSpPr>
              <a:endCxn id="18" idx="1"/>
            </p:cNvCxnSpPr>
            <p:nvPr/>
          </p:nvCxnSpPr>
          <p:spPr>
            <a:xfrm flipV="1">
              <a:off x="6712714" y="2530872"/>
              <a:ext cx="828674" cy="783828"/>
            </a:xfrm>
            <a:prstGeom prst="straightConnector1">
              <a:avLst/>
            </a:prstGeom>
            <a:ln w="5080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TextBox 30"/>
          <p:cNvSpPr txBox="1"/>
          <p:nvPr/>
        </p:nvSpPr>
        <p:spPr>
          <a:xfrm>
            <a:off x="8056082" y="2321116"/>
            <a:ext cx="10858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× </a:t>
            </a:r>
            <a:r>
              <a:rPr lang="en-US" sz="2400" b="1" dirty="0">
                <a:solidFill>
                  <a:srgbClr val="FF0000"/>
                </a:solidFill>
              </a:rPr>
              <a:t>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02216" y="2861719"/>
            <a:ext cx="10858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4800" b="1" dirty="0">
                <a:solidFill>
                  <a:srgbClr val="FF0000"/>
                </a:solidFill>
              </a:rPr>
              <a:t>×</a:t>
            </a:r>
            <a:r>
              <a:rPr lang="en-US" sz="2400" b="1" dirty="0">
                <a:solidFill>
                  <a:srgbClr val="FF0000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1292702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1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2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3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3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3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3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linds(horizontal)">
                                      <p:cBhvr>
                                        <p:cTn id="40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31" grpId="0"/>
      <p:bldP spid="32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CustomShape 26"/>
          <p:cNvSpPr/>
          <p:nvPr/>
        </p:nvSpPr>
        <p:spPr>
          <a:xfrm>
            <a:off x="599740" y="1256040"/>
            <a:ext cx="7366000" cy="204804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1.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ArrayList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&lt;Integer&gt; l1 = new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ArrayList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&lt;Integer&gt;();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2. l1.add(1);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3. l1.add(2);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4.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ArrayList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&lt;Integer&gt; l2 = new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ArrayList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&lt;Integer&gt;();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5. l2.add(1);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6. l2.add(2);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7.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System.out.println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(l1 == l2);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8. </a:t>
            </a:r>
            <a:r>
              <a:rPr lang="en-US" sz="1600" b="0" strike="noStrike" spc="-1" dirty="0" err="1">
                <a:uFill>
                  <a:solidFill>
                    <a:srgbClr val="FFFFFF"/>
                  </a:solidFill>
                </a:uFill>
                <a:latin typeface="Monaco"/>
              </a:rPr>
              <a:t>System.out.println</a:t>
            </a:r>
            <a:r>
              <a:rPr lang="en-US" sz="1600" b="0" strike="noStrike" spc="-1" dirty="0">
                <a:uFill>
                  <a:solidFill>
                    <a:srgbClr val="FFFFFF"/>
                  </a:solidFill>
                </a:uFill>
                <a:latin typeface="Monaco"/>
              </a:rPr>
              <a:t>(l1.equals(l2));</a:t>
            </a:r>
            <a:endParaRPr lang="en-US" sz="1600" b="0" strike="noStrike" spc="-1" dirty="0"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69" name="TextShape 1"/>
          <p:cNvSpPr txBox="1"/>
          <p:nvPr/>
        </p:nvSpPr>
        <p:spPr>
          <a:xfrm>
            <a:off x="457380" y="-5100"/>
            <a:ext cx="8229240" cy="80276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3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Reference vs Value:  ==  &amp;  .equals</a:t>
            </a:r>
            <a:endParaRPr lang="en-US" sz="3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2" name="CustomShape 4"/>
          <p:cNvSpPr/>
          <p:nvPr/>
        </p:nvSpPr>
        <p:spPr>
          <a:xfrm>
            <a:off x="510380" y="821080"/>
            <a:ext cx="3147220" cy="430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400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What gets printed here?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3" name="CustomShape 5"/>
          <p:cNvSpPr/>
          <p:nvPr/>
        </p:nvSpPr>
        <p:spPr>
          <a:xfrm>
            <a:off x="1809000" y="4736520"/>
            <a:ext cx="576000" cy="3618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4" name="CustomShape 6"/>
          <p:cNvSpPr/>
          <p:nvPr/>
        </p:nvSpPr>
        <p:spPr>
          <a:xfrm>
            <a:off x="1407240" y="4753440"/>
            <a:ext cx="3639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l1</a:t>
            </a:r>
          </a:p>
        </p:txBody>
      </p:sp>
      <p:sp>
        <p:nvSpPr>
          <p:cNvPr id="175" name="CustomShape 7"/>
          <p:cNvSpPr/>
          <p:nvPr/>
        </p:nvSpPr>
        <p:spPr>
          <a:xfrm>
            <a:off x="3105720" y="4333680"/>
            <a:ext cx="1076040" cy="114228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6" name="CustomShape 8"/>
          <p:cNvSpPr/>
          <p:nvPr/>
        </p:nvSpPr>
        <p:spPr>
          <a:xfrm>
            <a:off x="3533760" y="4445280"/>
            <a:ext cx="534240" cy="38592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1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7" name="CustomShape 9"/>
          <p:cNvSpPr/>
          <p:nvPr/>
        </p:nvSpPr>
        <p:spPr>
          <a:xfrm>
            <a:off x="3236040" y="4462200"/>
            <a:ext cx="3074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0</a:t>
            </a:r>
          </a:p>
        </p:txBody>
      </p:sp>
      <p:sp>
        <p:nvSpPr>
          <p:cNvPr id="178" name="CustomShape 10"/>
          <p:cNvSpPr/>
          <p:nvPr/>
        </p:nvSpPr>
        <p:spPr>
          <a:xfrm>
            <a:off x="3533760" y="4939560"/>
            <a:ext cx="534240" cy="38592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2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9" name="CustomShape 11"/>
          <p:cNvSpPr/>
          <p:nvPr/>
        </p:nvSpPr>
        <p:spPr>
          <a:xfrm>
            <a:off x="3236040" y="4956480"/>
            <a:ext cx="3074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</a:p>
        </p:txBody>
      </p:sp>
      <p:sp>
        <p:nvSpPr>
          <p:cNvPr id="180" name="CustomShape 12"/>
          <p:cNvSpPr/>
          <p:nvPr/>
        </p:nvSpPr>
        <p:spPr>
          <a:xfrm flipV="1">
            <a:off x="2385360" y="4905000"/>
            <a:ext cx="720000" cy="122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5" name="CustomShape 17"/>
          <p:cNvSpPr/>
          <p:nvPr/>
        </p:nvSpPr>
        <p:spPr>
          <a:xfrm flipH="1">
            <a:off x="3657600" y="3023100"/>
            <a:ext cx="2941920" cy="1243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6" name="CustomShape 18"/>
          <p:cNvSpPr/>
          <p:nvPr/>
        </p:nvSpPr>
        <p:spPr>
          <a:xfrm>
            <a:off x="5130720" y="4668840"/>
            <a:ext cx="555480" cy="4028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7" name="CustomShape 19"/>
          <p:cNvSpPr/>
          <p:nvPr/>
        </p:nvSpPr>
        <p:spPr>
          <a:xfrm>
            <a:off x="4696920" y="4685760"/>
            <a:ext cx="40068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l2</a:t>
            </a:r>
          </a:p>
        </p:txBody>
      </p:sp>
      <p:sp>
        <p:nvSpPr>
          <p:cNvPr id="188" name="CustomShape 20"/>
          <p:cNvSpPr/>
          <p:nvPr/>
        </p:nvSpPr>
        <p:spPr>
          <a:xfrm>
            <a:off x="6315480" y="4304520"/>
            <a:ext cx="1076040" cy="114228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9" name="CustomShape 21"/>
          <p:cNvSpPr/>
          <p:nvPr/>
        </p:nvSpPr>
        <p:spPr>
          <a:xfrm>
            <a:off x="6743520" y="4415760"/>
            <a:ext cx="534240" cy="38592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1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0" name="CustomShape 22"/>
          <p:cNvSpPr/>
          <p:nvPr/>
        </p:nvSpPr>
        <p:spPr>
          <a:xfrm>
            <a:off x="6445800" y="4432680"/>
            <a:ext cx="3074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0</a:t>
            </a:r>
          </a:p>
        </p:txBody>
      </p:sp>
      <p:sp>
        <p:nvSpPr>
          <p:cNvPr id="191" name="CustomShape 23"/>
          <p:cNvSpPr/>
          <p:nvPr/>
        </p:nvSpPr>
        <p:spPr>
          <a:xfrm>
            <a:off x="6743520" y="4910400"/>
            <a:ext cx="534240" cy="38592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/>
          <a:lstStyle/>
          <a:p>
            <a:pPr algn="ctr">
              <a:lnSpc>
                <a:spcPct val="100000"/>
              </a:lnSpc>
            </a:pPr>
            <a:r>
              <a:rPr lang="en-US" sz="14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2</a:t>
            </a:r>
            <a:endParaRPr lang="en-US" sz="1800" b="0" strike="noStrike" spc="-1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2" name="CustomShape 24"/>
          <p:cNvSpPr/>
          <p:nvPr/>
        </p:nvSpPr>
        <p:spPr>
          <a:xfrm>
            <a:off x="6445800" y="4927320"/>
            <a:ext cx="30744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1</a:t>
            </a:r>
          </a:p>
        </p:txBody>
      </p:sp>
      <p:sp>
        <p:nvSpPr>
          <p:cNvPr id="193" name="CustomShape 25"/>
          <p:cNvSpPr/>
          <p:nvPr/>
        </p:nvSpPr>
        <p:spPr>
          <a:xfrm>
            <a:off x="5686920" y="4870440"/>
            <a:ext cx="628200" cy="468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5" name="CustomShape 27"/>
          <p:cNvSpPr/>
          <p:nvPr/>
        </p:nvSpPr>
        <p:spPr>
          <a:xfrm flipH="1">
            <a:off x="6599520" y="2891160"/>
            <a:ext cx="1366220" cy="303480"/>
          </a:xfrm>
          <a:prstGeom prst="rect">
            <a:avLst/>
          </a:prstGeom>
          <a:ln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Prints </a:t>
            </a: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true</a:t>
            </a:r>
            <a:endParaRPr lang="en-US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6" name="CustomShape 28"/>
          <p:cNvSpPr/>
          <p:nvPr/>
        </p:nvSpPr>
        <p:spPr>
          <a:xfrm flipH="1">
            <a:off x="3236040" y="2576880"/>
            <a:ext cx="3363480" cy="2957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7" name="CustomShape 29"/>
          <p:cNvSpPr/>
          <p:nvPr/>
        </p:nvSpPr>
        <p:spPr>
          <a:xfrm flipH="1">
            <a:off x="6599520" y="2427480"/>
            <a:ext cx="1366220" cy="350640"/>
          </a:xfrm>
          <a:prstGeom prst="rect">
            <a:avLst/>
          </a:prstGeom>
          <a:ln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Prints </a:t>
            </a: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false</a:t>
            </a:r>
            <a:endParaRPr lang="en-US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8" name="CustomShape 30"/>
          <p:cNvSpPr/>
          <p:nvPr/>
        </p:nvSpPr>
        <p:spPr>
          <a:xfrm>
            <a:off x="1538500" y="3601440"/>
            <a:ext cx="5737460" cy="364680"/>
          </a:xfrm>
          <a:prstGeom prst="rect">
            <a:avLst/>
          </a:prstGeom>
          <a:ln>
            <a:rou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On line 7, == operator compares references of two objects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99" name="CustomShape 31"/>
          <p:cNvSpPr/>
          <p:nvPr/>
        </p:nvSpPr>
        <p:spPr>
          <a:xfrm>
            <a:off x="1797020" y="5900760"/>
            <a:ext cx="5910480" cy="364680"/>
          </a:xfrm>
          <a:prstGeom prst="rect">
            <a:avLst/>
          </a:prstGeom>
          <a:ln>
            <a:round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On line 8, equals(), in general, compares values of two objects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200" name="CustomShape 32"/>
          <p:cNvSpPr/>
          <p:nvPr/>
        </p:nvSpPr>
        <p:spPr>
          <a:xfrm flipH="1">
            <a:off x="2286360" y="3958220"/>
            <a:ext cx="544580" cy="8686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1" name="CustomShape 33"/>
          <p:cNvSpPr/>
          <p:nvPr/>
        </p:nvSpPr>
        <p:spPr>
          <a:xfrm flipH="1">
            <a:off x="5567760" y="3970800"/>
            <a:ext cx="433440" cy="78264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2" name="CustomShape 34"/>
          <p:cNvSpPr/>
          <p:nvPr/>
        </p:nvSpPr>
        <p:spPr>
          <a:xfrm flipH="1" flipV="1">
            <a:off x="3896640" y="4712760"/>
            <a:ext cx="772200" cy="1186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3" name="CustomShape 35"/>
          <p:cNvSpPr/>
          <p:nvPr/>
        </p:nvSpPr>
        <p:spPr>
          <a:xfrm flipV="1">
            <a:off x="4696920" y="4645080"/>
            <a:ext cx="2179080" cy="125460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4" name="CustomShape 36"/>
          <p:cNvSpPr/>
          <p:nvPr/>
        </p:nvSpPr>
        <p:spPr>
          <a:xfrm flipH="1" flipV="1">
            <a:off x="3909600" y="5226480"/>
            <a:ext cx="1907640" cy="673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05" name="CustomShape 37"/>
          <p:cNvSpPr/>
          <p:nvPr/>
        </p:nvSpPr>
        <p:spPr>
          <a:xfrm flipV="1">
            <a:off x="5845320" y="5172480"/>
            <a:ext cx="1057680" cy="72792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>
            <a:round/>
            <a:tailEnd type="triangle" w="med" len="med"/>
          </a:ln>
          <a:effectLst>
            <a:outerShdw blurRad="40000" dist="20000" dir="5400000" rotWithShape="0">
              <a:srgbClr val="000000">
                <a:alpha val="38000"/>
              </a:srgbClr>
            </a:outerShdw>
          </a:effectLst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1822323-CC35-DAB0-8E4C-D0A46510EACC}"/>
              </a:ext>
            </a:extLst>
          </p:cNvPr>
          <p:cNvSpPr txBox="1"/>
          <p:nvPr/>
        </p:nvSpPr>
        <p:spPr>
          <a:xfrm>
            <a:off x="1809720" y="4730234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327</a:t>
            </a:r>
            <a:endParaRPr lang="en-US" sz="16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FA2E4-C27B-CC3C-D935-47D6670457BB}"/>
              </a:ext>
            </a:extLst>
          </p:cNvPr>
          <p:cNvSpPr txBox="1"/>
          <p:nvPr/>
        </p:nvSpPr>
        <p:spPr>
          <a:xfrm>
            <a:off x="5138940" y="4730234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781</a:t>
            </a:r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323640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" grpId="0"/>
      <p:bldP spid="172" grpId="0"/>
      <p:bldP spid="174" grpId="0"/>
      <p:bldP spid="176" grpId="0" animBg="1"/>
      <p:bldP spid="177" grpId="0"/>
      <p:bldP spid="178" grpId="0" animBg="1"/>
      <p:bldP spid="179" grpId="0"/>
      <p:bldP spid="187" grpId="0"/>
      <p:bldP spid="189" grpId="0" animBg="1"/>
      <p:bldP spid="190" grpId="0"/>
      <p:bldP spid="191" grpId="0" animBg="1"/>
      <p:bldP spid="192" grpId="0"/>
      <p:bldP spid="195" grpId="0" animBg="1"/>
      <p:bldP spid="197" grpId="0" animBg="1"/>
      <p:bldP spid="198" grpId="0" animBg="1"/>
      <p:bldP spid="19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TextShape 1"/>
          <p:cNvSpPr txBox="1"/>
          <p:nvPr/>
        </p:nvSpPr>
        <p:spPr>
          <a:xfrm>
            <a:off x="452880" y="60120"/>
            <a:ext cx="8229240" cy="114264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 algn="ctr">
              <a:lnSpc>
                <a:spcPct val="100000"/>
              </a:lnSpc>
            </a:pPr>
            <a:r>
              <a:rPr lang="en-US" sz="3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String - Reference vs Value: ==  &amp;  .equals</a:t>
            </a:r>
            <a:endParaRPr lang="en-US" sz="36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0" name="CustomShape 2"/>
          <p:cNvSpPr/>
          <p:nvPr/>
        </p:nvSpPr>
        <p:spPr>
          <a:xfrm>
            <a:off x="304800" y="1598760"/>
            <a:ext cx="4824120" cy="11224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1. String 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t1 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= </a:t>
            </a:r>
            <a:r>
              <a:rPr lang="en-US" sz="1600" b="0" strike="noStrike" spc="-1" dirty="0">
                <a:solidFill>
                  <a:srgbClr val="3933F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"hello"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;</a:t>
            </a: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2. String 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t2 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= </a:t>
            </a:r>
            <a:r>
              <a:rPr lang="en-US" sz="1600" b="0" strike="noStrike" spc="-1" dirty="0">
                <a:solidFill>
                  <a:srgbClr val="3933F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"hello"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;</a:t>
            </a: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3. </a:t>
            </a:r>
            <a:r>
              <a:rPr lang="en-US" sz="16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System.</a:t>
            </a:r>
            <a:r>
              <a:rPr lang="en-US" sz="1600" b="0" strike="noStrike" spc="-1" dirty="0" err="1">
                <a:solidFill>
                  <a:srgbClr val="0326CC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out</a:t>
            </a:r>
            <a:r>
              <a:rPr lang="en-US" sz="16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.println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(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t1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 == 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t2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);</a:t>
            </a:r>
          </a:p>
          <a:p>
            <a:pPr>
              <a:lnSpc>
                <a:spcPct val="100000"/>
              </a:lnSpc>
            </a:pP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4. </a:t>
            </a:r>
            <a:r>
              <a:rPr lang="en-US" sz="16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System.</a:t>
            </a:r>
            <a:r>
              <a:rPr lang="en-US" sz="1600" b="0" strike="noStrike" spc="-1" dirty="0" err="1">
                <a:solidFill>
                  <a:srgbClr val="0326CC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out</a:t>
            </a:r>
            <a:r>
              <a:rPr lang="en-US" sz="1600" b="0" strike="noStrike" spc="-1" dirty="0" err="1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.println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(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t1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.equals(</a:t>
            </a:r>
            <a:r>
              <a:rPr lang="en-US" sz="1600" b="0" strike="noStrike" spc="-1" dirty="0">
                <a:solidFill>
                  <a:srgbClr val="7E504F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t2</a:t>
            </a:r>
            <a:r>
              <a:rPr lang="en-US" sz="16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Monaco" pitchFamily="2" charset="77"/>
              </a:rPr>
              <a:t>));</a:t>
            </a:r>
          </a:p>
        </p:txBody>
      </p:sp>
      <p:sp>
        <p:nvSpPr>
          <p:cNvPr id="173" name="CustomShape 5"/>
          <p:cNvSpPr/>
          <p:nvPr/>
        </p:nvSpPr>
        <p:spPr>
          <a:xfrm>
            <a:off x="1227260" y="3944100"/>
            <a:ext cx="576000" cy="3618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4" name="CustomShape 6"/>
          <p:cNvSpPr/>
          <p:nvPr/>
        </p:nvSpPr>
        <p:spPr>
          <a:xfrm>
            <a:off x="736600" y="3961020"/>
            <a:ext cx="4528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t1</a:t>
            </a:r>
          </a:p>
        </p:txBody>
      </p:sp>
      <p:sp>
        <p:nvSpPr>
          <p:cNvPr id="175" name="CustomShape 7"/>
          <p:cNvSpPr/>
          <p:nvPr/>
        </p:nvSpPr>
        <p:spPr>
          <a:xfrm>
            <a:off x="2523980" y="3541260"/>
            <a:ext cx="1076040" cy="8133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77" name="CustomShape 9"/>
          <p:cNvSpPr/>
          <p:nvPr/>
        </p:nvSpPr>
        <p:spPr>
          <a:xfrm>
            <a:off x="2654300" y="3555480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String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9" name="CustomShape 11"/>
          <p:cNvSpPr/>
          <p:nvPr/>
        </p:nvSpPr>
        <p:spPr>
          <a:xfrm>
            <a:off x="2730500" y="3960860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hello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0" name="CustomShape 12"/>
          <p:cNvSpPr/>
          <p:nvPr/>
        </p:nvSpPr>
        <p:spPr>
          <a:xfrm flipV="1">
            <a:off x="1803620" y="3970435"/>
            <a:ext cx="720000" cy="130586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1" name="CustomShape 13"/>
          <p:cNvSpPr/>
          <p:nvPr/>
        </p:nvSpPr>
        <p:spPr>
          <a:xfrm flipH="1">
            <a:off x="5564520" y="1380551"/>
            <a:ext cx="2296780" cy="401360"/>
          </a:xfrm>
          <a:prstGeom prst="rect">
            <a:avLst/>
          </a:prstGeom>
          <a:ln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May print </a:t>
            </a: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true</a:t>
            </a: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or </a:t>
            </a: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false</a:t>
            </a:r>
            <a:endParaRPr lang="en-US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2" name="CustomShape 14"/>
          <p:cNvSpPr/>
          <p:nvPr/>
        </p:nvSpPr>
        <p:spPr>
          <a:xfrm flipH="1">
            <a:off x="5991860" y="1942615"/>
            <a:ext cx="1869440" cy="364680"/>
          </a:xfrm>
          <a:prstGeom prst="rect">
            <a:avLst/>
          </a:prstGeom>
          <a:ln>
            <a:round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Always prints </a:t>
            </a: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true</a:t>
            </a:r>
            <a:endParaRPr lang="en-US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3" name="CustomShape 15"/>
          <p:cNvSpPr/>
          <p:nvPr/>
        </p:nvSpPr>
        <p:spPr>
          <a:xfrm flipH="1">
            <a:off x="2994562" y="1609289"/>
            <a:ext cx="1303850" cy="664006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2844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84" name="CustomShape 16"/>
          <p:cNvSpPr/>
          <p:nvPr/>
        </p:nvSpPr>
        <p:spPr>
          <a:xfrm flipH="1">
            <a:off x="3392940" y="2111949"/>
            <a:ext cx="2598920" cy="400993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9" name="CustomShape 31"/>
          <p:cNvSpPr/>
          <p:nvPr/>
        </p:nvSpPr>
        <p:spPr>
          <a:xfrm>
            <a:off x="452880" y="5610398"/>
            <a:ext cx="3807790" cy="665270"/>
          </a:xfrm>
          <a:prstGeom prst="rect">
            <a:avLst/>
          </a:prstGeom>
          <a:ln>
            <a:round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On line 3 for Version 1: false is printed</a:t>
            </a:r>
          </a:p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On line 3 for Version 2: true is printed</a:t>
            </a:r>
          </a:p>
          <a:p>
            <a:pPr>
              <a:lnSpc>
                <a:spcPct val="100000"/>
              </a:lnSpc>
            </a:pP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0860BF8-F30E-E650-E05A-555855D5D4FD}"/>
              </a:ext>
            </a:extLst>
          </p:cNvPr>
          <p:cNvSpPr txBox="1"/>
          <p:nvPr/>
        </p:nvSpPr>
        <p:spPr>
          <a:xfrm>
            <a:off x="1227980" y="3937814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130</a:t>
            </a:r>
            <a:endParaRPr lang="en-US" sz="1600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D984D7D-C1F0-BBBF-4411-17F14B5755B6}"/>
              </a:ext>
            </a:extLst>
          </p:cNvPr>
          <p:cNvCxnSpPr>
            <a:stCxn id="175" idx="1"/>
            <a:endCxn id="175" idx="3"/>
          </p:cNvCxnSpPr>
          <p:nvPr/>
        </p:nvCxnSpPr>
        <p:spPr>
          <a:xfrm>
            <a:off x="2523980" y="3947930"/>
            <a:ext cx="1076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CustomShape 5">
            <a:extLst>
              <a:ext uri="{FF2B5EF4-FFF2-40B4-BE49-F238E27FC236}">
                <a16:creationId xmlns:a16="http://schemas.microsoft.com/office/drawing/2014/main" id="{B9772A1E-313B-0112-07A5-B59A389A10A2}"/>
              </a:ext>
            </a:extLst>
          </p:cNvPr>
          <p:cNvSpPr/>
          <p:nvPr/>
        </p:nvSpPr>
        <p:spPr>
          <a:xfrm>
            <a:off x="1253680" y="5023150"/>
            <a:ext cx="576000" cy="3618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6" name="CustomShape 6">
            <a:extLst>
              <a:ext uri="{FF2B5EF4-FFF2-40B4-BE49-F238E27FC236}">
                <a16:creationId xmlns:a16="http://schemas.microsoft.com/office/drawing/2014/main" id="{74700F39-A332-261E-B95D-E3735F6DBE26}"/>
              </a:ext>
            </a:extLst>
          </p:cNvPr>
          <p:cNvSpPr/>
          <p:nvPr/>
        </p:nvSpPr>
        <p:spPr>
          <a:xfrm>
            <a:off x="763020" y="5040070"/>
            <a:ext cx="4528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t2</a:t>
            </a:r>
          </a:p>
        </p:txBody>
      </p:sp>
      <p:sp>
        <p:nvSpPr>
          <p:cNvPr id="7" name="CustomShape 7">
            <a:extLst>
              <a:ext uri="{FF2B5EF4-FFF2-40B4-BE49-F238E27FC236}">
                <a16:creationId xmlns:a16="http://schemas.microsoft.com/office/drawing/2014/main" id="{A2709FCB-423C-9AC8-F85D-2C8C12AE66ED}"/>
              </a:ext>
            </a:extLst>
          </p:cNvPr>
          <p:cNvSpPr/>
          <p:nvPr/>
        </p:nvSpPr>
        <p:spPr>
          <a:xfrm>
            <a:off x="2550400" y="4620310"/>
            <a:ext cx="1076040" cy="8133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8" name="CustomShape 9">
            <a:extLst>
              <a:ext uri="{FF2B5EF4-FFF2-40B4-BE49-F238E27FC236}">
                <a16:creationId xmlns:a16="http://schemas.microsoft.com/office/drawing/2014/main" id="{7EB30C25-C053-F220-CB56-C3DC56006FD3}"/>
              </a:ext>
            </a:extLst>
          </p:cNvPr>
          <p:cNvSpPr/>
          <p:nvPr/>
        </p:nvSpPr>
        <p:spPr>
          <a:xfrm>
            <a:off x="2680720" y="4634530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String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9" name="CustomShape 11">
            <a:extLst>
              <a:ext uri="{FF2B5EF4-FFF2-40B4-BE49-F238E27FC236}">
                <a16:creationId xmlns:a16="http://schemas.microsoft.com/office/drawing/2014/main" id="{B5340E3B-9651-A990-5FF0-9C48A092CF5D}"/>
              </a:ext>
            </a:extLst>
          </p:cNvPr>
          <p:cNvSpPr/>
          <p:nvPr/>
        </p:nvSpPr>
        <p:spPr>
          <a:xfrm>
            <a:off x="2756920" y="5039910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hello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0" name="CustomShape 12">
            <a:extLst>
              <a:ext uri="{FF2B5EF4-FFF2-40B4-BE49-F238E27FC236}">
                <a16:creationId xmlns:a16="http://schemas.microsoft.com/office/drawing/2014/main" id="{F25B510B-A359-AC9C-828E-8076E96BFAA5}"/>
              </a:ext>
            </a:extLst>
          </p:cNvPr>
          <p:cNvSpPr/>
          <p:nvPr/>
        </p:nvSpPr>
        <p:spPr>
          <a:xfrm flipV="1">
            <a:off x="1830040" y="4965788"/>
            <a:ext cx="720000" cy="238082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D87AA76-EC1E-D01E-2F10-878E85A2C2BE}"/>
              </a:ext>
            </a:extLst>
          </p:cNvPr>
          <p:cNvSpPr txBox="1"/>
          <p:nvPr/>
        </p:nvSpPr>
        <p:spPr>
          <a:xfrm>
            <a:off x="1254400" y="5016864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150</a:t>
            </a:r>
            <a:endParaRPr lang="en-US" sz="1600" dirty="0"/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55E656E-A1F2-1E9E-B67A-F56CD205BADF}"/>
              </a:ext>
            </a:extLst>
          </p:cNvPr>
          <p:cNvCxnSpPr>
            <a:stCxn id="7" idx="1"/>
            <a:endCxn id="7" idx="3"/>
          </p:cNvCxnSpPr>
          <p:nvPr/>
        </p:nvCxnSpPr>
        <p:spPr>
          <a:xfrm>
            <a:off x="2550400" y="5026980"/>
            <a:ext cx="1076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CustomShape 5">
            <a:extLst>
              <a:ext uri="{FF2B5EF4-FFF2-40B4-BE49-F238E27FC236}">
                <a16:creationId xmlns:a16="http://schemas.microsoft.com/office/drawing/2014/main" id="{13FB97B4-B9C0-9FBA-6445-4659549FA609}"/>
              </a:ext>
            </a:extLst>
          </p:cNvPr>
          <p:cNvSpPr/>
          <p:nvPr/>
        </p:nvSpPr>
        <p:spPr>
          <a:xfrm>
            <a:off x="5527950" y="3976721"/>
            <a:ext cx="576000" cy="3618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4" name="CustomShape 6">
            <a:extLst>
              <a:ext uri="{FF2B5EF4-FFF2-40B4-BE49-F238E27FC236}">
                <a16:creationId xmlns:a16="http://schemas.microsoft.com/office/drawing/2014/main" id="{C4E5F311-8425-1750-FB11-93843F725899}"/>
              </a:ext>
            </a:extLst>
          </p:cNvPr>
          <p:cNvSpPr/>
          <p:nvPr/>
        </p:nvSpPr>
        <p:spPr>
          <a:xfrm>
            <a:off x="5037290" y="3993641"/>
            <a:ext cx="4528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t1</a:t>
            </a:r>
          </a:p>
        </p:txBody>
      </p:sp>
      <p:sp>
        <p:nvSpPr>
          <p:cNvPr id="15" name="CustomShape 7">
            <a:extLst>
              <a:ext uri="{FF2B5EF4-FFF2-40B4-BE49-F238E27FC236}">
                <a16:creationId xmlns:a16="http://schemas.microsoft.com/office/drawing/2014/main" id="{F3C26302-451D-8320-446F-DE1BAEE3DE43}"/>
              </a:ext>
            </a:extLst>
          </p:cNvPr>
          <p:cNvSpPr/>
          <p:nvPr/>
        </p:nvSpPr>
        <p:spPr>
          <a:xfrm>
            <a:off x="6824670" y="3573881"/>
            <a:ext cx="1076040" cy="81334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6" name="CustomShape 9">
            <a:extLst>
              <a:ext uri="{FF2B5EF4-FFF2-40B4-BE49-F238E27FC236}">
                <a16:creationId xmlns:a16="http://schemas.microsoft.com/office/drawing/2014/main" id="{050D2978-BCE9-3D4F-BF98-26B258F245F1}"/>
              </a:ext>
            </a:extLst>
          </p:cNvPr>
          <p:cNvSpPr/>
          <p:nvPr/>
        </p:nvSpPr>
        <p:spPr>
          <a:xfrm>
            <a:off x="6954990" y="3588101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String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7" name="CustomShape 11">
            <a:extLst>
              <a:ext uri="{FF2B5EF4-FFF2-40B4-BE49-F238E27FC236}">
                <a16:creationId xmlns:a16="http://schemas.microsoft.com/office/drawing/2014/main" id="{F2A4D867-1B7C-BD9F-725F-6BF61FEA9DEC}"/>
              </a:ext>
            </a:extLst>
          </p:cNvPr>
          <p:cNvSpPr/>
          <p:nvPr/>
        </p:nvSpPr>
        <p:spPr>
          <a:xfrm>
            <a:off x="7031190" y="3993481"/>
            <a:ext cx="71222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hello</a:t>
            </a:r>
            <a:endParaRPr lang="en-US" sz="18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Arial"/>
            </a:endParaRPr>
          </a:p>
        </p:txBody>
      </p:sp>
      <p:sp>
        <p:nvSpPr>
          <p:cNvPr id="18" name="CustomShape 12">
            <a:extLst>
              <a:ext uri="{FF2B5EF4-FFF2-40B4-BE49-F238E27FC236}">
                <a16:creationId xmlns:a16="http://schemas.microsoft.com/office/drawing/2014/main" id="{F98FA122-6D5E-3ED1-9571-30DCBFD265DC}"/>
              </a:ext>
            </a:extLst>
          </p:cNvPr>
          <p:cNvSpPr/>
          <p:nvPr/>
        </p:nvSpPr>
        <p:spPr>
          <a:xfrm flipV="1">
            <a:off x="6104310" y="3849597"/>
            <a:ext cx="693380" cy="307843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CED2A20-46DD-6387-977A-CF86B88771DE}"/>
              </a:ext>
            </a:extLst>
          </p:cNvPr>
          <p:cNvSpPr txBox="1"/>
          <p:nvPr/>
        </p:nvSpPr>
        <p:spPr>
          <a:xfrm>
            <a:off x="5528670" y="3970435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130</a:t>
            </a:r>
            <a:endParaRPr lang="en-US" sz="1600" dirty="0"/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58D22D0B-FBF2-BBAA-78CA-E276E7575C45}"/>
              </a:ext>
            </a:extLst>
          </p:cNvPr>
          <p:cNvCxnSpPr>
            <a:stCxn id="15" idx="1"/>
            <a:endCxn id="15" idx="3"/>
          </p:cNvCxnSpPr>
          <p:nvPr/>
        </p:nvCxnSpPr>
        <p:spPr>
          <a:xfrm>
            <a:off x="6824670" y="3980551"/>
            <a:ext cx="1076040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" name="CustomShape 5">
            <a:extLst>
              <a:ext uri="{FF2B5EF4-FFF2-40B4-BE49-F238E27FC236}">
                <a16:creationId xmlns:a16="http://schemas.microsoft.com/office/drawing/2014/main" id="{3B6AD990-6A37-9A23-EAFD-691E706D5236}"/>
              </a:ext>
            </a:extLst>
          </p:cNvPr>
          <p:cNvSpPr/>
          <p:nvPr/>
        </p:nvSpPr>
        <p:spPr>
          <a:xfrm>
            <a:off x="5554370" y="5055771"/>
            <a:ext cx="576000" cy="361800"/>
          </a:xfrm>
          <a:prstGeom prst="rect">
            <a:avLst/>
          </a:prstGeom>
          <a:noFill/>
          <a:ln>
            <a:round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2" name="CustomShape 6">
            <a:extLst>
              <a:ext uri="{FF2B5EF4-FFF2-40B4-BE49-F238E27FC236}">
                <a16:creationId xmlns:a16="http://schemas.microsoft.com/office/drawing/2014/main" id="{0A79BC90-502F-E657-6CD8-FA33ADC2CFF7}"/>
              </a:ext>
            </a:extLst>
          </p:cNvPr>
          <p:cNvSpPr/>
          <p:nvPr/>
        </p:nvSpPr>
        <p:spPr>
          <a:xfrm>
            <a:off x="5063710" y="5072691"/>
            <a:ext cx="452860" cy="3646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Arial"/>
              </a:rPr>
              <a:t>t2</a:t>
            </a:r>
          </a:p>
        </p:txBody>
      </p:sp>
      <p:sp>
        <p:nvSpPr>
          <p:cNvPr id="26" name="CustomShape 12">
            <a:extLst>
              <a:ext uri="{FF2B5EF4-FFF2-40B4-BE49-F238E27FC236}">
                <a16:creationId xmlns:a16="http://schemas.microsoft.com/office/drawing/2014/main" id="{1B212A51-6643-99BE-BC9B-108E634B38C6}"/>
              </a:ext>
            </a:extLst>
          </p:cNvPr>
          <p:cNvSpPr/>
          <p:nvPr/>
        </p:nvSpPr>
        <p:spPr>
          <a:xfrm flipV="1">
            <a:off x="6129350" y="4375795"/>
            <a:ext cx="720360" cy="854769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31680">
            <a:solidFill>
              <a:srgbClr val="4A7EBB"/>
            </a:solidFill>
            <a:round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/>
          <a:lstStyle/>
          <a:p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2CD1332-F55C-C65B-85C5-439C72155E84}"/>
              </a:ext>
            </a:extLst>
          </p:cNvPr>
          <p:cNvSpPr txBox="1"/>
          <p:nvPr/>
        </p:nvSpPr>
        <p:spPr>
          <a:xfrm>
            <a:off x="5555090" y="5049485"/>
            <a:ext cx="619560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spc="-1" dirty="0">
                <a:uFill>
                  <a:solidFill>
                    <a:srgbClr val="FFFFFF"/>
                  </a:solidFill>
                </a:uFill>
                <a:latin typeface="Monaco"/>
              </a:rPr>
              <a:t>130</a:t>
            </a:r>
            <a:endParaRPr lang="en-US" sz="1600" dirty="0"/>
          </a:p>
        </p:txBody>
      </p:sp>
      <p:sp>
        <p:nvSpPr>
          <p:cNvPr id="29" name="CustomShape 4">
            <a:extLst>
              <a:ext uri="{FF2B5EF4-FFF2-40B4-BE49-F238E27FC236}">
                <a16:creationId xmlns:a16="http://schemas.microsoft.com/office/drawing/2014/main" id="{7C7C55AA-EC8E-63EB-061A-3A9E210452B5}"/>
              </a:ext>
            </a:extLst>
          </p:cNvPr>
          <p:cNvSpPr/>
          <p:nvPr/>
        </p:nvSpPr>
        <p:spPr>
          <a:xfrm>
            <a:off x="304800" y="1085975"/>
            <a:ext cx="3147220" cy="43028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2400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What gets printed here?</a:t>
            </a:r>
            <a:endParaRPr lang="en-US" sz="2400" b="0" strike="noStrike" spc="-1" dirty="0">
              <a:solidFill>
                <a:srgbClr val="000000"/>
              </a:solidFill>
              <a:uFill>
                <a:solidFill>
                  <a:srgbClr val="FFFFFF"/>
                </a:solidFill>
              </a:uFill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0" name="CustomShape 4">
            <a:extLst>
              <a:ext uri="{FF2B5EF4-FFF2-40B4-BE49-F238E27FC236}">
                <a16:creationId xmlns:a16="http://schemas.microsoft.com/office/drawing/2014/main" id="{9D5A8E41-1D12-C705-FE5A-BFE705365FEB}"/>
              </a:ext>
            </a:extLst>
          </p:cNvPr>
          <p:cNvSpPr/>
          <p:nvPr/>
        </p:nvSpPr>
        <p:spPr>
          <a:xfrm>
            <a:off x="388440" y="2738367"/>
            <a:ext cx="3745990" cy="6552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Version 1</a:t>
            </a: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: Java run-time </a:t>
            </a:r>
          </a:p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might store t1 and t2 like this:</a:t>
            </a:r>
          </a:p>
        </p:txBody>
      </p:sp>
      <p:sp>
        <p:nvSpPr>
          <p:cNvPr id="32" name="CustomShape 31">
            <a:extLst>
              <a:ext uri="{FF2B5EF4-FFF2-40B4-BE49-F238E27FC236}">
                <a16:creationId xmlns:a16="http://schemas.microsoft.com/office/drawing/2014/main" id="{31B82743-C301-5698-F559-BDBC121E7A48}"/>
              </a:ext>
            </a:extLst>
          </p:cNvPr>
          <p:cNvSpPr/>
          <p:nvPr/>
        </p:nvSpPr>
        <p:spPr>
          <a:xfrm>
            <a:off x="4407450" y="5623483"/>
            <a:ext cx="4546050" cy="955115"/>
          </a:xfrm>
          <a:prstGeom prst="rect">
            <a:avLst/>
          </a:prstGeom>
          <a:ln>
            <a:round/>
          </a:ln>
        </p:spPr>
        <p:style>
          <a:lnRef idx="2">
            <a:schemeClr val="accent3"/>
          </a:lnRef>
          <a:fillRef idx="1">
            <a:schemeClr val="lt1"/>
          </a:fillRef>
          <a:effectRef idx="0">
            <a:schemeClr val="accent3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sz="1800" b="0" i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.equals</a:t>
            </a: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always compares the characters stored </a:t>
            </a: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in t1 and t2, so on line 4, for both versions: </a:t>
            </a:r>
          </a:p>
          <a:p>
            <a:pPr>
              <a:lnSpc>
                <a:spcPct val="100000"/>
              </a:lnSpc>
            </a:pP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true is printed</a:t>
            </a:r>
            <a:r>
              <a:rPr lang="en-US" sz="1800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/>
              </a:rPr>
              <a:t> </a:t>
            </a:r>
          </a:p>
        </p:txBody>
      </p:sp>
      <p:sp>
        <p:nvSpPr>
          <p:cNvPr id="33" name="CustomShape 4">
            <a:extLst>
              <a:ext uri="{FF2B5EF4-FFF2-40B4-BE49-F238E27FC236}">
                <a16:creationId xmlns:a16="http://schemas.microsoft.com/office/drawing/2014/main" id="{6ED22039-AF93-5772-6087-FDD9AE30D38F}"/>
              </a:ext>
            </a:extLst>
          </p:cNvPr>
          <p:cNvSpPr/>
          <p:nvPr/>
        </p:nvSpPr>
        <p:spPr>
          <a:xfrm>
            <a:off x="4407450" y="2738367"/>
            <a:ext cx="3745990" cy="65525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wrap="none" lIns="90000" tIns="45000" rIns="90000" bIns="45000"/>
          <a:lstStyle/>
          <a:p>
            <a:pPr>
              <a:lnSpc>
                <a:spcPct val="100000"/>
              </a:lnSpc>
            </a:pPr>
            <a:r>
              <a:rPr lang="en-US" b="1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Version 2</a:t>
            </a: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: Java run-time </a:t>
            </a:r>
          </a:p>
          <a:p>
            <a:pPr>
              <a:lnSpc>
                <a:spcPct val="100000"/>
              </a:lnSpc>
            </a:pPr>
            <a:r>
              <a:rPr lang="en-US" b="0" strike="noStrike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latin typeface="Calibri" panose="020F0502020204030204" pitchFamily="34" charset="0"/>
                <a:cs typeface="Calibri" panose="020F0502020204030204" pitchFamily="34" charset="0"/>
              </a:rPr>
              <a:t>might store t1 and t2 like this:</a:t>
            </a:r>
          </a:p>
        </p:txBody>
      </p:sp>
    </p:spTree>
    <p:extLst>
      <p:ext uri="{BB962C8B-B14F-4D97-AF65-F5344CB8AC3E}">
        <p14:creationId xmlns:p14="http://schemas.microsoft.com/office/powerpoint/2010/main" val="32512917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7" fill="hold">
                      <p:stCondLst>
                        <p:cond delay="indefinite"/>
                      </p:stCondLst>
                      <p:childTnLst>
                        <p:par>
                          <p:cTn id="78" fill="hold">
                            <p:stCondLst>
                              <p:cond delay="0"/>
                            </p:stCondLst>
                            <p:childTnLst>
                              <p:par>
                                <p:cTn id="7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0" grpId="0"/>
      <p:bldP spid="174" grpId="0"/>
      <p:bldP spid="177" grpId="0"/>
      <p:bldP spid="179" grpId="0"/>
      <p:bldP spid="181" grpId="0" animBg="1"/>
      <p:bldP spid="182" grpId="0" animBg="1"/>
      <p:bldP spid="199" grpId="0" animBg="1"/>
      <p:bldP spid="2" grpId="0"/>
      <p:bldP spid="6" grpId="0"/>
      <p:bldP spid="8" grpId="0"/>
      <p:bldP spid="9" grpId="0"/>
      <p:bldP spid="11" grpId="0"/>
      <p:bldP spid="14" grpId="0"/>
      <p:bldP spid="16" grpId="0"/>
      <p:bldP spid="17" grpId="0"/>
      <p:bldP spid="19" grpId="0"/>
      <p:bldP spid="22" grpId="0"/>
      <p:bldP spid="27" grpId="0"/>
      <p:bldP spid="29" grpId="0"/>
      <p:bldP spid="30" grpId="0"/>
      <p:bldP spid="32" grpId="0" animBg="1"/>
      <p:bldP spid="3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Boxes and pointers 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166220"/>
            <a:ext cx="8229240" cy="4955180"/>
          </a:xfrm>
        </p:spPr>
        <p:txBody>
          <a:bodyPr/>
          <a:lstStyle/>
          <a:p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No arrows for primitives (just labeled boxes)</a:t>
            </a:r>
          </a:p>
          <a:p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Key word </a:t>
            </a:r>
            <a:r>
              <a:rPr lang="en-US" i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new</a:t>
            </a: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 is a clue… draw two boxes, </a:t>
            </a:r>
            <a:b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</a:b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one for the tail and one for the arrowhead</a:t>
            </a:r>
          </a:p>
          <a:p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When you pass an Object to a method the </a:t>
            </a:r>
            <a:r>
              <a:rPr lang="en-US" b="1" i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reference</a:t>
            </a: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 (memory address) is </a:t>
            </a:r>
            <a:r>
              <a:rPr lang="en-US" b="1" i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passed</a:t>
            </a: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</a:rPr>
              <a:t>, so if you change what is referenced, other parts of the program with the same reference see that change!</a:t>
            </a:r>
          </a:p>
          <a:p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sym typeface="Wingdings" panose="05000000000000000000" pitchFamily="2" charset="2"/>
              </a:rPr>
              <a:t>Notice arrow pointing to </a:t>
            </a:r>
            <a:r>
              <a:rPr lang="en-US" b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sym typeface="Wingdings" panose="05000000000000000000" pitchFamily="2" charset="2"/>
              </a:rPr>
              <a:t>null;</a:t>
            </a: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sym typeface="Wingdings" panose="05000000000000000000" pitchFamily="2" charset="2"/>
              </a:rPr>
              <a:t> </a:t>
            </a:r>
            <a:r>
              <a:rPr lang="en-US" b="1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sym typeface="Wingdings" panose="05000000000000000000" pitchFamily="2" charset="2"/>
              </a:rPr>
              <a:t>null</a:t>
            </a:r>
            <a:r>
              <a:rPr lang="en-US" spc="-1" dirty="0">
                <a:solidFill>
                  <a:srgbClr val="000000"/>
                </a:solidFill>
                <a:uFill>
                  <a:solidFill>
                    <a:srgbClr val="FFFFFF"/>
                  </a:solidFill>
                </a:uFill>
                <a:sym typeface="Wingdings" panose="05000000000000000000" pitchFamily="2" charset="2"/>
              </a:rPr>
              <a:t> is not in a box</a:t>
            </a:r>
          </a:p>
          <a:p>
            <a:r>
              <a:rPr lang="en-US" dirty="0"/>
              <a:t>Small boxes (arrow tail boxes)</a:t>
            </a:r>
            <a:br>
              <a:rPr lang="en-US" dirty="0"/>
            </a:br>
            <a:r>
              <a:rPr lang="en-US" b="1" i="1" dirty="0"/>
              <a:t>must not</a:t>
            </a:r>
            <a:r>
              <a:rPr lang="en-US" dirty="0"/>
              <a:t> point to other small boxes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29070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4285D81DBE5F5A448E892B34D6B8CF20" ma:contentTypeVersion="8" ma:contentTypeDescription="Create a new document." ma:contentTypeScope="" ma:versionID="ecce54155d2ea7caa9aed06c8b6b9867">
  <xsd:schema xmlns:xsd="http://www.w3.org/2001/XMLSchema" xmlns:xs="http://www.w3.org/2001/XMLSchema" xmlns:p="http://schemas.microsoft.com/office/2006/metadata/properties" xmlns:ns2="08600313-7276-4ca7-b5d3-7d86193ee0ac" xmlns:ns3="820f9cb1-409d-4c4b-8197-1d4f7dd48124" targetNamespace="http://schemas.microsoft.com/office/2006/metadata/properties" ma:root="true" ma:fieldsID="bfd7385540b70b2fe84ac888cc214377" ns2:_="" ns3:_="">
    <xsd:import namespace="08600313-7276-4ca7-b5d3-7d86193ee0ac"/>
    <xsd:import namespace="820f9cb1-409d-4c4b-8197-1d4f7dd4812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600313-7276-4ca7-b5d3-7d86193ee0a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Image Tags" ma:readOnly="false" ma:fieldId="{5cf76f15-5ced-4ddc-b409-7134ff3c332f}" ma:taxonomyMulti="true" ma:sspId="71a83542-6b13-4414-947d-2211b265f7b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0f9cb1-409d-4c4b-8197-1d4f7dd48124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5e4b8413-bde8-45bb-ad7f-2c4efb398c4d}" ma:internalName="TaxCatchAll" ma:showField="CatchAllData" ma:web="820f9cb1-409d-4c4b-8197-1d4f7dd4812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820f9cb1-409d-4c4b-8197-1d4f7dd48124" xsi:nil="true"/>
    <lcf76f155ced4ddcb4097134ff3c332f xmlns="08600313-7276-4ca7-b5d3-7d86193ee0ac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4A4DCD66-1C57-4C3C-B2C3-DF827DC9D61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8600313-7276-4ca7-b5d3-7d86193ee0ac"/>
    <ds:schemaRef ds:uri="820f9cb1-409d-4c4b-8197-1d4f7dd4812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BE3997C-5427-46BC-8C47-AFD73EF2B262}">
  <ds:schemaRefs>
    <ds:schemaRef ds:uri="http://schemas.microsoft.com/office/2006/metadata/properties"/>
    <ds:schemaRef ds:uri="http://schemas.microsoft.com/office/infopath/2007/PartnerControls"/>
    <ds:schemaRef ds:uri="820f9cb1-409d-4c4b-8197-1d4f7dd48124"/>
    <ds:schemaRef ds:uri="08600313-7276-4ca7-b5d3-7d86193ee0ac"/>
  </ds:schemaRefs>
</ds:datastoreItem>
</file>

<file path=customXml/itemProps3.xml><?xml version="1.0" encoding="utf-8"?>
<ds:datastoreItem xmlns:ds="http://schemas.openxmlformats.org/officeDocument/2006/customXml" ds:itemID="{4CA9CB0E-EE65-449F-9559-F04F3635953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1385</TotalTime>
  <Words>850</Words>
  <Application>Microsoft Office PowerPoint</Application>
  <PresentationFormat>On-screen Show (4:3)</PresentationFormat>
  <Paragraphs>145</Paragraphs>
  <Slides>7</Slides>
  <Notes>7</Notes>
  <HiddenSlides>1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Arial</vt:lpstr>
      <vt:lpstr>Calibri</vt:lpstr>
      <vt:lpstr>Lucida Sans Typewriter</vt:lpstr>
      <vt:lpstr>Monaco</vt:lpstr>
      <vt:lpstr>Symbol</vt:lpstr>
      <vt:lpstr>Times New Roman</vt:lpstr>
      <vt:lpstr>Wingdings</vt:lpstr>
      <vt:lpstr>Office Theme</vt:lpstr>
      <vt:lpstr>PowerPoint Presentation</vt:lpstr>
      <vt:lpstr>CSSE 220</vt:lpstr>
      <vt:lpstr>What Do Variables Really Store?</vt:lpstr>
      <vt:lpstr>Assignment Copies Values</vt:lpstr>
      <vt:lpstr>PowerPoint Presentation</vt:lpstr>
      <vt:lpstr>PowerPoint Presentation</vt:lpstr>
      <vt:lpstr>Boxes and pointers exercise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subject/>
  <dc:creator/>
  <dc:description/>
  <cp:lastModifiedBy>Ludden, Ian</cp:lastModifiedBy>
  <cp:revision>90</cp:revision>
  <dcterms:created xsi:type="dcterms:W3CDTF">2011-03-10T14:54:15Z</dcterms:created>
  <dcterms:modified xsi:type="dcterms:W3CDTF">2026-09-15T17:30:49Z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ppVersion">
    <vt:lpwstr>15.0031</vt:lpwstr>
  </property>
  <property fmtid="{D5CDD505-2E9C-101B-9397-08002B2CF9AE}" pid="3" name="HiddenSlides">
    <vt:i4>2</vt:i4>
  </property>
  <property fmtid="{D5CDD505-2E9C-101B-9397-08002B2CF9AE}" pid="4" name="HyperlinksChanged">
    <vt:bool>false</vt:bool>
  </property>
  <property fmtid="{D5CDD505-2E9C-101B-9397-08002B2CF9AE}" pid="5" name="LinksUpToDate">
    <vt:bool>false</vt:bool>
  </property>
  <property fmtid="{D5CDD505-2E9C-101B-9397-08002B2CF9AE}" pid="6" name="MMClips">
    <vt:i4>0</vt:i4>
  </property>
  <property fmtid="{D5CDD505-2E9C-101B-9397-08002B2CF9AE}" pid="7" name="Notes">
    <vt:i4>12</vt:i4>
  </property>
  <property fmtid="{D5CDD505-2E9C-101B-9397-08002B2CF9AE}" pid="8" name="PresentationFormat">
    <vt:lpwstr>On-screen Show (4:3)</vt:lpwstr>
  </property>
  <property fmtid="{D5CDD505-2E9C-101B-9397-08002B2CF9AE}" pid="9" name="ScaleCrop">
    <vt:bool>false</vt:bool>
  </property>
  <property fmtid="{D5CDD505-2E9C-101B-9397-08002B2CF9AE}" pid="10" name="ShareDoc">
    <vt:bool>false</vt:bool>
  </property>
  <property fmtid="{D5CDD505-2E9C-101B-9397-08002B2CF9AE}" pid="11" name="Slides">
    <vt:i4>18</vt:i4>
  </property>
  <property fmtid="{D5CDD505-2E9C-101B-9397-08002B2CF9AE}" pid="12" name="_TemplateID">
    <vt:lpwstr>TC101671231033</vt:lpwstr>
  </property>
  <property fmtid="{D5CDD505-2E9C-101B-9397-08002B2CF9AE}" pid="13" name="ContentTypeId">
    <vt:lpwstr>0x0101004285D81DBE5F5A448E892B34D6B8CF20</vt:lpwstr>
  </property>
</Properties>
</file>