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7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69" r:id="rId7"/>
    <p:sldId id="383" r:id="rId8"/>
    <p:sldId id="265" r:id="rId9"/>
    <p:sldId id="266" r:id="rId10"/>
    <p:sldId id="268" r:id="rId11"/>
    <p:sldId id="270" r:id="rId12"/>
    <p:sldId id="271" r:id="rId13"/>
    <p:sldId id="272" r:id="rId14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oder, Jason" initials="YJ" lastIdx="1" clrIdx="0">
    <p:extLst>
      <p:ext uri="{19B8F6BF-5375-455C-9EA6-DF929625EA0E}">
        <p15:presenceInfo xmlns:p15="http://schemas.microsoft.com/office/powerpoint/2012/main" userId="S-1-5-21-1965730717-1486086910-2027319071-7454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7D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E6DCEC-30A4-4794-8141-6430DCF0A265}" v="3" dt="2023-11-21T15:39:48.2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293" autoAdjust="0"/>
  </p:normalViewPr>
  <p:slideViewPr>
    <p:cSldViewPr snapToGrid="0">
      <p:cViewPr varScale="1">
        <p:scale>
          <a:sx n="90" d="100"/>
          <a:sy n="90" d="100"/>
        </p:scale>
        <p:origin x="90" y="213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der, Jason" userId="28f4d4d8-da04-4f86-b14d-a21675737bc5" providerId="ADAL" clId="{03E6DCEC-30A4-4794-8141-6430DCF0A265}"/>
    <pc:docChg chg="undo custSel addSld modSld">
      <pc:chgData name="Yoder, Jason" userId="28f4d4d8-da04-4f86-b14d-a21675737bc5" providerId="ADAL" clId="{03E6DCEC-30A4-4794-8141-6430DCF0A265}" dt="2023-11-21T15:46:31.032" v="276" actId="20577"/>
      <pc:docMkLst>
        <pc:docMk/>
      </pc:docMkLst>
      <pc:sldChg chg="addSp modSp add mod modNotesTx">
        <pc:chgData name="Yoder, Jason" userId="28f4d4d8-da04-4f86-b14d-a21675737bc5" providerId="ADAL" clId="{03E6DCEC-30A4-4794-8141-6430DCF0A265}" dt="2023-11-21T15:46:31.032" v="276" actId="20577"/>
        <pc:sldMkLst>
          <pc:docMk/>
          <pc:sldMk cId="3490648585" sldId="258"/>
        </pc:sldMkLst>
        <pc:spChg chg="mod">
          <ac:chgData name="Yoder, Jason" userId="28f4d4d8-da04-4f86-b14d-a21675737bc5" providerId="ADAL" clId="{03E6DCEC-30A4-4794-8141-6430DCF0A265}" dt="2023-11-21T15:45:24.787" v="221" actId="1076"/>
          <ac:spMkLst>
            <pc:docMk/>
            <pc:sldMk cId="3490648585" sldId="258"/>
            <ac:spMk id="2" creationId="{00000000-0000-0000-0000-000000000000}"/>
          </ac:spMkLst>
        </pc:spChg>
        <pc:spChg chg="mod">
          <ac:chgData name="Yoder, Jason" userId="28f4d4d8-da04-4f86-b14d-a21675737bc5" providerId="ADAL" clId="{03E6DCEC-30A4-4794-8141-6430DCF0A265}" dt="2023-11-21T15:46:31.032" v="276" actId="20577"/>
          <ac:spMkLst>
            <pc:docMk/>
            <pc:sldMk cId="3490648585" sldId="258"/>
            <ac:spMk id="3" creationId="{00000000-0000-0000-0000-000000000000}"/>
          </ac:spMkLst>
        </pc:spChg>
        <pc:spChg chg="add mod">
          <ac:chgData name="Yoder, Jason" userId="28f4d4d8-da04-4f86-b14d-a21675737bc5" providerId="ADAL" clId="{03E6DCEC-30A4-4794-8141-6430DCF0A265}" dt="2023-11-21T15:44:46.644" v="217" actId="20577"/>
          <ac:spMkLst>
            <pc:docMk/>
            <pc:sldMk cId="3490648585" sldId="258"/>
            <ac:spMk id="5" creationId="{B38A22DE-EAA2-2A6E-6B36-6CB57326C225}"/>
          </ac:spMkLst>
        </pc:spChg>
        <pc:picChg chg="mod">
          <ac:chgData name="Yoder, Jason" userId="28f4d4d8-da04-4f86-b14d-a21675737bc5" providerId="ADAL" clId="{03E6DCEC-30A4-4794-8141-6430DCF0A265}" dt="2023-11-21T15:45:26.906" v="222" actId="1076"/>
          <ac:picMkLst>
            <pc:docMk/>
            <pc:sldMk cId="3490648585" sldId="258"/>
            <ac:picMk id="4" creationId="{8EAB44CF-A3F6-4B4C-BC3A-0AA56C34627F}"/>
          </ac:picMkLst>
        </pc:picChg>
      </pc:sldChg>
      <pc:sldChg chg="addSp delSp modSp mod modNotesTx">
        <pc:chgData name="Yoder, Jason" userId="28f4d4d8-da04-4f86-b14d-a21675737bc5" providerId="ADAL" clId="{03E6DCEC-30A4-4794-8141-6430DCF0A265}" dt="2023-11-21T15:31:21.972" v="48" actId="1076"/>
        <pc:sldMkLst>
          <pc:docMk/>
          <pc:sldMk cId="3104463201" sldId="300"/>
        </pc:sldMkLst>
        <pc:spChg chg="del mod">
          <ac:chgData name="Yoder, Jason" userId="28f4d4d8-da04-4f86-b14d-a21675737bc5" providerId="ADAL" clId="{03E6DCEC-30A4-4794-8141-6430DCF0A265}" dt="2023-11-21T15:31:18.859" v="47" actId="478"/>
          <ac:spMkLst>
            <pc:docMk/>
            <pc:sldMk cId="3104463201" sldId="300"/>
            <ac:spMk id="3" creationId="{00000000-0000-0000-0000-000000000000}"/>
          </ac:spMkLst>
        </pc:spChg>
        <pc:spChg chg="add mod">
          <ac:chgData name="Yoder, Jason" userId="28f4d4d8-da04-4f86-b14d-a21675737bc5" providerId="ADAL" clId="{03E6DCEC-30A4-4794-8141-6430DCF0A265}" dt="2023-11-21T15:31:21.972" v="48" actId="1076"/>
          <ac:spMkLst>
            <pc:docMk/>
            <pc:sldMk cId="3104463201" sldId="300"/>
            <ac:spMk id="8" creationId="{55D4AF07-6744-AF07-4C40-5F09BC75DD40}"/>
          </ac:spMkLst>
        </pc:spChg>
      </pc:sldChg>
      <pc:sldChg chg="addSp modSp mod">
        <pc:chgData name="Yoder, Jason" userId="28f4d4d8-da04-4f86-b14d-a21675737bc5" providerId="ADAL" clId="{03E6DCEC-30A4-4794-8141-6430DCF0A265}" dt="2023-11-21T15:34:23.740" v="61" actId="1076"/>
        <pc:sldMkLst>
          <pc:docMk/>
          <pc:sldMk cId="232014179" sldId="382"/>
        </pc:sldMkLst>
        <pc:picChg chg="add mod">
          <ac:chgData name="Yoder, Jason" userId="28f4d4d8-da04-4f86-b14d-a21675737bc5" providerId="ADAL" clId="{03E6DCEC-30A4-4794-8141-6430DCF0A265}" dt="2023-11-21T15:34:23.740" v="61" actId="1076"/>
          <ac:picMkLst>
            <pc:docMk/>
            <pc:sldMk cId="232014179" sldId="382"/>
            <ac:picMk id="4" creationId="{44633198-4935-3084-822F-ABFCAB84F476}"/>
          </ac:picMkLst>
        </pc:picChg>
      </pc:sldChg>
      <pc:sldChg chg="addSp modSp mod">
        <pc:chgData name="Yoder, Jason" userId="28f4d4d8-da04-4f86-b14d-a21675737bc5" providerId="ADAL" clId="{03E6DCEC-30A4-4794-8141-6430DCF0A265}" dt="2023-11-21T15:34:05.061" v="59" actId="1076"/>
        <pc:sldMkLst>
          <pc:docMk/>
          <pc:sldMk cId="1141889518" sldId="383"/>
        </pc:sldMkLst>
        <pc:spChg chg="mod">
          <ac:chgData name="Yoder, Jason" userId="28f4d4d8-da04-4f86-b14d-a21675737bc5" providerId="ADAL" clId="{03E6DCEC-30A4-4794-8141-6430DCF0A265}" dt="2023-11-21T15:34:00.084" v="55" actId="14100"/>
          <ac:spMkLst>
            <pc:docMk/>
            <pc:sldMk cId="1141889518" sldId="383"/>
            <ac:spMk id="2" creationId="{0EAA58DD-CAF7-2612-ED73-C6C3BC806757}"/>
          </ac:spMkLst>
        </pc:spChg>
        <pc:picChg chg="add mod">
          <ac:chgData name="Yoder, Jason" userId="28f4d4d8-da04-4f86-b14d-a21675737bc5" providerId="ADAL" clId="{03E6DCEC-30A4-4794-8141-6430DCF0A265}" dt="2023-11-21T15:34:01.028" v="56" actId="1076"/>
          <ac:picMkLst>
            <pc:docMk/>
            <pc:sldMk cId="1141889518" sldId="383"/>
            <ac:picMk id="4" creationId="{6959979C-3053-5644-2E76-565B470D1D89}"/>
          </ac:picMkLst>
        </pc:picChg>
        <pc:picChg chg="add mod">
          <ac:chgData name="Yoder, Jason" userId="28f4d4d8-da04-4f86-b14d-a21675737bc5" providerId="ADAL" clId="{03E6DCEC-30A4-4794-8141-6430DCF0A265}" dt="2023-11-21T15:34:05.061" v="59" actId="1076"/>
          <ac:picMkLst>
            <pc:docMk/>
            <pc:sldMk cId="1141889518" sldId="383"/>
            <ac:picMk id="8" creationId="{1424ACDD-4614-947A-6E98-32CB2A29D0C9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1" y="0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3" tIns="46577" rIns="93153" bIns="46577" numCol="1" anchor="t" anchorCtr="0" compatLnSpc="1">
            <a:prstTxWarp prst="textNoShape">
              <a:avLst/>
            </a:prstTxWarp>
          </a:bodyPr>
          <a:lstStyle>
            <a:lvl1pPr defTabSz="913482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auto">
          <a:xfrm>
            <a:off x="3972256" y="0"/>
            <a:ext cx="3036623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3" tIns="46577" rIns="93153" bIns="46577" numCol="1" anchor="t" anchorCtr="0" compatLnSpc="1">
            <a:prstTxWarp prst="textNoShape">
              <a:avLst/>
            </a:prstTxWarp>
          </a:bodyPr>
          <a:lstStyle>
            <a:lvl1pPr algn="r" defTabSz="913482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E7563301-559A-4ABC-AA2B-6FE6708B755E}" type="datetimeFigureOut">
              <a:rPr lang="en-US"/>
              <a:pPr>
                <a:defRPr/>
              </a:pPr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1" y="8829122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3" tIns="46577" rIns="93153" bIns="46577" numCol="1" anchor="b" anchorCtr="0" compatLnSpc="1">
            <a:prstTxWarp prst="textNoShape">
              <a:avLst/>
            </a:prstTxWarp>
          </a:bodyPr>
          <a:lstStyle>
            <a:lvl1pPr defTabSz="913482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972256" y="8829122"/>
            <a:ext cx="3036623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3" tIns="46577" rIns="93153" bIns="46577" numCol="1" anchor="b" anchorCtr="0" compatLnSpc="1">
            <a:prstTxWarp prst="textNoShape">
              <a:avLst/>
            </a:prstTxWarp>
          </a:bodyPr>
          <a:lstStyle>
            <a:lvl1pPr algn="r" defTabSz="913482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69FA71DF-C021-41F0-8072-9DABD6C95C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7421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1" y="0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3" tIns="46577" rIns="93153" bIns="46577" numCol="1" anchor="t" anchorCtr="0" compatLnSpc="1">
            <a:prstTxWarp prst="textNoShape">
              <a:avLst/>
            </a:prstTxWarp>
          </a:bodyPr>
          <a:lstStyle>
            <a:lvl1pPr defTabSz="913482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970735" y="0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3" tIns="46577" rIns="93153" bIns="46577" numCol="1" anchor="t" anchorCtr="0" compatLnSpc="1">
            <a:prstTxWarp prst="textNoShape">
              <a:avLst/>
            </a:prstTxWarp>
          </a:bodyPr>
          <a:lstStyle>
            <a:lvl1pPr algn="r" defTabSz="913482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0A2CEEB4-0792-4477-89F5-C9EB695061F7}" type="datetimeFigureOut">
              <a:rPr lang="en-US"/>
              <a:pPr>
                <a:defRPr/>
              </a:pPr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9803" tIns="44902" rIns="89803" bIns="44902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701345" y="4416099"/>
            <a:ext cx="5607711" cy="4183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3" tIns="46577" rIns="93153" bIns="465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1" y="8829122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3" tIns="46577" rIns="93153" bIns="46577" numCol="1" anchor="b" anchorCtr="0" compatLnSpc="1">
            <a:prstTxWarp prst="textNoShape">
              <a:avLst/>
            </a:prstTxWarp>
          </a:bodyPr>
          <a:lstStyle>
            <a:lvl1pPr defTabSz="913482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970735" y="8829122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3" tIns="46577" rIns="93153" bIns="46577" numCol="1" anchor="b" anchorCtr="0" compatLnSpc="1">
            <a:prstTxWarp prst="textNoShape">
              <a:avLst/>
            </a:prstTxWarp>
          </a:bodyPr>
          <a:lstStyle>
            <a:lvl1pPr algn="r" defTabSz="913482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41BB943A-C3B9-42AE-8B54-C233581231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31959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JAY: Introduce FOURTH row today (Identity Pie)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Aim to start quiz with 5+ minutes to spare in the first hour.</a:t>
            </a:r>
          </a:p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DC4E740-43A9-4CB1-B37F-A3A8D36E574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761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BF035C-C190-4FBE-9474-8535FCFBFED8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5050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Most time will be spent on the last two items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1BB943A-C3B9-42AE-8B54-C2335812312E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8245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When individual assignment, pair programming</a:t>
            </a:r>
            <a:r>
              <a:rPr lang="en-US" baseline="0"/>
              <a:t> is not allowed!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1BB943A-C3B9-42AE-8B54-C2335812312E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473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More vague than top OK</a:t>
            </a:r>
          </a:p>
          <a:p>
            <a:endParaRPr lang="en-US"/>
          </a:p>
          <a:p>
            <a:r>
              <a:rPr lang="en-US"/>
              <a:t>Less vague than bottom, NOT OK!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1BB943A-C3B9-42AE-8B54-C2335812312E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4053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Exam, just immediately F</a:t>
            </a:r>
          </a:p>
          <a:p>
            <a:r>
              <a:rPr lang="en-US"/>
              <a:t>Worse</a:t>
            </a:r>
            <a:r>
              <a:rPr lang="en-US" baseline="0"/>
              <a:t> than a 0% actually negative 100%</a:t>
            </a:r>
          </a:p>
          <a:p>
            <a:r>
              <a:rPr lang="en-US" baseline="0"/>
              <a:t>1 or 2 lines from </a:t>
            </a:r>
            <a:r>
              <a:rPr lang="en-US" baseline="0" err="1"/>
              <a:t>stackoverflow</a:t>
            </a:r>
            <a:r>
              <a:rPr lang="en-US" baseline="0"/>
              <a:t> is ok, but not 8-10</a:t>
            </a:r>
          </a:p>
          <a:p>
            <a:r>
              <a:rPr lang="en-US" baseline="0"/>
              <a:t>Its ok to ask for help when you have one small thing.</a:t>
            </a:r>
          </a:p>
          <a:p>
            <a:r>
              <a:rPr lang="en-US" baseline="0"/>
              <a:t>Unlimited help with Eclipse </a:t>
            </a:r>
            <a:r>
              <a:rPr lang="en-US" baseline="0" err="1"/>
              <a:t>Git</a:t>
            </a:r>
            <a:r>
              <a:rPr lang="en-US" baseline="0"/>
              <a:t> tools </a:t>
            </a:r>
            <a:r>
              <a:rPr lang="en-US" baseline="0" err="1"/>
              <a:t>etc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1BB943A-C3B9-42AE-8B54-C2335812312E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8465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 defTabSz="914400">
              <a:lnSpc>
                <a:spcPct val="100000"/>
              </a:lnSpc>
              <a:spcBef>
                <a:spcPts val="400"/>
              </a:spcBef>
              <a:defRPr sz="1800"/>
            </a:pPr>
            <a:r>
              <a:rPr sz="1200" dirty="0">
                <a:latin typeface="Calibri"/>
                <a:ea typeface="Calibri"/>
                <a:cs typeface="Calibri"/>
                <a:sym typeface="Calibri"/>
              </a:rPr>
              <a:t>Call-outs animated</a:t>
            </a:r>
          </a:p>
          <a:p>
            <a:pPr lvl="0" defTabSz="914400">
              <a:lnSpc>
                <a:spcPct val="100000"/>
              </a:lnSpc>
              <a:spcBef>
                <a:spcPts val="400"/>
              </a:spcBef>
              <a:defRPr sz="1800"/>
            </a:pPr>
            <a:r>
              <a:rPr sz="1200" dirty="0">
                <a:latin typeface="Calibri"/>
                <a:ea typeface="Calibri"/>
                <a:cs typeface="Calibri"/>
                <a:sym typeface="Calibri"/>
              </a:rPr>
              <a:t>Like python’s “for num in </a:t>
            </a:r>
            <a:r>
              <a:rPr sz="1200" dirty="0" err="1">
                <a:latin typeface="Calibri"/>
                <a:ea typeface="Calibri"/>
                <a:cs typeface="Calibri"/>
                <a:sym typeface="Calibri"/>
              </a:rPr>
              <a:t>nums</a:t>
            </a:r>
            <a:r>
              <a:rPr sz="1200" dirty="0">
                <a:latin typeface="Calibri"/>
                <a:ea typeface="Calibri"/>
                <a:cs typeface="Calibri"/>
                <a:sym typeface="Calibri"/>
              </a:rPr>
              <a:t>:”</a:t>
            </a:r>
          </a:p>
          <a:p>
            <a:pPr lvl="0" defTabSz="914400">
              <a:lnSpc>
                <a:spcPct val="100000"/>
              </a:lnSpc>
              <a:spcBef>
                <a:spcPts val="400"/>
              </a:spcBef>
              <a:defRPr sz="1800"/>
            </a:pPr>
            <a:r>
              <a:rPr sz="1200" dirty="0">
                <a:latin typeface="Calibri"/>
                <a:ea typeface="Calibri"/>
                <a:cs typeface="Calibri"/>
                <a:sym typeface="Calibri"/>
              </a:rPr>
              <a:t>Convenient when we just need to iterate over the objects.</a:t>
            </a:r>
          </a:p>
          <a:p>
            <a:pPr lvl="0" defTabSz="914400">
              <a:lnSpc>
                <a:spcPct val="100000"/>
              </a:lnSpc>
              <a:spcBef>
                <a:spcPts val="400"/>
              </a:spcBef>
              <a:defRPr sz="1800"/>
            </a:pPr>
            <a:r>
              <a:rPr sz="1200" dirty="0">
                <a:latin typeface="Calibri"/>
                <a:ea typeface="Calibri"/>
                <a:cs typeface="Calibri"/>
                <a:sym typeface="Calibri"/>
              </a:rPr>
              <a:t>The two limitations: </a:t>
            </a:r>
          </a:p>
          <a:p>
            <a:pPr lvl="0" defTabSz="914400">
              <a:lnSpc>
                <a:spcPct val="100000"/>
              </a:lnSpc>
              <a:spcBef>
                <a:spcPts val="400"/>
              </a:spcBef>
              <a:defRPr sz="1800"/>
            </a:pPr>
            <a:r>
              <a:rPr sz="1200" dirty="0">
                <a:latin typeface="Calibri"/>
                <a:ea typeface="Calibri"/>
                <a:cs typeface="Calibri"/>
                <a:sym typeface="Calibri"/>
              </a:rPr>
              <a:t>We CAN’T USE the indices. </a:t>
            </a:r>
          </a:p>
          <a:p>
            <a:pPr lvl="0" defTabSz="914400">
              <a:lnSpc>
                <a:spcPct val="100000"/>
              </a:lnSpc>
              <a:spcBef>
                <a:spcPts val="400"/>
              </a:spcBef>
              <a:defRPr sz="1800"/>
            </a:pPr>
            <a:r>
              <a:rPr sz="1200" dirty="0">
                <a:latin typeface="Calibri"/>
                <a:ea typeface="Calibri"/>
                <a:cs typeface="Calibri"/>
                <a:sym typeface="Calibri"/>
              </a:rPr>
              <a:t>We CAN’T MODIFY the element and stick it back in the array.</a:t>
            </a:r>
            <a:r>
              <a:rPr lang="en-US" sz="1200" dirty="0">
                <a:latin typeface="Calibri"/>
                <a:ea typeface="Calibri"/>
                <a:cs typeface="Calibri"/>
                <a:sym typeface="Calibri"/>
              </a:rPr>
              <a:t>  CONCURRENT</a:t>
            </a:r>
            <a:r>
              <a:rPr lang="en-US" sz="1200" baseline="0" dirty="0">
                <a:latin typeface="Calibri"/>
                <a:ea typeface="Calibri"/>
                <a:cs typeface="Calibri"/>
                <a:sym typeface="Calibri"/>
              </a:rPr>
              <a:t> MODIFICATION EXCEPTION!</a:t>
            </a: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994623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9D63304-4803-46E9-8053-E8AD2B380643}" type="datetime2">
              <a:rPr lang="en-US" smtClean="0"/>
              <a:pPr>
                <a:defRPr/>
              </a:pPr>
              <a:t>Friday, September 11,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242930-7B11-4C91-93D9-A54E2CD74AD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50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450AFD-1AD4-40A7-ADB3-7F87D0F8D819}" type="datetime2">
              <a:rPr lang="en-US" smtClean="0"/>
              <a:pPr>
                <a:defRPr/>
              </a:pPr>
              <a:t>Friday, September 11,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719A2B-6AB5-4698-BD1C-B24CF46110B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615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7E205AC-0D9D-49E5-90F5-84A523F53AD4}" type="datetime2">
              <a:rPr lang="en-US" smtClean="0"/>
              <a:pPr>
                <a:defRPr/>
              </a:pPr>
              <a:t>Friday, September 11,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4BE59B-51DA-440B-8545-A062048D7B9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720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8E96CC7-A4B9-4483-A454-FAC873D5CC60}" type="datetime2">
              <a:rPr lang="en-US" smtClean="0"/>
              <a:pPr>
                <a:defRPr/>
              </a:pPr>
              <a:t>Friday, September 11,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32177C-87C6-43B9-A935-6328F9639B7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953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36B0ADB-9602-482B-85CF-ADC1BAEB4D83}" type="datetime2">
              <a:rPr lang="en-US" smtClean="0"/>
              <a:pPr>
                <a:defRPr/>
              </a:pPr>
              <a:t>Friday, September 11,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8939F39-A2B5-4674-BBDC-FB0FC7799A0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0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E4EB50F-1288-4DFE-A2B7-2FC74B6FF41B}" type="datetime2">
              <a:rPr lang="en-US" smtClean="0"/>
              <a:pPr>
                <a:defRPr/>
              </a:pPr>
              <a:t>Friday, September 11,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40A32C-847A-4008-98DF-1431C4BD4B3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20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081446E-4544-488E-A5FE-1BC8CCF1495A}" type="datetime2">
              <a:rPr lang="en-US" smtClean="0"/>
              <a:pPr>
                <a:defRPr/>
              </a:pPr>
              <a:t>Friday, September 11,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320C44-97C4-4C75-8F69-EA40841DDDD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701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7C57AFD-AD8B-4ACE-BF5F-D584921D5881}" type="datetime2">
              <a:rPr lang="en-US" smtClean="0"/>
              <a:pPr>
                <a:defRPr/>
              </a:pPr>
              <a:t>Friday, September 11,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DA3404-8575-4D7A-B473-E1271220171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267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0BD2CCA-3B9B-4204-8C40-14009DD5CC52}" type="datetime2">
              <a:rPr lang="en-US" smtClean="0"/>
              <a:pPr>
                <a:defRPr/>
              </a:pPr>
              <a:t>Friday, September 11,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2B96DF-88DE-48C3-B785-8FAF2A41F85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067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2621D6E-7091-4510-88D1-5FA26E14D11A}" type="datetime2">
              <a:rPr lang="en-US" smtClean="0"/>
              <a:pPr>
                <a:defRPr/>
              </a:pPr>
              <a:t>Friday, September 11,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F59483E-09E4-48D5-BA16-BD54A452605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556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F03A13-9CFF-4839-B20A-D00C049D77D5}" type="datetime2">
              <a:rPr lang="en-US" smtClean="0"/>
              <a:pPr>
                <a:defRPr/>
              </a:pPr>
              <a:t>Friday, September 11,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CA0CD3-0616-4975-8CB6-395FF73FEB5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236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8A073B1-0DA8-47AB-B7E2-D5D57F68FCE3}" type="datetime2">
              <a:rPr lang="en-US" smtClean="0"/>
              <a:pPr>
                <a:defRPr/>
              </a:pPr>
              <a:t>Friday, September 11,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7341FED-3A60-48F0-B693-9093865656C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768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CSSE 220</a:t>
            </a:r>
          </a:p>
        </p:txBody>
      </p:sp>
      <p:sp>
        <p:nvSpPr>
          <p:cNvPr id="9219" name="Rectangle 2"/>
          <p:cNvSpPr>
            <a:spLocks noGrp="1"/>
          </p:cNvSpPr>
          <p:nvPr>
            <p:ph type="subTitle" idx="1"/>
          </p:nvPr>
        </p:nvSpPr>
        <p:spPr>
          <a:xfrm>
            <a:off x="1371600" y="3386031"/>
            <a:ext cx="6400800" cy="1752600"/>
          </a:xfrm>
        </p:spPr>
        <p:txBody>
          <a:bodyPr/>
          <a:lstStyle/>
          <a:p>
            <a:r>
              <a:rPr lang="en-US" sz="2500" i="1" dirty="0" err="1"/>
              <a:t>SimpleObjects</a:t>
            </a:r>
            <a:endParaRPr lang="en-US" sz="2500" dirty="0"/>
          </a:p>
          <a:p>
            <a:pPr marR="0" eaLnBrk="1" hangingPunct="1">
              <a:lnSpc>
                <a:spcPct val="90000"/>
              </a:lnSpc>
            </a:pPr>
            <a:endParaRPr lang="en-US" sz="25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854E33-332D-E678-3875-139AAF40B4A7}"/>
              </a:ext>
            </a:extLst>
          </p:cNvPr>
          <p:cNvSpPr/>
          <p:nvPr/>
        </p:nvSpPr>
        <p:spPr>
          <a:xfrm>
            <a:off x="304800" y="4168139"/>
            <a:ext cx="8534400" cy="176593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rgbClr val="FFFFFF"/>
                </a:solidFill>
              </a:rPr>
              <a:t>The </a:t>
            </a:r>
            <a:r>
              <a:rPr lang="en-US" sz="2400" i="1" dirty="0">
                <a:solidFill>
                  <a:srgbClr val="FFFFFF"/>
                </a:solidFill>
              </a:rPr>
              <a:t>git</a:t>
            </a:r>
            <a:r>
              <a:rPr lang="en-US" sz="2400" dirty="0">
                <a:solidFill>
                  <a:srgbClr val="FFFFFF"/>
                </a:solidFill>
              </a:rPr>
              <a:t> projects for today are: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1" dirty="0" err="1"/>
              <a:t>PracticeSuperSimpleObjects</a:t>
            </a:r>
            <a:endParaRPr lang="en-US" sz="2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1" dirty="0" err="1"/>
              <a:t>PracticeSuperSimpleObjectsSolution</a:t>
            </a:r>
            <a:endParaRPr lang="en-US" sz="2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1" dirty="0" err="1"/>
              <a:t>PracticeSuperSimpleObjectsBoxAndPointers</a:t>
            </a:r>
            <a:endParaRPr 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475850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Plan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Talk about how to get help, academic integrity </a:t>
            </a:r>
          </a:p>
          <a:p>
            <a:r>
              <a:rPr lang="en-US" dirty="0"/>
              <a:t>Talk about object references and box and pointer diagrams</a:t>
            </a:r>
          </a:p>
          <a:p>
            <a:r>
              <a:rPr lang="en-US" dirty="0"/>
              <a:t>Talk about static methods</a:t>
            </a:r>
          </a:p>
          <a:p>
            <a:r>
              <a:rPr lang="en-US" dirty="0"/>
              <a:t>Continue working on writing your own classes</a:t>
            </a:r>
          </a:p>
          <a:p>
            <a:r>
              <a:rPr lang="en-US" dirty="0"/>
              <a:t>Get started on your new assignment</a:t>
            </a:r>
          </a:p>
        </p:txBody>
      </p:sp>
    </p:spTree>
    <p:extLst>
      <p:ext uri="{BB962C8B-B14F-4D97-AF65-F5344CB8AC3E}">
        <p14:creationId xmlns:p14="http://schemas.microsoft.com/office/powerpoint/2010/main" val="2719131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Several good ways to get help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8524875" cy="4525963"/>
          </a:xfrm>
        </p:spPr>
        <p:txBody>
          <a:bodyPr>
            <a:normAutofit/>
          </a:bodyPr>
          <a:lstStyle/>
          <a:p>
            <a:r>
              <a:rPr lang="en-US" dirty="0"/>
              <a:t>Ask instructor or in-class TA during class</a:t>
            </a:r>
          </a:p>
          <a:p>
            <a:r>
              <a:rPr lang="en-US" dirty="0"/>
              <a:t>Visit instructor’s office drop-in hours</a:t>
            </a:r>
          </a:p>
          <a:p>
            <a:pPr lvl="1"/>
            <a:r>
              <a:rPr lang="en-US" dirty="0"/>
              <a:t>Or, book an appointment</a:t>
            </a:r>
          </a:p>
          <a:p>
            <a:r>
              <a:rPr lang="en-US" dirty="0"/>
              <a:t>Email instructor </a:t>
            </a:r>
          </a:p>
          <a:p>
            <a:r>
              <a:rPr lang="en-US" dirty="0"/>
              <a:t>Visit Learning Center tutors/Sophomore Resident Tutors (SRTs)</a:t>
            </a:r>
          </a:p>
          <a:p>
            <a:r>
              <a:rPr lang="en-US" dirty="0"/>
              <a:t>Review Panopto Videos (see next slide)</a:t>
            </a:r>
          </a:p>
        </p:txBody>
      </p:sp>
    </p:spTree>
    <p:extLst>
      <p:ext uri="{BB962C8B-B14F-4D97-AF65-F5344CB8AC3E}">
        <p14:creationId xmlns:p14="http://schemas.microsoft.com/office/powerpoint/2010/main" val="4058514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A58DD-CAF7-2612-ED73-C6C3BC806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211"/>
            <a:ext cx="5261020" cy="828274"/>
          </a:xfrm>
        </p:spPr>
        <p:txBody>
          <a:bodyPr/>
          <a:lstStyle/>
          <a:p>
            <a:r>
              <a:rPr lang="en-US" dirty="0"/>
              <a:t>Panopto Videos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0473F3-09C0-C4B4-564D-2E6A325F8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5645" y="1988"/>
            <a:ext cx="3048000" cy="25812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5E61FA-E3F5-DBD5-1E70-BB90616619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05905"/>
            <a:ext cx="9144000" cy="17107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EE0E69-E421-855E-80F2-8DE1CA4C53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0305" y="3432294"/>
            <a:ext cx="3430995" cy="34309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0974377-73D7-7EFE-1948-35DB72C2C542}"/>
              </a:ext>
            </a:extLst>
          </p:cNvPr>
          <p:cNvSpPr txBox="1"/>
          <p:nvPr/>
        </p:nvSpPr>
        <p:spPr>
          <a:xfrm>
            <a:off x="106862" y="4185633"/>
            <a:ext cx="460680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Videos cover the content, sometimes slightly different, but always an options for extra review and practice</a:t>
            </a:r>
          </a:p>
        </p:txBody>
      </p:sp>
    </p:spTree>
    <p:extLst>
      <p:ext uri="{BB962C8B-B14F-4D97-AF65-F5344CB8AC3E}">
        <p14:creationId xmlns:p14="http://schemas.microsoft.com/office/powerpoint/2010/main" val="1141889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Academic Integrity in CSSE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/>
          <a:lstStyle/>
          <a:p>
            <a:r>
              <a:rPr lang="en-US" dirty="0"/>
              <a:t>Please do not collaborate on homework assignments beyond what is allowed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28600" y="247025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auto">
              <a:spcAft>
                <a:spcPts val="0"/>
              </a:spcAft>
            </a:pPr>
            <a:r>
              <a:rPr lang="en-US"/>
              <a:t>What is definitely not OK:</a:t>
            </a:r>
          </a:p>
        </p:txBody>
      </p:sp>
      <p:sp>
        <p:nvSpPr>
          <p:cNvPr id="5" name="Text Placeholder 2"/>
          <p:cNvSpPr txBox="1">
            <a:spLocks/>
          </p:cNvSpPr>
          <p:nvPr/>
        </p:nvSpPr>
        <p:spPr>
          <a:xfrm>
            <a:off x="462280" y="3505201"/>
            <a:ext cx="8229600" cy="3352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/>
              <a:t>Looking at someone else’s solution, “just for a reference” as you write your own code</a:t>
            </a:r>
          </a:p>
          <a:p>
            <a:pPr fontAlgn="auto">
              <a:spcAft>
                <a:spcPts val="0"/>
              </a:spcAft>
            </a:pPr>
            <a:r>
              <a:rPr lang="en-US"/>
              <a:t>Pair programming on an </a:t>
            </a:r>
            <a:r>
              <a:rPr lang="en-US" i="1"/>
              <a:t>individual assignment</a:t>
            </a:r>
          </a:p>
          <a:p>
            <a:pPr fontAlgn="auto">
              <a:spcAft>
                <a:spcPts val="0"/>
              </a:spcAft>
            </a:pPr>
            <a:r>
              <a:rPr lang="en-US"/>
              <a:t>Sitting next to someone as you both work on the assignment, working through any problems you have as a group</a:t>
            </a:r>
          </a:p>
        </p:txBody>
      </p:sp>
    </p:spTree>
    <p:extLst>
      <p:ext uri="{BB962C8B-B14F-4D97-AF65-F5344CB8AC3E}">
        <p14:creationId xmlns:p14="http://schemas.microsoft.com/office/powerpoint/2010/main" val="3608411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2077"/>
            <a:ext cx="8229600" cy="898524"/>
          </a:xfrm>
        </p:spPr>
        <p:txBody>
          <a:bodyPr/>
          <a:lstStyle/>
          <a:p>
            <a:r>
              <a:rPr lang="en-US"/>
              <a:t>How much help is too much help?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90601"/>
            <a:ext cx="5943600" cy="251459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/>
              <a:t>“So you loop across the array elements, getting each element and seeing if it’s in the </a:t>
            </a:r>
            <a:r>
              <a:rPr lang="en-US" err="1"/>
              <a:t>hashtable</a:t>
            </a:r>
            <a:r>
              <a:rPr lang="en-US"/>
              <a:t>.  If it is, you get the value and increment it…”</a:t>
            </a:r>
          </a:p>
        </p:txBody>
      </p:sp>
      <p:sp>
        <p:nvSpPr>
          <p:cNvPr id="4" name="Text Placeholder 2"/>
          <p:cNvSpPr txBox="1">
            <a:spLocks/>
          </p:cNvSpPr>
          <p:nvPr/>
        </p:nvSpPr>
        <p:spPr>
          <a:xfrm>
            <a:off x="457200" y="3505200"/>
            <a:ext cx="5943600" cy="3505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 marL="342900" indent="-342900">
              <a:spcBef>
                <a:spcPts val="700"/>
              </a:spcBef>
              <a:buSzPct val="100000"/>
              <a:buFont typeface="Arial"/>
              <a:buChar char="•"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marL="783771" indent="-326571">
              <a:spcBef>
                <a:spcPts val="700"/>
              </a:spcBef>
              <a:buSzPct val="100000"/>
              <a:buFont typeface="Arial"/>
              <a:buChar char="–"/>
              <a:defRPr sz="3200">
                <a:latin typeface="Calibri"/>
                <a:ea typeface="Calibri"/>
                <a:cs typeface="Calibri"/>
                <a:sym typeface="Calibri"/>
              </a:defRPr>
            </a:lvl2pPr>
            <a:lvl3pPr marL="1219200" indent="-304800">
              <a:spcBef>
                <a:spcPts val="700"/>
              </a:spcBef>
              <a:buSzPct val="100000"/>
              <a:buFont typeface="Arial"/>
              <a:buChar char="•"/>
              <a:defRPr sz="3200">
                <a:latin typeface="Calibri"/>
                <a:ea typeface="Calibri"/>
                <a:cs typeface="Calibri"/>
                <a:sym typeface="Calibri"/>
              </a:defRPr>
            </a:lvl3pPr>
            <a:lvl4pPr marL="1737360" indent="-365760">
              <a:spcBef>
                <a:spcPts val="700"/>
              </a:spcBef>
              <a:buSzPct val="100000"/>
              <a:buFont typeface="Arial"/>
              <a:buChar char="–"/>
              <a:defRPr sz="3200">
                <a:latin typeface="Calibri"/>
                <a:ea typeface="Calibri"/>
                <a:cs typeface="Calibri"/>
                <a:sym typeface="Calibri"/>
              </a:defRPr>
            </a:lvl4pPr>
            <a:lvl5pPr marL="2194560" indent="-365760">
              <a:spcBef>
                <a:spcPts val="700"/>
              </a:spcBef>
              <a:buSzPct val="100000"/>
              <a:buFont typeface="Arial"/>
              <a:buChar char="»"/>
              <a:defRPr sz="3200">
                <a:latin typeface="Calibri"/>
                <a:ea typeface="Calibri"/>
                <a:cs typeface="Calibri"/>
                <a:sym typeface="Calibri"/>
              </a:defRPr>
            </a:lvl5pPr>
            <a:lvl6pPr marL="2651760" indent="-365760">
              <a:spcBef>
                <a:spcPts val="700"/>
              </a:spcBef>
              <a:buSzPct val="100000"/>
              <a:buFont typeface="Arial"/>
              <a:buChar char="•"/>
              <a:defRPr sz="3200">
                <a:latin typeface="Calibri"/>
                <a:ea typeface="Calibri"/>
                <a:cs typeface="Calibri"/>
                <a:sym typeface="Calibri"/>
              </a:defRPr>
            </a:lvl6pPr>
            <a:lvl7pPr marL="3108960" indent="-365760">
              <a:spcBef>
                <a:spcPts val="700"/>
              </a:spcBef>
              <a:buSzPct val="100000"/>
              <a:buFont typeface="Arial"/>
              <a:buChar char="•"/>
              <a:defRPr sz="3200">
                <a:latin typeface="Calibri"/>
                <a:ea typeface="Calibri"/>
                <a:cs typeface="Calibri"/>
                <a:sym typeface="Calibri"/>
              </a:defRPr>
            </a:lvl7pPr>
            <a:lvl8pPr marL="3566159" indent="-365759">
              <a:spcBef>
                <a:spcPts val="700"/>
              </a:spcBef>
              <a:buSzPct val="100000"/>
              <a:buFont typeface="Arial"/>
              <a:buChar char="•"/>
              <a:defRPr sz="3200">
                <a:latin typeface="Calibri"/>
                <a:ea typeface="Calibri"/>
                <a:cs typeface="Calibri"/>
                <a:sym typeface="Calibri"/>
              </a:defRPr>
            </a:lvl8pPr>
            <a:lvl9pPr marL="4023359" indent="-365759">
              <a:spcBef>
                <a:spcPts val="700"/>
              </a:spcBef>
              <a:buSzPct val="100000"/>
              <a:buFont typeface="Arial"/>
              <a:buChar char="•"/>
              <a:defRPr sz="3200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l">
              <a:buFont typeface="Arial"/>
              <a:buNone/>
            </a:pPr>
            <a:r>
              <a:rPr lang="en-US"/>
              <a:t>“So you write a for loop, 0 to array length - 1.  Your key variable is </a:t>
            </a:r>
            <a:r>
              <a:rPr lang="en-US" err="1"/>
              <a:t>gonna</a:t>
            </a:r>
            <a:r>
              <a:rPr lang="en-US"/>
              <a:t> be array[</a:t>
            </a:r>
            <a:r>
              <a:rPr lang="en-US" err="1"/>
              <a:t>i</a:t>
            </a:r>
            <a:r>
              <a:rPr lang="en-US"/>
              <a:t>].  You check if </a:t>
            </a:r>
            <a:r>
              <a:rPr lang="en-US" err="1"/>
              <a:t>hashMap.get</a:t>
            </a:r>
            <a:r>
              <a:rPr lang="en-US"/>
              <a:t>(key) is null, if not,  you get the value with get, then </a:t>
            </a:r>
            <a:r>
              <a:rPr lang="en-US" err="1"/>
              <a:t>hashMap.put</a:t>
            </a:r>
            <a:r>
              <a:rPr lang="en-US"/>
              <a:t>(key, </a:t>
            </a:r>
            <a:r>
              <a:rPr lang="en-US" err="1"/>
              <a:t>oldValue</a:t>
            </a:r>
            <a:r>
              <a:rPr lang="en-US"/>
              <a:t> + 1)…”</a:t>
            </a:r>
          </a:p>
        </p:txBody>
      </p:sp>
      <p:sp>
        <p:nvSpPr>
          <p:cNvPr id="6" name="Left Arrow Callout 5"/>
          <p:cNvSpPr/>
          <p:nvPr/>
        </p:nvSpPr>
        <p:spPr>
          <a:xfrm>
            <a:off x="6172200" y="1407096"/>
            <a:ext cx="2514600" cy="1077216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76157"/>
            </a:avLst>
          </a:prstGeom>
          <a:solidFill>
            <a:srgbClr val="FFFFFF"/>
          </a:solidFill>
          <a:ln w="25400" cap="flat">
            <a:solidFill>
              <a:srgbClr val="4F81BD"/>
            </a:solidFill>
            <a:prstDash val="solid"/>
            <a:bevel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Borderline but OK</a:t>
            </a:r>
          </a:p>
        </p:txBody>
      </p:sp>
      <p:sp>
        <p:nvSpPr>
          <p:cNvPr id="7" name="Left Arrow Callout 6"/>
          <p:cNvSpPr/>
          <p:nvPr/>
        </p:nvSpPr>
        <p:spPr>
          <a:xfrm>
            <a:off x="6172200" y="4826914"/>
            <a:ext cx="2743200" cy="861772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76157"/>
            </a:avLst>
          </a:prstGeom>
          <a:solidFill>
            <a:schemeClr val="accent2">
              <a:lumMod val="20000"/>
              <a:lumOff val="80000"/>
            </a:schemeClr>
          </a:solidFill>
          <a:ln w="25400" cap="flat">
            <a:solidFill>
              <a:srgbClr val="FF0000"/>
            </a:solidFill>
            <a:prstDash val="solid"/>
            <a:bevel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>
                <a:solidFill>
                  <a:srgbClr val="000000"/>
                </a:solidFill>
              </a:rPr>
              <a:t>Giving away the </a:t>
            </a:r>
          </a:p>
          <a:p>
            <a:pPr marL="0" marR="0" indent="0" algn="ctr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>
                <a:solidFill>
                  <a:srgbClr val="000000"/>
                </a:solidFill>
              </a:rPr>
              <a:t>answer.  Cheating.</a:t>
            </a: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97659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2077"/>
            <a:ext cx="8229600" cy="898524"/>
          </a:xfrm>
        </p:spPr>
        <p:txBody>
          <a:bodyPr/>
          <a:lstStyle/>
          <a:p>
            <a:r>
              <a:rPr lang="en-US" dirty="0"/>
              <a:t>Penalties – see link in syllabus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139" y="1000540"/>
            <a:ext cx="8229600" cy="5705060"/>
          </a:xfrm>
        </p:spPr>
        <p:txBody>
          <a:bodyPr/>
          <a:lstStyle/>
          <a:p>
            <a:r>
              <a:rPr lang="en-US" dirty="0"/>
              <a:t>Automatic F in the course</a:t>
            </a:r>
          </a:p>
          <a:p>
            <a:r>
              <a:rPr lang="en-US" dirty="0"/>
              <a:t>Drop 1 letter grade</a:t>
            </a:r>
          </a:p>
          <a:p>
            <a:r>
              <a:rPr lang="en-US" dirty="0"/>
              <a:t>-100% score on assignment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Yes, you can get an automatic F for cheating on one assignment one time.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 should </a:t>
            </a:r>
            <a:r>
              <a:rPr lang="en-US" b="1" i="1" dirty="0"/>
              <a:t>always</a:t>
            </a:r>
            <a:r>
              <a:rPr lang="en-US" dirty="0"/>
              <a:t> credit anyone you get help from on an assignment.  If you do, it lets us assign one of the weaker penalties.</a:t>
            </a:r>
          </a:p>
        </p:txBody>
      </p:sp>
    </p:spTree>
    <p:extLst>
      <p:ext uri="{BB962C8B-B14F-4D97-AF65-F5344CB8AC3E}">
        <p14:creationId xmlns:p14="http://schemas.microsoft.com/office/powerpoint/2010/main" val="1666716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Coding Gotchas – the </a:t>
            </a:r>
            <a:r>
              <a:rPr lang="en-US" i="1"/>
              <a:t>size</a:t>
            </a:r>
            <a:r>
              <a:rPr lang="en-US"/>
              <a:t> of things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3820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int[] numbers = { 2, 4, 8, 16};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numbersCount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numbers.length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// Java array uses 'length'</a:t>
            </a:r>
          </a:p>
          <a:p>
            <a:pPr marL="0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&lt;String&gt; words =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&lt;String&gt;();</a:t>
            </a: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words.add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("Hello!");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wordsCount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words.size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uses 'size()'</a:t>
            </a:r>
          </a:p>
          <a:p>
            <a:pPr marL="0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String word = "Hello";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characterCount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word.length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// String uses length()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92145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Enhanced For 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Convenient syntax for iterating through collections</a:t>
            </a:r>
          </a:p>
          <a:p>
            <a:r>
              <a:rPr lang="en-US" dirty="0"/>
              <a:t>More readable</a:t>
            </a:r>
          </a:p>
          <a:p>
            <a:r>
              <a:rPr lang="en-US" dirty="0"/>
              <a:t>Less Typing</a:t>
            </a:r>
          </a:p>
          <a:p>
            <a:r>
              <a:rPr lang="en-US" dirty="0"/>
              <a:t>Less Error Prone</a:t>
            </a:r>
          </a:p>
          <a:p>
            <a:r>
              <a:rPr lang="en-US" dirty="0"/>
              <a:t>Works for Arrays, </a:t>
            </a:r>
            <a:r>
              <a:rPr lang="en-US" dirty="0" err="1"/>
              <a:t>ArrayList</a:t>
            </a:r>
            <a:r>
              <a:rPr lang="en-US" dirty="0"/>
              <a:t>, Map (later)</a:t>
            </a:r>
          </a:p>
          <a:p>
            <a:r>
              <a:rPr lang="en-US" dirty="0"/>
              <a:t>Similar to Python: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num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908201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159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400"/>
              <a:t>Enhanced For Loop and Arrays</a:t>
            </a:r>
          </a:p>
        </p:txBody>
      </p:sp>
      <p:sp>
        <p:nvSpPr>
          <p:cNvPr id="160" name="Shape 160"/>
          <p:cNvSpPr>
            <a:spLocks noGrp="1"/>
          </p:cNvSpPr>
          <p:nvPr>
            <p:ph type="body" idx="1"/>
          </p:nvPr>
        </p:nvSpPr>
        <p:spPr>
          <a:xfrm>
            <a:off x="457200" y="1481137"/>
            <a:ext cx="8229600" cy="452596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lnSpc>
                <a:spcPct val="90000"/>
              </a:lnSpc>
              <a:buFont typeface="Wingdings 3"/>
              <a:buChar char=""/>
              <a:defRPr sz="1800"/>
            </a:pPr>
            <a:r>
              <a:rPr sz="3200" dirty="0"/>
              <a:t>Old school</a:t>
            </a:r>
            <a:br>
              <a:rPr sz="3200" dirty="0"/>
            </a:br>
            <a:r>
              <a:rPr sz="2400" dirty="0">
                <a:solidFill>
                  <a:srgbClr val="4F81BD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double</a:t>
            </a:r>
            <a:r>
              <a:rPr lang="en-US" sz="2400" dirty="0">
                <a:solidFill>
                  <a:srgbClr val="4F81BD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[]</a:t>
            </a:r>
            <a:r>
              <a:rPr sz="2400" dirty="0">
                <a:solidFill>
                  <a:srgbClr val="4F81BD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scores = …</a:t>
            </a:r>
            <a:br>
              <a:rPr sz="2400" dirty="0">
                <a:solidFill>
                  <a:srgbClr val="4F81BD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</a:br>
            <a:r>
              <a:rPr sz="2400" dirty="0">
                <a:solidFill>
                  <a:srgbClr val="4F81BD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double sum = 0.0;</a:t>
            </a:r>
            <a:br>
              <a:rPr sz="2400" dirty="0">
                <a:solidFill>
                  <a:srgbClr val="4F81BD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</a:br>
            <a:r>
              <a:rPr sz="2400" b="1" dirty="0">
                <a:solidFill>
                  <a:srgbClr val="4F81BD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for</a:t>
            </a:r>
            <a:r>
              <a:rPr sz="2400" dirty="0">
                <a:solidFill>
                  <a:srgbClr val="4F81BD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(int </a:t>
            </a:r>
            <a:r>
              <a:rPr lang="en-US" sz="2400" dirty="0" err="1">
                <a:solidFill>
                  <a:srgbClr val="4F81BD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i</a:t>
            </a:r>
            <a:r>
              <a:rPr lang="en-US" sz="2400" dirty="0">
                <a:solidFill>
                  <a:srgbClr val="4F81BD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</a:t>
            </a:r>
            <a:r>
              <a:rPr sz="2400" dirty="0">
                <a:solidFill>
                  <a:srgbClr val="4F81BD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=</a:t>
            </a:r>
            <a:r>
              <a:rPr lang="en-US" sz="2400" dirty="0">
                <a:solidFill>
                  <a:srgbClr val="4F81BD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</a:t>
            </a:r>
            <a:r>
              <a:rPr sz="2400" dirty="0">
                <a:solidFill>
                  <a:srgbClr val="4F81BD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0; </a:t>
            </a:r>
            <a:r>
              <a:rPr sz="2400" dirty="0" err="1">
                <a:solidFill>
                  <a:srgbClr val="4F81BD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i</a:t>
            </a:r>
            <a:r>
              <a:rPr sz="2400" dirty="0">
                <a:solidFill>
                  <a:srgbClr val="4F81BD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&lt; </a:t>
            </a:r>
            <a:r>
              <a:rPr sz="2400" dirty="0" err="1">
                <a:solidFill>
                  <a:srgbClr val="4F81BD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scores.length</a:t>
            </a:r>
            <a:r>
              <a:rPr sz="2400" dirty="0">
                <a:solidFill>
                  <a:srgbClr val="4F81BD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; </a:t>
            </a:r>
            <a:r>
              <a:rPr sz="2400" dirty="0" err="1">
                <a:solidFill>
                  <a:srgbClr val="4F81BD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i</a:t>
            </a:r>
            <a:r>
              <a:rPr sz="2400" dirty="0">
                <a:solidFill>
                  <a:srgbClr val="4F81BD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++) {</a:t>
            </a:r>
            <a:br>
              <a:rPr sz="2400" dirty="0">
                <a:solidFill>
                  <a:srgbClr val="4F81BD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</a:br>
            <a:r>
              <a:rPr sz="2400" dirty="0">
                <a:solidFill>
                  <a:srgbClr val="4F81BD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	sum += scores[</a:t>
            </a:r>
            <a:r>
              <a:rPr sz="2400" dirty="0" err="1">
                <a:solidFill>
                  <a:srgbClr val="4F81BD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i</a:t>
            </a:r>
            <a:r>
              <a:rPr sz="2400" dirty="0">
                <a:solidFill>
                  <a:srgbClr val="4F81BD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];</a:t>
            </a:r>
            <a:br>
              <a:rPr sz="2400" dirty="0">
                <a:solidFill>
                  <a:srgbClr val="4F81BD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</a:br>
            <a:r>
              <a:rPr sz="2400" dirty="0">
                <a:solidFill>
                  <a:srgbClr val="4F81BD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}</a:t>
            </a:r>
            <a:r>
              <a:rPr lang="en-US" sz="2400" dirty="0">
                <a:solidFill>
                  <a:srgbClr val="4F81BD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// end for</a:t>
            </a:r>
            <a:endParaRPr sz="2400" dirty="0">
              <a:solidFill>
                <a:srgbClr val="4F81BD"/>
              </a:solidFill>
              <a:latin typeface="Courier New" panose="02070309020205020404" pitchFamily="49" charset="0"/>
              <a:ea typeface="Consolas"/>
              <a:cs typeface="Courier New" panose="02070309020205020404" pitchFamily="49" charset="0"/>
              <a:sym typeface="Consolas"/>
            </a:endParaRPr>
          </a:p>
          <a:p>
            <a:pPr lvl="0">
              <a:lnSpc>
                <a:spcPct val="90000"/>
              </a:lnSpc>
              <a:buFont typeface="Wingdings 3"/>
              <a:buChar char=""/>
              <a:defRPr sz="1800"/>
            </a:pPr>
            <a:r>
              <a:rPr sz="3200" dirty="0"/>
              <a:t>New, whiz-bang, enhanced for loop</a:t>
            </a:r>
            <a:br>
              <a:rPr sz="3200" dirty="0"/>
            </a:br>
            <a:r>
              <a:rPr sz="2400" dirty="0">
                <a:solidFill>
                  <a:srgbClr val="9BBB59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double</a:t>
            </a:r>
            <a:r>
              <a:rPr lang="en-US" sz="2400" dirty="0">
                <a:solidFill>
                  <a:srgbClr val="9BBB59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[]</a:t>
            </a:r>
            <a:r>
              <a:rPr sz="2400" dirty="0">
                <a:solidFill>
                  <a:srgbClr val="9BBB59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</a:t>
            </a:r>
            <a:r>
              <a:rPr sz="2400" dirty="0">
                <a:solidFill>
                  <a:srgbClr val="C3D69B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scores</a:t>
            </a:r>
            <a:r>
              <a:rPr sz="2400" dirty="0">
                <a:solidFill>
                  <a:srgbClr val="9BBB59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= …</a:t>
            </a:r>
            <a:br>
              <a:rPr sz="2400" dirty="0">
                <a:solidFill>
                  <a:srgbClr val="9BBB59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</a:br>
            <a:r>
              <a:rPr sz="2400" dirty="0">
                <a:solidFill>
                  <a:srgbClr val="9BBB59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double sum = 0.0;</a:t>
            </a:r>
            <a:br>
              <a:rPr sz="2400" dirty="0">
                <a:solidFill>
                  <a:srgbClr val="9BBB59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</a:br>
            <a:r>
              <a:rPr sz="2400" b="1" dirty="0">
                <a:solidFill>
                  <a:srgbClr val="9BBB59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for</a:t>
            </a:r>
            <a:r>
              <a:rPr sz="2400" dirty="0">
                <a:solidFill>
                  <a:srgbClr val="9BBB59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(double </a:t>
            </a:r>
            <a:r>
              <a:rPr sz="2400" dirty="0">
                <a:solidFill>
                  <a:srgbClr val="77933C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score</a:t>
            </a:r>
            <a:r>
              <a:rPr sz="2400" dirty="0">
                <a:solidFill>
                  <a:srgbClr val="9BBB59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: </a:t>
            </a:r>
            <a:r>
              <a:rPr sz="2400" dirty="0">
                <a:solidFill>
                  <a:srgbClr val="C3D69B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scores</a:t>
            </a:r>
            <a:r>
              <a:rPr sz="2400" dirty="0">
                <a:solidFill>
                  <a:srgbClr val="9BBB59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) {</a:t>
            </a:r>
            <a:br>
              <a:rPr sz="2400" dirty="0">
                <a:solidFill>
                  <a:srgbClr val="9BBB59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</a:br>
            <a:r>
              <a:rPr sz="2400" dirty="0">
                <a:solidFill>
                  <a:srgbClr val="9BBB59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	sum += </a:t>
            </a:r>
            <a:r>
              <a:rPr sz="2400" dirty="0">
                <a:solidFill>
                  <a:srgbClr val="77933C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score</a:t>
            </a:r>
            <a:r>
              <a:rPr sz="2400" dirty="0">
                <a:solidFill>
                  <a:srgbClr val="9BBB59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;</a:t>
            </a:r>
            <a:br>
              <a:rPr sz="2400" dirty="0">
                <a:solidFill>
                  <a:srgbClr val="9BBB59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</a:br>
            <a:r>
              <a:rPr sz="2400" dirty="0">
                <a:solidFill>
                  <a:srgbClr val="9BBB59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}</a:t>
            </a:r>
            <a:r>
              <a:rPr lang="en-US" sz="2400" dirty="0">
                <a:solidFill>
                  <a:srgbClr val="9BBB59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// end for</a:t>
            </a:r>
            <a:endParaRPr sz="2400" dirty="0">
              <a:solidFill>
                <a:srgbClr val="9BBB59"/>
              </a:solidFill>
              <a:latin typeface="Courier New" panose="02070309020205020404" pitchFamily="49" charset="0"/>
              <a:ea typeface="Consolas"/>
              <a:cs typeface="Courier New" panose="02070309020205020404" pitchFamily="49" charset="0"/>
              <a:sym typeface="Consolas"/>
            </a:endParaRPr>
          </a:p>
        </p:txBody>
      </p:sp>
      <p:grpSp>
        <p:nvGrpSpPr>
          <p:cNvPr id="163" name="Group 163"/>
          <p:cNvGrpSpPr/>
          <p:nvPr/>
        </p:nvGrpSpPr>
        <p:grpSpPr>
          <a:xfrm>
            <a:off x="6400800" y="4191000"/>
            <a:ext cx="2590800" cy="2286000"/>
            <a:chOff x="0" y="0"/>
            <a:chExt cx="2590800" cy="2286000"/>
          </a:xfrm>
        </p:grpSpPr>
        <p:sp>
          <p:nvSpPr>
            <p:cNvPr id="161" name="Shape 161"/>
            <p:cNvSpPr/>
            <p:nvPr/>
          </p:nvSpPr>
          <p:spPr>
            <a:xfrm>
              <a:off x="0" y="0"/>
              <a:ext cx="2590800" cy="2286000"/>
            </a:xfrm>
            <a:prstGeom prst="rect">
              <a:avLst/>
            </a:prstGeom>
            <a:solidFill>
              <a:srgbClr val="4F81BD"/>
            </a:solidFill>
            <a:ln w="25400" cap="rnd">
              <a:solidFill>
                <a:srgbClr val="3A5E8A"/>
              </a:solidFill>
              <a:prstDash val="solid"/>
              <a:bevel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62" name="Shape 162"/>
            <p:cNvSpPr/>
            <p:nvPr/>
          </p:nvSpPr>
          <p:spPr>
            <a:xfrm>
              <a:off x="92528" y="219670"/>
              <a:ext cx="2405743" cy="18466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marL="342900" lvl="0" indent="-342900">
                <a:buSzPct val="100000"/>
                <a:buFont typeface="Arial" panose="020B0604020202020204" pitchFamily="34" charset="0"/>
                <a:buChar char="•"/>
              </a:pPr>
              <a:r>
                <a:rPr sz="2000" dirty="0">
                  <a:solidFill>
                    <a:srgbClr val="FFFFFF"/>
                  </a:solidFill>
                </a:rPr>
                <a:t>No index variable </a:t>
              </a:r>
              <a:r>
                <a:rPr sz="2000" b="1" dirty="0">
                  <a:solidFill>
                    <a:srgbClr val="FFFFFF"/>
                  </a:solidFill>
                </a:rPr>
                <a:t>(easy, but limited in 2 respects)</a:t>
              </a:r>
            </a:p>
            <a:p>
              <a:pPr marL="342900" lvl="0" indent="-342900">
                <a:buSzPct val="100000"/>
                <a:buFont typeface="Arial" panose="020B0604020202020204" pitchFamily="34" charset="0"/>
                <a:buChar char="•"/>
              </a:pPr>
              <a:r>
                <a:rPr sz="2000" dirty="0">
                  <a:solidFill>
                    <a:srgbClr val="FFFFFF"/>
                  </a:solidFill>
                </a:rPr>
                <a:t>Gives a name (</a:t>
              </a:r>
              <a:r>
                <a:rPr sz="20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score</a:t>
              </a:r>
              <a:r>
                <a:rPr sz="2000" dirty="0">
                  <a:solidFill>
                    <a:srgbClr val="FFFFFF"/>
                  </a:solidFill>
                </a:rPr>
                <a:t> here) to each element</a:t>
              </a:r>
            </a:p>
          </p:txBody>
        </p:sp>
      </p:grpSp>
      <p:grpSp>
        <p:nvGrpSpPr>
          <p:cNvPr id="167" name="Group 167"/>
          <p:cNvGrpSpPr/>
          <p:nvPr/>
        </p:nvGrpSpPr>
        <p:grpSpPr>
          <a:xfrm>
            <a:off x="4241188" y="5127654"/>
            <a:ext cx="1945190" cy="1188171"/>
            <a:chOff x="0" y="0"/>
            <a:chExt cx="1945189" cy="1188170"/>
          </a:xfrm>
        </p:grpSpPr>
        <p:sp>
          <p:nvSpPr>
            <p:cNvPr id="164" name="Shape 164"/>
            <p:cNvSpPr/>
            <p:nvPr/>
          </p:nvSpPr>
          <p:spPr>
            <a:xfrm>
              <a:off x="573589" y="718270"/>
              <a:ext cx="1371601" cy="469901"/>
            </a:xfrm>
            <a:prstGeom prst="rect">
              <a:avLst/>
            </a:prstGeom>
            <a:solidFill>
              <a:srgbClr val="4F81BD"/>
            </a:solidFill>
            <a:ln w="25400" cap="rnd">
              <a:solidFill>
                <a:srgbClr val="3A5E8A"/>
              </a:solidFill>
              <a:prstDash val="solid"/>
              <a:bevel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65" name="Shape 165"/>
            <p:cNvSpPr/>
            <p:nvPr/>
          </p:nvSpPr>
          <p:spPr>
            <a:xfrm>
              <a:off x="0" y="0"/>
              <a:ext cx="459295" cy="8063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16224" y="21600"/>
                  </a:ln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rgbClr val="3A5E8A"/>
              </a:solidFill>
              <a:prstDash val="solid"/>
              <a:bevel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66" name="Shape 166"/>
            <p:cNvSpPr/>
            <p:nvPr/>
          </p:nvSpPr>
          <p:spPr>
            <a:xfrm>
              <a:off x="573589" y="723350"/>
              <a:ext cx="1371601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2400">
                  <a:solidFill>
                    <a:srgbClr val="FFFFFF"/>
                  </a:solidFill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400">
                  <a:solidFill>
                    <a:srgbClr val="FFFFFF"/>
                  </a:solidFill>
                </a:rPr>
                <a:t>Say “in”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04046212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" grpId="0" animBg="1" advAuto="0"/>
      <p:bldP spid="167" grpId="0" animBg="1" advAuto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85D81DBE5F5A448E892B34D6B8CF20" ma:contentTypeVersion="2" ma:contentTypeDescription="Create a new document." ma:contentTypeScope="" ma:versionID="026ccaf10de5d9915dfa48c6db16b59b">
  <xsd:schema xmlns:xsd="http://www.w3.org/2001/XMLSchema" xmlns:xs="http://www.w3.org/2001/XMLSchema" xmlns:p="http://schemas.microsoft.com/office/2006/metadata/properties" xmlns:ns2="08600313-7276-4ca7-b5d3-7d86193ee0ac" targetNamespace="http://schemas.microsoft.com/office/2006/metadata/properties" ma:root="true" ma:fieldsID="c887e4ee215f388544e22a2030d7ea35" ns2:_="">
    <xsd:import namespace="08600313-7276-4ca7-b5d3-7d86193ee0a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600313-7276-4ca7-b5d3-7d86193ee0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4E211C1-CD9D-46C8-BE98-ADF55AECFF6A}">
  <ds:schemaRefs>
    <ds:schemaRef ds:uri="79ddb764-415a-4c38-83b7-908be6382be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B830662-5179-45C5-B8BB-41FD5024BB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8600313-7276-4ca7-b5d3-7d86193ee0a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7FAF4A3-64B4-43E8-BB8B-B01EB9ECAC0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4218</TotalTime>
  <Words>741</Words>
  <Application>Microsoft Office PowerPoint</Application>
  <PresentationFormat>On-screen Show (4:3)</PresentationFormat>
  <Paragraphs>92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Consolas</vt:lpstr>
      <vt:lpstr>Courier New</vt:lpstr>
      <vt:lpstr>Wingdings 3</vt:lpstr>
      <vt:lpstr>Office Theme</vt:lpstr>
      <vt:lpstr>CSSE 220</vt:lpstr>
      <vt:lpstr>Plan for today</vt:lpstr>
      <vt:lpstr>Several good ways to get help</vt:lpstr>
      <vt:lpstr>Panopto Videos</vt:lpstr>
      <vt:lpstr>Academic Integrity in CSSE</vt:lpstr>
      <vt:lpstr>How much help is too much help?</vt:lpstr>
      <vt:lpstr>Penalties – see link in syllabus</vt:lpstr>
      <vt:lpstr>Coding Gotchas – the size of things</vt:lpstr>
      <vt:lpstr>Enhanced For Loops</vt:lpstr>
      <vt:lpstr>Enhanced For Loop and Arrays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Curtis Clifton</dc:creator>
  <cp:lastModifiedBy>Ludden, Ian</cp:lastModifiedBy>
  <cp:revision>40</cp:revision>
  <cp:lastPrinted>2012-11-29T20:56:52Z</cp:lastPrinted>
  <dcterms:created xsi:type="dcterms:W3CDTF">2007-11-19T15:20:41Z</dcterms:created>
  <dcterms:modified xsi:type="dcterms:W3CDTF">2026-09-11T19:54:04Z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TC101671231033</vt:lpwstr>
  </property>
  <property fmtid="{D5CDD505-2E9C-101B-9397-08002B2CF9AE}" pid="3" name="ContentTypeId">
    <vt:lpwstr>0x0101004285D81DBE5F5A448E892B34D6B8CF20</vt:lpwstr>
  </property>
  <property fmtid="{D5CDD505-2E9C-101B-9397-08002B2CF9AE}" pid="4" name="Order">
    <vt:r8>3400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ComplianceAssetId">
    <vt:lpwstr/>
  </property>
  <property fmtid="{D5CDD505-2E9C-101B-9397-08002B2CF9AE}" pid="10" name="TemplateUrl">
    <vt:lpwstr/>
  </property>
</Properties>
</file>