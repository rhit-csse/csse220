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8"/>
  </p:notesMasterIdLst>
  <p:sldIdLst>
    <p:sldId id="256" r:id="rId5"/>
    <p:sldId id="266" r:id="rId6"/>
    <p:sldId id="273" r:id="rId7"/>
    <p:sldId id="268" r:id="rId8"/>
    <p:sldId id="278" r:id="rId9"/>
    <p:sldId id="269" r:id="rId10"/>
    <p:sldId id="277" r:id="rId11"/>
    <p:sldId id="270" r:id="rId12"/>
    <p:sldId id="271" r:id="rId13"/>
    <p:sldId id="275" r:id="rId14"/>
    <p:sldId id="276" r:id="rId15"/>
    <p:sldId id="393" r:id="rId16"/>
    <p:sldId id="272" r:id="rId17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FF7817-F08F-4973-9B88-C8C1006ED1BD}" v="1" dt="2022-03-22T06:13:37.0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1"/>
    <p:restoredTop sz="83265" autoAdjust="0"/>
  </p:normalViewPr>
  <p:slideViewPr>
    <p:cSldViewPr snapToGrid="0" snapToObjects="1">
      <p:cViewPr varScale="1">
        <p:scale>
          <a:sx n="92" d="100"/>
          <a:sy n="92" d="100"/>
        </p:scale>
        <p:origin x="23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, Frank" userId="S::zhangn2@rose-hulman.edu::8e30b5d1-c229-4107-8340-00a21acb7098" providerId="AD" clId="Web-{1CC4D1E7-88AD-520F-3395-029AE28DD790}"/>
    <pc:docChg chg="addSld">
      <pc:chgData name="Zhang, Frank" userId="S::zhangn2@rose-hulman.edu::8e30b5d1-c229-4107-8340-00a21acb7098" providerId="AD" clId="Web-{1CC4D1E7-88AD-520F-3395-029AE28DD790}" dt="2022-01-06T10:15:18.472" v="0"/>
      <pc:docMkLst>
        <pc:docMk/>
      </pc:docMkLst>
      <pc:sldChg chg="new">
        <pc:chgData name="Zhang, Frank" userId="S::zhangn2@rose-hulman.edu::8e30b5d1-c229-4107-8340-00a21acb7098" providerId="AD" clId="Web-{1CC4D1E7-88AD-520F-3395-029AE28DD790}" dt="2022-01-06T10:15:18.472" v="0"/>
        <pc:sldMkLst>
          <pc:docMk/>
          <pc:sldMk cId="504009426" sldId="279"/>
        </pc:sldMkLst>
      </pc:sldChg>
    </pc:docChg>
  </pc:docChgLst>
  <pc:docChgLst>
    <pc:chgData name="Eckstrom, Zach" userId="S::eckstrzr@rose-hulman.edu::c02bf005-2d8b-4218-a300-8882247c810e" providerId="AD" clId="Web-{FA545D8F-C233-4A1A-8EC7-4738D8887D13}"/>
    <pc:docChg chg="modSld">
      <pc:chgData name="Eckstrom, Zach" userId="S::eckstrzr@rose-hulman.edu::c02bf005-2d8b-4218-a300-8882247c810e" providerId="AD" clId="Web-{FA545D8F-C233-4A1A-8EC7-4738D8887D13}" dt="2021-09-14T02:47:50.983" v="0" actId="14100"/>
      <pc:docMkLst>
        <pc:docMk/>
      </pc:docMkLst>
      <pc:sldChg chg="modSp">
        <pc:chgData name="Eckstrom, Zach" userId="S::eckstrzr@rose-hulman.edu::c02bf005-2d8b-4218-a300-8882247c810e" providerId="AD" clId="Web-{FA545D8F-C233-4A1A-8EC7-4738D8887D13}" dt="2021-09-14T02:47:50.983" v="0" actId="14100"/>
        <pc:sldMkLst>
          <pc:docMk/>
          <pc:sldMk cId="4016243091" sldId="269"/>
        </pc:sldMkLst>
        <pc:spChg chg="mod">
          <ac:chgData name="Eckstrom, Zach" userId="S::eckstrzr@rose-hulman.edu::c02bf005-2d8b-4218-a300-8882247c810e" providerId="AD" clId="Web-{FA545D8F-C233-4A1A-8EC7-4738D8887D13}" dt="2021-09-14T02:47:50.983" v="0" actId="14100"/>
          <ac:spMkLst>
            <pc:docMk/>
            <pc:sldMk cId="4016243091" sldId="269"/>
            <ac:spMk id="224" creationId="{00000000-0000-0000-0000-000000000000}"/>
          </ac:spMkLst>
        </pc:spChg>
      </pc:sldChg>
    </pc:docChg>
  </pc:docChgLst>
  <pc:docChgLst>
    <pc:chgData name="Kelly, Jack" userId="S::kellyjc@rose-hulman.edu::a4fd8950-19f5-4a20-8ffc-645900257370" providerId="AD" clId="Web-{83FF7817-F08F-4973-9B88-C8C1006ED1BD}"/>
    <pc:docChg chg="delSld">
      <pc:chgData name="Kelly, Jack" userId="S::kellyjc@rose-hulman.edu::a4fd8950-19f5-4a20-8ffc-645900257370" providerId="AD" clId="Web-{83FF7817-F08F-4973-9B88-C8C1006ED1BD}" dt="2022-03-22T06:13:37.090" v="0"/>
      <pc:docMkLst>
        <pc:docMk/>
      </pc:docMkLst>
      <pc:sldChg chg="del">
        <pc:chgData name="Kelly, Jack" userId="S::kellyjc@rose-hulman.edu::a4fd8950-19f5-4a20-8ffc-645900257370" providerId="AD" clId="Web-{83FF7817-F08F-4973-9B88-C8C1006ED1BD}" dt="2022-03-22T06:13:37.090" v="0"/>
        <pc:sldMkLst>
          <pc:docMk/>
          <pc:sldMk cId="504009426" sldId="279"/>
        </pc:sldMkLst>
      </pc:sldChg>
    </pc:docChg>
  </pc:docChgLst>
  <pc:docChgLst>
    <pc:chgData name="Hollingsworth, Joseph" userId="6338ef61-550f-4a52-a8a3-bd9025908f10" providerId="ADAL" clId="{8B56CC65-205A-F549-A661-F26F4F404A63}"/>
    <pc:docChg chg="modSld">
      <pc:chgData name="Hollingsworth, Joseph" userId="6338ef61-550f-4a52-a8a3-bd9025908f10" providerId="ADAL" clId="{8B56CC65-205A-F549-A661-F26F4F404A63}" dt="2022-03-15T12:39:56.529" v="69" actId="20577"/>
      <pc:docMkLst>
        <pc:docMk/>
      </pc:docMkLst>
      <pc:sldChg chg="modSp mod">
        <pc:chgData name="Hollingsworth, Joseph" userId="6338ef61-550f-4a52-a8a3-bd9025908f10" providerId="ADAL" clId="{8B56CC65-205A-F549-A661-F26F4F404A63}" dt="2022-03-15T12:39:56.529" v="69" actId="20577"/>
        <pc:sldMkLst>
          <pc:docMk/>
          <pc:sldMk cId="475850554" sldId="256"/>
        </pc:sldMkLst>
        <pc:spChg chg="mod">
          <ac:chgData name="Hollingsworth, Joseph" userId="6338ef61-550f-4a52-a8a3-bd9025908f10" providerId="ADAL" clId="{8B56CC65-205A-F549-A661-F26F4F404A63}" dt="2022-03-15T12:39:56.529" v="69" actId="20577"/>
          <ac:spMkLst>
            <pc:docMk/>
            <pc:sldMk cId="475850554" sldId="256"/>
            <ac:spMk id="4" creationId="{00000000-0000-0000-0000-000000000000}"/>
          </ac:spMkLst>
        </pc:spChg>
      </pc:sldChg>
      <pc:sldChg chg="modSp mod">
        <pc:chgData name="Hollingsworth, Joseph" userId="6338ef61-550f-4a52-a8a3-bd9025908f10" providerId="ADAL" clId="{8B56CC65-205A-F549-A661-F26F4F404A63}" dt="2022-03-15T12:36:58.558" v="42" actId="6549"/>
        <pc:sldMkLst>
          <pc:docMk/>
          <pc:sldMk cId="3831615343" sldId="272"/>
        </pc:sldMkLst>
        <pc:spChg chg="mod">
          <ac:chgData name="Hollingsworth, Joseph" userId="6338ef61-550f-4a52-a8a3-bd9025908f10" providerId="ADAL" clId="{8B56CC65-205A-F549-A661-F26F4F404A63}" dt="2022-03-15T12:36:58.558" v="42" actId="6549"/>
          <ac:spMkLst>
            <pc:docMk/>
            <pc:sldMk cId="3831615343" sldId="272"/>
            <ac:spMk id="22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notes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&lt;header&gt;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&lt;date/time&gt;</a:t>
            </a:r>
          </a:p>
        </p:txBody>
      </p:sp>
      <p:sp>
        <p:nvSpPr>
          <p:cNvPr id="120" name="PlaceHolder 4"/>
          <p:cNvSpPr>
            <a:spLocks noGrp="1"/>
          </p:cNvSpPr>
          <p:nvPr>
            <p:ph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&lt;footer&gt;</a:t>
            </a:r>
          </a:p>
        </p:txBody>
      </p:sp>
      <p:sp>
        <p:nvSpPr>
          <p:cNvPr id="121" name="PlaceHolder 5"/>
          <p:cNvSpPr>
            <a:spLocks noGrp="1"/>
          </p:cNvSpPr>
          <p:nvPr>
            <p:ph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/>
            <a:fld id="{18E27A71-88A0-42AC-8446-7577892AB166}" type="slidenum"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Start at second hour 0:30 minutes to have </a:t>
            </a:r>
            <a:r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20 </a:t>
            </a:r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minutes needed to go over this</a:t>
            </a: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Look at schedule, EXAM soon! Non-coding/Written part first, programming part second.</a:t>
            </a: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Review Exams</a:t>
            </a: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Grades</a:t>
            </a:r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– see me at break or after class if you feel your grade is wrong.</a:t>
            </a:r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eaLnBrk="1" hangingPunct="1">
              <a:spcBef>
                <a:spcPct val="0"/>
              </a:spcBef>
            </a:pPr>
            <a:endParaRPr lang="en-US" dirty="0"/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DC4E740-43A9-4CB1-B37F-A3A8D36E5746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761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Yoder- I don’t use this normally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02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Math.pow</a:t>
            </a:r>
            <a:r>
              <a:rPr lang="en-US" dirty="0"/>
              <a:t>( )</a:t>
            </a:r>
          </a:p>
          <a:p>
            <a:r>
              <a:rPr lang="en-US" dirty="0" err="1"/>
              <a:t>Math.sqrt</a:t>
            </a:r>
            <a:r>
              <a:rPr lang="en-US" dirty="0"/>
              <a:t>( )</a:t>
            </a:r>
          </a:p>
          <a:p>
            <a:r>
              <a:rPr lang="en-US" dirty="0"/>
              <a:t>Utilities,</a:t>
            </a:r>
            <a:r>
              <a:rPr lang="en-US" baseline="0" dirty="0"/>
              <a:t> nothing specific to an instance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56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allowed to write code like this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4479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</a:t>
            </a:r>
            <a:r>
              <a:rPr lang="en-US" baseline="0" dirty="0"/>
              <a:t> the students, which is static? Which is non-static/instance?</a:t>
            </a:r>
          </a:p>
          <a:p>
            <a:r>
              <a:rPr lang="en-US" baseline="0" dirty="0"/>
              <a:t>Might consider asking the students to role play as point A and point B and point C, ask a random student how far apart A and B are? </a:t>
            </a:r>
          </a:p>
          <a:p>
            <a:r>
              <a:rPr lang="en-US" baseline="0" dirty="0"/>
              <a:t>Then ask A how far away he/she is from B? Then ask C how far away they are from B?</a:t>
            </a:r>
          </a:p>
          <a:p>
            <a:r>
              <a:rPr lang="en-US" baseline="0" dirty="0"/>
              <a:t>It DEPENDS upon who you ask with and instance call, but it does matter who you ask with a static call.</a:t>
            </a:r>
          </a:p>
          <a:p>
            <a:endParaRPr lang="en-US" baseline="0" dirty="0"/>
          </a:p>
          <a:p>
            <a:r>
              <a:rPr lang="en-US" baseline="0" dirty="0"/>
              <a:t>Then live code the class methods with them.  </a:t>
            </a:r>
            <a:r>
              <a:rPr lang="en-US" baseline="0" dirty="0" err="1"/>
              <a:t>distanceFormulaCalc</a:t>
            </a:r>
            <a:r>
              <a:rPr lang="en-US" baseline="0" dirty="0"/>
              <a:t> is provided to make this as quick as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algn="r"/>
            <a:fld id="{18E27A71-88A0-42AC-8446-7577892AB166}" type="slidenum">
              <a:rPr lang="en-US" sz="1400" b="0" strike="noStrike" spc="-1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10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585363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18E27A71-88A0-42AC-8446-7577892AB166}" type="slidenum">
              <a:rPr lang="en-US" sz="1400" b="0" strike="noStrike" spc="-1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12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32022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endParaRPr lang="en-US" sz="20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9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440F29AF-BE6B-4325-9FD3-75713ABAC464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13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89959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76" name="Picture 75"/>
          <p:cNvPicPr/>
          <p:nvPr/>
        </p:nvPicPr>
        <p:blipFill>
          <a:blip r:embed="rId2"/>
          <a:stretch/>
        </p:blipFill>
        <p:spPr>
          <a:xfrm>
            <a:off x="1735560" y="1599840"/>
            <a:ext cx="5671800" cy="4525560"/>
          </a:xfrm>
          <a:prstGeom prst="rect">
            <a:avLst/>
          </a:prstGeom>
          <a:ln>
            <a:noFill/>
          </a:ln>
        </p:spPr>
      </p:pic>
      <p:pic>
        <p:nvPicPr>
          <p:cNvPr id="77" name="Picture 76"/>
          <p:cNvPicPr/>
          <p:nvPr/>
        </p:nvPicPr>
        <p:blipFill>
          <a:blip r:embed="rId2"/>
          <a:stretch/>
        </p:blipFill>
        <p:spPr>
          <a:xfrm>
            <a:off x="1735560" y="1599840"/>
            <a:ext cx="5671800" cy="45255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27D7991-EA90-452F-8320-3944AC6ACE17}" type="datetime2">
              <a:rPr lang="en-US" smtClean="0"/>
              <a:pPr>
                <a:defRPr/>
              </a:pPr>
              <a:t>Friday, September 11,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5B93D7-BBD0-414E-AA31-A2C3C4F82EF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056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D00CD71-0390-4FFF-86B3-34A2B208A500}" type="datetime2">
              <a:rPr lang="en-US" smtClean="0"/>
              <a:pPr>
                <a:defRPr/>
              </a:pPr>
              <a:t>Friday, September 11,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7FE096-D0D1-4E3A-83E8-C4CFA5980E0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963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Click to edit the outline text format</a:t>
            </a:r>
          </a:p>
          <a:p>
            <a:pPr marL="864000" lvl="1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Second Outline Level</a:t>
            </a:r>
          </a:p>
          <a:p>
            <a:pPr marL="1296000" lvl="2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Third Outline Level</a:t>
            </a:r>
          </a:p>
          <a:p>
            <a:pPr marL="1728000" lvl="3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Fourth Outline Level</a:t>
            </a:r>
          </a:p>
          <a:p>
            <a:pPr marL="2160000" lvl="4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Fifth Outline Level</a:t>
            </a:r>
          </a:p>
          <a:p>
            <a:pPr marL="2592000" lvl="5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Sixth Outline Level</a:t>
            </a: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Seventh Outline LevelClick to edit Master text styles</a:t>
            </a: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Second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143000" lvl="2" indent="-2282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Third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600200" lvl="3" indent="-22824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Fourth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057400" lvl="4" indent="-228240">
              <a:lnSpc>
                <a:spcPct val="100000"/>
              </a:lnSpc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Fifth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8B8B8B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9/11/17</a:t>
            </a:r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/>
          <a:lstStyle/>
          <a:p>
            <a:endParaRPr lang="en-US" sz="2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/>
          <a:lstStyle/>
          <a:p>
            <a:pPr algn="r">
              <a:lnSpc>
                <a:spcPct val="100000"/>
              </a:lnSpc>
            </a:pPr>
            <a:fld id="{466AC9E2-460C-4DD9-B843-110103D8C5D7}" type="slidenum">
              <a:rPr lang="en-US" sz="1200" b="0" strike="noStrike" spc="-1">
                <a:solidFill>
                  <a:srgbClr val="8B8B8B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R="0" eaLnBrk="1" hangingPunct="1">
              <a:lnSpc>
                <a:spcPct val="90000"/>
              </a:lnSpc>
            </a:pPr>
            <a:r>
              <a:rPr lang="en-US" sz="2500" dirty="0"/>
              <a:t>Static Fields &amp; Methods</a:t>
            </a:r>
          </a:p>
          <a:p>
            <a:pPr marR="0" eaLnBrk="1" hangingPunct="1">
              <a:lnSpc>
                <a:spcPct val="90000"/>
              </a:lnSpc>
            </a:pPr>
            <a:endParaRPr lang="en-US" sz="25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3B4C52-3679-057F-B9FA-C5E3B4259E4D}"/>
              </a:ext>
            </a:extLst>
          </p:cNvPr>
          <p:cNvSpPr/>
          <p:nvPr/>
        </p:nvSpPr>
        <p:spPr>
          <a:xfrm>
            <a:off x="304800" y="4762500"/>
            <a:ext cx="8534400" cy="156518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PracticeSuperSimpleObjectsSolution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PracticeSuperSimpleObjectsBoxAndPointers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75850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88237" y="914400"/>
            <a:ext cx="3915770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class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StudentV1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private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String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private char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StudentV1(</a:t>
            </a:r>
          </a:p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    String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  char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this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</a:t>
            </a:r>
            <a:r>
              <a:rPr lang="en-US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this</a:t>
            </a:r>
            <a:r>
              <a:rPr lang="en-US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0000C0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646464"/>
                </a:solidFill>
                <a:latin typeface="Consolas" panose="020B0609020204030204" pitchFamily="49" charset="0"/>
              </a:rPr>
              <a:t> @Override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String </a:t>
            </a:r>
            <a:r>
              <a:rPr lang="en-US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toString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return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name 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</a:p>
          <a:p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     " has a grade of 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    +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itle 2"/>
          <p:cNvSpPr>
            <a:spLocks noGrp="1"/>
          </p:cNvSpPr>
          <p:nvPr>
            <p:ph type="title"/>
          </p:nvPr>
        </p:nvSpPr>
        <p:spPr>
          <a:xfrm>
            <a:off x="457200" y="126979"/>
            <a:ext cx="8229600" cy="6397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Why fields can’t always be static – StudentV1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2970" y="4281962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OUTPUT – from Client program: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Adam has a grade of A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Becky has a grade of B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Casey has a grade of C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708400" y="1143000"/>
            <a:ext cx="560847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// StudentV1Driver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main(String[]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args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Student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StudentV1(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"Adam"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'A'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Student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StudentV1(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"Becky"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'B'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Student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StudentV1(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"Casey"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'C'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System.</a:t>
            </a:r>
            <a:r>
              <a:rPr lang="en-US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en-US" b="1" i="1" dirty="0">
                <a:solidFill>
                  <a:srgbClr val="6A3E3E"/>
                </a:solidFill>
                <a:latin typeface="Consolas" panose="020B0609020204030204" pitchFamily="49" charset="0"/>
              </a:rPr>
              <a:t>a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System.</a:t>
            </a:r>
            <a:r>
              <a:rPr lang="en-US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en-US" b="1" i="1" dirty="0">
                <a:solidFill>
                  <a:srgbClr val="6A3E3E"/>
                </a:solidFill>
                <a:latin typeface="Consolas" panose="020B0609020204030204" pitchFamily="49" charset="0"/>
              </a:rPr>
              <a:t>b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System.</a:t>
            </a:r>
            <a:r>
              <a:rPr lang="en-US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en-US" b="1" i="1" dirty="0">
                <a:solidFill>
                  <a:srgbClr val="6A3E3E"/>
                </a:solidFill>
                <a:latin typeface="Consolas" panose="020B0609020204030204" pitchFamily="49" charset="0"/>
              </a:rPr>
              <a:t>c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6EE8BA-BC4D-4E52-8BBA-2C93DFC1CA6E}"/>
              </a:ext>
            </a:extLst>
          </p:cNvPr>
          <p:cNvSpPr/>
          <p:nvPr/>
        </p:nvSpPr>
        <p:spPr>
          <a:xfrm>
            <a:off x="288237" y="1143000"/>
            <a:ext cx="3356663" cy="512671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F6CB8C-2CC8-4683-9D4B-70A2FCEC9941}"/>
              </a:ext>
            </a:extLst>
          </p:cNvPr>
          <p:cNvSpPr/>
          <p:nvPr/>
        </p:nvSpPr>
        <p:spPr>
          <a:xfrm>
            <a:off x="3695700" y="1143000"/>
            <a:ext cx="5448300" cy="5126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AE14B-96CA-4665-A463-1ECB4C81ACBA}"/>
              </a:ext>
            </a:extLst>
          </p:cNvPr>
          <p:cNvSpPr txBox="1"/>
          <p:nvPr/>
        </p:nvSpPr>
        <p:spPr>
          <a:xfrm>
            <a:off x="4495800" y="778419"/>
            <a:ext cx="3997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program – of </a:t>
            </a:r>
            <a:r>
              <a:rPr lang="en-US" dirty="0">
                <a:highlight>
                  <a:srgbClr val="00FF00"/>
                </a:highlight>
              </a:rPr>
              <a:t>StudentV1</a:t>
            </a:r>
            <a:r>
              <a:rPr lang="en-US" dirty="0"/>
              <a:t> Class</a:t>
            </a:r>
          </a:p>
        </p:txBody>
      </p:sp>
    </p:spTree>
    <p:extLst>
      <p:ext uri="{BB962C8B-B14F-4D97-AF65-F5344CB8AC3E}">
        <p14:creationId xmlns:p14="http://schemas.microsoft.com/office/powerpoint/2010/main" val="64531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3937" y="914400"/>
            <a:ext cx="3572563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class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StudentV2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private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String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private </a:t>
            </a:r>
            <a:r>
              <a:rPr lang="en-US" b="1" dirty="0">
                <a:solidFill>
                  <a:srgbClr val="7F005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char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StudentV2(</a:t>
            </a:r>
          </a:p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    String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  char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this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</a:t>
            </a:r>
            <a:r>
              <a:rPr lang="en-US" b="1" dirty="0">
                <a:solidFill>
                  <a:srgbClr val="7F005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StudentV2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646464"/>
                </a:solidFill>
                <a:latin typeface="Consolas" panose="020B0609020204030204" pitchFamily="49" charset="0"/>
              </a:rPr>
              <a:t> @Override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String </a:t>
            </a:r>
            <a:r>
              <a:rPr lang="en-US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toString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   return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name 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</a:p>
          <a:p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     " has a grade of 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    + </a:t>
            </a:r>
            <a:r>
              <a:rPr lang="en-US" b="1" dirty="0">
                <a:solidFill>
                  <a:srgbClr val="0000C0"/>
                </a:solidFill>
                <a:latin typeface="Consolas" panose="020B0609020204030204" pitchFamily="49" charset="0"/>
              </a:rPr>
              <a:t>grade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itle 2"/>
          <p:cNvSpPr>
            <a:spLocks noGrp="1"/>
          </p:cNvSpPr>
          <p:nvPr>
            <p:ph type="title"/>
          </p:nvPr>
        </p:nvSpPr>
        <p:spPr>
          <a:xfrm>
            <a:off x="457200" y="126979"/>
            <a:ext cx="8229600" cy="6397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Why fields can’t always be static – StudentV2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2970" y="4281962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OUTPUT – from Client program: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Adam has a grade of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Becky has a grade of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Casey has a grade of C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848100" y="1143000"/>
            <a:ext cx="546877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// StudentV2Driver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main(String[] </a:t>
            </a:r>
            <a:r>
              <a:rPr lang="en-US" b="1" dirty="0">
                <a:solidFill>
                  <a:srgbClr val="6A3E3E"/>
                </a:solidFill>
                <a:latin typeface="Consolas" panose="020B0609020204030204" pitchFamily="49" charset="0"/>
              </a:rPr>
              <a:t>args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Student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StudentV2(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"Adam"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'A'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Student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StudentV2(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"Becky"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'B'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Student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 StudentV2(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"Casey"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2A00FF"/>
                </a:solidFill>
                <a:latin typeface="Consolas" panose="020B0609020204030204" pitchFamily="49" charset="0"/>
              </a:rPr>
              <a:t>'C'</a:t>
            </a: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System.</a:t>
            </a:r>
            <a:r>
              <a:rPr lang="en-US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en-US" b="1" i="1" dirty="0">
                <a:solidFill>
                  <a:srgbClr val="6A3E3E"/>
                </a:solidFill>
                <a:latin typeface="Consolas" panose="020B0609020204030204" pitchFamily="49" charset="0"/>
              </a:rPr>
              <a:t>a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System.</a:t>
            </a:r>
            <a:r>
              <a:rPr lang="en-US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en-US" b="1" i="1" dirty="0">
                <a:solidFill>
                  <a:srgbClr val="6A3E3E"/>
                </a:solidFill>
                <a:latin typeface="Consolas" panose="020B0609020204030204" pitchFamily="49" charset="0"/>
              </a:rPr>
              <a:t>b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System.</a:t>
            </a:r>
            <a:r>
              <a:rPr lang="en-US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en-US" b="1" i="1" dirty="0">
                <a:solidFill>
                  <a:srgbClr val="6A3E3E"/>
                </a:solidFill>
                <a:latin typeface="Consolas" panose="020B0609020204030204" pitchFamily="49" charset="0"/>
              </a:rPr>
              <a:t>c</a:t>
            </a:r>
            <a:r>
              <a:rPr lang="en-US" b="1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6EE8BA-BC4D-4E52-8BBA-2C93DFC1CA6E}"/>
              </a:ext>
            </a:extLst>
          </p:cNvPr>
          <p:cNvSpPr/>
          <p:nvPr/>
        </p:nvSpPr>
        <p:spPr>
          <a:xfrm>
            <a:off x="212036" y="1143000"/>
            <a:ext cx="3542235" cy="512671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F6CB8C-2CC8-4683-9D4B-70A2FCEC9941}"/>
              </a:ext>
            </a:extLst>
          </p:cNvPr>
          <p:cNvSpPr/>
          <p:nvPr/>
        </p:nvSpPr>
        <p:spPr>
          <a:xfrm>
            <a:off x="3810000" y="1155700"/>
            <a:ext cx="5334000" cy="5126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AE14B-96CA-4665-A463-1ECB4C81ACBA}"/>
              </a:ext>
            </a:extLst>
          </p:cNvPr>
          <p:cNvSpPr txBox="1"/>
          <p:nvPr/>
        </p:nvSpPr>
        <p:spPr>
          <a:xfrm>
            <a:off x="4343400" y="740319"/>
            <a:ext cx="4429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program – of </a:t>
            </a:r>
            <a:r>
              <a:rPr lang="en-US" dirty="0">
                <a:highlight>
                  <a:srgbClr val="00FF00"/>
                </a:highlight>
              </a:rPr>
              <a:t>StudentV2</a:t>
            </a:r>
            <a:r>
              <a:rPr lang="en-US" dirty="0"/>
              <a:t> Class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FBA5E6-1BF8-4A93-A843-F6EB4A27A02E}"/>
              </a:ext>
            </a:extLst>
          </p:cNvPr>
          <p:cNvSpPr/>
          <p:nvPr/>
        </p:nvSpPr>
        <p:spPr>
          <a:xfrm>
            <a:off x="2176546" y="5716851"/>
            <a:ext cx="6881315" cy="10156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/>
              <a:t>Static means there's </a:t>
            </a:r>
            <a:r>
              <a:rPr lang="en-US" sz="2000" b="1" u="sng" dirty="0"/>
              <a:t>only one shared copy</a:t>
            </a:r>
            <a:r>
              <a:rPr lang="en-US" sz="2000" dirty="0"/>
              <a:t> of a field/method for ALL instances of a class that's created. </a:t>
            </a:r>
          </a:p>
          <a:p>
            <a:r>
              <a:rPr lang="en-US" sz="2000" dirty="0"/>
              <a:t>So when you change a grade, they all change.</a:t>
            </a:r>
          </a:p>
        </p:txBody>
      </p:sp>
    </p:spTree>
    <p:extLst>
      <p:ext uri="{BB962C8B-B14F-4D97-AF65-F5344CB8AC3E}">
        <p14:creationId xmlns:p14="http://schemas.microsoft.com/office/powerpoint/2010/main" val="386206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 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PracticeSuperSimpleObjects</a:t>
            </a:r>
            <a:endParaRPr lang="en-US" dirty="0"/>
          </a:p>
          <a:p>
            <a:r>
              <a:rPr lang="en-US" dirty="0"/>
              <a:t>Right now – draw Box &amp; Pointer diagram of </a:t>
            </a:r>
            <a:r>
              <a:rPr lang="en-US" i="1" dirty="0"/>
              <a:t>StudentV1Driver</a:t>
            </a:r>
          </a:p>
          <a:p>
            <a:r>
              <a:rPr lang="en-US" dirty="0"/>
              <a:t>Work in pairs</a:t>
            </a:r>
          </a:p>
          <a:p>
            <a:r>
              <a:rPr lang="en-US" dirty="0"/>
              <a:t>After you all finish I’ll do Box &amp; </a:t>
            </a:r>
            <a:r>
              <a:rPr lang="en-US" dirty="0" err="1"/>
              <a:t>Ptr</a:t>
            </a:r>
            <a:r>
              <a:rPr lang="en-US" dirty="0"/>
              <a:t> of </a:t>
            </a:r>
            <a:r>
              <a:rPr lang="en-US" i="1" dirty="0"/>
              <a:t>StudentV2Driver</a:t>
            </a:r>
          </a:p>
        </p:txBody>
      </p:sp>
    </p:spTree>
    <p:extLst>
      <p:ext uri="{BB962C8B-B14F-4D97-AF65-F5344CB8AC3E}">
        <p14:creationId xmlns:p14="http://schemas.microsoft.com/office/powerpoint/2010/main" val="1678625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When do we make methods static?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Utility Methods</a:t>
            </a:r>
          </a:p>
          <a:p>
            <a:pPr lvl="1"/>
            <a:r>
              <a:rPr lang="en-US" dirty="0"/>
              <a:t>Things like Math class's abs, sqrt, etc. </a:t>
            </a:r>
          </a:p>
          <a:p>
            <a:pPr lvl="1"/>
            <a:r>
              <a:rPr lang="en-US" dirty="0"/>
              <a:t>Don’t need an instance of a class to run them</a:t>
            </a:r>
          </a:p>
          <a:p>
            <a:pPr lvl="1">
              <a:tabLst>
                <a:tab pos="1193800" algn="l"/>
              </a:tabLst>
            </a:pPr>
            <a:r>
              <a:rPr lang="en-US" dirty="0"/>
              <a:t>Examples</a:t>
            </a:r>
            <a:br>
              <a:rPr lang="en-US" dirty="0"/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double y = -3.3;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double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absY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Math.abs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(y);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double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ySqR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absY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/>
              <a:t>How do I know if it is static?</a:t>
            </a:r>
          </a:p>
          <a:p>
            <a:pPr lvl="1"/>
            <a:r>
              <a:rPr lang="en-US" dirty="0"/>
              <a:t>No references to non-static fields/methods</a:t>
            </a:r>
          </a:p>
          <a:p>
            <a:pPr lvl="1"/>
            <a:r>
              <a:rPr lang="en-US" dirty="0"/>
              <a:t>No “this” keyword used in method</a:t>
            </a:r>
          </a:p>
        </p:txBody>
      </p:sp>
    </p:spTree>
    <p:extLst>
      <p:ext uri="{BB962C8B-B14F-4D97-AF65-F5344CB8AC3E}">
        <p14:creationId xmlns:p14="http://schemas.microsoft.com/office/powerpoint/2010/main" val="590300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When do we make fields static?</a:t>
            </a:r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4" name="TextShape 2"/>
          <p:cNvSpPr txBox="1"/>
          <p:nvPr/>
        </p:nvSpPr>
        <p:spPr>
          <a:xfrm>
            <a:off x="457200" y="1600200"/>
            <a:ext cx="8229240" cy="420024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Never</a:t>
            </a: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Seriously, this is disallowed for all the code you submit in CSSE220 (exception: CONSTANTS)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It almost always makes your designs worse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If it wasn’t disallowed, when would you use it?</a:t>
            </a: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Very rarely for memory efficiency, state that can’t be duplicated, or really </a:t>
            </a:r>
            <a:r>
              <a:rPr lang="en-US" sz="2800" b="0" i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meta</a:t>
            </a: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code/variables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BUT even professional programmers misuse static and cause themselves major problems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They’ll talk about some positive uses in CSSE374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6243091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Two Example Classes </a:t>
            </a:r>
            <a:r>
              <a:rPr lang="en-US" sz="4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W</a:t>
            </a: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ith Static</a:t>
            </a:r>
            <a:endParaRPr lang="en-US" sz="4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4" name="TextShape 2"/>
          <p:cNvSpPr txBox="1"/>
          <p:nvPr/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Car</a:t>
            </a: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Bicycle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8545204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88844" y="104097"/>
            <a:ext cx="9283148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public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class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Car {</a:t>
            </a:r>
          </a:p>
          <a:p>
            <a:endParaRPr lang="en-US" dirty="0">
              <a:latin typeface="Consolas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private double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0000C0"/>
                </a:solidFill>
                <a:latin typeface="Consolas"/>
              </a:rPr>
              <a:t>mileage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endParaRPr lang="en-US" dirty="0">
              <a:latin typeface="Consolas"/>
            </a:endParaRP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    //other stuff</a:t>
            </a:r>
          </a:p>
          <a:p>
            <a:endParaRPr lang="en-US" dirty="0">
              <a:latin typeface="Consolas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public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double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nsolas"/>
              </a:rPr>
              <a:t>getMilesTravelled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() {</a:t>
            </a: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    return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nsolas"/>
              </a:rPr>
              <a:t>this.</a:t>
            </a:r>
            <a:r>
              <a:rPr lang="en-US" b="1" dirty="0" err="1">
                <a:solidFill>
                  <a:srgbClr val="0000C0"/>
                </a:solidFill>
                <a:latin typeface="Consolas"/>
              </a:rPr>
              <a:t>mileage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    }</a:t>
            </a:r>
          </a:p>
          <a:p>
            <a:endParaRPr lang="en-US" dirty="0">
              <a:latin typeface="Consolas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public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static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double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convertMilesToKm</a:t>
            </a:r>
            <a:r>
              <a:rPr lang="en-US" b="1" dirty="0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(</a:t>
            </a:r>
            <a:r>
              <a:rPr lang="en-US" b="1" dirty="0">
                <a:solidFill>
                  <a:srgbClr val="7F0055"/>
                </a:solidFill>
                <a:highlight>
                  <a:srgbClr val="D4D4D4"/>
                </a:highlight>
                <a:latin typeface="Consolas"/>
              </a:rPr>
              <a:t>double</a:t>
            </a:r>
            <a:r>
              <a:rPr lang="en-US" b="1" dirty="0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numberOfMiles</a:t>
            </a:r>
            <a:r>
              <a:rPr lang="en-US" b="1" dirty="0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) {</a:t>
            </a: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    return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nsolas"/>
              </a:rPr>
              <a:t>numberOfMiles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* 1.609344f;</a:t>
            </a: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    }</a:t>
            </a:r>
          </a:p>
          <a:p>
            <a:endParaRPr lang="en-US" dirty="0">
              <a:latin typeface="Consolas"/>
            </a:endParaRP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onsolas"/>
            </a:endParaRP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//Elsewhere in a client program of Car class</a:t>
            </a:r>
          </a:p>
          <a:p>
            <a:endParaRPr lang="en-US" dirty="0">
              <a:solidFill>
                <a:srgbClr val="3F7F5F"/>
              </a:solidFill>
              <a:latin typeface="Consolas"/>
            </a:endParaRP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//requires you to have a car object</a:t>
            </a:r>
            <a:endParaRPr lang="en-US" dirty="0">
              <a:solidFill>
                <a:srgbClr val="000000"/>
              </a:solidFill>
              <a:latin typeface="Consolas"/>
            </a:endParaRPr>
          </a:p>
          <a:p>
            <a:r>
              <a:rPr lang="en-US" b="1" dirty="0">
                <a:solidFill>
                  <a:srgbClr val="000000"/>
                </a:solidFill>
                <a:latin typeface="Consolas"/>
              </a:rPr>
              <a:t>Car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/>
              </a:rPr>
              <a:t>myCar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Car();</a:t>
            </a: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// </a:t>
            </a:r>
            <a:r>
              <a:rPr lang="en-US" i="1" dirty="0" err="1">
                <a:solidFill>
                  <a:srgbClr val="3F7F5F"/>
                </a:solidFill>
                <a:latin typeface="Consolas"/>
              </a:rPr>
              <a:t>getMilesTravelled</a:t>
            </a:r>
            <a:r>
              <a:rPr lang="en-US" dirty="0">
                <a:solidFill>
                  <a:srgbClr val="3F7F5F"/>
                </a:solidFill>
                <a:latin typeface="Consolas"/>
              </a:rPr>
              <a:t> requires you to have a car object</a:t>
            </a:r>
          </a:p>
          <a:p>
            <a:r>
              <a:rPr lang="en-US" dirty="0" err="1">
                <a:solidFill>
                  <a:srgbClr val="000000"/>
                </a:solidFill>
                <a:latin typeface="Consolas"/>
              </a:rPr>
              <a:t>System.</a:t>
            </a:r>
            <a:r>
              <a:rPr lang="en-US" i="1" dirty="0" err="1">
                <a:solidFill>
                  <a:srgbClr val="0000C0"/>
                </a:solidFill>
                <a:latin typeface="Consolas"/>
              </a:rPr>
              <a:t>out</a:t>
            </a:r>
            <a:r>
              <a:rPr lang="en-US" i="1" dirty="0" err="1">
                <a:solidFill>
                  <a:srgbClr val="000000"/>
                </a:solidFill>
                <a:latin typeface="Consolas"/>
              </a:rPr>
              <a:t>.println</a:t>
            </a:r>
            <a:r>
              <a:rPr lang="en-US" i="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i="1" dirty="0" err="1">
                <a:solidFill>
                  <a:srgbClr val="000000"/>
                </a:solidFill>
                <a:latin typeface="Consolas"/>
              </a:rPr>
              <a:t>myCar.getMilesTravelled</a:t>
            </a:r>
            <a:r>
              <a:rPr lang="en-US" i="1" dirty="0">
                <a:solidFill>
                  <a:srgbClr val="000000"/>
                </a:solidFill>
                <a:latin typeface="Consolas"/>
              </a:rPr>
              <a:t>());//output depends on code</a:t>
            </a: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//</a:t>
            </a:r>
            <a:r>
              <a:rPr lang="en-US" i="1" dirty="0" err="1">
                <a:solidFill>
                  <a:srgbClr val="3F7F5F"/>
                </a:solidFill>
                <a:latin typeface="Consolas"/>
              </a:rPr>
              <a:t>convertMilesToKm</a:t>
            </a:r>
            <a:r>
              <a:rPr lang="en-US" dirty="0">
                <a:solidFill>
                  <a:srgbClr val="3F7F5F"/>
                </a:solidFill>
                <a:latin typeface="Consolas"/>
              </a:rPr>
              <a:t> can be called on the class Car itself</a:t>
            </a:r>
          </a:p>
          <a:p>
            <a:r>
              <a:rPr lang="en-US" dirty="0" err="1">
                <a:solidFill>
                  <a:srgbClr val="000000"/>
                </a:solidFill>
                <a:latin typeface="Consolas"/>
              </a:rPr>
              <a:t>System.</a:t>
            </a:r>
            <a:r>
              <a:rPr lang="en-US" i="1" dirty="0" err="1">
                <a:solidFill>
                  <a:srgbClr val="0000C0"/>
                </a:solidFill>
                <a:latin typeface="Consolas"/>
              </a:rPr>
              <a:t>out</a:t>
            </a:r>
            <a:r>
              <a:rPr lang="en-US" i="1" dirty="0" err="1">
                <a:solidFill>
                  <a:srgbClr val="000000"/>
                </a:solidFill>
                <a:latin typeface="Consolas"/>
              </a:rPr>
              <a:t>.println</a:t>
            </a:r>
            <a:r>
              <a:rPr lang="en-US" i="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i="1" dirty="0" err="1">
                <a:solidFill>
                  <a:srgbClr val="000000"/>
                </a:solidFill>
                <a:latin typeface="Consolas"/>
              </a:rPr>
              <a:t>Car.</a:t>
            </a:r>
            <a:r>
              <a:rPr lang="en-US" i="1" dirty="0" err="1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convertMilesToKm</a:t>
            </a:r>
            <a:r>
              <a:rPr lang="en-US" i="1" dirty="0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(77));//output is </a:t>
            </a:r>
            <a:r>
              <a:rPr lang="en-US" sz="2000" b="1" i="1" dirty="0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123.919488</a:t>
            </a:r>
            <a:endParaRPr lang="en-US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F59E2A-CBC6-4970-B6BE-9C00BED1A058}"/>
              </a:ext>
            </a:extLst>
          </p:cNvPr>
          <p:cNvSpPr/>
          <p:nvPr/>
        </p:nvSpPr>
        <p:spPr>
          <a:xfrm>
            <a:off x="248481" y="104098"/>
            <a:ext cx="8855764" cy="425918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3470EA-C8FE-4A5D-84BC-7816000841EB}"/>
              </a:ext>
            </a:extLst>
          </p:cNvPr>
          <p:cNvSpPr/>
          <p:nvPr/>
        </p:nvSpPr>
        <p:spPr>
          <a:xfrm>
            <a:off x="248481" y="5049948"/>
            <a:ext cx="8855765" cy="1788173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9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78905" y="31553"/>
            <a:ext cx="9283148" cy="68634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public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class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Bicycle {</a:t>
            </a:r>
          </a:p>
          <a:p>
            <a:endParaRPr lang="en-US" dirty="0">
              <a:latin typeface="Consolas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private 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0000C0"/>
                </a:solidFill>
                <a:latin typeface="Consolas"/>
              </a:rPr>
              <a:t>speed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private </a:t>
            </a:r>
            <a:r>
              <a:rPr lang="en-US" b="1" dirty="0">
                <a:solidFill>
                  <a:srgbClr val="7F0055"/>
                </a:solidFill>
                <a:highlight>
                  <a:srgbClr val="FFFF00"/>
                </a:highlight>
                <a:latin typeface="Consolas"/>
              </a:rPr>
              <a:t>static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int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C0"/>
                </a:solidFill>
                <a:latin typeface="Consolas"/>
              </a:rPr>
              <a:t>numCreated</a:t>
            </a:r>
            <a:r>
              <a:rPr lang="en-US" b="1" dirty="0">
                <a:solidFill>
                  <a:srgbClr val="0000C0"/>
                </a:solidFill>
                <a:latin typeface="Consolas"/>
              </a:rPr>
              <a:t> = 0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endParaRPr lang="en-US" dirty="0">
              <a:latin typeface="Consolas"/>
            </a:endParaRP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   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public 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Bicycle(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speed) {</a:t>
            </a:r>
          </a:p>
          <a:p>
            <a:r>
              <a:rPr lang="en-US" b="1" dirty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this</a:t>
            </a:r>
            <a:r>
              <a:rPr lang="en-US" b="1" dirty="0" err="1">
                <a:solidFill>
                  <a:srgbClr val="000000"/>
                </a:solidFill>
                <a:latin typeface="Consolas"/>
              </a:rPr>
              <a:t>.</a:t>
            </a:r>
            <a:r>
              <a:rPr lang="en-US" b="1" dirty="0" err="1">
                <a:solidFill>
                  <a:srgbClr val="0000C0"/>
                </a:solidFill>
                <a:latin typeface="Consolas"/>
              </a:rPr>
              <a:t>speed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= speed;</a:t>
            </a:r>
          </a:p>
          <a:p>
            <a:r>
              <a:rPr lang="en-US" b="1" dirty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Bicycle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.</a:t>
            </a:r>
            <a:r>
              <a:rPr lang="en-US" b="1" dirty="0" err="1">
                <a:solidFill>
                  <a:srgbClr val="0000C0"/>
                </a:solidFill>
                <a:latin typeface="Consolas"/>
              </a:rPr>
              <a:t>numCreated</a:t>
            </a:r>
            <a:r>
              <a:rPr lang="en-US" b="1" dirty="0">
                <a:solidFill>
                  <a:srgbClr val="0000C0"/>
                </a:solidFill>
                <a:latin typeface="Consolas"/>
              </a:rPr>
              <a:t>++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latin typeface="Consolas"/>
              </a:rPr>
              <a:t>    }</a:t>
            </a:r>
            <a:endParaRPr lang="en-US" dirty="0">
              <a:latin typeface="Consolas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public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onsolas"/>
              </a:rPr>
              <a:t>getSpeed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() {</a:t>
            </a: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    return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this</a:t>
            </a:r>
            <a:r>
              <a:rPr lang="en-US" b="1" dirty="0" err="1">
                <a:solidFill>
                  <a:srgbClr val="000000"/>
                </a:solidFill>
                <a:latin typeface="Consolas"/>
              </a:rPr>
              <a:t>.</a:t>
            </a:r>
            <a:r>
              <a:rPr lang="en-US" b="1" dirty="0" err="1">
                <a:solidFill>
                  <a:srgbClr val="0000C0"/>
                </a:solidFill>
                <a:latin typeface="Consolas"/>
              </a:rPr>
              <a:t>speed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    }</a:t>
            </a:r>
            <a:endParaRPr lang="en-US" dirty="0">
              <a:latin typeface="Consolas"/>
            </a:endParaRP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public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static 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b="1" dirty="0" err="1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getNumCreated</a:t>
            </a:r>
            <a:r>
              <a:rPr lang="en-US" b="1" dirty="0">
                <a:solidFill>
                  <a:srgbClr val="000000"/>
                </a:solidFill>
                <a:highlight>
                  <a:srgbClr val="D4D4D4"/>
                </a:highlight>
                <a:latin typeface="Consolas"/>
              </a:rPr>
              <a:t>() {</a:t>
            </a:r>
          </a:p>
          <a:p>
            <a:r>
              <a:rPr lang="en-US" b="1" dirty="0">
                <a:solidFill>
                  <a:srgbClr val="7F0055"/>
                </a:solidFill>
                <a:latin typeface="Consolas"/>
              </a:rPr>
              <a:t>        return </a:t>
            </a:r>
            <a:r>
              <a:rPr lang="en-US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Bicycle</a:t>
            </a:r>
            <a:r>
              <a:rPr lang="en-US" b="1" dirty="0" err="1">
                <a:solidFill>
                  <a:srgbClr val="7F0055"/>
                </a:solidFill>
                <a:latin typeface="Consolas"/>
              </a:rPr>
              <a:t>.</a:t>
            </a:r>
            <a:r>
              <a:rPr lang="en-US" b="1" dirty="0" err="1">
                <a:solidFill>
                  <a:srgbClr val="0000C0"/>
                </a:solidFill>
                <a:latin typeface="Consolas"/>
              </a:rPr>
              <a:t>numCreated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    }</a:t>
            </a:r>
            <a:endParaRPr lang="en-US" dirty="0">
              <a:latin typeface="Consolas"/>
            </a:endParaRP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}</a:t>
            </a:r>
          </a:p>
          <a:p>
            <a:endParaRPr lang="en-US" dirty="0">
              <a:solidFill>
                <a:srgbClr val="3F7F5F"/>
              </a:solidFill>
              <a:latin typeface="Consolas"/>
            </a:endParaRPr>
          </a:p>
          <a:p>
            <a:r>
              <a:rPr lang="en-US" dirty="0">
                <a:solidFill>
                  <a:srgbClr val="3F7F5F"/>
                </a:solidFill>
                <a:latin typeface="Consolas"/>
              </a:rPr>
              <a:t>// Client does not need Bicycle object for calling </a:t>
            </a:r>
            <a:r>
              <a:rPr lang="en-US" i="1" dirty="0" err="1">
                <a:solidFill>
                  <a:srgbClr val="3F7F5F"/>
                </a:solidFill>
                <a:latin typeface="Consolas"/>
              </a:rPr>
              <a:t>getNumCreated</a:t>
            </a:r>
            <a:endParaRPr lang="en-US" i="1" dirty="0">
              <a:solidFill>
                <a:srgbClr val="000000"/>
              </a:solidFill>
              <a:latin typeface="Consolas"/>
            </a:endParaRPr>
          </a:p>
          <a:p>
            <a:r>
              <a:rPr lang="en-US" dirty="0" err="1">
                <a:solidFill>
                  <a:srgbClr val="000000"/>
                </a:solidFill>
                <a:latin typeface="Consolas"/>
              </a:rPr>
              <a:t>System.</a:t>
            </a:r>
            <a:r>
              <a:rPr lang="en-US" i="1" dirty="0" err="1">
                <a:solidFill>
                  <a:srgbClr val="0000C0"/>
                </a:solidFill>
                <a:latin typeface="Consolas"/>
              </a:rPr>
              <a:t>out</a:t>
            </a:r>
            <a:r>
              <a:rPr lang="en-US" dirty="0" err="1">
                <a:solidFill>
                  <a:srgbClr val="000000"/>
                </a:solidFill>
                <a:latin typeface="Consolas"/>
              </a:rPr>
              <a:t>.println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/>
              </a:rPr>
              <a:t>Bicycle.getNumCreated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());</a:t>
            </a: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Bicycle myBike1 =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Bicycle(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18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/>
              </a:rPr>
              <a:t>Bicycle myBike2 = </a:t>
            </a:r>
            <a:r>
              <a:rPr lang="en-US" b="1" dirty="0">
                <a:solidFill>
                  <a:srgbClr val="7F0055"/>
                </a:solidFill>
                <a:latin typeface="Consolas"/>
              </a:rPr>
              <a:t>new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 Bicycle(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1</a:t>
            </a:r>
            <a:r>
              <a:rPr lang="en-US" b="1" dirty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dirty="0" err="1">
                <a:solidFill>
                  <a:srgbClr val="000000"/>
                </a:solidFill>
                <a:latin typeface="Consolas"/>
              </a:rPr>
              <a:t>System.</a:t>
            </a:r>
            <a:r>
              <a:rPr lang="en-US" i="1" dirty="0" err="1">
                <a:solidFill>
                  <a:srgbClr val="0000C0"/>
                </a:solidFill>
                <a:latin typeface="Consolas"/>
              </a:rPr>
              <a:t>out</a:t>
            </a:r>
            <a:r>
              <a:rPr lang="en-US" dirty="0" err="1">
                <a:solidFill>
                  <a:srgbClr val="000000"/>
                </a:solidFill>
                <a:latin typeface="Consolas"/>
              </a:rPr>
              <a:t>.println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/>
              </a:rPr>
              <a:t>Bicycle.getNumCreated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() + </a:t>
            </a:r>
            <a:r>
              <a:rPr lang="en-US" dirty="0"/>
              <a:t>"  "</a:t>
            </a:r>
            <a:r>
              <a:rPr lang="en-US" dirty="0">
                <a:solidFill>
                  <a:srgbClr val="000000"/>
                </a:solidFill>
                <a:latin typeface="Consolas"/>
              </a:rPr>
              <a:t> + myBike1.getSpeed());</a:t>
            </a:r>
          </a:p>
          <a:p>
            <a:r>
              <a:rPr lang="en-US" sz="2200" b="1" dirty="0"/>
              <a:t>0</a:t>
            </a:r>
          </a:p>
          <a:p>
            <a:r>
              <a:rPr lang="en-US" sz="2200" b="1" dirty="0"/>
              <a:t>2 18</a:t>
            </a:r>
          </a:p>
        </p:txBody>
      </p:sp>
      <p:sp>
        <p:nvSpPr>
          <p:cNvPr id="3" name="Rectangle 9"/>
          <p:cNvSpPr>
            <a:spLocks/>
          </p:cNvSpPr>
          <p:nvPr/>
        </p:nvSpPr>
        <p:spPr bwMode="auto">
          <a:xfrm>
            <a:off x="7625172" y="6309350"/>
            <a:ext cx="1036926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 dirty="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Q12 - Q16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FC12C-35E0-4F1D-AAC8-BEA6B36C28BD}"/>
              </a:ext>
            </a:extLst>
          </p:cNvPr>
          <p:cNvSpPr/>
          <p:nvPr/>
        </p:nvSpPr>
        <p:spPr>
          <a:xfrm>
            <a:off x="238542" y="104097"/>
            <a:ext cx="8855764" cy="4408267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44365-DE8E-49F7-B06F-273DFD243B49}"/>
              </a:ext>
            </a:extLst>
          </p:cNvPr>
          <p:cNvSpPr/>
          <p:nvPr/>
        </p:nvSpPr>
        <p:spPr>
          <a:xfrm>
            <a:off x="238542" y="4584909"/>
            <a:ext cx="8855765" cy="221258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8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do one thing:</a:t>
            </a:r>
            <a:br>
              <a:rPr lang="en-US" dirty="0"/>
            </a:br>
            <a:r>
              <a:rPr lang="en-US" dirty="0"/>
              <a:t>Static and Instance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Point class we used as a Quiz</a:t>
            </a:r>
          </a:p>
          <a:p>
            <a:r>
              <a:rPr lang="en-US" dirty="0"/>
              <a:t>Let’s write code to enable the following to run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Point a = new Point( 0, 0 );</a:t>
            </a:r>
          </a:p>
          <a:p>
            <a:pPr marL="0" indent="0">
              <a:buNone/>
            </a:pPr>
            <a:r>
              <a:rPr lang="en-US" dirty="0"/>
              <a:t>Point b = new Point( 3, 4);</a:t>
            </a:r>
          </a:p>
          <a:p>
            <a:pPr marL="0" indent="0">
              <a:buNone/>
            </a:pPr>
            <a:r>
              <a:rPr lang="en-US" dirty="0" err="1"/>
              <a:t>System.out.println</a:t>
            </a:r>
            <a:r>
              <a:rPr lang="en-US" dirty="0"/>
              <a:t>(   </a:t>
            </a:r>
            <a:r>
              <a:rPr lang="en-US" dirty="0" err="1"/>
              <a:t>Point.distanceBetween</a:t>
            </a:r>
            <a:r>
              <a:rPr lang="en-US" dirty="0"/>
              <a:t>(</a:t>
            </a:r>
            <a:r>
              <a:rPr lang="en-US" dirty="0" err="1"/>
              <a:t>a,b</a:t>
            </a:r>
            <a:r>
              <a:rPr lang="en-US" dirty="0"/>
              <a:t>) );</a:t>
            </a:r>
          </a:p>
          <a:p>
            <a:pPr marL="0" indent="0">
              <a:buNone/>
            </a:pPr>
            <a:r>
              <a:rPr lang="en-US" dirty="0" err="1"/>
              <a:t>System.out.println</a:t>
            </a:r>
            <a:r>
              <a:rPr lang="en-US" dirty="0"/>
              <a:t>(  </a:t>
            </a:r>
            <a:r>
              <a:rPr lang="en-US" dirty="0" err="1"/>
              <a:t>a.distanceTo</a:t>
            </a:r>
            <a:r>
              <a:rPr lang="en-US" dirty="0"/>
              <a:t>( b ) 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10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844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A1488-BD03-CBF6-BE7F-9D78DEE54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vs. Instance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1D0DE4-EAC3-1724-02C2-98B105FA2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34" y="1572677"/>
            <a:ext cx="6670524" cy="1856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AF337C7-F0DC-990B-589B-C47F1D199039}"/>
              </a:ext>
            </a:extLst>
          </p:cNvPr>
          <p:cNvSpPr txBox="1"/>
          <p:nvPr/>
        </p:nvSpPr>
        <p:spPr>
          <a:xfrm>
            <a:off x="0" y="3672929"/>
            <a:ext cx="4346369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Static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Belongs to the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Does NOT require any objects to be created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related to any </a:t>
            </a:r>
            <a:r>
              <a:rPr lang="en-US" b="1" i="1" dirty="0"/>
              <a:t>specific</a:t>
            </a:r>
            <a:r>
              <a:rPr lang="en-US" dirty="0"/>
              <a:t>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use the keyword </a:t>
            </a:r>
            <a:r>
              <a:rPr lang="en-US" b="1" dirty="0"/>
              <a:t>this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main </a:t>
            </a:r>
            <a:r>
              <a:rPr lang="en-US" dirty="0"/>
              <a:t>method is static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578D64-92DD-DD98-B20C-D8503DE341D3}"/>
              </a:ext>
            </a:extLst>
          </p:cNvPr>
          <p:cNvSpPr txBox="1"/>
          <p:nvPr/>
        </p:nvSpPr>
        <p:spPr>
          <a:xfrm>
            <a:off x="4149547" y="3672929"/>
            <a:ext cx="50945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Instance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Belongs to an INSTANCE or specific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Requires creating a specific object since it pertains to a specific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use the keyword </a:t>
            </a:r>
            <a:r>
              <a:rPr lang="en-US" b="1" dirty="0"/>
              <a:t>this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main method is NOT an instance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64540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Reminder</a:t>
            </a:r>
            <a:endParaRPr lang="en-US" sz="4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9" name="TextShape 2"/>
          <p:cNvSpPr txBox="1"/>
          <p:nvPr/>
        </p:nvSpPr>
        <p:spPr>
          <a:xfrm>
            <a:off x="296883" y="1600200"/>
            <a:ext cx="8389557" cy="276740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You can work 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</a:t>
            </a:r>
            <a:r>
              <a:rPr lang="en-US" sz="32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HWMaps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b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</a:b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Work with a partner on 1 of the operations</a:t>
            </a: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If you are confused about what to do, get help!</a:t>
            </a: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Fail in front of Instructor or TA -&gt; Now is the time to fail, not at 23:45 the night it is due</a:t>
            </a:r>
          </a:p>
        </p:txBody>
      </p:sp>
    </p:spTree>
    <p:extLst>
      <p:ext uri="{BB962C8B-B14F-4D97-AF65-F5344CB8AC3E}">
        <p14:creationId xmlns:p14="http://schemas.microsoft.com/office/powerpoint/2010/main" val="3831615343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5D81DBE5F5A448E892B34D6B8CF20" ma:contentTypeVersion="8" ma:contentTypeDescription="Create a new document." ma:contentTypeScope="" ma:versionID="ecce54155d2ea7caa9aed06c8b6b9867">
  <xsd:schema xmlns:xsd="http://www.w3.org/2001/XMLSchema" xmlns:xs="http://www.w3.org/2001/XMLSchema" xmlns:p="http://schemas.microsoft.com/office/2006/metadata/properties" xmlns:ns2="08600313-7276-4ca7-b5d3-7d86193ee0ac" xmlns:ns3="820f9cb1-409d-4c4b-8197-1d4f7dd48124" targetNamespace="http://schemas.microsoft.com/office/2006/metadata/properties" ma:root="true" ma:fieldsID="bfd7385540b70b2fe84ac888cc214377" ns2:_="" ns3:_="">
    <xsd:import namespace="08600313-7276-4ca7-b5d3-7d86193ee0ac"/>
    <xsd:import namespace="820f9cb1-409d-4c4b-8197-1d4f7dd481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00313-7276-4ca7-b5d3-7d86193ee0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1a83542-6b13-4414-947d-2211b265f7b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0f9cb1-409d-4c4b-8197-1d4f7dd48124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5e4b8413-bde8-45bb-ad7f-2c4efb398c4d}" ma:internalName="TaxCatchAll" ma:showField="CatchAllData" ma:web="820f9cb1-409d-4c4b-8197-1d4f7dd481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20f9cb1-409d-4c4b-8197-1d4f7dd48124" xsi:nil="true"/>
    <lcf76f155ced4ddcb4097134ff3c332f xmlns="08600313-7276-4ca7-b5d3-7d86193ee0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9E38866-5CA2-442C-B776-5925AA6988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00313-7276-4ca7-b5d3-7d86193ee0ac"/>
    <ds:schemaRef ds:uri="820f9cb1-409d-4c4b-8197-1d4f7dd481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F91A352-1F40-4259-97AC-634C68ED905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29398D1-4D63-4575-9A3C-07E2EFD59027}">
  <ds:schemaRefs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openxmlformats.org/package/2006/metadata/core-properties"/>
    <ds:schemaRef ds:uri="79ddb764-415a-4c38-83b7-908be6382bea"/>
    <ds:schemaRef ds:uri="http://purl.org/dc/elements/1.1/"/>
    <ds:schemaRef ds:uri="820f9cb1-409d-4c4b-8197-1d4f7dd48124"/>
    <ds:schemaRef ds:uri="08600313-7276-4ca7-b5d3-7d86193ee0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1796</TotalTime>
  <Words>1255</Words>
  <Application>Microsoft Office PowerPoint</Application>
  <PresentationFormat>On-screen Show (4:3)</PresentationFormat>
  <Paragraphs>197</Paragraphs>
  <Slides>13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Consolas</vt:lpstr>
      <vt:lpstr>Courier New</vt:lpstr>
      <vt:lpstr>Symbol</vt:lpstr>
      <vt:lpstr>Times New Roman</vt:lpstr>
      <vt:lpstr>Wingdings</vt:lpstr>
      <vt:lpstr>Office Theme</vt:lpstr>
      <vt:lpstr>CSSE 220</vt:lpstr>
      <vt:lpstr>Why fields can’t always be static – StudentV1</vt:lpstr>
      <vt:lpstr>Why fields can’t always be static – StudentV2</vt:lpstr>
      <vt:lpstr>In IDE</vt:lpstr>
      <vt:lpstr>When do we make methods static?</vt:lpstr>
      <vt:lpstr>PowerPoint Presentation</vt:lpstr>
      <vt:lpstr>PowerPoint Presentation</vt:lpstr>
      <vt:lpstr>PowerPoint Presentation</vt:lpstr>
      <vt:lpstr>PowerPoint Presentation</vt:lpstr>
      <vt:lpstr>Two ways to do one thing: Static and Instance</vt:lpstr>
      <vt:lpstr>Live code</vt:lpstr>
      <vt:lpstr>Static vs. Instance Variables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/>
  <dc:description/>
  <cp:lastModifiedBy>Ludden, Ian</cp:lastModifiedBy>
  <cp:revision>97</cp:revision>
  <dcterms:created xsi:type="dcterms:W3CDTF">2011-03-10T14:54:15Z</dcterms:created>
  <dcterms:modified xsi:type="dcterms:W3CDTF">2026-09-11T19:56:12Z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15.0031</vt:lpwstr>
  </property>
  <property fmtid="{D5CDD505-2E9C-101B-9397-08002B2CF9AE}" pid="3" name="HiddenSlides">
    <vt:i4>2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12</vt:i4>
  </property>
  <property fmtid="{D5CDD505-2E9C-101B-9397-08002B2CF9AE}" pid="8" name="PresentationFormat">
    <vt:lpwstr>On-screen Show (4:3)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18</vt:i4>
  </property>
  <property fmtid="{D5CDD505-2E9C-101B-9397-08002B2CF9AE}" pid="12" name="_TemplateID">
    <vt:lpwstr>TC101671231033</vt:lpwstr>
  </property>
  <property fmtid="{D5CDD505-2E9C-101B-9397-08002B2CF9AE}" pid="13" name="ContentTypeId">
    <vt:lpwstr>0x0101004285D81DBE5F5A448E892B34D6B8CF20</vt:lpwstr>
  </property>
</Properties>
</file>