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29" r:id="rId1"/>
  </p:sldMasterIdLst>
  <p:notesMasterIdLst>
    <p:notesMasterId r:id="rId26"/>
  </p:notesMasterIdLst>
  <p:handoutMasterIdLst>
    <p:handoutMasterId r:id="rId27"/>
  </p:handoutMasterIdLst>
  <p:sldIdLst>
    <p:sldId id="311" r:id="rId2"/>
    <p:sldId id="313" r:id="rId3"/>
    <p:sldId id="332" r:id="rId4"/>
    <p:sldId id="333" r:id="rId5"/>
    <p:sldId id="310" r:id="rId6"/>
    <p:sldId id="314" r:id="rId7"/>
    <p:sldId id="315" r:id="rId8"/>
    <p:sldId id="317" r:id="rId9"/>
    <p:sldId id="318" r:id="rId10"/>
    <p:sldId id="320" r:id="rId11"/>
    <p:sldId id="321" r:id="rId12"/>
    <p:sldId id="334" r:id="rId13"/>
    <p:sldId id="335" r:id="rId14"/>
    <p:sldId id="319" r:id="rId15"/>
    <p:sldId id="336" r:id="rId16"/>
    <p:sldId id="322" r:id="rId17"/>
    <p:sldId id="323" r:id="rId18"/>
    <p:sldId id="325" r:id="rId19"/>
    <p:sldId id="328" r:id="rId20"/>
    <p:sldId id="329" r:id="rId21"/>
    <p:sldId id="312" r:id="rId22"/>
    <p:sldId id="326" r:id="rId23"/>
    <p:sldId id="327" r:id="rId24"/>
    <p:sldId id="330" r:id="rId25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925" autoAdjust="0"/>
  </p:normalViewPr>
  <p:slideViewPr>
    <p:cSldViewPr snapToObjects="1">
      <p:cViewPr varScale="1">
        <p:scale>
          <a:sx n="80" d="100"/>
          <a:sy n="80" d="100"/>
        </p:scale>
        <p:origin x="25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2F770440-08CB-40D9-83AA-5471C138D830}"/>
    <pc:docChg chg="custSel modSld">
      <pc:chgData name="Yoder, Jason" userId="28f4d4d8-da04-4f86-b14d-a21675737bc5" providerId="ADAL" clId="{2F770440-08CB-40D9-83AA-5471C138D830}" dt="2023-11-21T17:29:18.136" v="78" actId="6549"/>
      <pc:docMkLst>
        <pc:docMk/>
      </pc:docMkLst>
      <pc:sldChg chg="modSp mod">
        <pc:chgData name="Yoder, Jason" userId="28f4d4d8-da04-4f86-b14d-a21675737bc5" providerId="ADAL" clId="{2F770440-08CB-40D9-83AA-5471C138D830}" dt="2023-11-21T17:29:18.136" v="78" actId="6549"/>
        <pc:sldMkLst>
          <pc:docMk/>
          <pc:sldMk cId="3262595057" sldId="311"/>
        </pc:sldMkLst>
        <pc:spChg chg="mod">
          <ac:chgData name="Yoder, Jason" userId="28f4d4d8-da04-4f86-b14d-a21675737bc5" providerId="ADAL" clId="{2F770440-08CB-40D9-83AA-5471C138D830}" dt="2023-11-20T21:29:06.861" v="9" actId="20577"/>
          <ac:spMkLst>
            <pc:docMk/>
            <pc:sldMk cId="3262595057" sldId="311"/>
            <ac:spMk id="3" creationId="{25DE3A95-9095-C9FA-B463-89F721FD6037}"/>
          </ac:spMkLst>
        </pc:spChg>
        <pc:spChg chg="mod">
          <ac:chgData name="Yoder, Jason" userId="28f4d4d8-da04-4f86-b14d-a21675737bc5" providerId="ADAL" clId="{2F770440-08CB-40D9-83AA-5471C138D830}" dt="2023-11-21T17:29:18.136" v="78" actId="6549"/>
          <ac:spMkLst>
            <pc:docMk/>
            <pc:sldMk cId="3262595057" sldId="311"/>
            <ac:spMk id="5" creationId="{74C661F2-B2E9-CC4D-AC4C-572A07C30C6F}"/>
          </ac:spMkLst>
        </pc:spChg>
      </pc:sldChg>
    </pc:docChg>
  </pc:docChgLst>
  <pc:docChgLst>
    <pc:chgData name="Yoder, Jason" userId="28f4d4d8-da04-4f86-b14d-a21675737bc5" providerId="ADAL" clId="{121A2FC1-DA3E-4ACC-B812-7406BA4D8048}"/>
    <pc:docChg chg="undo custSel addSld delSld modSld sldOrd">
      <pc:chgData name="Yoder, Jason" userId="28f4d4d8-da04-4f86-b14d-a21675737bc5" providerId="ADAL" clId="{121A2FC1-DA3E-4ACC-B812-7406BA4D8048}" dt="2023-10-26T12:46:52.877" v="120" actId="20577"/>
      <pc:docMkLst>
        <pc:docMk/>
      </pc:docMkLst>
      <pc:sldChg chg="modSp mod">
        <pc:chgData name="Yoder, Jason" userId="28f4d4d8-da04-4f86-b14d-a21675737bc5" providerId="ADAL" clId="{121A2FC1-DA3E-4ACC-B812-7406BA4D8048}" dt="2023-10-26T11:42:55.727" v="29" actId="20577"/>
        <pc:sldMkLst>
          <pc:docMk/>
          <pc:sldMk cId="3262595057" sldId="311"/>
        </pc:sldMkLst>
        <pc:spChg chg="mod">
          <ac:chgData name="Yoder, Jason" userId="28f4d4d8-da04-4f86-b14d-a21675737bc5" providerId="ADAL" clId="{121A2FC1-DA3E-4ACC-B812-7406BA4D8048}" dt="2023-10-26T11:42:55.727" v="29" actId="20577"/>
          <ac:spMkLst>
            <pc:docMk/>
            <pc:sldMk cId="3262595057" sldId="311"/>
            <ac:spMk id="3" creationId="{25DE3A95-9095-C9FA-B463-89F721FD6037}"/>
          </ac:spMkLst>
        </pc:spChg>
      </pc:sldChg>
      <pc:sldChg chg="modSp mod">
        <pc:chgData name="Yoder, Jason" userId="28f4d4d8-da04-4f86-b14d-a21675737bc5" providerId="ADAL" clId="{121A2FC1-DA3E-4ACC-B812-7406BA4D8048}" dt="2023-10-26T11:14:12.768" v="17" actId="20577"/>
        <pc:sldMkLst>
          <pc:docMk/>
          <pc:sldMk cId="714179036" sldId="319"/>
        </pc:sldMkLst>
        <pc:spChg chg="mod">
          <ac:chgData name="Yoder, Jason" userId="28f4d4d8-da04-4f86-b14d-a21675737bc5" providerId="ADAL" clId="{121A2FC1-DA3E-4ACC-B812-7406BA4D8048}" dt="2023-10-26T11:14:12.768" v="17" actId="20577"/>
          <ac:spMkLst>
            <pc:docMk/>
            <pc:sldMk cId="714179036" sldId="319"/>
            <ac:spMk id="3" creationId="{00000000-0000-0000-0000-000000000000}"/>
          </ac:spMkLst>
        </pc:spChg>
      </pc:sldChg>
      <pc:sldChg chg="modSp mod">
        <pc:chgData name="Yoder, Jason" userId="28f4d4d8-da04-4f86-b14d-a21675737bc5" providerId="ADAL" clId="{121A2FC1-DA3E-4ACC-B812-7406BA4D8048}" dt="2023-10-26T11:13:15.925" v="8" actId="114"/>
        <pc:sldMkLst>
          <pc:docMk/>
          <pc:sldMk cId="680180803" sldId="320"/>
        </pc:sldMkLst>
        <pc:spChg chg="mod">
          <ac:chgData name="Yoder, Jason" userId="28f4d4d8-da04-4f86-b14d-a21675737bc5" providerId="ADAL" clId="{121A2FC1-DA3E-4ACC-B812-7406BA4D8048}" dt="2023-10-26T11:13:15.925" v="8" actId="114"/>
          <ac:spMkLst>
            <pc:docMk/>
            <pc:sldMk cId="680180803" sldId="320"/>
            <ac:spMk id="5" creationId="{00000000-0000-0000-0000-000000000000}"/>
          </ac:spMkLst>
        </pc:spChg>
      </pc:sldChg>
      <pc:sldChg chg="modNotesTx">
        <pc:chgData name="Yoder, Jason" userId="28f4d4d8-da04-4f86-b14d-a21675737bc5" providerId="ADAL" clId="{121A2FC1-DA3E-4ACC-B812-7406BA4D8048}" dt="2023-10-26T12:46:52.877" v="120" actId="20577"/>
        <pc:sldMkLst>
          <pc:docMk/>
          <pc:sldMk cId="2717704157" sldId="325"/>
        </pc:sldMkLst>
      </pc:sldChg>
      <pc:sldChg chg="addSp modSp mod">
        <pc:chgData name="Yoder, Jason" userId="28f4d4d8-da04-4f86-b14d-a21675737bc5" providerId="ADAL" clId="{121A2FC1-DA3E-4ACC-B812-7406BA4D8048}" dt="2023-10-26T11:15:22.224" v="19" actId="1076"/>
        <pc:sldMkLst>
          <pc:docMk/>
          <pc:sldMk cId="310926887" sldId="330"/>
        </pc:sldMkLst>
        <pc:picChg chg="add mod">
          <ac:chgData name="Yoder, Jason" userId="28f4d4d8-da04-4f86-b14d-a21675737bc5" providerId="ADAL" clId="{121A2FC1-DA3E-4ACC-B812-7406BA4D8048}" dt="2023-10-26T11:15:22.224" v="19" actId="1076"/>
          <ac:picMkLst>
            <pc:docMk/>
            <pc:sldMk cId="310926887" sldId="330"/>
            <ac:picMk id="5" creationId="{8999C620-B3B2-2CDA-DB43-EA0A35692CBB}"/>
          </ac:picMkLst>
        </pc:picChg>
      </pc:sldChg>
      <pc:sldChg chg="add del">
        <pc:chgData name="Yoder, Jason" userId="28f4d4d8-da04-4f86-b14d-a21675737bc5" providerId="ADAL" clId="{121A2FC1-DA3E-4ACC-B812-7406BA4D8048}" dt="2023-10-26T11:11:51.428" v="7" actId="47"/>
        <pc:sldMkLst>
          <pc:docMk/>
          <pc:sldMk cId="3208378425" sldId="331"/>
        </pc:sldMkLst>
      </pc:sldChg>
      <pc:sldChg chg="add del ord">
        <pc:chgData name="Yoder, Jason" userId="28f4d4d8-da04-4f86-b14d-a21675737bc5" providerId="ADAL" clId="{121A2FC1-DA3E-4ACC-B812-7406BA4D8048}" dt="2023-10-26T11:11:50.272" v="6" actId="47"/>
        <pc:sldMkLst>
          <pc:docMk/>
          <pc:sldMk cId="1608023005" sldId="33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9396" y="2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68AFFCC9-E980-4A2E-8F84-91052C1F2C22}" type="datetime1">
              <a:rPr lang="en-US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9396" y="8829123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F41AE4A4-4012-4846-B3D6-5232032A83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8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903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C4411CED-79EF-4046-B79B-F8927B54B6B0}" type="datetime1">
              <a:rPr lang="en-US"/>
              <a:pPr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8500"/>
            <a:ext cx="4646613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95" tIns="44898" rIns="89795" bIns="4489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482" y="4416100"/>
            <a:ext cx="5504853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903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36B4252A-5ADE-4726-AF7E-E9EADC640C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03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E80923-F7EC-45E2-B35F-158817089866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04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Run the game and explain what is happening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58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we want to consider how hard/easy it would be to extend this codebase</a:t>
            </a:r>
          </a:p>
          <a:p>
            <a:r>
              <a:rPr lang="en-US" dirty="0"/>
              <a:t> to provide the functionality of a new type of drop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75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</a:t>
            </a:r>
            <a:r>
              <a:rPr lang="en-US" baseline="0" dirty="0"/>
              <a:t> through the file and point out the really ugly code because of how hard it is to understand and how many places you would have to make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28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script in </a:t>
            </a:r>
          </a:p>
          <a:p>
            <a:endParaRPr lang="en-US" dirty="0"/>
          </a:p>
          <a:p>
            <a:r>
              <a:rPr lang="en-US" dirty="0" err="1"/>
              <a:t>ClassMaterials</a:t>
            </a:r>
            <a:r>
              <a:rPr lang="en-US" dirty="0"/>
              <a:t>\</a:t>
            </a:r>
            <a:r>
              <a:rPr lang="en-US" dirty="0" err="1"/>
              <a:t>CollisionHandling</a:t>
            </a:r>
            <a:r>
              <a:rPr lang="en-US" dirty="0"/>
              <a:t>\</a:t>
            </a:r>
            <a:r>
              <a:rPr lang="en-US" dirty="0" err="1"/>
              <a:t>EclipseProjects</a:t>
            </a:r>
            <a:r>
              <a:rPr lang="en-US" dirty="0"/>
              <a:t>\text_based_script_inheritance_design.txt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0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script in </a:t>
            </a:r>
          </a:p>
          <a:p>
            <a:endParaRPr lang="en-US" dirty="0"/>
          </a:p>
          <a:p>
            <a:r>
              <a:rPr lang="en-US" dirty="0" err="1"/>
              <a:t>ClassMaterials</a:t>
            </a:r>
            <a:r>
              <a:rPr lang="en-US" dirty="0"/>
              <a:t>\</a:t>
            </a:r>
            <a:r>
              <a:rPr lang="en-US" dirty="0" err="1"/>
              <a:t>CollisionHandling</a:t>
            </a:r>
            <a:r>
              <a:rPr lang="en-US" dirty="0"/>
              <a:t>\</a:t>
            </a:r>
            <a:r>
              <a:rPr lang="en-US" dirty="0" err="1"/>
              <a:t>EclipseProjects</a:t>
            </a:r>
            <a:r>
              <a:rPr lang="en-US" dirty="0"/>
              <a:t>\text_based_script_inheritance_design.txt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44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this</a:t>
            </a:r>
            <a:r>
              <a:rPr lang="en-US" baseline="0" dirty="0"/>
              <a:t> point go through the script and make all the changes. If time allows let students try to implement the </a:t>
            </a:r>
            <a:r>
              <a:rPr lang="en-US" baseline="0" dirty="0" err="1"/>
              <a:t>InvincibilityDrop</a:t>
            </a:r>
            <a:r>
              <a:rPr lang="en-US" baseline="0" dirty="0"/>
              <a:t> on their 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85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F23: Got to this point by 0:45 </a:t>
            </a:r>
          </a:p>
          <a:p>
            <a:r>
              <a:rPr lang="en-US"/>
              <a:t>Give five </a:t>
            </a:r>
            <a:r>
              <a:rPr lang="en-US" dirty="0"/>
              <a:t>minutes plus break to work on the quiz</a:t>
            </a:r>
          </a:p>
          <a:p>
            <a:r>
              <a:rPr lang="en-US" dirty="0"/>
              <a:t>Have students work in groups</a:t>
            </a:r>
            <a:r>
              <a:rPr lang="en-US" baseline="0" dirty="0"/>
              <a:t> of 2 or 3 to answer these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47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E02099-3122-448C-8379-2F83E5A8613A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2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only if time allows, solution (takes</a:t>
            </a:r>
            <a:r>
              <a:rPr lang="en-US" baseline="0" dirty="0"/>
              <a:t> some slightly different conventions)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24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slides Part3 not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71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E5DC-7A70-4CAB-B8CA-FD7CFBA6DDCF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279A9-3DEE-405E-A3ED-1337E6526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6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03A8-3A50-4824-93B1-5AB2817A85E6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FD1A-4189-457E-B97C-F61512EFD4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78C3-2E3E-4EDD-A8FC-A11FEA9CDF04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0310-F82F-4A8F-9F78-25E7EF6436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6738-AE48-490E-BA60-16B31C3E5798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2F2D-BD7E-4068-B307-13356AE7A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0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7309-80BC-4890-B91A-AB9885E172E5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C143-3083-4165-877B-73F388BB2A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6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6A63-0F78-4E9D-81E4-A84E1F25A0A3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45B1-AB7B-41C8-8F02-97E53B401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F9E9-979C-4422-A1BB-1DC64426F0DA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4611-C3B2-4DA2-BEBE-7E1D4A958E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5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020D-910B-4676-A902-AD52382F28B6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050B1-62D7-446A-A93A-BF045FB723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7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FF79-924D-47D6-A727-6A03000C0C91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942E-C3EC-459D-A3C4-71A098A989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5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58A64-F6CF-4D4F-A14E-4E9A6689521C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6D9-6568-4CC7-A897-8E442FE2D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5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61FD-7946-4EF3-8B09-2E96C5099CE1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5F2C-5211-44E5-BB1B-6C1BB3133E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9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E304D-C692-4D58-A925-D35D66927263}" type="datetime1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1AF9C-A98B-4538-9C1F-470DAC7B20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2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0" r:id="rId1"/>
    <p:sldLayoutId id="2147484631" r:id="rId2"/>
    <p:sldLayoutId id="2147484632" r:id="rId3"/>
    <p:sldLayoutId id="2147484633" r:id="rId4"/>
    <p:sldLayoutId id="2147484634" r:id="rId5"/>
    <p:sldLayoutId id="2147484635" r:id="rId6"/>
    <p:sldLayoutId id="2147484636" r:id="rId7"/>
    <p:sldLayoutId id="2147484637" r:id="rId8"/>
    <p:sldLayoutId id="2147484638" r:id="rId9"/>
    <p:sldLayoutId id="2147484639" r:id="rId10"/>
    <p:sldLayoutId id="214748464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ose-hulman.hosted.panopto.com/Panopto/Pages/Sessions/List.aspx?folderID=e21f75b9-7220-45a5-83a4-abb601623d4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CSSE 220</a:t>
            </a:r>
          </a:p>
        </p:txBody>
      </p:sp>
      <p:sp>
        <p:nvSpPr>
          <p:cNvPr id="15363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Collision Handling without </a:t>
            </a:r>
            <a:r>
              <a:rPr lang="en-US" sz="2500" b="1" dirty="0" err="1">
                <a:solidFill>
                  <a:srgbClr val="FF0000"/>
                </a:solidFill>
              </a:rPr>
              <a:t>instanceof</a:t>
            </a:r>
            <a:endParaRPr lang="en-US" sz="2500" b="1" dirty="0">
              <a:solidFill>
                <a:srgbClr val="FF0000"/>
              </a:solidFill>
            </a:endParaRPr>
          </a:p>
          <a:p>
            <a:pPr marR="0" eaLnBrk="1" hangingPunct="1">
              <a:lnSpc>
                <a:spcPct val="90000"/>
              </a:lnSpc>
            </a:pPr>
            <a:br>
              <a:rPr lang="en-US" sz="2500" dirty="0"/>
            </a:b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26259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specific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Missiles can collide with the Hero.</a:t>
            </a:r>
          </a:p>
          <a:p>
            <a:r>
              <a:rPr lang="en-US" dirty="0"/>
              <a:t>Hero can collide with coins to collect them.</a:t>
            </a:r>
          </a:p>
          <a:p>
            <a:r>
              <a:rPr lang="en-US" dirty="0"/>
              <a:t>Hero can collide with Barriers. </a:t>
            </a:r>
          </a:p>
          <a:p>
            <a:r>
              <a:rPr lang="en-US" dirty="0"/>
              <a:t>Bonus: Hero’s bullets collide with Missiles?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 many collisions! How do we handle them all?</a:t>
            </a:r>
          </a:p>
        </p:txBody>
      </p:sp>
    </p:spTree>
    <p:extLst>
      <p:ext uri="{BB962C8B-B14F-4D97-AF65-F5344CB8AC3E}">
        <p14:creationId xmlns:p14="http://schemas.microsoft.com/office/powerpoint/2010/main" val="362597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Collisions in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60887"/>
            <a:ext cx="86868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ways it can be done</a:t>
            </a:r>
          </a:p>
          <a:p>
            <a:r>
              <a:rPr lang="en-US" dirty="0"/>
              <a:t>Good design principles</a:t>
            </a:r>
          </a:p>
          <a:p>
            <a:pPr lvl="1"/>
            <a:r>
              <a:rPr lang="en-US" dirty="0"/>
              <a:t>Make it </a:t>
            </a:r>
            <a:r>
              <a:rPr lang="en-US" b="1" dirty="0"/>
              <a:t>easy to use and extend code</a:t>
            </a:r>
          </a:p>
          <a:p>
            <a:r>
              <a:rPr lang="en-US" dirty="0"/>
              <a:t>Functional but bad design principles</a:t>
            </a:r>
          </a:p>
          <a:p>
            <a:endParaRPr lang="en-US" dirty="0"/>
          </a:p>
          <a:p>
            <a:pPr marL="115888" lvl="1" indent="0"/>
            <a:r>
              <a:rPr lang="en-US" dirty="0"/>
              <a:t>Use what is known as: </a:t>
            </a:r>
            <a:r>
              <a:rPr lang="en-US" i="1" dirty="0"/>
              <a:t>type predicated code</a:t>
            </a:r>
            <a:r>
              <a:rPr lang="en-US" dirty="0"/>
              <a:t>:</a:t>
            </a:r>
          </a:p>
          <a:p>
            <a:pPr marL="115888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getClass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()” ==/equals)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gameObject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DamagingDrop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 { ... }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115888" lvl="1" indent="0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600" dirty="0"/>
              <a:t>Type predicated code is OUTLAWED in your project design!</a:t>
            </a:r>
          </a:p>
          <a:p>
            <a:pPr lvl="1"/>
            <a:r>
              <a:rPr lang="en-US" sz="2600" dirty="0"/>
              <a:t>i.e., your design and implementation must not use these at all!</a:t>
            </a:r>
          </a:p>
        </p:txBody>
      </p:sp>
    </p:spTree>
    <p:extLst>
      <p:ext uri="{BB962C8B-B14F-4D97-AF65-F5344CB8AC3E}">
        <p14:creationId xmlns:p14="http://schemas.microsoft.com/office/powerpoint/2010/main" val="112151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6B2E5-B95B-0ED9-F343-7088581D3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07563"/>
            <a:ext cx="8229600" cy="3535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Let’s unpack this phrase: </a:t>
            </a:r>
            <a:r>
              <a:rPr lang="en-US" sz="2800" i="1" dirty="0"/>
              <a:t>type predicted code</a:t>
            </a:r>
            <a:endParaRPr lang="en-US" sz="2800" dirty="0"/>
          </a:p>
          <a:p>
            <a:r>
              <a:rPr lang="en-US" sz="2800" dirty="0"/>
              <a:t>Type = </a:t>
            </a:r>
            <a:r>
              <a:rPr lang="en-US" sz="2800" i="1" dirty="0"/>
              <a:t>the specific class</a:t>
            </a:r>
          </a:p>
          <a:p>
            <a:r>
              <a:rPr lang="en-US" sz="2800" dirty="0"/>
              <a:t>Predicated = </a:t>
            </a:r>
            <a:r>
              <a:rPr lang="en-US" sz="2800" i="1" dirty="0"/>
              <a:t>conditionally dependent upon</a:t>
            </a:r>
          </a:p>
          <a:p>
            <a:pPr marL="0" indent="0">
              <a:buNone/>
            </a:pPr>
            <a:r>
              <a:rPr lang="en-US" sz="2800" dirty="0"/>
              <a:t>If you are using a condition to check the type of an object to decide what to do, you are using type predicated code.</a:t>
            </a:r>
          </a:p>
          <a:p>
            <a:pPr marL="0" indent="0">
              <a:buNone/>
            </a:pPr>
            <a:r>
              <a:rPr lang="en-US" sz="2800" b="1" i="1" dirty="0"/>
              <a:t>Note: </a:t>
            </a:r>
            <a:r>
              <a:rPr lang="en-US" sz="2800" dirty="0"/>
              <a:t>Creating a field in your classes (e.g., String type=“Enemy”) is NOT fixing the problem, you are still using type predicated code!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8CEFD-B45A-0DB5-EC77-4F259CE30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980"/>
            <a:ext cx="9144000" cy="20275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72062C-5743-3BBE-C686-BFB76EEF2D1D}"/>
              </a:ext>
            </a:extLst>
          </p:cNvPr>
          <p:cNvSpPr txBox="1"/>
          <p:nvPr/>
        </p:nvSpPr>
        <p:spPr>
          <a:xfrm>
            <a:off x="1371600" y="0"/>
            <a:ext cx="609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Final OODP #5</a:t>
            </a:r>
          </a:p>
        </p:txBody>
      </p:sp>
    </p:spTree>
    <p:extLst>
      <p:ext uri="{BB962C8B-B14F-4D97-AF65-F5344CB8AC3E}">
        <p14:creationId xmlns:p14="http://schemas.microsoft.com/office/powerpoint/2010/main" val="160717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consider a simulator with collisions</a:t>
            </a:r>
          </a:p>
          <a:p>
            <a:r>
              <a:rPr lang="en-US" dirty="0"/>
              <a:t>More Raindrops More Platforms</a:t>
            </a:r>
          </a:p>
          <a:p>
            <a:r>
              <a:rPr lang="en-US" dirty="0"/>
              <a:t>Run Main.java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09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an </a:t>
            </a:r>
            <a:r>
              <a:rPr lang="en-US" dirty="0" err="1"/>
              <a:t>InvincibilityDrop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makes a </a:t>
            </a:r>
            <a:r>
              <a:rPr lang="en-US" dirty="0" err="1"/>
              <a:t>BouncingPlatform</a:t>
            </a:r>
            <a:r>
              <a:rPr lang="en-US" dirty="0"/>
              <a:t> invincible for 50 ticks</a:t>
            </a:r>
            <a:r>
              <a:rPr lang="en-US" u="sng" dirty="0"/>
              <a:t> </a:t>
            </a:r>
            <a:endParaRPr lang="en-US" dirty="0"/>
          </a:p>
          <a:p>
            <a:pPr lvl="1"/>
            <a:r>
              <a:rPr lang="en-US" dirty="0"/>
              <a:t>drops should not affect platforms when invincible</a:t>
            </a:r>
          </a:p>
          <a:p>
            <a:pPr lvl="1"/>
            <a:r>
              <a:rPr lang="en-US" dirty="0"/>
              <a:t>color should be Yellow</a:t>
            </a:r>
          </a:p>
          <a:p>
            <a:pPr lvl="1"/>
            <a:r>
              <a:rPr lang="en-US" dirty="0"/>
              <a:t>size should be 20</a:t>
            </a:r>
          </a:p>
          <a:p>
            <a:pPr lvl="1"/>
            <a:r>
              <a:rPr lang="en-US" dirty="0"/>
              <a:t>absorbed by </a:t>
            </a:r>
            <a:r>
              <a:rPr lang="en-US" dirty="0" err="1"/>
              <a:t>UserControlledPlatform</a:t>
            </a:r>
            <a:r>
              <a:rPr lang="en-US" dirty="0"/>
              <a:t> like others</a:t>
            </a:r>
          </a:p>
        </p:txBody>
      </p:sp>
    </p:spTree>
    <p:extLst>
      <p:ext uri="{BB962C8B-B14F-4D97-AF65-F5344CB8AC3E}">
        <p14:creationId xmlns:p14="http://schemas.microsoft.com/office/powerpoint/2010/main" val="3961337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GameComponent.java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Let’s look how collisions are handled</a:t>
            </a:r>
          </a:p>
          <a:p>
            <a:r>
              <a:rPr lang="en-US" sz="2800" dirty="0"/>
              <a:t>Where would changes in code need to happen?</a:t>
            </a:r>
          </a:p>
          <a:p>
            <a:r>
              <a:rPr lang="en-US" sz="2800" dirty="0"/>
              <a:t>Look for examples of “type predicated code”</a:t>
            </a:r>
          </a:p>
          <a:p>
            <a:pPr lvl="1"/>
            <a:r>
              <a:rPr lang="en-US" sz="2400" dirty="0"/>
              <a:t>Why is this hard to use/extend?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7667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Chart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781072"/>
              </p:ext>
            </p:extLst>
          </p:nvPr>
        </p:nvGraphicFramePr>
        <p:xfrm>
          <a:off x="261252" y="3505200"/>
          <a:ext cx="8645560" cy="2644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0580">
                  <a:extLst>
                    <a:ext uri="{9D8B030D-6E8A-4147-A177-3AD203B41FA5}">
                      <a16:colId xmlns:a16="http://schemas.microsoft.com/office/drawing/2014/main" val="2526364595"/>
                    </a:ext>
                  </a:extLst>
                </a:gridCol>
                <a:gridCol w="1497644">
                  <a:extLst>
                    <a:ext uri="{9D8B030D-6E8A-4147-A177-3AD203B41FA5}">
                      <a16:colId xmlns:a16="http://schemas.microsoft.com/office/drawing/2014/main" val="3336982557"/>
                    </a:ext>
                  </a:extLst>
                </a:gridCol>
                <a:gridCol w="1729112">
                  <a:extLst>
                    <a:ext uri="{9D8B030D-6E8A-4147-A177-3AD203B41FA5}">
                      <a16:colId xmlns:a16="http://schemas.microsoft.com/office/drawing/2014/main" val="3616916034"/>
                    </a:ext>
                  </a:extLst>
                </a:gridCol>
                <a:gridCol w="1954844">
                  <a:extLst>
                    <a:ext uri="{9D8B030D-6E8A-4147-A177-3AD203B41FA5}">
                      <a16:colId xmlns:a16="http://schemas.microsoft.com/office/drawing/2014/main" val="1221158006"/>
                    </a:ext>
                  </a:extLst>
                </a:gridCol>
                <a:gridCol w="1503380">
                  <a:extLst>
                    <a:ext uri="{9D8B030D-6E8A-4147-A177-3AD203B41FA5}">
                      <a16:colId xmlns:a16="http://schemas.microsoft.com/office/drawing/2014/main" val="2501348156"/>
                    </a:ext>
                  </a:extLst>
                </a:gridCol>
              </a:tblGrid>
              <a:tr h="52593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594199882"/>
                  </a:ext>
                </a:extLst>
              </a:tr>
              <a:tr h="5408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3976739364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2645558673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473913649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164462942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9226" y="2438400"/>
            <a:ext cx="8449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do collisions happen?</a:t>
            </a:r>
          </a:p>
        </p:txBody>
      </p:sp>
    </p:spTree>
    <p:extLst>
      <p:ext uri="{BB962C8B-B14F-4D97-AF65-F5344CB8AC3E}">
        <p14:creationId xmlns:p14="http://schemas.microsoft.com/office/powerpoint/2010/main" val="1718063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Chart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544032"/>
              </p:ext>
            </p:extLst>
          </p:nvPr>
        </p:nvGraphicFramePr>
        <p:xfrm>
          <a:off x="261252" y="3505200"/>
          <a:ext cx="8645560" cy="2644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0580">
                  <a:extLst>
                    <a:ext uri="{9D8B030D-6E8A-4147-A177-3AD203B41FA5}">
                      <a16:colId xmlns:a16="http://schemas.microsoft.com/office/drawing/2014/main" val="2526364595"/>
                    </a:ext>
                  </a:extLst>
                </a:gridCol>
                <a:gridCol w="1497644">
                  <a:extLst>
                    <a:ext uri="{9D8B030D-6E8A-4147-A177-3AD203B41FA5}">
                      <a16:colId xmlns:a16="http://schemas.microsoft.com/office/drawing/2014/main" val="3336982557"/>
                    </a:ext>
                  </a:extLst>
                </a:gridCol>
                <a:gridCol w="1729112">
                  <a:extLst>
                    <a:ext uri="{9D8B030D-6E8A-4147-A177-3AD203B41FA5}">
                      <a16:colId xmlns:a16="http://schemas.microsoft.com/office/drawing/2014/main" val="3616916034"/>
                    </a:ext>
                  </a:extLst>
                </a:gridCol>
                <a:gridCol w="1954844">
                  <a:extLst>
                    <a:ext uri="{9D8B030D-6E8A-4147-A177-3AD203B41FA5}">
                      <a16:colId xmlns:a16="http://schemas.microsoft.com/office/drawing/2014/main" val="1221158006"/>
                    </a:ext>
                  </a:extLst>
                </a:gridCol>
                <a:gridCol w="1503380">
                  <a:extLst>
                    <a:ext uri="{9D8B030D-6E8A-4147-A177-3AD203B41FA5}">
                      <a16:colId xmlns:a16="http://schemas.microsoft.com/office/drawing/2014/main" val="2501348156"/>
                    </a:ext>
                  </a:extLst>
                </a:gridCol>
              </a:tblGrid>
              <a:tr h="52593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594199882"/>
                  </a:ext>
                </a:extLst>
              </a:tr>
              <a:tr h="5408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3976739364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2645558673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473913649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164462942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9226" y="2438400"/>
            <a:ext cx="8449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do collisions happen?</a:t>
            </a:r>
          </a:p>
        </p:txBody>
      </p:sp>
    </p:spTree>
    <p:extLst>
      <p:ext uri="{BB962C8B-B14F-4D97-AF65-F5344CB8AC3E}">
        <p14:creationId xmlns:p14="http://schemas.microsoft.com/office/powerpoint/2010/main" val="135911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Chart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645834"/>
              </p:ext>
            </p:extLst>
          </p:nvPr>
        </p:nvGraphicFramePr>
        <p:xfrm>
          <a:off x="261252" y="3505200"/>
          <a:ext cx="8645560" cy="2644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0580">
                  <a:extLst>
                    <a:ext uri="{9D8B030D-6E8A-4147-A177-3AD203B41FA5}">
                      <a16:colId xmlns:a16="http://schemas.microsoft.com/office/drawing/2014/main" val="2526364595"/>
                    </a:ext>
                  </a:extLst>
                </a:gridCol>
                <a:gridCol w="1497644">
                  <a:extLst>
                    <a:ext uri="{9D8B030D-6E8A-4147-A177-3AD203B41FA5}">
                      <a16:colId xmlns:a16="http://schemas.microsoft.com/office/drawing/2014/main" val="3336982557"/>
                    </a:ext>
                  </a:extLst>
                </a:gridCol>
                <a:gridCol w="1729112">
                  <a:extLst>
                    <a:ext uri="{9D8B030D-6E8A-4147-A177-3AD203B41FA5}">
                      <a16:colId xmlns:a16="http://schemas.microsoft.com/office/drawing/2014/main" val="3616916034"/>
                    </a:ext>
                  </a:extLst>
                </a:gridCol>
                <a:gridCol w="1954844">
                  <a:extLst>
                    <a:ext uri="{9D8B030D-6E8A-4147-A177-3AD203B41FA5}">
                      <a16:colId xmlns:a16="http://schemas.microsoft.com/office/drawing/2014/main" val="1221158006"/>
                    </a:ext>
                  </a:extLst>
                </a:gridCol>
                <a:gridCol w="1503380">
                  <a:extLst>
                    <a:ext uri="{9D8B030D-6E8A-4147-A177-3AD203B41FA5}">
                      <a16:colId xmlns:a16="http://schemas.microsoft.com/office/drawing/2014/main" val="2501348156"/>
                    </a:ext>
                  </a:extLst>
                </a:gridCol>
              </a:tblGrid>
              <a:tr h="52593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594199882"/>
                  </a:ext>
                </a:extLst>
              </a:tr>
              <a:tr h="5408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3976739364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2645558673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473913649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164462942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7194" y="1417638"/>
            <a:ext cx="8449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we have multiple objects which interact with the same object, we can use </a:t>
            </a:r>
            <a:r>
              <a:rPr lang="en-US" sz="2400" b="1" i="1" dirty="0"/>
              <a:t>inheritance</a:t>
            </a:r>
            <a:r>
              <a:rPr lang="en-US" sz="2400" dirty="0"/>
              <a:t> to help us make a design to deal with the collisions. We should have </a:t>
            </a:r>
            <a:r>
              <a:rPr lang="en-US" sz="2400" i="1" dirty="0"/>
              <a:t>the classes which differ</a:t>
            </a:r>
            <a:r>
              <a:rPr lang="en-US" sz="2400" dirty="0"/>
              <a:t> provide the functionality to deal with the collisions.</a:t>
            </a:r>
          </a:p>
        </p:txBody>
      </p:sp>
    </p:spTree>
    <p:extLst>
      <p:ext uri="{BB962C8B-B14F-4D97-AF65-F5344CB8AC3E}">
        <p14:creationId xmlns:p14="http://schemas.microsoft.com/office/powerpoint/2010/main" val="680180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194" y="1417638"/>
            <a:ext cx="8449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we have multiple objects which interact with the same object, we can use </a:t>
            </a:r>
            <a:r>
              <a:rPr lang="en-US" sz="2400" b="1" i="1" dirty="0"/>
              <a:t>inheritance</a:t>
            </a:r>
            <a:r>
              <a:rPr lang="en-US" sz="2400" dirty="0"/>
              <a:t> to help us make a design to deal with the collisions. We should have the classes which differ provide the functionality to deal with the collisions.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168" y="3345468"/>
            <a:ext cx="84496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 in this case, the different drops (and </a:t>
            </a:r>
            <a:r>
              <a:rPr lang="en-US" sz="2400" dirty="0" err="1"/>
              <a:t>InvincibilityDrop</a:t>
            </a:r>
            <a:r>
              <a:rPr lang="en-US" sz="2400" dirty="0"/>
              <a:t>) differ in how they affect the platform. Thus, we can could create an abstract class and require an implementation of the </a:t>
            </a:r>
            <a:r>
              <a:rPr lang="en-US" sz="2400" dirty="0" err="1"/>
              <a:t>collideWith</a:t>
            </a:r>
            <a:r>
              <a:rPr lang="en-US" sz="2400" dirty="0"/>
              <a:t>(</a:t>
            </a:r>
            <a:r>
              <a:rPr lang="en-US" sz="2400" dirty="0" err="1"/>
              <a:t>BouncingPlatform</a:t>
            </a:r>
            <a:r>
              <a:rPr lang="en-US" sz="2400" dirty="0"/>
              <a:t>) method. Similarly, we can provide a </a:t>
            </a:r>
            <a:r>
              <a:rPr lang="en-US" sz="2400" dirty="0" err="1"/>
              <a:t>collideWith</a:t>
            </a:r>
            <a:r>
              <a:rPr lang="en-US" sz="2400" dirty="0"/>
              <a:t>( </a:t>
            </a:r>
            <a:r>
              <a:rPr lang="en-US" sz="2400" dirty="0" err="1"/>
              <a:t>UserControlledPlatform</a:t>
            </a:r>
            <a:r>
              <a:rPr lang="en-US" sz="2400" dirty="0"/>
              <a:t>) method, this will allow us to put the code in the drop classes and make the processing MUCH cleaner as we will see.</a:t>
            </a:r>
          </a:p>
        </p:txBody>
      </p:sp>
    </p:spTree>
    <p:extLst>
      <p:ext uri="{BB962C8B-B14F-4D97-AF65-F5344CB8AC3E}">
        <p14:creationId xmlns:p14="http://schemas.microsoft.com/office/powerpoint/2010/main" val="28611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ADB1-35F0-E1F0-2DE5-519FA14C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Text-based Live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34B9-2B42-3082-6975-8C47C816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could take the whole hour to refactor this code in the GUI</a:t>
            </a:r>
          </a:p>
          <a:p>
            <a:r>
              <a:rPr lang="en-US" dirty="0"/>
              <a:t>Instead, we want to give you more time to complete a quiz and work on the project</a:t>
            </a:r>
          </a:p>
          <a:p>
            <a:r>
              <a:rPr lang="en-US" dirty="0"/>
              <a:t>We will cover the essence using a text-based version of collision handling</a:t>
            </a:r>
          </a:p>
        </p:txBody>
      </p:sp>
    </p:spTree>
    <p:extLst>
      <p:ext uri="{BB962C8B-B14F-4D97-AF65-F5344CB8AC3E}">
        <p14:creationId xmlns:p14="http://schemas.microsoft.com/office/powerpoint/2010/main" val="1175998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ADB1-35F0-E1F0-2DE5-519FA14C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Text-based Live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34B9-2B42-3082-6975-8C47C816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Instead of having a physical simulation we will just say that different objects have a random chance of colliding</a:t>
            </a:r>
          </a:p>
          <a:p>
            <a:r>
              <a:rPr lang="en-US" dirty="0"/>
              <a:t>When they collide certain things will print to the screen</a:t>
            </a:r>
          </a:p>
          <a:p>
            <a:r>
              <a:rPr lang="en-US" dirty="0"/>
              <a:t>We can show how to use Inheritance to rewrite this code</a:t>
            </a:r>
          </a:p>
          <a:p>
            <a:r>
              <a:rPr lang="en-US" dirty="0"/>
              <a:t>It accomplishes the same thing, but with less time and easier to follow</a:t>
            </a:r>
          </a:p>
        </p:txBody>
      </p:sp>
    </p:spTree>
    <p:extLst>
      <p:ext uri="{BB962C8B-B14F-4D97-AF65-F5344CB8AC3E}">
        <p14:creationId xmlns:p14="http://schemas.microsoft.com/office/powerpoint/2010/main" val="176544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Live-coding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dirty="0">
                <a:hlinkClick r:id="rId3"/>
              </a:rPr>
              <a:t>videos</a:t>
            </a:r>
            <a:r>
              <a:rPr lang="en-US" dirty="0"/>
              <a:t> (Panopto) showing the full refactoring process on the GUI application</a:t>
            </a:r>
          </a:p>
          <a:p>
            <a:r>
              <a:rPr lang="en-US" dirty="0"/>
              <a:t>You are welcome to watch those videos to see the progression yourself</a:t>
            </a:r>
          </a:p>
          <a:p>
            <a:r>
              <a:rPr lang="en-US" dirty="0"/>
              <a:t>We also have the full solution available in</a:t>
            </a:r>
            <a:r>
              <a:rPr lang="en-US" i="1" dirty="0"/>
              <a:t> </a:t>
            </a:r>
            <a:r>
              <a:rPr lang="en-US" dirty="0"/>
              <a:t>the </a:t>
            </a:r>
            <a:r>
              <a:rPr lang="en-US" i="1" dirty="0"/>
              <a:t>sol</a:t>
            </a:r>
            <a:r>
              <a:rPr lang="en-US" dirty="0"/>
              <a:t> folder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14179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70F9-59EB-FD33-C7FD-FBF9522F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74B2B-C79A-AD71-E933-DAC0C8FD0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load the solution run it so you can see it</a:t>
            </a:r>
          </a:p>
          <a:p>
            <a:r>
              <a:rPr lang="en-US" dirty="0"/>
              <a:t>Then you are welcome to review the coded solution</a:t>
            </a:r>
          </a:p>
          <a:p>
            <a:r>
              <a:rPr lang="en-US" dirty="0"/>
              <a:t>It has some additional complexity, but the core changes are the same</a:t>
            </a:r>
          </a:p>
          <a:p>
            <a:r>
              <a:rPr lang="en-US" dirty="0"/>
              <a:t>The solution has ZERO</a:t>
            </a:r>
            <a:r>
              <a:rPr lang="en-US" i="1" dirty="0"/>
              <a:t> type predicated code</a:t>
            </a:r>
          </a:p>
        </p:txBody>
      </p:sp>
    </p:spTree>
    <p:extLst>
      <p:ext uri="{BB962C8B-B14F-4D97-AF65-F5344CB8AC3E}">
        <p14:creationId xmlns:p14="http://schemas.microsoft.com/office/powerpoint/2010/main" val="969223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993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686800" cy="2133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 the game </a:t>
            </a:r>
            <a:r>
              <a:rPr lang="en-US" dirty="0" err="1"/>
              <a:t>Bomberman</a:t>
            </a:r>
            <a:r>
              <a:rPr lang="en-US" dirty="0"/>
              <a:t>, everything has special behavior if caught in a bomb explosion.  Heroes die and restart the level, monsters are killed and score points, walls are destroyed, and bombs explode themselves.  In the design below, the Bomb class has an </a:t>
            </a:r>
            <a:r>
              <a:rPr lang="en-US" dirty="0" err="1"/>
              <a:t>onExplosion</a:t>
            </a:r>
            <a:r>
              <a:rPr lang="en-US" dirty="0"/>
              <a:t> method which handles this behavior and (you can assume) works correctly.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67000"/>
            <a:ext cx="8153400" cy="407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67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741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GameObject</a:t>
            </a:r>
            <a:r>
              <a:rPr lang="en-US" dirty="0"/>
              <a:t> g : </a:t>
            </a:r>
            <a:r>
              <a:rPr lang="en-US" dirty="0" err="1"/>
              <a:t>getObjectsWithinBombExplosion</a:t>
            </a:r>
            <a:r>
              <a:rPr lang="en-US" dirty="0"/>
              <a:t>()) {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if(g </a:t>
            </a:r>
            <a:r>
              <a:rPr lang="en-US" dirty="0" err="1"/>
              <a:t>instanceof</a:t>
            </a:r>
            <a:r>
              <a:rPr lang="en-US" dirty="0"/>
              <a:t> Bomb) {</a:t>
            </a:r>
          </a:p>
          <a:p>
            <a:pPr marL="0" indent="0">
              <a:buNone/>
            </a:pPr>
            <a:r>
              <a:rPr lang="en-US" dirty="0"/>
              <a:t>    // bomb specific code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if(g </a:t>
            </a:r>
            <a:r>
              <a:rPr lang="en-US" dirty="0" err="1"/>
              <a:t>instanceof</a:t>
            </a:r>
            <a:r>
              <a:rPr lang="en-US" dirty="0"/>
              <a:t> Wall) {</a:t>
            </a:r>
          </a:p>
          <a:p>
            <a:pPr marL="0" indent="0">
              <a:buNone/>
            </a:pPr>
            <a:r>
              <a:rPr lang="en-US" dirty="0"/>
              <a:t>    //wall specific code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//pattern continues...</a:t>
            </a:r>
          </a:p>
          <a:p>
            <a:pPr marL="0" indent="0">
              <a:buNone/>
            </a:pPr>
            <a:r>
              <a:rPr lang="en-US" dirty="0"/>
              <a:t>}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5317436"/>
            <a:ext cx="845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What is wrong with the design?</a:t>
            </a:r>
          </a:p>
          <a:p>
            <a:r>
              <a:rPr lang="en-US" dirty="0"/>
              <a:t>2. Propose a new design that does not have the problem you identified in #1.  You only need include in your UML diagram classes that are *different* from their version in the given diagram.</a:t>
            </a:r>
            <a:br>
              <a:rPr lang="en-US" dirty="0"/>
            </a:br>
            <a:r>
              <a:rPr lang="en-US" dirty="0"/>
              <a:t>Also include a sample for what the analogous code on </a:t>
            </a:r>
            <a:r>
              <a:rPr lang="en-US" dirty="0" err="1"/>
              <a:t>onExplosion</a:t>
            </a:r>
            <a:r>
              <a:rPr lang="en-US" dirty="0"/>
              <a:t> looks like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457" y="2590800"/>
            <a:ext cx="5149091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04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5" y="1506538"/>
            <a:ext cx="837247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49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13237"/>
            <a:ext cx="8229600" cy="25447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Each subclass will process the effects of a collision inside of the </a:t>
            </a:r>
            <a:r>
              <a:rPr lang="en-US" dirty="0" err="1"/>
              <a:t>collideWithExplodingBomb</a:t>
            </a:r>
            <a:r>
              <a:rPr lang="en-US" dirty="0"/>
              <a:t> method. No </a:t>
            </a:r>
            <a:r>
              <a:rPr lang="en-US" dirty="0" err="1"/>
              <a:t>instanceof</a:t>
            </a:r>
            <a:r>
              <a:rPr lang="en-US" dirty="0"/>
              <a:t> is required. Additionally, the code to handle collisions can be done inside </a:t>
            </a:r>
            <a:r>
              <a:rPr lang="en-US" dirty="0" err="1"/>
              <a:t>onExplosion</a:t>
            </a:r>
            <a:r>
              <a:rPr lang="en-US" dirty="0"/>
              <a:t> as before: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for(</a:t>
            </a:r>
            <a:r>
              <a:rPr lang="en-US" dirty="0" err="1"/>
              <a:t>GameObject</a:t>
            </a:r>
            <a:r>
              <a:rPr lang="en-US" dirty="0"/>
              <a:t> g : </a:t>
            </a:r>
            <a:r>
              <a:rPr lang="en-US" dirty="0" err="1"/>
              <a:t>getObjectsWithinBombExplosion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g.collideWithExplodingBomb</a:t>
            </a:r>
            <a:r>
              <a:rPr lang="en-US" dirty="0"/>
              <a:t>(this);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Each subclass will deal with handling the class specific effects of being hit by a bomb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4638"/>
            <a:ext cx="6553200" cy="361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35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Team Project</a:t>
            </a:r>
          </a:p>
        </p:txBody>
      </p:sp>
      <p:sp>
        <p:nvSpPr>
          <p:cNvPr id="29699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time</a:t>
            </a:r>
          </a:p>
          <a:p>
            <a:r>
              <a:rPr lang="en-US" i="1" dirty="0"/>
              <a:t>Be sure everyone is getting a chance to drive.</a:t>
            </a:r>
          </a:p>
        </p:txBody>
      </p:sp>
    </p:spTree>
    <p:extLst>
      <p:ext uri="{BB962C8B-B14F-4D97-AF65-F5344CB8AC3E}">
        <p14:creationId xmlns:p14="http://schemas.microsoft.com/office/powerpoint/2010/main" val="241390359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Platforms and Drops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525963"/>
          </a:xfrm>
        </p:spPr>
        <p:txBody>
          <a:bodyPr/>
          <a:lstStyle/>
          <a:p>
            <a:r>
              <a:rPr lang="en-US" dirty="0"/>
              <a:t>What if we wanted Platforms to collide as well?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10156"/>
              </p:ext>
            </p:extLst>
          </p:nvPr>
        </p:nvGraphicFramePr>
        <p:xfrm>
          <a:off x="261252" y="3505200"/>
          <a:ext cx="8645560" cy="2644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0580">
                  <a:extLst>
                    <a:ext uri="{9D8B030D-6E8A-4147-A177-3AD203B41FA5}">
                      <a16:colId xmlns:a16="http://schemas.microsoft.com/office/drawing/2014/main" val="2526364595"/>
                    </a:ext>
                  </a:extLst>
                </a:gridCol>
                <a:gridCol w="1497644">
                  <a:extLst>
                    <a:ext uri="{9D8B030D-6E8A-4147-A177-3AD203B41FA5}">
                      <a16:colId xmlns:a16="http://schemas.microsoft.com/office/drawing/2014/main" val="3336982557"/>
                    </a:ext>
                  </a:extLst>
                </a:gridCol>
                <a:gridCol w="1729112">
                  <a:extLst>
                    <a:ext uri="{9D8B030D-6E8A-4147-A177-3AD203B41FA5}">
                      <a16:colId xmlns:a16="http://schemas.microsoft.com/office/drawing/2014/main" val="3616916034"/>
                    </a:ext>
                  </a:extLst>
                </a:gridCol>
                <a:gridCol w="1954844">
                  <a:extLst>
                    <a:ext uri="{9D8B030D-6E8A-4147-A177-3AD203B41FA5}">
                      <a16:colId xmlns:a16="http://schemas.microsoft.com/office/drawing/2014/main" val="1221158006"/>
                    </a:ext>
                  </a:extLst>
                </a:gridCol>
                <a:gridCol w="1503380">
                  <a:extLst>
                    <a:ext uri="{9D8B030D-6E8A-4147-A177-3AD203B41FA5}">
                      <a16:colId xmlns:a16="http://schemas.microsoft.com/office/drawing/2014/main" val="2501348156"/>
                    </a:ext>
                  </a:extLst>
                </a:gridCol>
              </a:tblGrid>
              <a:tr h="52593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594199882"/>
                  </a:ext>
                </a:extLst>
              </a:tr>
              <a:tr h="5408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3976739364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2645558673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473913649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164462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275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Platforms and Drops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42218"/>
            <a:ext cx="8534400" cy="4525963"/>
          </a:xfrm>
        </p:spPr>
        <p:txBody>
          <a:bodyPr/>
          <a:lstStyle/>
          <a:p>
            <a:r>
              <a:rPr lang="en-US" dirty="0" err="1"/>
              <a:t>AbstractPlatform</a:t>
            </a:r>
            <a:r>
              <a:rPr lang="en-US" dirty="0"/>
              <a:t> and  </a:t>
            </a:r>
            <a:r>
              <a:rPr lang="en-US" dirty="0" err="1"/>
              <a:t>AbstractDrop</a:t>
            </a:r>
            <a:endParaRPr lang="en-US" dirty="0"/>
          </a:p>
          <a:p>
            <a:pPr lvl="1"/>
            <a:r>
              <a:rPr lang="en-US" dirty="0"/>
              <a:t>Subclasses implement </a:t>
            </a:r>
          </a:p>
          <a:p>
            <a:pPr lvl="1"/>
            <a:r>
              <a:rPr lang="en-US" dirty="0" err="1"/>
              <a:t>collideWith</a:t>
            </a:r>
            <a:r>
              <a:rPr lang="en-US" dirty="0"/>
              <a:t>(</a:t>
            </a:r>
            <a:r>
              <a:rPr lang="en-US" dirty="0" err="1"/>
              <a:t>AbstractPlatform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914708"/>
              </p:ext>
            </p:extLst>
          </p:nvPr>
        </p:nvGraphicFramePr>
        <p:xfrm>
          <a:off x="261252" y="3505200"/>
          <a:ext cx="8645560" cy="2644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60580">
                  <a:extLst>
                    <a:ext uri="{9D8B030D-6E8A-4147-A177-3AD203B41FA5}">
                      <a16:colId xmlns:a16="http://schemas.microsoft.com/office/drawing/2014/main" val="2526364595"/>
                    </a:ext>
                  </a:extLst>
                </a:gridCol>
                <a:gridCol w="1497644">
                  <a:extLst>
                    <a:ext uri="{9D8B030D-6E8A-4147-A177-3AD203B41FA5}">
                      <a16:colId xmlns:a16="http://schemas.microsoft.com/office/drawing/2014/main" val="3336982557"/>
                    </a:ext>
                  </a:extLst>
                </a:gridCol>
                <a:gridCol w="1729112">
                  <a:extLst>
                    <a:ext uri="{9D8B030D-6E8A-4147-A177-3AD203B41FA5}">
                      <a16:colId xmlns:a16="http://schemas.microsoft.com/office/drawing/2014/main" val="3616916034"/>
                    </a:ext>
                  </a:extLst>
                </a:gridCol>
                <a:gridCol w="1954844">
                  <a:extLst>
                    <a:ext uri="{9D8B030D-6E8A-4147-A177-3AD203B41FA5}">
                      <a16:colId xmlns:a16="http://schemas.microsoft.com/office/drawing/2014/main" val="1221158006"/>
                    </a:ext>
                  </a:extLst>
                </a:gridCol>
                <a:gridCol w="1503380">
                  <a:extLst>
                    <a:ext uri="{9D8B030D-6E8A-4147-A177-3AD203B41FA5}">
                      <a16:colId xmlns:a16="http://schemas.microsoft.com/office/drawing/2014/main" val="2501348156"/>
                    </a:ext>
                  </a:extLst>
                </a:gridCol>
              </a:tblGrid>
              <a:tr h="52593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594199882"/>
                  </a:ext>
                </a:extLst>
              </a:tr>
              <a:tr h="5408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UserPlat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3976739364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BouncePlat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2645558673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DamageDrop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473913649"/>
                  </a:ext>
                </a:extLst>
              </a:tr>
              <a:tr h="525938">
                <a:tc>
                  <a:txBody>
                    <a:bodyPr/>
                    <a:lstStyle/>
                    <a:p>
                      <a:r>
                        <a:rPr lang="en-US" sz="2400" dirty="0" err="1"/>
                        <a:t>HealDrop</a:t>
                      </a:r>
                      <a:endParaRPr lang="en-US" sz="2400" dirty="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9683" marR="129683" marT="64842" marB="64842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9683" marR="129683" marT="64842" marB="64842"/>
                </a:tc>
                <a:extLst>
                  <a:ext uri="{0D108BD9-81ED-4DB2-BD59-A6C34878D82A}">
                    <a16:rowId xmlns:a16="http://schemas.microsoft.com/office/drawing/2014/main" val="164462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997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Double/Multiple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advanced technique</a:t>
            </a:r>
          </a:p>
          <a:p>
            <a:r>
              <a:rPr lang="en-US" dirty="0"/>
              <a:t>Helps especially when you want to store all objects in a single list</a:t>
            </a:r>
          </a:p>
          <a:p>
            <a:r>
              <a:rPr lang="en-US" dirty="0"/>
              <a:t>Requires some boilerplate code</a:t>
            </a:r>
          </a:p>
          <a:p>
            <a:r>
              <a:rPr lang="en-US" dirty="0"/>
              <a:t>Trade-offs as with many design choices</a:t>
            </a:r>
          </a:p>
          <a:p>
            <a:r>
              <a:rPr lang="en-US" dirty="0"/>
              <a:t>When many different things are interacting with many different things</a:t>
            </a:r>
          </a:p>
          <a:p>
            <a:r>
              <a:rPr lang="en-US" dirty="0"/>
              <a:t>Additional slides and project available to see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9C620-B3B2-2CDA-DB43-EA0A35692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6126163"/>
            <a:ext cx="22383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6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22280</TotalTime>
  <Words>1263</Words>
  <Application>Microsoft Office PowerPoint</Application>
  <PresentationFormat>On-screen Show (4:3)</PresentationFormat>
  <Paragraphs>211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CSSE 220</vt:lpstr>
      <vt:lpstr>The specific problem</vt:lpstr>
      <vt:lpstr>Handling Collisions in General</vt:lpstr>
      <vt:lpstr>PowerPoint Presentation</vt:lpstr>
      <vt:lpstr>Live Coding</vt:lpstr>
      <vt:lpstr>Extend Functionality</vt:lpstr>
      <vt:lpstr>GameComponent.java</vt:lpstr>
      <vt:lpstr>Collision Chart</vt:lpstr>
      <vt:lpstr>Collision Chart</vt:lpstr>
      <vt:lpstr>Collision Chart</vt:lpstr>
      <vt:lpstr>Collision Chart</vt:lpstr>
      <vt:lpstr>Text-based Live Coding</vt:lpstr>
      <vt:lpstr>Text-based Live Coding</vt:lpstr>
      <vt:lpstr>GUI Live-coding</vt:lpstr>
      <vt:lpstr>Solution Code</vt:lpstr>
      <vt:lpstr>Design Activity</vt:lpstr>
      <vt:lpstr>PowerPoint Presentation</vt:lpstr>
      <vt:lpstr>Collision Code</vt:lpstr>
      <vt:lpstr>A Solution</vt:lpstr>
      <vt:lpstr>PowerPoint Presentation</vt:lpstr>
      <vt:lpstr>Team Project</vt:lpstr>
      <vt:lpstr>Platforms and Drops</vt:lpstr>
      <vt:lpstr>Platforms and Drops</vt:lpstr>
      <vt:lpstr>Double/Multiple Dispatch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1189</cp:revision>
  <cp:lastPrinted>2016-10-24T15:45:17Z</cp:lastPrinted>
  <dcterms:created xsi:type="dcterms:W3CDTF">2011-02-07T04:01:01Z</dcterms:created>
  <dcterms:modified xsi:type="dcterms:W3CDTF">2025-10-23T19:47:34Z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