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29" r:id="rId1"/>
  </p:sldMasterIdLst>
  <p:notesMasterIdLst>
    <p:notesMasterId r:id="rId14"/>
  </p:notesMasterIdLst>
  <p:handoutMasterIdLst>
    <p:handoutMasterId r:id="rId15"/>
  </p:handoutMasterIdLst>
  <p:sldIdLst>
    <p:sldId id="256" r:id="rId2"/>
    <p:sldId id="306" r:id="rId3"/>
    <p:sldId id="308" r:id="rId4"/>
    <p:sldId id="307" r:id="rId5"/>
    <p:sldId id="301" r:id="rId6"/>
    <p:sldId id="302" r:id="rId7"/>
    <p:sldId id="295" r:id="rId8"/>
    <p:sldId id="309" r:id="rId9"/>
    <p:sldId id="303" r:id="rId10"/>
    <p:sldId id="305" r:id="rId11"/>
    <p:sldId id="298" r:id="rId12"/>
    <p:sldId id="294" r:id="rId13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8134" autoAdjust="0"/>
  </p:normalViewPr>
  <p:slideViewPr>
    <p:cSldViewPr snapToObjects="1">
      <p:cViewPr varScale="1">
        <p:scale>
          <a:sx n="86" d="100"/>
          <a:sy n="86" d="100"/>
        </p:scale>
        <p:origin x="233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9396" y="2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68AFFCC9-E980-4A2E-8F84-91052C1F2C22}" type="datetime1">
              <a:rPr lang="en-US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9396" y="8829123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F41AE4A4-4012-4846-B3D6-5232032A83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8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903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C4411CED-79EF-4046-B79B-F8927B54B6B0}" type="datetime1">
              <a:rPr lang="en-US"/>
              <a:pPr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8500"/>
            <a:ext cx="4646613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95" tIns="44898" rIns="89795" bIns="4489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482" y="4416100"/>
            <a:ext cx="5504853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903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36B4252A-5ADE-4726-AF7E-E9EADC640C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03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E80923-F7EC-45E2-B35F-158817089866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5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26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http://www.plantuml.com/plantuml/uml/PP1D2i8m44RtEKMMAK9FuAAuK3UYw0ccoHIhQMV83oBgtPqMmK2tx-LB7cbYWf3ou5K_9WmTMDGx6F3Otj2cbrfbTf3GL6fboVlUeVbhJUcAeL8VfQo76FKU0yc6yy2cm0SQermkfWq8ijds0Si3Px9tiHruN-8B8xeJFJ1a5WtC_Zcp3L5CPdfDIm3Dao9h_QxhkKKlw2zbAQQ41Im3L8EZau_w0W00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48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bad because</a:t>
            </a:r>
          </a:p>
          <a:p>
            <a:pPr marL="228600" indent="-228600">
              <a:buAutoNum type="alphaLcParenR"/>
            </a:pPr>
            <a:r>
              <a:rPr lang="en-US" dirty="0"/>
              <a:t>All the code is in one place</a:t>
            </a:r>
          </a:p>
          <a:p>
            <a:pPr marL="228600" indent="-228600">
              <a:buAutoNum type="alphaLcParenR"/>
            </a:pPr>
            <a:r>
              <a:rPr lang="en-US" dirty="0"/>
              <a:t>This</a:t>
            </a:r>
            <a:r>
              <a:rPr lang="en-US" baseline="0" dirty="0"/>
              <a:t> code knows extremely specific details of other classes, in particular their exact type and what </a:t>
            </a:r>
            <a:r>
              <a:rPr lang="en-US" baseline="0" dirty="0" err="1"/>
              <a:t>shoud</a:t>
            </a:r>
            <a:r>
              <a:rPr lang="en-US" baseline="0" dirty="0"/>
              <a:t> be done in that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5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Convince yourself that you did not change anything</a:t>
            </a:r>
            <a:r>
              <a:rPr lang="en-US" baseline="0" dirty="0"/>
              <a:t> by adding a type method.</a:t>
            </a:r>
          </a:p>
          <a:p>
            <a:r>
              <a:rPr lang="en-US" baseline="0" dirty="0"/>
              <a:t>Yet, students do this all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6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plantuml.com/plantuml/uml/PL71Zi8W4Btp5Hmn9dx17fezg1Upnit6yqZ7b5tQ8J2DCQl_Bj2QqlJ2FDvxvCqCLM3mtBTMc8xHNq6Zt46BNvTVrFmlrhshWL6jn5gJjQP6DScIk44_IMV3pT727RqQYkJ6X07ENGVgGenJOys-4S-D9z9_AXtPai1S_tQ8zP5kw7kdfikF6w87l19F8RI54EGUFSMfNDywLT1ZTbGk7Y5EjJKUIqDAZkeLh2tfCZxAu9ozP-wJAB1AQJAkYFAJOd4VZyqczo8Nx7ib2o6ri23B1aI5NHs_yWK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Let’s say we’re in the </a:t>
            </a:r>
            <a:r>
              <a:rPr lang="en-US" dirty="0" err="1"/>
              <a:t>PowerUp</a:t>
            </a:r>
            <a:r>
              <a:rPr lang="en-US" dirty="0"/>
              <a:t> class, and </a:t>
            </a:r>
            <a:r>
              <a:rPr lang="en-US" dirty="0" err="1"/>
              <a:t>GameObject</a:t>
            </a:r>
            <a:r>
              <a:rPr lang="en-US" dirty="0"/>
              <a:t> is of type Player.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will call the </a:t>
            </a:r>
            <a:r>
              <a:rPr lang="en-US" dirty="0" err="1"/>
              <a:t>collideWithPowerUp</a:t>
            </a:r>
            <a:r>
              <a:rPr lang="en-US" dirty="0"/>
              <a:t> method on the Player class.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Player</a:t>
            </a:r>
            <a:r>
              <a:rPr lang="en-US" baseline="0" dirty="0"/>
              <a:t> can decide whether to respond to</a:t>
            </a:r>
            <a:r>
              <a:rPr lang="en-US" dirty="0"/>
              <a:t> </a:t>
            </a:r>
            <a:r>
              <a:rPr lang="en-US" dirty="0" err="1"/>
              <a:t>collideWithPowerUp</a:t>
            </a:r>
            <a:r>
              <a:rPr lang="en-US" dirty="0"/>
              <a:t> class, or ask it back to handle the collision</a:t>
            </a:r>
            <a:r>
              <a:rPr lang="en-US" baseline="0" dirty="0"/>
              <a:t> by calling </a:t>
            </a:r>
            <a:r>
              <a:rPr lang="en-US" baseline="0" dirty="0" err="1"/>
              <a:t>collideWithPlayer</a:t>
            </a:r>
            <a:r>
              <a:rPr lang="en-US" baseline="0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64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E02099-3122-448C-8379-2F83E5A8613A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8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E5DC-7A70-4CAB-B8CA-FD7CFBA6DDCF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279A9-3DEE-405E-A3ED-1337E6526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6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03A8-3A50-4824-93B1-5AB2817A85E6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FD1A-4189-457E-B97C-F61512EFD4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78C3-2E3E-4EDD-A8FC-A11FEA9CDF04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0310-F82F-4A8F-9F78-25E7EF6436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6738-AE48-490E-BA60-16B31C3E5798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2F2D-BD7E-4068-B307-13356AE7A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0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7309-80BC-4890-B91A-AB9885E172E5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C143-3083-4165-877B-73F388BB2A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6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6A63-0F78-4E9D-81E4-A84E1F25A0A3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45B1-AB7B-41C8-8F02-97E53B401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F9E9-979C-4422-A1BB-1DC64426F0DA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4611-C3B2-4DA2-BEBE-7E1D4A958E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5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020D-910B-4676-A902-AD52382F28B6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050B1-62D7-446A-A93A-BF045FB723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7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FF79-924D-47D6-A727-6A03000C0C91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942E-C3EC-459D-A3C4-71A098A989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5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58A64-F6CF-4D4F-A14E-4E9A6689521C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6D9-6568-4CC7-A897-8E442FE2D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5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61FD-7946-4EF3-8B09-2E96C5099CE1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5F2C-5211-44E5-BB1B-6C1BB3133E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9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E304D-C692-4D58-A925-D35D66927263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1AF9C-A98B-4538-9C1F-470DAC7B20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2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0" r:id="rId1"/>
    <p:sldLayoutId id="2147484631" r:id="rId2"/>
    <p:sldLayoutId id="2147484632" r:id="rId3"/>
    <p:sldLayoutId id="2147484633" r:id="rId4"/>
    <p:sldLayoutId id="2147484634" r:id="rId5"/>
    <p:sldLayoutId id="2147484635" r:id="rId6"/>
    <p:sldLayoutId id="2147484636" r:id="rId7"/>
    <p:sldLayoutId id="2147484637" r:id="rId8"/>
    <p:sldLayoutId id="2147484638" r:id="rId9"/>
    <p:sldLayoutId id="2147484639" r:id="rId10"/>
    <p:sldLayoutId id="214748464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CSSE 220</a:t>
            </a:r>
          </a:p>
        </p:txBody>
      </p:sp>
      <p:sp>
        <p:nvSpPr>
          <p:cNvPr id="15363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Collision Handling without </a:t>
            </a:r>
            <a:r>
              <a:rPr lang="en-US" sz="2500" b="1" dirty="0" err="1">
                <a:solidFill>
                  <a:srgbClr val="FF0000"/>
                </a:solidFill>
              </a:rPr>
              <a:t>instanceof</a:t>
            </a:r>
            <a:endParaRPr lang="en-US" sz="2500" b="1" dirty="0">
              <a:solidFill>
                <a:srgbClr val="FF0000"/>
              </a:solidFill>
            </a:endParaRPr>
          </a:p>
          <a:p>
            <a:pPr marR="0" eaLnBrk="1" hangingPunct="1">
              <a:lnSpc>
                <a:spcPct val="90000"/>
              </a:lnSpc>
            </a:pPr>
            <a:br>
              <a:rPr lang="en-US" sz="2500" dirty="0"/>
            </a:br>
            <a:endParaRPr lang="en-US" sz="2500" dirty="0"/>
          </a:p>
        </p:txBody>
      </p:sp>
      <p:sp>
        <p:nvSpPr>
          <p:cNvPr id="4" name="TextBox 3"/>
          <p:cNvSpPr txBox="1"/>
          <p:nvPr/>
        </p:nvSpPr>
        <p:spPr>
          <a:xfrm>
            <a:off x="285750" y="6242050"/>
            <a:ext cx="725805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See </a:t>
            </a:r>
            <a:r>
              <a:rPr lang="en-US" i="1" dirty="0" err="1"/>
              <a:t>multipleDispatchAdvanced</a:t>
            </a:r>
            <a:r>
              <a:rPr lang="en-US" i="1" dirty="0"/>
              <a:t> </a:t>
            </a:r>
            <a:r>
              <a:rPr lang="en-US" dirty="0"/>
              <a:t>in solutions folder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Monsters can collide with rocks.</a:t>
            </a:r>
          </a:p>
          <a:p>
            <a:r>
              <a:rPr lang="en-US" dirty="0"/>
              <a:t>Rocks can crush monsters.</a:t>
            </a:r>
          </a:p>
          <a:p>
            <a:r>
              <a:rPr lang="en-US" dirty="0"/>
              <a:t>Players can collide with monsters.</a:t>
            </a:r>
          </a:p>
          <a:p>
            <a:r>
              <a:rPr lang="en-US" dirty="0"/>
              <a:t>Players can be crushed by rocks.</a:t>
            </a:r>
          </a:p>
          <a:p>
            <a:r>
              <a:rPr lang="en-US" dirty="0"/>
              <a:t>Players can take </a:t>
            </a:r>
            <a:r>
              <a:rPr lang="en-US" dirty="0" err="1"/>
              <a:t>powerups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 many collisions! How do we handle them all?</a:t>
            </a:r>
          </a:p>
        </p:txBody>
      </p:sp>
    </p:spTree>
    <p:extLst>
      <p:ext uri="{BB962C8B-B14F-4D97-AF65-F5344CB8AC3E}">
        <p14:creationId xmlns:p14="http://schemas.microsoft.com/office/powerpoint/2010/main" val="178206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not to do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399" y="1600200"/>
            <a:ext cx="6137201" cy="4039394"/>
          </a:xfrm>
        </p:spPr>
      </p:pic>
      <p:sp>
        <p:nvSpPr>
          <p:cNvPr id="5" name="TextBox 4"/>
          <p:cNvSpPr txBox="1"/>
          <p:nvPr/>
        </p:nvSpPr>
        <p:spPr>
          <a:xfrm>
            <a:off x="3261384" y="5682734"/>
            <a:ext cx="26212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Why is this design bad?</a:t>
            </a:r>
          </a:p>
        </p:txBody>
      </p:sp>
    </p:spTree>
    <p:extLst>
      <p:ext uri="{BB962C8B-B14F-4D97-AF65-F5344CB8AC3E}">
        <p14:creationId xmlns:p14="http://schemas.microsoft.com/office/powerpoint/2010/main" val="170048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Slightly better?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70" y="1828800"/>
            <a:ext cx="8399060" cy="3303527"/>
          </a:xfrm>
        </p:spPr>
      </p:pic>
      <p:sp>
        <p:nvSpPr>
          <p:cNvPr id="10" name="TextBox 9"/>
          <p:cNvSpPr txBox="1"/>
          <p:nvPr/>
        </p:nvSpPr>
        <p:spPr>
          <a:xfrm>
            <a:off x="2690716" y="5682734"/>
            <a:ext cx="38651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But tempts you to use </a:t>
            </a:r>
            <a:r>
              <a:rPr lang="en-US" b="1" dirty="0" err="1">
                <a:solidFill>
                  <a:srgbClr val="FF0000"/>
                </a:solidFill>
              </a:rPr>
              <a:t>instanceof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320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bad </a:t>
            </a:r>
            <a:r>
              <a:rPr lang="en-US" dirty="0" err="1"/>
              <a:t>Player.collide</a:t>
            </a:r>
            <a:r>
              <a:rPr lang="en-US" dirty="0"/>
              <a:t>(</a:t>
            </a:r>
            <a:r>
              <a:rPr lang="en-US" dirty="0" err="1"/>
              <a:t>GameObject</a:t>
            </a:r>
            <a:r>
              <a:rPr lang="en-US" dirty="0"/>
              <a:t> o1)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// player has landed on o1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if(o1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instanceof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SpeedPowerUp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// code to increase speed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if(o1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instanceof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LifePowerUp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// code to increase life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10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Same</a:t>
            </a:r>
            <a:r>
              <a:rPr lang="en-US" dirty="0"/>
              <a:t> Bad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//player has landed on o1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if(o1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.type().equals</a:t>
            </a:r>
            <a:r>
              <a:rPr lang="en-US" dirty="0">
                <a:latin typeface="Consolas" panose="020B0609020204030204" pitchFamily="49" charset="0"/>
              </a:rPr>
              <a:t>(“</a:t>
            </a:r>
            <a:r>
              <a:rPr lang="en-US" dirty="0" err="1">
                <a:latin typeface="Consolas" panose="020B0609020204030204" pitchFamily="49" charset="0"/>
              </a:rPr>
              <a:t>SpeedPowerUp</a:t>
            </a:r>
            <a:r>
              <a:rPr lang="en-US" dirty="0">
                <a:latin typeface="Consolas" panose="020B0609020204030204" pitchFamily="49" charset="0"/>
              </a:rPr>
              <a:t>”))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//code to increase speed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if(o1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.type().equals</a:t>
            </a:r>
            <a:r>
              <a:rPr lang="en-US" dirty="0">
                <a:latin typeface="Consolas" panose="020B0609020204030204" pitchFamily="49" charset="0"/>
              </a:rPr>
              <a:t>(“</a:t>
            </a:r>
            <a:r>
              <a:rPr lang="en-US" dirty="0" err="1">
                <a:latin typeface="Consolas" panose="020B0609020204030204" pitchFamily="49" charset="0"/>
              </a:rPr>
              <a:t>LifePowerUp</a:t>
            </a:r>
            <a:r>
              <a:rPr lang="en-US" dirty="0">
                <a:latin typeface="Consolas" panose="020B0609020204030204" pitchFamily="49" charset="0"/>
              </a:rPr>
              <a:t>”))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//code to increase life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25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instanceof</a:t>
            </a:r>
            <a:r>
              <a:rPr lang="en-US" dirty="0"/>
              <a:t> - 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instanceof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like </a:t>
            </a:r>
            <a:r>
              <a:rPr lang="en-US" dirty="0">
                <a:solidFill>
                  <a:srgbClr val="FF0000"/>
                </a:solidFill>
              </a:rPr>
              <a:t>static</a:t>
            </a:r>
            <a:r>
              <a:rPr lang="en-US" dirty="0"/>
              <a:t>. It is </a:t>
            </a:r>
            <a:r>
              <a:rPr lang="en-US" dirty="0">
                <a:solidFill>
                  <a:srgbClr val="FF0000"/>
                </a:solidFill>
              </a:rPr>
              <a:t>dead</a:t>
            </a:r>
            <a:r>
              <a:rPr lang="en-US" dirty="0"/>
              <a:t> to you.</a:t>
            </a:r>
          </a:p>
          <a:p>
            <a:endParaRPr lang="en-US" dirty="0"/>
          </a:p>
          <a:p>
            <a:r>
              <a:rPr lang="en-US" dirty="0"/>
              <a:t>Instead: add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/>
              <a:t>interface methods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Recall this is called </a:t>
            </a:r>
            <a:r>
              <a:rPr lang="en-US" b="1" dirty="0"/>
              <a:t>polymorphism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528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Polymorphic Solution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21" y="1981200"/>
            <a:ext cx="7578957" cy="3698081"/>
          </a:xfrm>
        </p:spPr>
      </p:pic>
    </p:spTree>
    <p:extLst>
      <p:ext uri="{BB962C8B-B14F-4D97-AF65-F5344CB8AC3E}">
        <p14:creationId xmlns:p14="http://schemas.microsoft.com/office/powerpoint/2010/main" val="411749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Polymorphic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o1.collideWithPlayer(player);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// in </a:t>
            </a:r>
            <a:r>
              <a:rPr lang="en-US" dirty="0" err="1">
                <a:latin typeface="Consolas" panose="020B0609020204030204" pitchFamily="49" charset="0"/>
              </a:rPr>
              <a:t>SpeedPowerUpClass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</a:rPr>
              <a:t>collideWithPlayer</a:t>
            </a:r>
            <a:r>
              <a:rPr lang="en-US" dirty="0">
                <a:latin typeface="Consolas" panose="020B0609020204030204" pitchFamily="49" charset="0"/>
              </a:rPr>
              <a:t>(Player p)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// code to increase speed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6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made this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knew one of the objects was the Player.</a:t>
            </a:r>
          </a:p>
          <a:p>
            <a:endParaRPr lang="en-US" dirty="0"/>
          </a:p>
          <a:p>
            <a:r>
              <a:rPr lang="en-US" dirty="0"/>
              <a:t>In general:</a:t>
            </a:r>
          </a:p>
          <a:p>
            <a:pPr lvl="1"/>
            <a:r>
              <a:rPr lang="en-US" dirty="0"/>
              <a:t>Objects know </a:t>
            </a:r>
            <a:r>
              <a:rPr lang="en-US" b="1" dirty="0"/>
              <a:t>their own type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 also know the </a:t>
            </a:r>
            <a:r>
              <a:rPr lang="en-US" b="1" dirty="0"/>
              <a:t>other object’s interface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1905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</a:rPr>
              <a:t>o1.collideWithPlayer(player);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// in </a:t>
            </a:r>
            <a:r>
              <a:rPr lang="en-US" sz="1600" dirty="0" err="1">
                <a:latin typeface="Consolas" panose="020B0609020204030204" pitchFamily="49" charset="0"/>
              </a:rPr>
              <a:t>SpeedPowerUpClass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void </a:t>
            </a:r>
            <a:r>
              <a:rPr lang="en-US" sz="1600" b="1" dirty="0" err="1">
                <a:latin typeface="Consolas" panose="020B0609020204030204" pitchFamily="49" charset="0"/>
              </a:rPr>
              <a:t>collideWithPlayer</a:t>
            </a:r>
            <a:r>
              <a:rPr lang="en-US" sz="1600" dirty="0">
                <a:latin typeface="Consolas" panose="020B0609020204030204" pitchFamily="49" charset="0"/>
              </a:rPr>
              <a:t>(Player p)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// code to increase speed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1769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Dispatch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6153" y="2133600"/>
            <a:ext cx="8534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SpeedPowerUp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GameObject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	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collide(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GameObject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other) {</a:t>
            </a:r>
          </a:p>
          <a:p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other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.collideWithSpeedPowerUp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endParaRPr lang="en-US" dirty="0">
              <a:solidFill>
                <a:srgbClr val="64646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	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collideWithPlayer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(Player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thisPlayer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//do specific action to player</a:t>
            </a:r>
          </a:p>
          <a:p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thisPlayer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.speedUp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9400" y="5943600"/>
            <a:ext cx="61722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i="1" dirty="0" err="1"/>
              <a:t>multipleDispatchAdvanced</a:t>
            </a:r>
            <a:r>
              <a:rPr lang="en-US" dirty="0"/>
              <a:t> in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73" y="3048000"/>
            <a:ext cx="52886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other object decides </a:t>
            </a:r>
            <a:r>
              <a:rPr lang="en-US" u="sng" dirty="0"/>
              <a:t>for itself</a:t>
            </a:r>
            <a:r>
              <a:rPr lang="en-US" dirty="0"/>
              <a:t> how to respond.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6542" y="4806791"/>
            <a:ext cx="66736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Player called </a:t>
            </a:r>
            <a:r>
              <a:rPr lang="en-US" dirty="0" err="1"/>
              <a:t>speedPowerUp.collideWithPlayer</a:t>
            </a:r>
            <a:r>
              <a:rPr lang="en-US" dirty="0"/>
              <a:t>(</a:t>
            </a:r>
            <a:r>
              <a:rPr lang="en-US" dirty="0" err="1"/>
              <a:t>thisPlayer</a:t>
            </a:r>
            <a:r>
              <a:rPr lang="en-US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5394" y="1257265"/>
            <a:ext cx="517321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Objects make collide_____() calls on each other </a:t>
            </a:r>
          </a:p>
          <a:p>
            <a:pPr algn="ctr"/>
            <a:r>
              <a:rPr lang="en-US" dirty="0"/>
              <a:t>until one decides to handle the collision.</a:t>
            </a:r>
          </a:p>
        </p:txBody>
      </p:sp>
    </p:spTree>
    <p:extLst>
      <p:ext uri="{BB962C8B-B14F-4D97-AF65-F5344CB8AC3E}">
        <p14:creationId xmlns:p14="http://schemas.microsoft.com/office/powerpoint/2010/main" val="417553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Team Project</a:t>
            </a:r>
          </a:p>
        </p:txBody>
      </p:sp>
      <p:sp>
        <p:nvSpPr>
          <p:cNvPr id="29699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time</a:t>
            </a:r>
          </a:p>
          <a:p>
            <a:r>
              <a:rPr lang="en-US" i="1" dirty="0"/>
              <a:t>Be sure everyone is getting a chance to drive.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17850</TotalTime>
  <Words>537</Words>
  <Application>Microsoft Office PowerPoint</Application>
  <PresentationFormat>On-screen Show (4:3)</PresentationFormat>
  <Paragraphs>100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CSSE 220</vt:lpstr>
      <vt:lpstr>The problem</vt:lpstr>
      <vt:lpstr>What not to do</vt:lpstr>
      <vt:lpstr>Slightly better?</vt:lpstr>
      <vt:lpstr>A bad Player.collide(GameObject o1)</vt:lpstr>
      <vt:lpstr>Same Bad Idea</vt:lpstr>
      <vt:lpstr>instanceof -  in general</vt:lpstr>
      <vt:lpstr>Polymorphic Solution</vt:lpstr>
      <vt:lpstr>Polymorphic Solution</vt:lpstr>
      <vt:lpstr>What made this work</vt:lpstr>
      <vt:lpstr>Multiple Dispatch</vt:lpstr>
      <vt:lpstr>Team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1146</cp:revision>
  <cp:lastPrinted>2016-10-24T15:45:17Z</cp:lastPrinted>
  <dcterms:created xsi:type="dcterms:W3CDTF">2011-02-07T04:01:01Z</dcterms:created>
  <dcterms:modified xsi:type="dcterms:W3CDTF">2025-10-23T19:52:50Z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