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33" r:id="rId4"/>
  </p:sldMasterIdLst>
  <p:notesMasterIdLst>
    <p:notesMasterId r:id="rId26"/>
  </p:notesMasterIdLst>
  <p:handoutMasterIdLst>
    <p:handoutMasterId r:id="rId27"/>
  </p:handoutMasterIdLst>
  <p:sldIdLst>
    <p:sldId id="256" r:id="rId5"/>
    <p:sldId id="370" r:id="rId6"/>
    <p:sldId id="402" r:id="rId7"/>
    <p:sldId id="371" r:id="rId8"/>
    <p:sldId id="397" r:id="rId9"/>
    <p:sldId id="392" r:id="rId10"/>
    <p:sldId id="387" r:id="rId11"/>
    <p:sldId id="391" r:id="rId12"/>
    <p:sldId id="376" r:id="rId13"/>
    <p:sldId id="401" r:id="rId14"/>
    <p:sldId id="399" r:id="rId15"/>
    <p:sldId id="407" r:id="rId16"/>
    <p:sldId id="390" r:id="rId17"/>
    <p:sldId id="400" r:id="rId18"/>
    <p:sldId id="378" r:id="rId19"/>
    <p:sldId id="377" r:id="rId20"/>
    <p:sldId id="386" r:id="rId21"/>
    <p:sldId id="383" r:id="rId22"/>
    <p:sldId id="384" r:id="rId23"/>
    <p:sldId id="385" r:id="rId24"/>
    <p:sldId id="379" r:id="rId2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7BD402-10A1-4E4B-82CB-2786BD8A006E}" v="1" dt="2021-10-10T18:00:52.098"/>
    <p1510:client id="{B2A64C1B-1B9C-47AE-96C9-89835EF249D7}" v="1" dt="2021-10-08T12:12:51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81658" autoAdjust="0"/>
  </p:normalViewPr>
  <p:slideViewPr>
    <p:cSldViewPr snapToObjects="1">
      <p:cViewPr varScale="1">
        <p:scale>
          <a:sx n="90" d="100"/>
          <a:sy n="90" d="100"/>
        </p:scale>
        <p:origin x="216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dner, Morrison" userId="S::gardneml@rose-hulman.edu::8daf3488-618f-4698-8c97-f41371279060" providerId="AD" clId="Web-{B2A64C1B-1B9C-47AE-96C9-89835EF249D7}"/>
    <pc:docChg chg="modSld">
      <pc:chgData name="Gardner, Morrison" userId="S::gardneml@rose-hulman.edu::8daf3488-618f-4698-8c97-f41371279060" providerId="AD" clId="Web-{B2A64C1B-1B9C-47AE-96C9-89835EF249D7}" dt="2021-10-08T12:12:51.003" v="0" actId="1076"/>
      <pc:docMkLst>
        <pc:docMk/>
      </pc:docMkLst>
      <pc:sldChg chg="modSp">
        <pc:chgData name="Gardner, Morrison" userId="S::gardneml@rose-hulman.edu::8daf3488-618f-4698-8c97-f41371279060" providerId="AD" clId="Web-{B2A64C1B-1B9C-47AE-96C9-89835EF249D7}" dt="2021-10-08T12:12:51.003" v="0" actId="1076"/>
        <pc:sldMkLst>
          <pc:docMk/>
          <pc:sldMk cId="3723481881" sldId="392"/>
        </pc:sldMkLst>
        <pc:spChg chg="mod">
          <ac:chgData name="Gardner, Morrison" userId="S::gardneml@rose-hulman.edu::8daf3488-618f-4698-8c97-f41371279060" providerId="AD" clId="Web-{B2A64C1B-1B9C-47AE-96C9-89835EF249D7}" dt="2021-10-08T12:12:51.003" v="0" actId="1076"/>
          <ac:spMkLst>
            <pc:docMk/>
            <pc:sldMk cId="3723481881" sldId="392"/>
            <ac:spMk id="27" creationId="{00000000-0000-0000-0000-000000000000}"/>
          </ac:spMkLst>
        </pc:spChg>
      </pc:sldChg>
    </pc:docChg>
  </pc:docChgLst>
  <pc:docChgLst>
    <pc:chgData name="Hennarty, Scott" userId="S::hennarsp@rose-hulman.edu::a365ec00-508c-495a-ae9c-ff7392d7b284" providerId="AD" clId="Web-{917BD402-10A1-4E4B-82CB-2786BD8A006E}"/>
    <pc:docChg chg="modSld">
      <pc:chgData name="Hennarty, Scott" userId="S::hennarsp@rose-hulman.edu::a365ec00-508c-495a-ae9c-ff7392d7b284" providerId="AD" clId="Web-{917BD402-10A1-4E4B-82CB-2786BD8A006E}" dt="2021-10-10T18:00:52.098" v="0" actId="1076"/>
      <pc:docMkLst>
        <pc:docMk/>
      </pc:docMkLst>
      <pc:sldChg chg="modSp">
        <pc:chgData name="Hennarty, Scott" userId="S::hennarsp@rose-hulman.edu::a365ec00-508c-495a-ae9c-ff7392d7b284" providerId="AD" clId="Web-{917BD402-10A1-4E4B-82CB-2786BD8A006E}" dt="2021-10-10T18:00:52.098" v="0" actId="1076"/>
        <pc:sldMkLst>
          <pc:docMk/>
          <pc:sldMk cId="3723481881" sldId="392"/>
        </pc:sldMkLst>
        <pc:picChg chg="mod">
          <ac:chgData name="Hennarty, Scott" userId="S::hennarsp@rose-hulman.edu::a365ec00-508c-495a-ae9c-ff7392d7b284" providerId="AD" clId="Web-{917BD402-10A1-4E4B-82CB-2786BD8A006E}" dt="2021-10-10T18:00:52.098" v="0" actId="1076"/>
          <ac:picMkLst>
            <pc:docMk/>
            <pc:sldMk cId="3723481881" sldId="392"/>
            <ac:picMk id="16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197D6E1B-20DE-4CB0-8EAD-1E3F163EE0B0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09AA4A5-8935-41EF-85BC-3D8FB2F9ED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DE80339C-5766-487C-A50E-B79DCB765551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8" tIns="44904" rIns="89808" bIns="4490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8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DA7F4447-3C62-46B7-AE80-9244D3371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D8CC908-311D-4078-9476-7CF3BBA88EFB}" type="slidenum">
              <a:rPr lang="en-US" smtClean="0">
                <a:latin typeface="Calibri" pitchFamily="34" charset="0"/>
              </a:rPr>
              <a:pPr eaLnBrk="1" hangingPunct="1"/>
              <a:t>1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79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Define each of the highlighted terms</a:t>
            </a:r>
          </a:p>
          <a:p>
            <a:r>
              <a:rPr lang="en-US" dirty="0"/>
              <a:t>A callback is a mechanism for specifying a block of code so it can be executed later.</a:t>
            </a:r>
          </a:p>
          <a:p>
            <a:r>
              <a:rPr lang="en-US" dirty="0"/>
              <a:t>An event is a notification to the program that a</a:t>
            </a:r>
            <a:r>
              <a:rPr lang="en-US" baseline="0" dirty="0"/>
              <a:t> user</a:t>
            </a:r>
            <a:r>
              <a:rPr lang="en-US" dirty="0"/>
              <a:t> action (key press,</a:t>
            </a:r>
            <a:r>
              <a:rPr lang="en-US" baseline="0" dirty="0"/>
              <a:t> mouse move, menu selection, etc</a:t>
            </a:r>
            <a:r>
              <a:rPr lang="en-US" dirty="0"/>
              <a:t>) has occurred.</a:t>
            </a:r>
          </a:p>
          <a:p>
            <a:r>
              <a:rPr lang="en-US" dirty="0"/>
              <a:t>We handle events</a:t>
            </a:r>
            <a:r>
              <a:rPr lang="en-US" baseline="0" dirty="0"/>
              <a:t> by writing code that respond to them so that the user receives the appropriate response.</a:t>
            </a:r>
            <a:endParaRPr lang="en-US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18E4308-E94C-4F61-A214-DCFBCE0866EB}" type="slidenum">
              <a:rPr lang="en-US" smtClean="0">
                <a:latin typeface="Calibri" pitchFamily="34" charset="0"/>
              </a:rPr>
              <a:pPr eaLnBrk="1" hangingPunct="1"/>
              <a:t>2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158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both of the solutions while they start to do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7F4447-3C62-46B7-AE80-9244D33714A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80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QUIZ QUESTION 1  - things that happen,</a:t>
            </a:r>
            <a:r>
              <a:rPr lang="en-US" baseline="0" dirty="0"/>
              <a:t> where they come from</a:t>
            </a:r>
            <a:endParaRPr lang="en-US" dirty="0"/>
          </a:p>
          <a:p>
            <a:endParaRPr lang="en-US" dirty="0"/>
          </a:p>
          <a:p>
            <a:r>
              <a:rPr lang="en-US" dirty="0"/>
              <a:t>An event source is an object that can notify other classes of events.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ActionListener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an interface that MUST be implemented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a class.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MouseListener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an interface that declares the mouse functions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listed in the first bullet.</a:t>
            </a:r>
            <a:endParaRPr lang="en-US" dirty="0"/>
          </a:p>
          <a:p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FC38695-F9AA-4AB6-ADD1-ED6500CD0BFF}" type="slidenum">
              <a:rPr lang="en-US" smtClean="0">
                <a:latin typeface="Calibri" pitchFamily="34" charset="0"/>
              </a:rPr>
              <a:pPr eaLnBrk="1" hangingPunct="1"/>
              <a:t>4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478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Animated to walk through the idea of events being generated</a:t>
            </a:r>
            <a:r>
              <a:rPr lang="en-US" baseline="0" dirty="0"/>
              <a:t> and then Listeners which can be registered to them.</a:t>
            </a:r>
          </a:p>
          <a:p>
            <a:pPr marL="228600" indent="-228600">
              <a:buAutoNum type="arabicPeriod"/>
            </a:pPr>
            <a:r>
              <a:rPr lang="en-US" baseline="0" dirty="0"/>
              <a:t>If we do not register/attach our listener to an event source, then nothing happens</a:t>
            </a:r>
          </a:p>
          <a:p>
            <a:pPr marL="228600" indent="-228600">
              <a:buAutoNum type="arabicPeriod"/>
            </a:pPr>
            <a:r>
              <a:rPr lang="en-US" baseline="0" dirty="0"/>
              <a:t>We have to decide what happens when our listener is triggered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7F4447-3C62-46B7-AE80-9244D33714A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7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animated and offers a chance to show how what</a:t>
            </a:r>
            <a:r>
              <a:rPr lang="en-US" baseline="0" dirty="0"/>
              <a:t> is happening conceptually in the code connects to the code that causes it.</a:t>
            </a:r>
          </a:p>
          <a:p>
            <a:r>
              <a:rPr lang="en-US" baseline="0" dirty="0"/>
              <a:t>This could be used before live coding or after if desired to review what was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7F4447-3C62-46B7-AE80-9244D33714A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40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reminder to do the</a:t>
            </a:r>
            <a:r>
              <a:rPr lang="en-US" baseline="0" dirty="0"/>
              <a:t> first part only (external listener) of </a:t>
            </a:r>
            <a:r>
              <a:rPr lang="en-US" baseline="0" dirty="0" err="1"/>
              <a:t>BreakfastMain.java</a:t>
            </a:r>
            <a:r>
              <a:rPr lang="en-US" baseline="0" dirty="0"/>
              <a:t> in the slides package.</a:t>
            </a:r>
          </a:p>
          <a:p>
            <a:endParaRPr lang="en-US" baseline="0" dirty="0"/>
          </a:p>
          <a:p>
            <a:r>
              <a:rPr lang="en-US" baseline="0" dirty="0"/>
              <a:t>Might want to demo how to have the button update the frame’s title (by passing in the frame to the listener’s constructor and calling back).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7F4447-3C62-46B7-AE80-9244D33714A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60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will try to add multiple Buttons to the Frame and wonder where they went. </a:t>
            </a:r>
          </a:p>
          <a:p>
            <a:r>
              <a:rPr lang="en-US" dirty="0"/>
              <a:t>Let them do this for just a minute or two before you show them about </a:t>
            </a:r>
            <a:r>
              <a:rPr lang="en-US" dirty="0" err="1"/>
              <a:t>JPanels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7F4447-3C62-46B7-AE80-9244D33714A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34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/>
              <a:t>DRAW N,S,E,W,CENTER on board or use next slide</a:t>
            </a:r>
          </a:p>
          <a:p>
            <a:r>
              <a:rPr lang="en-US" b="1" dirty="0"/>
              <a:t>Q</a:t>
            </a:r>
            <a:r>
              <a:rPr lang="en-US" baseline="0" dirty="0"/>
              <a:t> How many components can be added to a JFrame?</a:t>
            </a:r>
          </a:p>
          <a:p>
            <a:r>
              <a:rPr lang="en-US" dirty="0"/>
              <a:t>  	</a:t>
            </a:r>
            <a:r>
              <a:rPr lang="en-US" dirty="0" err="1"/>
              <a:t>BorderLayout.NORTH</a:t>
            </a:r>
            <a:r>
              <a:rPr lang="en-US" dirty="0"/>
              <a:t>, </a:t>
            </a:r>
            <a:r>
              <a:rPr lang="en-US" dirty="0" err="1"/>
              <a:t>BorderLayout.SOUTH</a:t>
            </a:r>
            <a:r>
              <a:rPr lang="en-US" dirty="0"/>
              <a:t>, </a:t>
            </a:r>
            <a:r>
              <a:rPr lang="en-US" dirty="0" err="1"/>
              <a:t>BorderLayout.EAST</a:t>
            </a:r>
            <a:r>
              <a:rPr lang="en-US" dirty="0"/>
              <a:t>, </a:t>
            </a:r>
            <a:r>
              <a:rPr lang="en-US" dirty="0" err="1"/>
              <a:t>BorderLayout.WEST</a:t>
            </a:r>
            <a:r>
              <a:rPr lang="en-US" dirty="0"/>
              <a:t>, </a:t>
            </a:r>
            <a:r>
              <a:rPr lang="en-US" dirty="0" err="1"/>
              <a:t>BorderLayout.CENTER</a:t>
            </a:r>
            <a:r>
              <a:rPr lang="en-US" baseline="0" dirty="0"/>
              <a:t> = 5</a:t>
            </a:r>
          </a:p>
          <a:p>
            <a:endParaRPr lang="en-US" baseline="0" dirty="0"/>
          </a:p>
          <a:p>
            <a:r>
              <a:rPr lang="en-US" b="1" baseline="0" dirty="0"/>
              <a:t>Q</a:t>
            </a:r>
            <a:r>
              <a:rPr lang="en-US" baseline="0" dirty="0"/>
              <a:t> What about a </a:t>
            </a:r>
            <a:r>
              <a:rPr lang="en-US" baseline="0" dirty="0" err="1"/>
              <a:t>JPanel</a:t>
            </a:r>
            <a:r>
              <a:rPr lang="en-US" baseline="0" dirty="0"/>
              <a:t>, how many components can be added to it?</a:t>
            </a:r>
          </a:p>
          <a:p>
            <a:r>
              <a:rPr lang="en-US" baseline="0" dirty="0"/>
              <a:t>	</a:t>
            </a:r>
            <a:r>
              <a:rPr lang="en-US" baseline="0" dirty="0" err="1"/>
              <a:t>JPanel</a:t>
            </a:r>
            <a:r>
              <a:rPr lang="en-US" baseline="0" dirty="0"/>
              <a:t> can hold as many as we want.</a:t>
            </a:r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2DC7C6A-C3CD-4A88-B33A-F669CAD861D4}" type="slidenum">
              <a:rPr lang="en-US" smtClean="0">
                <a:latin typeface="Calibri" pitchFamily="34" charset="0"/>
              </a:rPr>
              <a:pPr eaLnBrk="1" hangingPunct="1"/>
              <a:t>9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325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7F4447-3C62-46B7-AE80-9244D33714A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57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will try to add multiple Buttons to the Frame and wonder where they went. </a:t>
            </a:r>
          </a:p>
          <a:p>
            <a:r>
              <a:rPr lang="en-US" dirty="0"/>
              <a:t>Let them do this for just a minute or two before you show them about </a:t>
            </a:r>
            <a:r>
              <a:rPr lang="en-US" dirty="0" err="1"/>
              <a:t>JPanels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7F4447-3C62-46B7-AE80-9244D33714A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80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7F4447-3C62-46B7-AE80-9244D33714A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86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Implement draw listener for adding squares/circles to </a:t>
            </a:r>
            <a:r>
              <a:rPr lang="en-US" dirty="0" err="1"/>
              <a:t>DrawComponent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F9B7CFB-6836-4C08-8E83-F985244DBB2C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2279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- User decides which actions to take</a:t>
            </a:r>
          </a:p>
          <a:p>
            <a:r>
              <a:rPr lang="en-US"/>
              <a:t>- Library decides when to update window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004A8EF-C486-46F4-BD1E-89E21A0B62AF}" type="slidenum">
              <a:rPr lang="en-US" smtClean="0">
                <a:latin typeface="Calibri" pitchFamily="34" charset="0"/>
              </a:rPr>
              <a:pPr eaLnBrk="1" hangingPunct="1"/>
              <a:t>16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521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Get ideas for adding buttons to </a:t>
            </a:r>
            <a:r>
              <a:rPr lang="en-US" dirty="0" err="1"/>
              <a:t>JPanel</a:t>
            </a:r>
            <a:r>
              <a:rPr lang="en-US" dirty="0"/>
              <a:t>, then adding </a:t>
            </a:r>
            <a:r>
              <a:rPr lang="en-US" dirty="0" err="1"/>
              <a:t>JPanel</a:t>
            </a:r>
            <a:r>
              <a:rPr lang="en-US" dirty="0"/>
              <a:t> to the SOUTH of the JFrame.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AA02EF9-B5B3-43AE-A787-51069249C771}" type="slidenum">
              <a:rPr lang="en-US" smtClean="0">
                <a:latin typeface="Calibri" pitchFamily="34" charset="0"/>
              </a:rPr>
              <a:pPr eaLnBrk="1" hangingPunct="1"/>
              <a:t>17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115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Edit previous example: add an inner class, </a:t>
            </a:r>
            <a:r>
              <a:rPr lang="en-US" dirty="0" err="1"/>
              <a:t>MamaBearListener</a:t>
            </a:r>
            <a:r>
              <a:rPr lang="en-US" dirty="0"/>
              <a:t> that prints “</a:t>
            </a:r>
            <a:r>
              <a:rPr lang="en-US" dirty="0" err="1"/>
              <a:t>Eww</a:t>
            </a:r>
            <a:r>
              <a:rPr lang="en-US" dirty="0"/>
              <a:t>, too Cold!”  (Don’t include </a:t>
            </a:r>
            <a:r>
              <a:rPr lang="en-US" dirty="0" err="1"/>
              <a:t>tasteDescription</a:t>
            </a:r>
            <a:r>
              <a:rPr lang="en-US" dirty="0"/>
              <a:t>, let them do that</a:t>
            </a:r>
            <a:r>
              <a:rPr lang="en-US" baseline="0" dirty="0"/>
              <a:t> later.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STRESS TO THE STUDENTS that Java 8 messes</a:t>
            </a:r>
            <a:r>
              <a:rPr lang="en-US" baseline="0" dirty="0"/>
              <a:t> up the whole idea about inner class variables…  We will be testing this on the exam, and if they use Java 8, they can REALLY mess this up.</a:t>
            </a:r>
            <a:endParaRPr 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28600FF-8F5B-4891-B021-FE5486D2647C}" type="slidenum">
              <a:rPr lang="en-US" smtClean="0">
                <a:latin typeface="Calibri" pitchFamily="34" charset="0"/>
              </a:rPr>
              <a:pPr eaLnBrk="1" hangingPunct="1"/>
              <a:t>18</a:t>
            </a:fld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530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Edit example again: add an anonymous class, print “Hmm.  Just right.”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B668F83-E173-4489-B2D7-77F2A29982C9}" type="slidenum">
              <a:rPr lang="en-US" smtClean="0">
                <a:latin typeface="Calibri" pitchFamily="34" charset="0"/>
              </a:rPr>
              <a:pPr eaLnBrk="1" hangingPunct="1"/>
              <a:t>19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81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Finish last TODO in </a:t>
            </a:r>
            <a:r>
              <a:rPr lang="en-US" dirty="0" err="1"/>
              <a:t>BreakfastMain</a:t>
            </a:r>
            <a:r>
              <a:rPr lang="en-US" dirty="0"/>
              <a:t> – </a:t>
            </a:r>
            <a:r>
              <a:rPr lang="en-US" dirty="0" err="1"/>
              <a:t>tasteDescription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JOptionPane.</a:t>
            </a:r>
            <a:r>
              <a:rPr lang="en-US" sz="18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showInputDialog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"What does the porridge taste like? "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E305874-8EC8-4203-879E-451F23F557DF}" type="slidenum">
              <a:rPr lang="en-US" smtClean="0">
                <a:latin typeface="Calibri" pitchFamily="34" charset="0"/>
              </a:rPr>
              <a:pPr eaLnBrk="1" hangingPunct="1"/>
              <a:t>20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03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152615B-A2F2-486D-B448-77187DEA0D68}" type="slidenum">
              <a:rPr lang="en-US" smtClean="0">
                <a:latin typeface="Calibri" pitchFamily="34" charset="0"/>
              </a:rPr>
              <a:pPr eaLnBrk="1" hangingPunct="1"/>
              <a:t>21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837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11D986-7C14-4C13-8545-E479D37A1C3D}" type="datetime2">
              <a:rPr lang="en-US" smtClean="0"/>
              <a:pPr>
                <a:defRPr/>
              </a:pPr>
              <a:t>Monday, October 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9BA60D-6A71-46A5-8D20-231BF6D014B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31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BCE2D4-A2BF-4BEC-BE5D-0CF61DA97AF2}" type="datetime2">
              <a:rPr lang="en-US" smtClean="0"/>
              <a:pPr>
                <a:defRPr/>
              </a:pPr>
              <a:t>Monday, October 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96BF8A-A3AF-4BE7-81D4-DFE4F5A487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6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33CDD0-23FC-4A33-892A-0D3CBDD25183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EC1F1F-6CEB-4F05-A73F-1AB8DD6A685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2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64A174-5921-46F7-A48F-B82AB6D18B06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8BD886-D694-4446-94F5-150D163E36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0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83EDBD-4E4A-4BB0-BC5E-B06C392D6289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64C682-E34A-4F7C-9EAD-01FBD6161C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23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6166F6-E270-4C9F-86B9-3DBCBB826508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D20CB-09CD-471C-940D-62B71E7DBC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372A06-2A06-4FCD-AE48-DDE667A5944F}" type="datetime2">
              <a:rPr lang="en-US" smtClean="0"/>
              <a:pPr>
                <a:defRPr/>
              </a:pPr>
              <a:t>Monday, October 6,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40D83C-6418-4ED0-A5BB-23ADFFC840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6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B0C0F-9809-4923-B4DA-1D0FB14A3C4D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D8E04D-A2C1-47DD-A267-D84D399F08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0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53764D-08CF-46AE-B75D-122F9FF492FC}" type="datetime2">
              <a:rPr lang="en-US" smtClean="0"/>
              <a:pPr>
                <a:defRPr/>
              </a:pPr>
              <a:t>Monday, October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CE2B06-86E8-44C2-98D1-83D7BA3A08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2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F6BFA-F3E1-4AAC-A83B-D034B1EFEEE6}" type="datetime2">
              <a:rPr lang="en-US" smtClean="0"/>
              <a:pPr>
                <a:defRPr/>
              </a:pPr>
              <a:t>Monday, October 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F5E6CB-E0C8-429F-8AFD-7862700D27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286FE8-D373-40F3-BF90-0EFFBEF099F0}" type="datetime2">
              <a:rPr lang="en-US" smtClean="0"/>
              <a:pPr>
                <a:defRPr/>
              </a:pPr>
              <a:t>Monday, October 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DE33E8-62E7-4094-A67A-82B5F590FA8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8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F0A7DD2-62DE-4A10-98EA-F6A99BDC9CC7}" type="datetime2">
              <a:rPr lang="en-US" smtClean="0"/>
              <a:pPr>
                <a:defRPr/>
              </a:pPr>
              <a:t>Monday, October 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BA2FEE7-9B26-4106-9CAC-FFC69B0916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7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4" r:id="rId1"/>
    <p:sldLayoutId id="2147484235" r:id="rId2"/>
    <p:sldLayoutId id="2147484236" r:id="rId3"/>
    <p:sldLayoutId id="2147484237" r:id="rId4"/>
    <p:sldLayoutId id="2147484238" r:id="rId5"/>
    <p:sldLayoutId id="2147484239" r:id="rId6"/>
    <p:sldLayoutId id="2147484240" r:id="rId7"/>
    <p:sldLayoutId id="2147484241" r:id="rId8"/>
    <p:sldLayoutId id="2147484242" r:id="rId9"/>
    <p:sldLayoutId id="2147484243" r:id="rId10"/>
    <p:sldLayoutId id="214748424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Event-Based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chemeClr val="accent2"/>
                </a:solidFill>
              </a:rPr>
              <a:t>Graphical User Interfaces (GUIs) </a:t>
            </a:r>
            <a:r>
              <a:rPr lang="en-US" dirty="0"/>
              <a:t>in Java</a:t>
            </a:r>
          </a:p>
        </p:txBody>
      </p:sp>
      <p:sp>
        <p:nvSpPr>
          <p:cNvPr id="12290" name="Content Placeholder 4"/>
          <p:cNvSpPr>
            <a:spLocks noGrp="1"/>
          </p:cNvSpPr>
          <p:nvPr>
            <p:ph idx="1"/>
          </p:nvPr>
        </p:nvSpPr>
        <p:spPr>
          <a:xfrm>
            <a:off x="0" y="1481138"/>
            <a:ext cx="8534400" cy="4525962"/>
          </a:xfrm>
        </p:spPr>
        <p:txBody>
          <a:bodyPr>
            <a:normAutofit/>
          </a:bodyPr>
          <a:lstStyle/>
          <a:p>
            <a:r>
              <a:rPr lang="en-US" dirty="0"/>
              <a:t>We write code to tell Java what to draw</a:t>
            </a:r>
          </a:p>
          <a:p>
            <a:endParaRPr lang="en-US" dirty="0"/>
          </a:p>
          <a:p>
            <a:r>
              <a:rPr lang="en-US" dirty="0"/>
              <a:t>Java windowing library:</a:t>
            </a:r>
          </a:p>
          <a:p>
            <a:pPr lvl="1"/>
            <a:r>
              <a:rPr lang="en-US" dirty="0"/>
              <a:t>Draws it</a:t>
            </a:r>
          </a:p>
          <a:p>
            <a:pPr lvl="1"/>
            <a:r>
              <a:rPr lang="en-US" dirty="0"/>
              <a:t>Gets user input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Calls back </a:t>
            </a:r>
            <a:r>
              <a:rPr lang="en-US" dirty="0"/>
              <a:t>to us with </a:t>
            </a:r>
            <a:r>
              <a:rPr lang="en-US" dirty="0">
                <a:solidFill>
                  <a:schemeClr val="accent2"/>
                </a:solidFill>
              </a:rPr>
              <a:t>events</a:t>
            </a:r>
          </a:p>
          <a:p>
            <a:endParaRPr lang="en-US" dirty="0"/>
          </a:p>
          <a:p>
            <a:r>
              <a:rPr lang="en-US" dirty="0"/>
              <a:t>Our code </a:t>
            </a:r>
            <a:r>
              <a:rPr lang="en-US" dirty="0">
                <a:solidFill>
                  <a:schemeClr val="accent2"/>
                </a:solidFill>
              </a:rPr>
              <a:t>handles</a:t>
            </a:r>
            <a:r>
              <a:rPr lang="en-US" dirty="0"/>
              <a:t> events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HW9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Pair Programming (optional, but strongly encouraged) assignment</a:t>
            </a:r>
          </a:p>
          <a:p>
            <a:r>
              <a:rPr lang="en-US" dirty="0"/>
              <a:t>Two stages</a:t>
            </a:r>
          </a:p>
          <a:p>
            <a:pPr lvl="1"/>
            <a:r>
              <a:rPr lang="en-US" dirty="0"/>
              <a:t>Part 1: Ball Strike Counter (manual)</a:t>
            </a:r>
          </a:p>
          <a:p>
            <a:pPr lvl="1"/>
            <a:r>
              <a:rPr lang="en-US" dirty="0"/>
              <a:t>Part 2: Linear Lights Out (UML designs, </a:t>
            </a:r>
            <a:r>
              <a:rPr lang="en-US" dirty="0" err="1"/>
              <a:t>genAI</a:t>
            </a:r>
            <a:r>
              <a:rPr lang="en-US" dirty="0"/>
              <a:t> implementation help, report with reflection)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231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Handling Events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Many kinds of events:</a:t>
            </a:r>
          </a:p>
          <a:p>
            <a:pPr lvl="1">
              <a:defRPr/>
            </a:pPr>
            <a:r>
              <a:rPr lang="en-US" dirty="0"/>
              <a:t>Mouse pressed, mouse released, mouse moved, mouse clicked, button clicked, key pressed, menu item selected, …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We create </a:t>
            </a:r>
            <a:r>
              <a:rPr lang="en-US" b="1" dirty="0">
                <a:solidFill>
                  <a:schemeClr val="accent3"/>
                </a:solidFill>
              </a:rPr>
              <a:t>event listener objects   </a:t>
            </a:r>
          </a:p>
          <a:p>
            <a:pPr lvl="1">
              <a:defRPr/>
            </a:pPr>
            <a:r>
              <a:rPr lang="en-US" dirty="0"/>
              <a:t>that implement the right </a:t>
            </a:r>
            <a:r>
              <a:rPr lang="en-US" b="1" dirty="0"/>
              <a:t>interface</a:t>
            </a:r>
          </a:p>
          <a:p>
            <a:pPr lvl="1">
              <a:defRPr/>
            </a:pPr>
            <a:r>
              <a:rPr lang="en-US" dirty="0"/>
              <a:t>that handle the event as we wish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We </a:t>
            </a:r>
            <a:r>
              <a:rPr lang="en-US" b="1" dirty="0">
                <a:solidFill>
                  <a:schemeClr val="accent3"/>
                </a:solidFill>
              </a:rPr>
              <a:t>register</a:t>
            </a:r>
            <a:r>
              <a:rPr lang="en-US" dirty="0"/>
              <a:t> our listener with an </a:t>
            </a:r>
            <a:r>
              <a:rPr lang="en-US" b="1" dirty="0">
                <a:solidFill>
                  <a:schemeClr val="accent3"/>
                </a:solidFill>
              </a:rPr>
              <a:t>event source</a:t>
            </a:r>
          </a:p>
          <a:p>
            <a:pPr lvl="1">
              <a:defRPr/>
            </a:pPr>
            <a:r>
              <a:rPr lang="en-US" dirty="0"/>
              <a:t>Sources: buttons, menu items, graphics area, …</a:t>
            </a:r>
          </a:p>
        </p:txBody>
      </p:sp>
      <p:pic>
        <p:nvPicPr>
          <p:cNvPr id="5" name="Picture 2" descr="Image result for e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224" y="28194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6171013" y="3749040"/>
            <a:ext cx="5329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8992" y="561110"/>
            <a:ext cx="2743200" cy="1143000"/>
          </a:xfrm>
        </p:spPr>
        <p:txBody>
          <a:bodyPr/>
          <a:lstStyle/>
          <a:p>
            <a:r>
              <a:rPr lang="en-US" dirty="0"/>
              <a:t>Events</a:t>
            </a:r>
          </a:p>
        </p:txBody>
      </p:sp>
      <p:sp>
        <p:nvSpPr>
          <p:cNvPr id="4" name="Explosion 1 3"/>
          <p:cNvSpPr/>
          <p:nvPr/>
        </p:nvSpPr>
        <p:spPr>
          <a:xfrm>
            <a:off x="3536098" y="1897777"/>
            <a:ext cx="533400" cy="685800"/>
          </a:xfrm>
          <a:prstGeom prst="irregularSeal1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xplosion 1 4"/>
          <p:cNvSpPr/>
          <p:nvPr/>
        </p:nvSpPr>
        <p:spPr>
          <a:xfrm>
            <a:off x="4231888" y="1914875"/>
            <a:ext cx="533400" cy="685800"/>
          </a:xfrm>
          <a:prstGeom prst="irregularSeal1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xplosion 1 5"/>
          <p:cNvSpPr/>
          <p:nvPr/>
        </p:nvSpPr>
        <p:spPr>
          <a:xfrm>
            <a:off x="4904678" y="1914875"/>
            <a:ext cx="533400" cy="685800"/>
          </a:xfrm>
          <a:prstGeom prst="irregularSeal1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xplosion 1 6"/>
          <p:cNvSpPr/>
          <p:nvPr/>
        </p:nvSpPr>
        <p:spPr>
          <a:xfrm>
            <a:off x="3497533" y="3069094"/>
            <a:ext cx="533400" cy="685800"/>
          </a:xfrm>
          <a:prstGeom prst="irregularSeal1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xplosion 1 7"/>
          <p:cNvSpPr/>
          <p:nvPr/>
        </p:nvSpPr>
        <p:spPr>
          <a:xfrm>
            <a:off x="4208423" y="3058374"/>
            <a:ext cx="533400" cy="685800"/>
          </a:xfrm>
          <a:prstGeom prst="irregularSeal1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xplosion 1 8"/>
          <p:cNvSpPr/>
          <p:nvPr/>
        </p:nvSpPr>
        <p:spPr>
          <a:xfrm>
            <a:off x="4916525" y="3069094"/>
            <a:ext cx="533400" cy="685800"/>
          </a:xfrm>
          <a:prstGeom prst="irregularSeal1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xplosion 1 9"/>
          <p:cNvSpPr/>
          <p:nvPr/>
        </p:nvSpPr>
        <p:spPr>
          <a:xfrm>
            <a:off x="3480573" y="4362763"/>
            <a:ext cx="533400" cy="6858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xplosion 1 11"/>
          <p:cNvSpPr/>
          <p:nvPr/>
        </p:nvSpPr>
        <p:spPr>
          <a:xfrm>
            <a:off x="4206333" y="4337077"/>
            <a:ext cx="533400" cy="6858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xplosion 1 12"/>
          <p:cNvSpPr/>
          <p:nvPr/>
        </p:nvSpPr>
        <p:spPr>
          <a:xfrm>
            <a:off x="4904678" y="4337077"/>
            <a:ext cx="533400" cy="6858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76586" y="196425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569" y="3124723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937" y="4444053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Keyboard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074127" y="4515163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2084349" y="3210774"/>
            <a:ext cx="838200" cy="381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2124772" y="2055999"/>
            <a:ext cx="838200" cy="38100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 descr="Image result for ea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151" y="3085127"/>
            <a:ext cx="821394" cy="82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itle 1"/>
          <p:cNvSpPr txBox="1">
            <a:spLocks/>
          </p:cNvSpPr>
          <p:nvPr/>
        </p:nvSpPr>
        <p:spPr>
          <a:xfrm>
            <a:off x="-400980" y="710724"/>
            <a:ext cx="294485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Event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Sources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6019800" y="561110"/>
            <a:ext cx="274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Event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Listeners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1463" y="3738138"/>
            <a:ext cx="15242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ActionEvents</a:t>
            </a:r>
            <a:endParaRPr lang="en-US" dirty="0"/>
          </a:p>
          <a:p>
            <a:endParaRPr lang="en-US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3631348" y="2535277"/>
            <a:ext cx="1734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MouseEvents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790717" y="4941625"/>
            <a:ext cx="130004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KeyEvents</a:t>
            </a:r>
            <a:endParaRPr lang="en-US" dirty="0"/>
          </a:p>
          <a:p>
            <a:endParaRPr lang="en-US" sz="2800" dirty="0"/>
          </a:p>
        </p:txBody>
      </p:sp>
      <p:sp>
        <p:nvSpPr>
          <p:cNvPr id="28" name="TextBox 27"/>
          <p:cNvSpPr txBox="1"/>
          <p:nvPr/>
        </p:nvSpPr>
        <p:spPr>
          <a:xfrm>
            <a:off x="6846271" y="2594953"/>
            <a:ext cx="214002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ActionListener</a:t>
            </a:r>
            <a:endParaRPr lang="en-US" dirty="0"/>
          </a:p>
          <a:p>
            <a:endParaRPr lang="en-US" sz="2800" dirty="0"/>
          </a:p>
        </p:txBody>
      </p:sp>
      <p:sp>
        <p:nvSpPr>
          <p:cNvPr id="29" name="TextBox 28"/>
          <p:cNvSpPr txBox="1"/>
          <p:nvPr/>
        </p:nvSpPr>
        <p:spPr>
          <a:xfrm>
            <a:off x="6978341" y="4896163"/>
            <a:ext cx="178465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KeyListener</a:t>
            </a:r>
            <a:r>
              <a:rPr lang="en-US" dirty="0"/>
              <a:t>)</a:t>
            </a:r>
          </a:p>
          <a:p>
            <a:endParaRPr 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6467594" y="1858422"/>
            <a:ext cx="215648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MouseListener</a:t>
            </a:r>
            <a:r>
              <a:rPr lang="en-US" dirty="0"/>
              <a:t>)</a:t>
            </a:r>
          </a:p>
          <a:p>
            <a:endParaRPr lang="en-US" sz="2800" dirty="0"/>
          </a:p>
        </p:txBody>
      </p:sp>
      <p:sp>
        <p:nvSpPr>
          <p:cNvPr id="33" name="Lightning Bolt 32"/>
          <p:cNvSpPr/>
          <p:nvPr/>
        </p:nvSpPr>
        <p:spPr>
          <a:xfrm>
            <a:off x="7960345" y="3021304"/>
            <a:ext cx="663730" cy="867220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Arrow 34"/>
          <p:cNvSpPr/>
          <p:nvPr/>
        </p:nvSpPr>
        <p:spPr>
          <a:xfrm>
            <a:off x="5616801" y="3297718"/>
            <a:ext cx="1009349" cy="294056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73890" y="3006757"/>
            <a:ext cx="119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Register</a:t>
            </a:r>
            <a:r>
              <a:rPr lang="en-US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38" name="Left Arrow 37"/>
          <p:cNvSpPr/>
          <p:nvPr/>
        </p:nvSpPr>
        <p:spPr>
          <a:xfrm flipH="1">
            <a:off x="7416345" y="3292010"/>
            <a:ext cx="642689" cy="29976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51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6" grpId="0"/>
      <p:bldP spid="17" grpId="0"/>
      <p:bldP spid="18" grpId="0"/>
      <p:bldP spid="19" grpId="0" animBg="1"/>
      <p:bldP spid="20" grpId="0" animBg="1"/>
      <p:bldP spid="21" grpId="0" animBg="1"/>
      <p:bldP spid="25" grpId="0"/>
      <p:bldP spid="26" grpId="0"/>
      <p:bldP spid="27" grpId="0"/>
      <p:bldP spid="28" grpId="0"/>
      <p:bldP spid="29" grpId="0"/>
      <p:bldP spid="30" grpId="0"/>
      <p:bldP spid="33" grpId="0" animBg="1"/>
      <p:bldP spid="35" grpId="0" animBg="1"/>
      <p:bldP spid="37" grpId="0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634"/>
            <a:ext cx="8229600" cy="51243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Simple Interactive GUI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3" y="657836"/>
            <a:ext cx="6349690" cy="62226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1. Create JFrame   </a:t>
            </a:r>
            <a:r>
              <a:rPr lang="en-US" sz="2000" i="1" dirty="0"/>
              <a:t>(Needs additional configuration)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2. Create </a:t>
            </a:r>
            <a:r>
              <a:rPr lang="en-US" sz="2000" dirty="0" err="1"/>
              <a:t>JButton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i="1" dirty="0"/>
              <a:t>(</a:t>
            </a:r>
            <a:r>
              <a:rPr lang="en-US" sz="2000" i="1" dirty="0" err="1"/>
              <a:t>JButton</a:t>
            </a:r>
            <a:r>
              <a:rPr lang="en-US" sz="2000" i="1" dirty="0"/>
              <a:t> initially untethered and invisible)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3. Add </a:t>
            </a:r>
            <a:r>
              <a:rPr lang="en-US" sz="2000" dirty="0" err="1"/>
              <a:t>JButton</a:t>
            </a:r>
            <a:r>
              <a:rPr lang="en-US" sz="2000" dirty="0"/>
              <a:t> to JFrame  (Can also be added to a </a:t>
            </a:r>
            <a:r>
              <a:rPr lang="en-US" sz="2000" dirty="0" err="1"/>
              <a:t>JPanel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4. Create </a:t>
            </a:r>
            <a:r>
              <a:rPr lang="en-US" sz="2000" dirty="0" err="1"/>
              <a:t>ActionListener</a:t>
            </a:r>
            <a:r>
              <a:rPr lang="en-US" sz="2000" dirty="0"/>
              <a:t>  (must code what it does) </a:t>
            </a:r>
          </a:p>
          <a:p>
            <a:pPr marL="0" indent="0">
              <a:buNone/>
            </a:pPr>
            <a:r>
              <a:rPr lang="en-US" sz="2000" dirty="0"/>
              <a:t>(Not connected to </a:t>
            </a:r>
            <a:r>
              <a:rPr lang="en-US" sz="2000" dirty="0" err="1"/>
              <a:t>JButton</a:t>
            </a:r>
            <a:r>
              <a:rPr lang="en-US" sz="2000" dirty="0"/>
              <a:t>, does nothing!)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5. Attach </a:t>
            </a:r>
            <a:r>
              <a:rPr lang="en-US" sz="2000" dirty="0" err="1"/>
              <a:t>ActionListener</a:t>
            </a:r>
            <a:r>
              <a:rPr lang="en-US" sz="2000" dirty="0"/>
              <a:t> to </a:t>
            </a:r>
            <a:r>
              <a:rPr lang="en-US" sz="2000" dirty="0" err="1"/>
              <a:t>JButton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289" y="3358655"/>
            <a:ext cx="2526175" cy="8161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3503"/>
          <a:stretch/>
        </p:blipFill>
        <p:spPr>
          <a:xfrm>
            <a:off x="6283306" y="894586"/>
            <a:ext cx="2580598" cy="6858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1595" y="5715173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3717" y="581636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-27878" y="1638040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5576" y="3187826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1151" y="4189483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Image result for ea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982881"/>
            <a:ext cx="821394" cy="82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406" y="5912979"/>
            <a:ext cx="2526175" cy="816149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H="1">
            <a:off x="6516917" y="6363338"/>
            <a:ext cx="750425" cy="15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Image result for ea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728" y="4670341"/>
            <a:ext cx="821394" cy="82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t="3503"/>
          <a:stretch/>
        </p:blipFill>
        <p:spPr>
          <a:xfrm>
            <a:off x="6068849" y="1771894"/>
            <a:ext cx="2580598" cy="6858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/>
          <a:srcRect l="37003" t="46585" r="35319" b="17170"/>
          <a:stretch/>
        </p:blipFill>
        <p:spPr>
          <a:xfrm>
            <a:off x="6713731" y="2561454"/>
            <a:ext cx="1032110" cy="43666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866" y="4713516"/>
            <a:ext cx="2526175" cy="816149"/>
          </a:xfrm>
          <a:prstGeom prst="rect">
            <a:avLst/>
          </a:prstGeom>
        </p:spPr>
      </p:pic>
      <p:sp>
        <p:nvSpPr>
          <p:cNvPr id="26" name="Multiply 25"/>
          <p:cNvSpPr/>
          <p:nvPr/>
        </p:nvSpPr>
        <p:spPr>
          <a:xfrm>
            <a:off x="8381276" y="4802790"/>
            <a:ext cx="536342" cy="556496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ultiply 27"/>
          <p:cNvSpPr/>
          <p:nvPr/>
        </p:nvSpPr>
        <p:spPr>
          <a:xfrm>
            <a:off x="7065056" y="2607903"/>
            <a:ext cx="329460" cy="441565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xplosion 1 28"/>
          <p:cNvSpPr/>
          <p:nvPr/>
        </p:nvSpPr>
        <p:spPr>
          <a:xfrm>
            <a:off x="8311455" y="5875436"/>
            <a:ext cx="832545" cy="902169"/>
          </a:xfrm>
          <a:prstGeom prst="irregularSeal1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7750190" y="6323194"/>
            <a:ext cx="5160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161" y="1147868"/>
            <a:ext cx="625914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JFrame frame = new JFrame(“Breakfast for Goldilocks”);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27" y="2666296"/>
            <a:ext cx="539287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JButton</a:t>
            </a:r>
            <a:r>
              <a:rPr lang="en-US" sz="1600" dirty="0">
                <a:latin typeface="Consolas" panose="020B0609020204030204" pitchFamily="49" charset="0"/>
              </a:rPr>
              <a:t> button = new </a:t>
            </a:r>
            <a:r>
              <a:rPr lang="en-US" sz="1600" dirty="0" err="1">
                <a:latin typeface="Consolas" panose="020B0609020204030204" pitchFamily="49" charset="0"/>
              </a:rPr>
              <a:t>JButton</a:t>
            </a:r>
            <a:r>
              <a:rPr lang="en-US" sz="1600" dirty="0">
                <a:latin typeface="Consolas" panose="020B0609020204030204" pitchFamily="49" charset="0"/>
              </a:rPr>
              <a:t>(“Eat Porridge”);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394" y="3730985"/>
            <a:ext cx="271900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frame.add</a:t>
            </a:r>
            <a:r>
              <a:rPr lang="en-US" sz="1600" dirty="0">
                <a:latin typeface="Consolas" panose="020B0609020204030204" pitchFamily="49" charset="0"/>
              </a:rPr>
              <a:t>( button 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27853" y="5193783"/>
            <a:ext cx="478739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ActionListener</a:t>
            </a:r>
            <a:r>
              <a:rPr lang="en-US" sz="1600" dirty="0">
                <a:latin typeface="Consolas" panose="020B0609020204030204" pitchFamily="49" charset="0"/>
              </a:rPr>
              <a:t> ear = new </a:t>
            </a:r>
            <a:r>
              <a:rPr lang="en-US" sz="1600" dirty="0" err="1">
                <a:latin typeface="Consolas" panose="020B0609020204030204" pitchFamily="49" charset="0"/>
              </a:rPr>
              <a:t>MyListener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379" y="6283963"/>
            <a:ext cx="378724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button.addActionListener</a:t>
            </a:r>
            <a:r>
              <a:rPr lang="en-US" sz="1600" dirty="0">
                <a:latin typeface="Consolas" panose="020B0609020204030204" pitchFamily="49" charset="0"/>
              </a:rPr>
              <a:t>( ear );</a:t>
            </a:r>
          </a:p>
        </p:txBody>
      </p:sp>
    </p:spTree>
    <p:extLst>
      <p:ext uri="{BB962C8B-B14F-4D97-AF65-F5344CB8AC3E}">
        <p14:creationId xmlns:p14="http://schemas.microsoft.com/office/powerpoint/2010/main" val="372348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  <p:bldP spid="34" grpId="0" animBg="1"/>
      <p:bldP spid="36" grpId="0" animBg="1"/>
      <p:bldP spid="25" grpId="0" animBg="1"/>
      <p:bldP spid="27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Breakfast with Goldilocks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have trouble importing ActionListener </a:t>
            </a:r>
          </a:p>
          <a:p>
            <a:pPr marL="0" indent="0">
              <a:buNone/>
            </a:pPr>
            <a:r>
              <a:rPr lang="en-US" dirty="0"/>
              <a:t>(inside BreakfastMain.java) with the auto-suggested fix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The simplest solution seems to be to use the shortcut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b="1" dirty="0"/>
              <a:t>ctrl + shift + 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which appears to work for everyone.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36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Activity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pairs or individually</a:t>
            </a:r>
          </a:p>
          <a:p>
            <a:r>
              <a:rPr lang="en-US" dirty="0"/>
              <a:t>Look at the code in the capitalization example</a:t>
            </a:r>
          </a:p>
          <a:p>
            <a:r>
              <a:rPr lang="en-US" dirty="0"/>
              <a:t>Then solve the </a:t>
            </a:r>
            <a:r>
              <a:rPr lang="en-US" dirty="0" err="1"/>
              <a:t>addLettersProblem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Get buttons and text to show up FIRST!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4297363"/>
            <a:ext cx="4855029" cy="18288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F7A03A-D4BB-3D42-8605-4A3FAB3B14A7}"/>
              </a:ext>
            </a:extLst>
          </p:cNvPr>
          <p:cNvSpPr/>
          <p:nvPr/>
        </p:nvSpPr>
        <p:spPr>
          <a:xfrm>
            <a:off x="1828800" y="4953000"/>
            <a:ext cx="21336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127AD-3471-AE4F-8863-8EAFBCA5B1F6}"/>
              </a:ext>
            </a:extLst>
          </p:cNvPr>
          <p:cNvSpPr txBox="1"/>
          <p:nvPr/>
        </p:nvSpPr>
        <p:spPr>
          <a:xfrm>
            <a:off x="533400" y="426720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JLabel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A783A84-406B-E04E-BB3A-95717E44A191}"/>
              </a:ext>
            </a:extLst>
          </p:cNvPr>
          <p:cNvSpPr/>
          <p:nvPr/>
        </p:nvSpPr>
        <p:spPr>
          <a:xfrm>
            <a:off x="1066800" y="4618892"/>
            <a:ext cx="656492" cy="504093"/>
          </a:xfrm>
          <a:custGeom>
            <a:avLst/>
            <a:gdLst>
              <a:gd name="connsiteX0" fmla="*/ 0 w 656492"/>
              <a:gd name="connsiteY0" fmla="*/ 0 h 504093"/>
              <a:gd name="connsiteX1" fmla="*/ 128954 w 656492"/>
              <a:gd name="connsiteY1" fmla="*/ 410308 h 504093"/>
              <a:gd name="connsiteX2" fmla="*/ 656492 w 656492"/>
              <a:gd name="connsiteY2" fmla="*/ 504093 h 50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492" h="504093">
                <a:moveTo>
                  <a:pt x="0" y="0"/>
                </a:moveTo>
                <a:cubicBezTo>
                  <a:pt x="9769" y="163146"/>
                  <a:pt x="19539" y="326293"/>
                  <a:pt x="128954" y="410308"/>
                </a:cubicBezTo>
                <a:cubicBezTo>
                  <a:pt x="238369" y="494323"/>
                  <a:pt x="447430" y="499208"/>
                  <a:pt x="656492" y="504093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8824A-0EBB-B84E-B4FD-25021A0775A1}"/>
              </a:ext>
            </a:extLst>
          </p:cNvPr>
          <p:cNvSpPr txBox="1"/>
          <p:nvPr/>
        </p:nvSpPr>
        <p:spPr>
          <a:xfrm>
            <a:off x="7239000" y="609600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JButton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A26F68D-6FE9-2445-95B5-F493F7683B88}"/>
              </a:ext>
            </a:extLst>
          </p:cNvPr>
          <p:cNvSpPr/>
          <p:nvPr/>
        </p:nvSpPr>
        <p:spPr>
          <a:xfrm>
            <a:off x="6201508" y="6060831"/>
            <a:ext cx="1078523" cy="292023"/>
          </a:xfrm>
          <a:custGeom>
            <a:avLst/>
            <a:gdLst>
              <a:gd name="connsiteX0" fmla="*/ 1078523 w 1078523"/>
              <a:gd name="connsiteY0" fmla="*/ 257907 h 292023"/>
              <a:gd name="connsiteX1" fmla="*/ 398584 w 1078523"/>
              <a:gd name="connsiteY1" fmla="*/ 269631 h 292023"/>
              <a:gd name="connsiteX2" fmla="*/ 0 w 1078523"/>
              <a:gd name="connsiteY2" fmla="*/ 0 h 292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8523" h="292023">
                <a:moveTo>
                  <a:pt x="1078523" y="257907"/>
                </a:moveTo>
                <a:cubicBezTo>
                  <a:pt x="828430" y="285261"/>
                  <a:pt x="578338" y="312615"/>
                  <a:pt x="398584" y="269631"/>
                </a:cubicBezTo>
                <a:cubicBezTo>
                  <a:pt x="218830" y="226647"/>
                  <a:pt x="109415" y="113323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1E2208C-5C15-7A4F-ABEE-78F1D5E4F578}"/>
              </a:ext>
            </a:extLst>
          </p:cNvPr>
          <p:cNvSpPr/>
          <p:nvPr/>
        </p:nvSpPr>
        <p:spPr>
          <a:xfrm>
            <a:off x="4572000" y="6019800"/>
            <a:ext cx="1905000" cy="304800"/>
          </a:xfrm>
          <a:custGeom>
            <a:avLst/>
            <a:gdLst>
              <a:gd name="connsiteX0" fmla="*/ 1078523 w 1078523"/>
              <a:gd name="connsiteY0" fmla="*/ 257907 h 292023"/>
              <a:gd name="connsiteX1" fmla="*/ 398584 w 1078523"/>
              <a:gd name="connsiteY1" fmla="*/ 269631 h 292023"/>
              <a:gd name="connsiteX2" fmla="*/ 0 w 1078523"/>
              <a:gd name="connsiteY2" fmla="*/ 0 h 292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8523" h="292023">
                <a:moveTo>
                  <a:pt x="1078523" y="257907"/>
                </a:moveTo>
                <a:cubicBezTo>
                  <a:pt x="828430" y="285261"/>
                  <a:pt x="578338" y="312615"/>
                  <a:pt x="398584" y="269631"/>
                </a:cubicBezTo>
                <a:cubicBezTo>
                  <a:pt x="218830" y="226647"/>
                  <a:pt x="109415" y="113323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302339E-943E-4241-8CFA-CA3B34472A7F}"/>
              </a:ext>
            </a:extLst>
          </p:cNvPr>
          <p:cNvSpPr/>
          <p:nvPr/>
        </p:nvSpPr>
        <p:spPr>
          <a:xfrm>
            <a:off x="3276600" y="6019800"/>
            <a:ext cx="1905000" cy="304800"/>
          </a:xfrm>
          <a:custGeom>
            <a:avLst/>
            <a:gdLst>
              <a:gd name="connsiteX0" fmla="*/ 1078523 w 1078523"/>
              <a:gd name="connsiteY0" fmla="*/ 257907 h 292023"/>
              <a:gd name="connsiteX1" fmla="*/ 398584 w 1078523"/>
              <a:gd name="connsiteY1" fmla="*/ 269631 h 292023"/>
              <a:gd name="connsiteX2" fmla="*/ 0 w 1078523"/>
              <a:gd name="connsiteY2" fmla="*/ 0 h 292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8523" h="292023">
                <a:moveTo>
                  <a:pt x="1078523" y="257907"/>
                </a:moveTo>
                <a:cubicBezTo>
                  <a:pt x="828430" y="285261"/>
                  <a:pt x="578338" y="312615"/>
                  <a:pt x="398584" y="269631"/>
                </a:cubicBezTo>
                <a:cubicBezTo>
                  <a:pt x="218830" y="226647"/>
                  <a:pt x="109415" y="113323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4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Key Layout Ideas</a:t>
            </a:r>
          </a:p>
        </p:txBody>
      </p:sp>
      <p:sp>
        <p:nvSpPr>
          <p:cNvPr id="18434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JFrame’s</a:t>
            </a:r>
            <a:r>
              <a:rPr lang="en-US" dirty="0"/>
              <a:t> add(Component c) method</a:t>
            </a:r>
          </a:p>
          <a:p>
            <a:pPr lvl="1"/>
            <a:r>
              <a:rPr lang="en-US" dirty="0"/>
              <a:t>Adds a new component to be drawn</a:t>
            </a:r>
          </a:p>
          <a:p>
            <a:pPr lvl="1"/>
            <a:r>
              <a:rPr lang="en-US" dirty="0"/>
              <a:t>Throws out the old one!</a:t>
            </a:r>
          </a:p>
          <a:p>
            <a:r>
              <a:rPr lang="en-US" dirty="0"/>
              <a:t>JFrame also has method </a:t>
            </a:r>
            <a:br>
              <a:rPr lang="en-US" dirty="0"/>
            </a:br>
            <a:r>
              <a:rPr lang="en-US" dirty="0"/>
              <a:t>add(Component c, Object constraint)</a:t>
            </a:r>
          </a:p>
          <a:p>
            <a:pPr lvl="1"/>
            <a:r>
              <a:rPr lang="en-US" dirty="0"/>
              <a:t>Typical constraints:</a:t>
            </a:r>
          </a:p>
          <a:p>
            <a:pPr lvl="2"/>
            <a:r>
              <a:rPr lang="en-US" dirty="0" err="1"/>
              <a:t>BorderLayout.NORTH</a:t>
            </a:r>
            <a:r>
              <a:rPr lang="en-US" dirty="0"/>
              <a:t>, </a:t>
            </a:r>
            <a:r>
              <a:rPr lang="en-US" dirty="0" err="1"/>
              <a:t>BorderLayout.CENTER</a:t>
            </a:r>
            <a:endParaRPr lang="en-US" dirty="0"/>
          </a:p>
          <a:p>
            <a:pPr lvl="1"/>
            <a:r>
              <a:rPr lang="en-US" dirty="0"/>
              <a:t>Can add one thing to each “direction”, plus center</a:t>
            </a:r>
          </a:p>
          <a:p>
            <a:r>
              <a:rPr lang="en-US" dirty="0" err="1"/>
              <a:t>JPanel</a:t>
            </a:r>
            <a:r>
              <a:rPr lang="en-US" dirty="0"/>
              <a:t> is a container (a thing!) that can display multiple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Capitalization </a:t>
            </a:r>
            <a:r>
              <a:rPr lang="en-US" i="1" dirty="0"/>
              <a:t>panel</a:t>
            </a:r>
            <a:r>
              <a:rPr lang="en-US" dirty="0"/>
              <a:t> variable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3B2C898-1E70-A20D-0376-6F938A2B6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665600"/>
            <a:ext cx="5867400" cy="612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54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JFrame </a:t>
            </a:r>
            <a:r>
              <a:rPr lang="en-US" dirty="0" err="1"/>
              <a:t>BorderLayout</a:t>
            </a:r>
            <a:endParaRPr lang="en-US" dirty="0"/>
          </a:p>
        </p:txBody>
      </p:sp>
      <p:pic>
        <p:nvPicPr>
          <p:cNvPr id="1028" name="Picture 4" descr="Image result for jframe borderlayout 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1981200"/>
            <a:ext cx="53848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415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Activity 1</a:t>
            </a:r>
          </a:p>
        </p:txBody>
      </p:sp>
      <p:pic>
        <p:nvPicPr>
          <p:cNvPr id="13" name="Content Placeholder 12" descr="Diagram&#10;&#10;Description automatically generated">
            <a:extLst>
              <a:ext uri="{FF2B5EF4-FFF2-40B4-BE49-F238E27FC236}">
                <a16:creationId xmlns:a16="http://schemas.microsoft.com/office/drawing/2014/main" id="{6D2C9E8B-9560-EBC8-75B7-1C494B97A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038600"/>
            <a:ext cx="8229600" cy="1623700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401763"/>
            <a:ext cx="4855029" cy="18288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F7A03A-D4BB-3D42-8605-4A3FAB3B14A7}"/>
              </a:ext>
            </a:extLst>
          </p:cNvPr>
          <p:cNvSpPr/>
          <p:nvPr/>
        </p:nvSpPr>
        <p:spPr>
          <a:xfrm>
            <a:off x="1828800" y="2057400"/>
            <a:ext cx="21336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127AD-3471-AE4F-8863-8EAFBCA5B1F6}"/>
              </a:ext>
            </a:extLst>
          </p:cNvPr>
          <p:cNvSpPr txBox="1"/>
          <p:nvPr/>
        </p:nvSpPr>
        <p:spPr>
          <a:xfrm>
            <a:off x="533400" y="137160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JLabel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A783A84-406B-E04E-BB3A-95717E44A191}"/>
              </a:ext>
            </a:extLst>
          </p:cNvPr>
          <p:cNvSpPr/>
          <p:nvPr/>
        </p:nvSpPr>
        <p:spPr>
          <a:xfrm>
            <a:off x="1066800" y="1723292"/>
            <a:ext cx="656492" cy="504093"/>
          </a:xfrm>
          <a:custGeom>
            <a:avLst/>
            <a:gdLst>
              <a:gd name="connsiteX0" fmla="*/ 0 w 656492"/>
              <a:gd name="connsiteY0" fmla="*/ 0 h 504093"/>
              <a:gd name="connsiteX1" fmla="*/ 128954 w 656492"/>
              <a:gd name="connsiteY1" fmla="*/ 410308 h 504093"/>
              <a:gd name="connsiteX2" fmla="*/ 656492 w 656492"/>
              <a:gd name="connsiteY2" fmla="*/ 504093 h 50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492" h="504093">
                <a:moveTo>
                  <a:pt x="0" y="0"/>
                </a:moveTo>
                <a:cubicBezTo>
                  <a:pt x="9769" y="163146"/>
                  <a:pt x="19539" y="326293"/>
                  <a:pt x="128954" y="410308"/>
                </a:cubicBezTo>
                <a:cubicBezTo>
                  <a:pt x="238369" y="494323"/>
                  <a:pt x="447430" y="499208"/>
                  <a:pt x="656492" y="504093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8824A-0EBB-B84E-B4FD-25021A0775A1}"/>
              </a:ext>
            </a:extLst>
          </p:cNvPr>
          <p:cNvSpPr txBox="1"/>
          <p:nvPr/>
        </p:nvSpPr>
        <p:spPr>
          <a:xfrm>
            <a:off x="7239000" y="320040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JButton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A26F68D-6FE9-2445-95B5-F493F7683B88}"/>
              </a:ext>
            </a:extLst>
          </p:cNvPr>
          <p:cNvSpPr/>
          <p:nvPr/>
        </p:nvSpPr>
        <p:spPr>
          <a:xfrm>
            <a:off x="6201508" y="3165231"/>
            <a:ext cx="1078523" cy="292023"/>
          </a:xfrm>
          <a:custGeom>
            <a:avLst/>
            <a:gdLst>
              <a:gd name="connsiteX0" fmla="*/ 1078523 w 1078523"/>
              <a:gd name="connsiteY0" fmla="*/ 257907 h 292023"/>
              <a:gd name="connsiteX1" fmla="*/ 398584 w 1078523"/>
              <a:gd name="connsiteY1" fmla="*/ 269631 h 292023"/>
              <a:gd name="connsiteX2" fmla="*/ 0 w 1078523"/>
              <a:gd name="connsiteY2" fmla="*/ 0 h 292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8523" h="292023">
                <a:moveTo>
                  <a:pt x="1078523" y="257907"/>
                </a:moveTo>
                <a:cubicBezTo>
                  <a:pt x="828430" y="285261"/>
                  <a:pt x="578338" y="312615"/>
                  <a:pt x="398584" y="269631"/>
                </a:cubicBezTo>
                <a:cubicBezTo>
                  <a:pt x="218830" y="226647"/>
                  <a:pt x="109415" y="113323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1E2208C-5C15-7A4F-ABEE-78F1D5E4F578}"/>
              </a:ext>
            </a:extLst>
          </p:cNvPr>
          <p:cNvSpPr/>
          <p:nvPr/>
        </p:nvSpPr>
        <p:spPr>
          <a:xfrm>
            <a:off x="4572000" y="3124200"/>
            <a:ext cx="1905000" cy="304800"/>
          </a:xfrm>
          <a:custGeom>
            <a:avLst/>
            <a:gdLst>
              <a:gd name="connsiteX0" fmla="*/ 1078523 w 1078523"/>
              <a:gd name="connsiteY0" fmla="*/ 257907 h 292023"/>
              <a:gd name="connsiteX1" fmla="*/ 398584 w 1078523"/>
              <a:gd name="connsiteY1" fmla="*/ 269631 h 292023"/>
              <a:gd name="connsiteX2" fmla="*/ 0 w 1078523"/>
              <a:gd name="connsiteY2" fmla="*/ 0 h 292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8523" h="292023">
                <a:moveTo>
                  <a:pt x="1078523" y="257907"/>
                </a:moveTo>
                <a:cubicBezTo>
                  <a:pt x="828430" y="285261"/>
                  <a:pt x="578338" y="312615"/>
                  <a:pt x="398584" y="269631"/>
                </a:cubicBezTo>
                <a:cubicBezTo>
                  <a:pt x="218830" y="226647"/>
                  <a:pt x="109415" y="113323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302339E-943E-4241-8CFA-CA3B34472A7F}"/>
              </a:ext>
            </a:extLst>
          </p:cNvPr>
          <p:cNvSpPr/>
          <p:nvPr/>
        </p:nvSpPr>
        <p:spPr>
          <a:xfrm>
            <a:off x="3276600" y="3124200"/>
            <a:ext cx="1905000" cy="304800"/>
          </a:xfrm>
          <a:custGeom>
            <a:avLst/>
            <a:gdLst>
              <a:gd name="connsiteX0" fmla="*/ 1078523 w 1078523"/>
              <a:gd name="connsiteY0" fmla="*/ 257907 h 292023"/>
              <a:gd name="connsiteX1" fmla="*/ 398584 w 1078523"/>
              <a:gd name="connsiteY1" fmla="*/ 269631 h 292023"/>
              <a:gd name="connsiteX2" fmla="*/ 0 w 1078523"/>
              <a:gd name="connsiteY2" fmla="*/ 0 h 292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8523" h="292023">
                <a:moveTo>
                  <a:pt x="1078523" y="257907"/>
                </a:moveTo>
                <a:cubicBezTo>
                  <a:pt x="828430" y="285261"/>
                  <a:pt x="578338" y="312615"/>
                  <a:pt x="398584" y="269631"/>
                </a:cubicBezTo>
                <a:cubicBezTo>
                  <a:pt x="218830" y="226647"/>
                  <a:pt x="109415" y="113323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5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Look at the code in the capitalization example</a:t>
            </a:r>
          </a:p>
          <a:p>
            <a:pPr marL="0" indent="0">
              <a:buNone/>
            </a:pPr>
            <a:r>
              <a:rPr lang="en-US" dirty="0"/>
              <a:t>Then solve the </a:t>
            </a:r>
            <a:r>
              <a:rPr lang="en-US" dirty="0" err="1"/>
              <a:t>addLettersProblem</a:t>
            </a:r>
            <a:endParaRPr lang="en-US" dirty="0"/>
          </a:p>
          <a:p>
            <a:r>
              <a:rPr lang="en-US" dirty="0"/>
              <a:t>Stage 1: </a:t>
            </a:r>
          </a:p>
          <a:p>
            <a:pPr lvl="1"/>
            <a:r>
              <a:rPr lang="en-US" dirty="0"/>
              <a:t>Make sure buttons show up</a:t>
            </a:r>
          </a:p>
          <a:p>
            <a:pPr lvl="1"/>
            <a:r>
              <a:rPr lang="en-US" dirty="0"/>
              <a:t>Make sure you can get message (</a:t>
            </a:r>
            <a:r>
              <a:rPr lang="en-US" dirty="0" err="1"/>
              <a:t>JLabel</a:t>
            </a:r>
            <a:r>
              <a:rPr lang="en-US" dirty="0"/>
              <a:t>) to appear</a:t>
            </a:r>
          </a:p>
          <a:p>
            <a:r>
              <a:rPr lang="en-US" dirty="0"/>
              <a:t>Stage 2: Make sure buttons do ANYTHING </a:t>
            </a:r>
          </a:p>
          <a:p>
            <a:pPr lvl="1"/>
            <a:r>
              <a:rPr lang="en-US" dirty="0"/>
              <a:t>Just have them </a:t>
            </a:r>
            <a:r>
              <a:rPr lang="en-US" dirty="0" err="1"/>
              <a:t>System.out.println</a:t>
            </a:r>
            <a:r>
              <a:rPr lang="en-US" dirty="0"/>
              <a:t>(“pressed”)</a:t>
            </a:r>
          </a:p>
          <a:p>
            <a:r>
              <a:rPr lang="en-US" dirty="0"/>
              <a:t>Stage 3: </a:t>
            </a:r>
          </a:p>
          <a:p>
            <a:pPr lvl="1"/>
            <a:r>
              <a:rPr lang="en-US" dirty="0"/>
              <a:t>Have the buttons perform desired behavior</a:t>
            </a:r>
          </a:p>
        </p:txBody>
      </p:sp>
    </p:spTree>
    <p:extLst>
      <p:ext uri="{BB962C8B-B14F-4D97-AF65-F5344CB8AC3E}">
        <p14:creationId xmlns:p14="http://schemas.microsoft.com/office/powerpoint/2010/main" val="1558352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GUI Development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370" y="1600200"/>
            <a:ext cx="8421030" cy="4876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1. Create JFrame  (configure!)</a:t>
            </a:r>
          </a:p>
          <a:p>
            <a:pPr marL="0" indent="0">
              <a:buNone/>
            </a:pPr>
            <a:r>
              <a:rPr lang="en-US" sz="2400" dirty="0"/>
              <a:t>2. Create </a:t>
            </a:r>
            <a:r>
              <a:rPr lang="en-US" sz="2400" dirty="0" err="1"/>
              <a:t>JPanel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Put </a:t>
            </a:r>
            <a:r>
              <a:rPr lang="en-US" sz="2400" dirty="0" err="1"/>
              <a:t>JButtons</a:t>
            </a:r>
            <a:r>
              <a:rPr lang="en-US" sz="2400" dirty="0"/>
              <a:t> (or </a:t>
            </a:r>
            <a:r>
              <a:rPr lang="en-US" sz="2400" dirty="0" err="1"/>
              <a:t>JComponents</a:t>
            </a:r>
            <a:r>
              <a:rPr lang="en-US" sz="2400" dirty="0"/>
              <a:t>) into </a:t>
            </a:r>
            <a:r>
              <a:rPr lang="en-US" sz="2400" dirty="0" err="1"/>
              <a:t>JPanel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4. Add </a:t>
            </a:r>
            <a:r>
              <a:rPr lang="en-US" sz="2400" dirty="0" err="1"/>
              <a:t>JPanel</a:t>
            </a:r>
            <a:r>
              <a:rPr lang="en-US" sz="2400" dirty="0"/>
              <a:t> to JFrame</a:t>
            </a:r>
          </a:p>
          <a:p>
            <a:pPr marL="0" indent="0">
              <a:buNone/>
            </a:pPr>
            <a:r>
              <a:rPr lang="en-US" sz="2400" dirty="0"/>
              <a:t>5. Create </a:t>
            </a:r>
            <a:r>
              <a:rPr lang="en-US" sz="2400" dirty="0" err="1"/>
              <a:t>ActionListener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(Might need to create class!)</a:t>
            </a:r>
          </a:p>
          <a:p>
            <a:pPr marL="0" indent="0">
              <a:buNone/>
            </a:pPr>
            <a:r>
              <a:rPr lang="en-US" sz="2400" dirty="0"/>
              <a:t>6. Attach </a:t>
            </a:r>
            <a:r>
              <a:rPr lang="en-US" sz="2400" dirty="0" err="1"/>
              <a:t>ActionListener</a:t>
            </a:r>
            <a:r>
              <a:rPr lang="en-US" sz="2400" dirty="0"/>
              <a:t> to </a:t>
            </a:r>
            <a:r>
              <a:rPr lang="en-US" sz="2400" dirty="0" err="1"/>
              <a:t>JButton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7. Does </a:t>
            </a:r>
            <a:r>
              <a:rPr lang="en-US" sz="2400" dirty="0" err="1"/>
              <a:t>ActionListener</a:t>
            </a:r>
            <a:r>
              <a:rPr lang="en-US" sz="2400" dirty="0"/>
              <a:t> have what it needs? </a:t>
            </a:r>
          </a:p>
          <a:p>
            <a:pPr marL="0" indent="0">
              <a:buNone/>
            </a:pPr>
            <a:r>
              <a:rPr lang="en-US" sz="2400" dirty="0"/>
              <a:t>      (If not, pass it in the constructor!)</a:t>
            </a:r>
          </a:p>
        </p:txBody>
      </p:sp>
    </p:spTree>
    <p:extLst>
      <p:ext uri="{BB962C8B-B14F-4D97-AF65-F5344CB8AC3E}">
        <p14:creationId xmlns:p14="http://schemas.microsoft.com/office/powerpoint/2010/main" val="2337333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DOCUME~1\ADMINI~1\LOCALS~1\Temp\VMwareDnD\00004380\2005_08_09_mightymous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274638"/>
            <a:ext cx="2857500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Mouse Listeners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229600" cy="2960688"/>
          </a:xfrm>
        </p:spPr>
        <p:txBody>
          <a:bodyPr>
            <a:normAutofit lnSpcReduction="10000"/>
          </a:bodyPr>
          <a:lstStyle/>
          <a:p>
            <a:pPr marL="0" indent="0">
              <a:buFont typeface="Wingdings 3" charset="2"/>
              <a:buNone/>
              <a:tabLst>
                <a:tab pos="457200" algn="l"/>
              </a:tabLst>
              <a:defRPr/>
            </a:pP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public interface 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MouseListener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 {</a:t>
            </a:r>
          </a:p>
          <a:p>
            <a:pPr marL="0" indent="0">
              <a:buFont typeface="Wingdings 3" charset="2"/>
              <a:buNone/>
              <a:tabLst>
                <a:tab pos="457200" algn="l"/>
              </a:tabLst>
              <a:defRPr/>
            </a:pP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	public void 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mouseClicked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(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MouseEvent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 e);</a:t>
            </a:r>
          </a:p>
          <a:p>
            <a:pPr marL="0" indent="0">
              <a:buFont typeface="Wingdings 3" charset="2"/>
              <a:buNone/>
              <a:tabLst>
                <a:tab pos="457200" algn="l"/>
              </a:tabLst>
              <a:defRPr/>
            </a:pP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	public void 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mouseEntered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(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MouseEvent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 e);</a:t>
            </a:r>
          </a:p>
          <a:p>
            <a:pPr marL="0" indent="0">
              <a:buFont typeface="Wingdings 3" charset="2"/>
              <a:buNone/>
              <a:tabLst>
                <a:tab pos="457200" algn="l"/>
              </a:tabLst>
              <a:defRPr/>
            </a:pP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	public void 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mouseExited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(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MouseEvent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 e);</a:t>
            </a:r>
          </a:p>
          <a:p>
            <a:pPr marL="0" indent="0">
              <a:buFont typeface="Wingdings 3" charset="2"/>
              <a:buNone/>
              <a:tabLst>
                <a:tab pos="457200" algn="l"/>
              </a:tabLst>
              <a:defRPr/>
            </a:pP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	public void 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mousePressed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(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MouseEvent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 e);</a:t>
            </a:r>
          </a:p>
          <a:p>
            <a:pPr marL="0" indent="0">
              <a:buFont typeface="Wingdings 3" charset="2"/>
              <a:buNone/>
              <a:tabLst>
                <a:tab pos="457200" algn="l"/>
              </a:tabLst>
              <a:defRPr/>
            </a:pP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	public void 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mouseReleased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(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MouseEvent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 e);</a:t>
            </a:r>
          </a:p>
          <a:p>
            <a:pPr marL="0" indent="0">
              <a:buFont typeface="Wingdings 3" charset="2"/>
              <a:buNone/>
              <a:tabLst>
                <a:tab pos="457200" algn="l"/>
              </a:tabLst>
              <a:defRPr/>
            </a:pP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accent3"/>
                </a:solidFill>
              </a:rPr>
              <a:t>Repaint</a:t>
            </a:r>
            <a:r>
              <a:rPr lang="en-US" dirty="0"/>
              <a:t> (and then no more)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92113" lvl="1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 update graphics:</a:t>
            </a:r>
          </a:p>
          <a:p>
            <a:pPr lvl="1">
              <a:defRPr/>
            </a:pPr>
            <a:r>
              <a:rPr lang="en-US" dirty="0"/>
              <a:t>We tell Java library that we need to be redrawn:</a:t>
            </a:r>
          </a:p>
          <a:p>
            <a:pPr lvl="2">
              <a:defRPr/>
            </a:pPr>
            <a:r>
              <a:rPr lang="en-US" b="1" dirty="0" err="1">
                <a:solidFill>
                  <a:schemeClr val="accent3"/>
                </a:solidFill>
                <a:latin typeface="Lucida Sans Typewriter" pitchFamily="49" charset="0"/>
              </a:rPr>
              <a:t>drawComponent.repaint</a:t>
            </a:r>
            <a:r>
              <a:rPr lang="en-US" b="1" dirty="0">
                <a:solidFill>
                  <a:schemeClr val="accent3"/>
                </a:solidFill>
                <a:latin typeface="Lucida Sans Typewriter" pitchFamily="49" charset="0"/>
              </a:rPr>
              <a:t>()</a:t>
            </a:r>
          </a:p>
          <a:p>
            <a:pPr lvl="1">
              <a:defRPr/>
            </a:pPr>
            <a:r>
              <a:rPr lang="en-US" dirty="0"/>
              <a:t>Library calls </a:t>
            </a:r>
            <a:r>
              <a:rPr lang="en-US" b="1" dirty="0" err="1">
                <a:solidFill>
                  <a:schemeClr val="accent3"/>
                </a:solidFill>
                <a:latin typeface="Lucida Sans Typewriter" pitchFamily="49" charset="0"/>
              </a:rPr>
              <a:t>paintComponent</a:t>
            </a:r>
            <a:r>
              <a:rPr lang="en-US" b="1" dirty="0">
                <a:solidFill>
                  <a:schemeClr val="accent3"/>
                </a:solidFill>
                <a:latin typeface="Lucida Sans Typewriter" pitchFamily="49" charset="0"/>
              </a:rPr>
              <a:t>() </a:t>
            </a:r>
            <a:r>
              <a:rPr lang="en-US" dirty="0"/>
              <a:t>when it’s ready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b="1" dirty="0">
                <a:solidFill>
                  <a:schemeClr val="accent2"/>
                </a:solidFill>
              </a:rPr>
              <a:t>Don’t call </a:t>
            </a:r>
            <a:r>
              <a:rPr lang="en-US" b="1" dirty="0" err="1">
                <a:solidFill>
                  <a:schemeClr val="accent2"/>
                </a:solidFill>
                <a:latin typeface="Lucida Sans Typewriter" pitchFamily="49" charset="0"/>
              </a:rPr>
              <a:t>paintComponent</a:t>
            </a:r>
            <a:r>
              <a:rPr lang="en-US" b="1" dirty="0">
                <a:solidFill>
                  <a:schemeClr val="accent2"/>
                </a:solidFill>
                <a:latin typeface="Lucida Sans Typewriter" pitchFamily="49" charset="0"/>
              </a:rPr>
              <a:t>()</a:t>
            </a:r>
            <a:r>
              <a:rPr lang="en-US" b="1" dirty="0">
                <a:solidFill>
                  <a:schemeClr val="accent2"/>
                </a:solidFill>
              </a:rPr>
              <a:t> yourself!  It’s just there for Java’s call back.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428897"/>
            <a:ext cx="3810000" cy="5715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609600"/>
            <a:ext cx="32766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+mn-lt"/>
              </a:rPr>
              <a:t>Activity 2</a:t>
            </a:r>
          </a:p>
          <a:p>
            <a:endParaRPr lang="en-US" sz="2400" dirty="0">
              <a:solidFill>
                <a:srgbClr val="000000"/>
              </a:solidFill>
              <a:latin typeface="+mn-lt"/>
            </a:endParaRPr>
          </a:p>
          <a:p>
            <a:r>
              <a:rPr lang="en-US" sz="2400" dirty="0">
                <a:solidFill>
                  <a:srgbClr val="000000"/>
                </a:solidFill>
                <a:latin typeface="+mn-lt"/>
              </a:rPr>
              <a:t>Read the code in the </a:t>
            </a:r>
            <a:r>
              <a:rPr lang="en-US" sz="2400" b="1" dirty="0" err="1">
                <a:solidFill>
                  <a:srgbClr val="000000"/>
                </a:solidFill>
                <a:latin typeface="+mn-lt"/>
              </a:rPr>
              <a:t>rectangleExample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, then individually or in pairs solve the </a:t>
            </a:r>
            <a:r>
              <a:rPr lang="en-US" sz="2400" b="1" dirty="0" err="1">
                <a:solidFill>
                  <a:srgbClr val="000000"/>
                </a:solidFill>
                <a:latin typeface="+mn-lt"/>
              </a:rPr>
              <a:t>clicksProblem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endParaRPr lang="en-US" sz="2400" dirty="0">
              <a:solidFill>
                <a:srgbClr val="000000"/>
              </a:solidFill>
              <a:latin typeface="+mn-lt"/>
            </a:endParaRPr>
          </a:p>
          <a:p>
            <a:r>
              <a:rPr lang="en-US" sz="2400" dirty="0">
                <a:solidFill>
                  <a:srgbClr val="000000"/>
                </a:solidFill>
                <a:latin typeface="+mn-lt"/>
              </a:rPr>
              <a:t>Draw a 20x20 blue circle upon left-click, centered on click</a:t>
            </a:r>
          </a:p>
          <a:p>
            <a:endParaRPr lang="en-US" sz="2400" dirty="0">
              <a:solidFill>
                <a:srgbClr val="000000"/>
              </a:solidFill>
              <a:latin typeface="+mn-lt"/>
            </a:endParaRPr>
          </a:p>
          <a:p>
            <a:r>
              <a:rPr lang="en-US" sz="2400" dirty="0">
                <a:solidFill>
                  <a:srgbClr val="000000"/>
                </a:solidFill>
                <a:latin typeface="+mn-lt"/>
              </a:rPr>
              <a:t>Clear screen button does what it says.</a:t>
            </a:r>
          </a:p>
          <a:p>
            <a:endParaRPr lang="en-US" sz="2400" dirty="0">
              <a:solidFill>
                <a:srgbClr val="000000"/>
              </a:solidFill>
              <a:latin typeface="+mn-lt"/>
            </a:endParaRPr>
          </a:p>
          <a:p>
            <a:r>
              <a:rPr lang="en-US" sz="2400" dirty="0">
                <a:solidFill>
                  <a:srgbClr val="000000"/>
                </a:solidFill>
                <a:latin typeface="+mn-lt"/>
              </a:rPr>
              <a:t>If you have time, make a right click make a red square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7723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Using </a:t>
            </a:r>
            <a:r>
              <a:rPr lang="en-US" dirty="0">
                <a:solidFill>
                  <a:schemeClr val="accent3"/>
                </a:solidFill>
              </a:rPr>
              <a:t>Inner Classes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Classes can be defined </a:t>
            </a:r>
            <a:r>
              <a:rPr lang="en-US" b="1" dirty="0"/>
              <a:t>inside</a:t>
            </a:r>
            <a:r>
              <a:rPr lang="en-US" dirty="0"/>
              <a:t> other classes or methods</a:t>
            </a:r>
          </a:p>
          <a:p>
            <a:pPr>
              <a:defRPr/>
            </a:pPr>
            <a:r>
              <a:rPr lang="en-US" dirty="0"/>
              <a:t>Used for “smallish” helper classes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Example: </a:t>
            </a:r>
            <a:r>
              <a:rPr lang="en-US" b="1" dirty="0">
                <a:solidFill>
                  <a:schemeClr val="accent3"/>
                </a:solidFill>
                <a:latin typeface="Lucida Sans Typewriter" pitchFamily="49" charset="0"/>
              </a:rPr>
              <a:t>Ellipse2D.Double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Often used for </a:t>
            </a:r>
            <a:r>
              <a:rPr lang="en-US" b="1" dirty="0" err="1">
                <a:solidFill>
                  <a:schemeClr val="accent3"/>
                </a:solidFill>
                <a:latin typeface="Lucida Sans Typewriter" pitchFamily="49" charset="0"/>
              </a:rPr>
              <a:t>ActionListener</a:t>
            </a:r>
            <a:r>
              <a:rPr lang="en-US" dirty="0" err="1"/>
              <a:t>s</a:t>
            </a:r>
            <a:r>
              <a:rPr lang="en-US" dirty="0"/>
              <a:t>…</a:t>
            </a:r>
          </a:p>
          <a:p>
            <a:pPr>
              <a:defRPr/>
            </a:pPr>
            <a:r>
              <a:rPr lang="en-US" dirty="0"/>
              <a:t>Add to Breakfast program?</a:t>
            </a:r>
          </a:p>
        </p:txBody>
      </p:sp>
      <p:sp>
        <p:nvSpPr>
          <p:cNvPr id="4" name="Line Callout 2 3"/>
          <p:cNvSpPr/>
          <p:nvPr/>
        </p:nvSpPr>
        <p:spPr>
          <a:xfrm flipH="1">
            <a:off x="753762" y="4267200"/>
            <a:ext cx="2057400" cy="762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0403"/>
              <a:gd name="adj6" fmla="val -373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/>
              <a:t>Outer class</a:t>
            </a:r>
          </a:p>
        </p:txBody>
      </p:sp>
      <p:sp>
        <p:nvSpPr>
          <p:cNvPr id="5" name="Line Callout 2 4"/>
          <p:cNvSpPr/>
          <p:nvPr/>
        </p:nvSpPr>
        <p:spPr>
          <a:xfrm>
            <a:off x="5939481" y="4267200"/>
            <a:ext cx="2209800" cy="762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4274"/>
              <a:gd name="adj6" fmla="val -293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/>
              <a:t>Inner class</a:t>
            </a:r>
          </a:p>
        </p:txBody>
      </p:sp>
    </p:spTree>
    <p:extLst>
      <p:ext uri="{BB962C8B-B14F-4D97-AF65-F5344CB8AC3E}">
        <p14:creationId xmlns:p14="http://schemas.microsoft.com/office/powerpoint/2010/main" val="2042814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Anonymous Classes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Sometimes very small helper classes are only used once</a:t>
            </a:r>
          </a:p>
          <a:p>
            <a:pPr lvl="1">
              <a:defRPr/>
            </a:pPr>
            <a:r>
              <a:rPr lang="en-US" dirty="0"/>
              <a:t>This is a job for an anonymous class!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b="1" dirty="0">
                <a:solidFill>
                  <a:schemeClr val="accent3"/>
                </a:solidFill>
              </a:rPr>
              <a:t>Anonymous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no name</a:t>
            </a:r>
          </a:p>
          <a:p>
            <a:pPr>
              <a:defRPr/>
            </a:pPr>
            <a:r>
              <a:rPr lang="en-US" dirty="0">
                <a:sym typeface="Wingdings" pitchFamily="2" charset="2"/>
              </a:rPr>
              <a:t>A special case of inner classes</a:t>
            </a:r>
          </a:p>
          <a:p>
            <a:pPr>
              <a:defRPr/>
            </a:pPr>
            <a:endParaRPr lang="en-US" dirty="0">
              <a:sym typeface="Wingdings" pitchFamily="2" charset="2"/>
            </a:endParaRPr>
          </a:p>
          <a:p>
            <a:pPr>
              <a:defRPr/>
            </a:pPr>
            <a:r>
              <a:rPr lang="en-US" dirty="0">
                <a:sym typeface="Wingdings" pitchFamily="2" charset="2"/>
              </a:rPr>
              <a:t>Used for the simplest </a:t>
            </a:r>
            <a:r>
              <a:rPr lang="en-US" b="1" dirty="0" err="1">
                <a:solidFill>
                  <a:schemeClr val="accent3"/>
                </a:solidFill>
                <a:latin typeface="Lucida Sans Typewriter" pitchFamily="49" charset="0"/>
                <a:sym typeface="Wingdings" pitchFamily="2" charset="2"/>
              </a:rPr>
              <a:t>ActionListener</a:t>
            </a:r>
            <a:r>
              <a:rPr lang="en-US" dirty="0" err="1">
                <a:sym typeface="Wingdings" pitchFamily="2" charset="2"/>
              </a:rPr>
              <a:t>s</a:t>
            </a:r>
            <a:r>
              <a:rPr lang="en-US" dirty="0">
                <a:sym typeface="Wingdings" pitchFamily="2" charset="2"/>
              </a:rPr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312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Inner Classes and Scope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>
                <a:solidFill>
                  <a:schemeClr val="accent3"/>
                </a:solidFill>
              </a:rPr>
              <a:t>Inner classes can access any variables in surrounding scope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Caveats:</a:t>
            </a:r>
          </a:p>
          <a:p>
            <a:pPr lvl="1">
              <a:defRPr/>
            </a:pPr>
            <a:r>
              <a:rPr lang="en-US" dirty="0"/>
              <a:t>Can only use instance fields of surrounding scope if we’re inside an instance method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Example: </a:t>
            </a:r>
          </a:p>
          <a:p>
            <a:pPr lvl="1">
              <a:defRPr/>
            </a:pPr>
            <a:r>
              <a:rPr lang="en-US" dirty="0"/>
              <a:t>Prompt user for what porridge tastes like</a:t>
            </a:r>
          </a:p>
        </p:txBody>
      </p:sp>
    </p:spTree>
    <p:extLst>
      <p:ext uri="{BB962C8B-B14F-4D97-AF65-F5344CB8AC3E}">
        <p14:creationId xmlns:p14="http://schemas.microsoft.com/office/powerpoint/2010/main" val="1972962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Work Time</a:t>
            </a:r>
          </a:p>
        </p:txBody>
      </p:sp>
      <p:sp>
        <p:nvSpPr>
          <p:cNvPr id="22531" name="Tex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HW9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035FA5-429B-411C-BBE6-AACF126A31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13FA4F-E846-4870-AE79-5C873A023D7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758EEA-B2E6-4CA8-BA56-696D7F1CAB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9401</TotalTime>
  <Words>1398</Words>
  <Application>Microsoft Office PowerPoint</Application>
  <PresentationFormat>On-screen Show (4:3)</PresentationFormat>
  <Paragraphs>228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Consolas</vt:lpstr>
      <vt:lpstr>Courier New</vt:lpstr>
      <vt:lpstr>Lucida Sans Typewriter</vt:lpstr>
      <vt:lpstr>Wingdings</vt:lpstr>
      <vt:lpstr>Wingdings 3</vt:lpstr>
      <vt:lpstr>Office Theme</vt:lpstr>
      <vt:lpstr>CSSE 220</vt:lpstr>
      <vt:lpstr>Graphical User Interfaces (GUIs) in Java</vt:lpstr>
      <vt:lpstr>HW9 Preview</vt:lpstr>
      <vt:lpstr>Handling Events</vt:lpstr>
      <vt:lpstr>Events</vt:lpstr>
      <vt:lpstr>Simple Interactive GUI Workflow</vt:lpstr>
      <vt:lpstr>Live Coding</vt:lpstr>
      <vt:lpstr>In Class Activity 1</vt:lpstr>
      <vt:lpstr>Key Layout Ideas</vt:lpstr>
      <vt:lpstr>Capitalization panel variable</vt:lpstr>
      <vt:lpstr>JFrame BorderLayout</vt:lpstr>
      <vt:lpstr>In Class Activity 1</vt:lpstr>
      <vt:lpstr>Advice</vt:lpstr>
      <vt:lpstr>General GUI Development Workflow</vt:lpstr>
      <vt:lpstr>Mouse Listeners</vt:lpstr>
      <vt:lpstr>Repaint (and then no more)</vt:lpstr>
      <vt:lpstr>PowerPoint Presentation</vt:lpstr>
      <vt:lpstr>Using Inner Classes</vt:lpstr>
      <vt:lpstr>Anonymous Classes</vt:lpstr>
      <vt:lpstr>Inner Classes and Scope</vt:lpstr>
      <vt:lpstr>Work Time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544</cp:revision>
  <cp:lastPrinted>2016-10-04T12:27:03Z</cp:lastPrinted>
  <dcterms:created xsi:type="dcterms:W3CDTF">2011-04-14T18:16:00Z</dcterms:created>
  <dcterms:modified xsi:type="dcterms:W3CDTF">2025-10-06T20:48:15Z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0x0101001570BCAAD2E4294F9443DCB038A55380</vt:lpwstr>
  </property>
</Properties>
</file>