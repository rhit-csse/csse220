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4"/>
  </p:sldMasterIdLst>
  <p:notesMasterIdLst>
    <p:notesMasterId r:id="rId18"/>
  </p:notesMasterIdLst>
  <p:handoutMasterIdLst>
    <p:handoutMasterId r:id="rId19"/>
  </p:handoutMasterIdLst>
  <p:sldIdLst>
    <p:sldId id="256" r:id="rId5"/>
    <p:sldId id="287" r:id="rId6"/>
    <p:sldId id="291" r:id="rId7"/>
    <p:sldId id="288" r:id="rId8"/>
    <p:sldId id="292" r:id="rId9"/>
    <p:sldId id="289" r:id="rId10"/>
    <p:sldId id="301" r:id="rId11"/>
    <p:sldId id="315" r:id="rId12"/>
    <p:sldId id="316" r:id="rId13"/>
    <p:sldId id="302" r:id="rId14"/>
    <p:sldId id="312" r:id="rId15"/>
    <p:sldId id="313" r:id="rId16"/>
    <p:sldId id="300" r:id="rId17"/>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clrMru>
    <a:srgbClr val="EE7D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24" autoAdjust="0"/>
    <p:restoredTop sz="69472" autoAdjust="0"/>
  </p:normalViewPr>
  <p:slideViewPr>
    <p:cSldViewPr snapToObjects="1">
      <p:cViewPr varScale="1">
        <p:scale>
          <a:sx n="85" d="100"/>
          <a:sy n="85" d="100"/>
        </p:scale>
        <p:origin x="108" y="16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964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3038145" cy="465743"/>
          </a:xfrm>
          <a:prstGeom prst="rect">
            <a:avLst/>
          </a:prstGeom>
          <a:noFill/>
          <a:ln w="9525">
            <a:noFill/>
            <a:miter lim="800000"/>
            <a:headEnd/>
            <a:tailEnd/>
          </a:ln>
        </p:spPr>
        <p:txBody>
          <a:bodyPr vert="horz" wrap="square" lIns="93153" tIns="46577" rIns="93153" bIns="46577" numCol="1" anchor="t" anchorCtr="0" compatLnSpc="1">
            <a:prstTxWarp prst="textNoShape">
              <a:avLst/>
            </a:prstTxWarp>
          </a:bodyPr>
          <a:lstStyle>
            <a:lvl1pPr defTabSz="913482">
              <a:defRPr sz="1200">
                <a:latin typeface="Calibri" pitchFamily="34" charset="0"/>
              </a:defRPr>
            </a:lvl1pPr>
          </a:lstStyle>
          <a:p>
            <a:pPr>
              <a:defRPr/>
            </a:pPr>
            <a:endParaRPr lang="en-US"/>
          </a:p>
        </p:txBody>
      </p:sp>
      <p:sp>
        <p:nvSpPr>
          <p:cNvPr id="3" name="Date Placeholder 2"/>
          <p:cNvSpPr>
            <a:spLocks noGrp="1"/>
          </p:cNvSpPr>
          <p:nvPr>
            <p:ph type="dt" sz="quarter" idx="1"/>
          </p:nvPr>
        </p:nvSpPr>
        <p:spPr bwMode="auto">
          <a:xfrm>
            <a:off x="3972256" y="0"/>
            <a:ext cx="3036623" cy="465743"/>
          </a:xfrm>
          <a:prstGeom prst="rect">
            <a:avLst/>
          </a:prstGeom>
          <a:noFill/>
          <a:ln w="9525">
            <a:noFill/>
            <a:miter lim="800000"/>
            <a:headEnd/>
            <a:tailEnd/>
          </a:ln>
        </p:spPr>
        <p:txBody>
          <a:bodyPr vert="horz" wrap="square" lIns="93153" tIns="46577" rIns="93153" bIns="46577" numCol="1" anchor="t" anchorCtr="0" compatLnSpc="1">
            <a:prstTxWarp prst="textNoShape">
              <a:avLst/>
            </a:prstTxWarp>
          </a:bodyPr>
          <a:lstStyle>
            <a:lvl1pPr algn="r" defTabSz="913482">
              <a:defRPr sz="1200">
                <a:latin typeface="Calibri" pitchFamily="34" charset="0"/>
              </a:defRPr>
            </a:lvl1pPr>
          </a:lstStyle>
          <a:p>
            <a:pPr>
              <a:defRPr/>
            </a:pPr>
            <a:fld id="{E7563301-559A-4ABC-AA2B-6FE6708B755E}" type="datetimeFigureOut">
              <a:rPr lang="en-US"/>
              <a:pPr>
                <a:defRPr/>
              </a:pPr>
              <a:t>9/24/2026</a:t>
            </a:fld>
            <a:endParaRPr lang="en-US"/>
          </a:p>
        </p:txBody>
      </p:sp>
      <p:sp>
        <p:nvSpPr>
          <p:cNvPr id="4" name="Footer Placeholder 3"/>
          <p:cNvSpPr>
            <a:spLocks noGrp="1"/>
          </p:cNvSpPr>
          <p:nvPr>
            <p:ph type="ftr" sz="quarter" idx="2"/>
          </p:nvPr>
        </p:nvSpPr>
        <p:spPr bwMode="auto">
          <a:xfrm>
            <a:off x="1" y="8829122"/>
            <a:ext cx="3038145" cy="465743"/>
          </a:xfrm>
          <a:prstGeom prst="rect">
            <a:avLst/>
          </a:prstGeom>
          <a:noFill/>
          <a:ln w="9525">
            <a:noFill/>
            <a:miter lim="800000"/>
            <a:headEnd/>
            <a:tailEnd/>
          </a:ln>
        </p:spPr>
        <p:txBody>
          <a:bodyPr vert="horz" wrap="square" lIns="93153" tIns="46577" rIns="93153" bIns="46577" numCol="1" anchor="b" anchorCtr="0" compatLnSpc="1">
            <a:prstTxWarp prst="textNoShape">
              <a:avLst/>
            </a:prstTxWarp>
          </a:bodyPr>
          <a:lstStyle>
            <a:lvl1pPr defTabSz="913482">
              <a:defRPr sz="1200">
                <a:latin typeface="Calibri" pitchFamily="34" charset="0"/>
              </a:defRPr>
            </a:lvl1pPr>
          </a:lstStyle>
          <a:p>
            <a:pPr>
              <a:defRPr/>
            </a:pPr>
            <a:endParaRPr lang="en-US"/>
          </a:p>
        </p:txBody>
      </p:sp>
      <p:sp>
        <p:nvSpPr>
          <p:cNvPr id="5" name="Slide Number Placeholder 4"/>
          <p:cNvSpPr>
            <a:spLocks noGrp="1"/>
          </p:cNvSpPr>
          <p:nvPr>
            <p:ph type="sldNum" sz="quarter" idx="3"/>
          </p:nvPr>
        </p:nvSpPr>
        <p:spPr bwMode="auto">
          <a:xfrm>
            <a:off x="3972256" y="8829122"/>
            <a:ext cx="3036623" cy="465743"/>
          </a:xfrm>
          <a:prstGeom prst="rect">
            <a:avLst/>
          </a:prstGeom>
          <a:noFill/>
          <a:ln w="9525">
            <a:noFill/>
            <a:miter lim="800000"/>
            <a:headEnd/>
            <a:tailEnd/>
          </a:ln>
        </p:spPr>
        <p:txBody>
          <a:bodyPr vert="horz" wrap="square" lIns="93153" tIns="46577" rIns="93153" bIns="46577" numCol="1" anchor="b" anchorCtr="0" compatLnSpc="1">
            <a:prstTxWarp prst="textNoShape">
              <a:avLst/>
            </a:prstTxWarp>
          </a:bodyPr>
          <a:lstStyle>
            <a:lvl1pPr algn="r" defTabSz="913482">
              <a:defRPr sz="1200">
                <a:latin typeface="Calibri" pitchFamily="34" charset="0"/>
              </a:defRPr>
            </a:lvl1pPr>
          </a:lstStyle>
          <a:p>
            <a:pPr>
              <a:defRPr/>
            </a:pPr>
            <a:fld id="{69FA71DF-C021-41F0-8072-9DABD6C95C88}" type="slidenum">
              <a:rPr lang="en-US"/>
              <a:pPr>
                <a:defRPr/>
              </a:pPr>
              <a:t>‹#›</a:t>
            </a:fld>
            <a:endParaRPr lang="en-US"/>
          </a:p>
        </p:txBody>
      </p:sp>
    </p:spTree>
    <p:extLst>
      <p:ext uri="{BB962C8B-B14F-4D97-AF65-F5344CB8AC3E}">
        <p14:creationId xmlns:p14="http://schemas.microsoft.com/office/powerpoint/2010/main" val="43374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3038145" cy="465743"/>
          </a:xfrm>
          <a:prstGeom prst="rect">
            <a:avLst/>
          </a:prstGeom>
          <a:noFill/>
          <a:ln w="9525">
            <a:noFill/>
            <a:miter lim="800000"/>
            <a:headEnd/>
            <a:tailEnd/>
          </a:ln>
        </p:spPr>
        <p:txBody>
          <a:bodyPr vert="horz" wrap="square" lIns="93153" tIns="46577" rIns="93153" bIns="46577" numCol="1" anchor="t" anchorCtr="0" compatLnSpc="1">
            <a:prstTxWarp prst="textNoShape">
              <a:avLst/>
            </a:prstTxWarp>
          </a:bodyPr>
          <a:lstStyle>
            <a:lvl1pPr defTabSz="913482">
              <a:defRPr sz="1200">
                <a:latin typeface="Calibri" pitchFamily="34" charset="0"/>
              </a:defRPr>
            </a:lvl1pPr>
          </a:lstStyle>
          <a:p>
            <a:pPr>
              <a:defRPr/>
            </a:pPr>
            <a:endParaRPr lang="en-US"/>
          </a:p>
        </p:txBody>
      </p:sp>
      <p:sp>
        <p:nvSpPr>
          <p:cNvPr id="3" name="Date Placeholder 2"/>
          <p:cNvSpPr>
            <a:spLocks noGrp="1"/>
          </p:cNvSpPr>
          <p:nvPr>
            <p:ph type="dt" idx="1"/>
          </p:nvPr>
        </p:nvSpPr>
        <p:spPr bwMode="auto">
          <a:xfrm>
            <a:off x="3970735" y="0"/>
            <a:ext cx="3038145" cy="465743"/>
          </a:xfrm>
          <a:prstGeom prst="rect">
            <a:avLst/>
          </a:prstGeom>
          <a:noFill/>
          <a:ln w="9525">
            <a:noFill/>
            <a:miter lim="800000"/>
            <a:headEnd/>
            <a:tailEnd/>
          </a:ln>
        </p:spPr>
        <p:txBody>
          <a:bodyPr vert="horz" wrap="square" lIns="93153" tIns="46577" rIns="93153" bIns="46577" numCol="1" anchor="t" anchorCtr="0" compatLnSpc="1">
            <a:prstTxWarp prst="textNoShape">
              <a:avLst/>
            </a:prstTxWarp>
          </a:bodyPr>
          <a:lstStyle>
            <a:lvl1pPr algn="r" defTabSz="913482">
              <a:defRPr sz="1200">
                <a:latin typeface="Calibri" pitchFamily="34" charset="0"/>
              </a:defRPr>
            </a:lvl1pPr>
          </a:lstStyle>
          <a:p>
            <a:pPr>
              <a:defRPr/>
            </a:pPr>
            <a:fld id="{0A2CEEB4-0792-4477-89F5-C9EB695061F7}" type="datetimeFigureOut">
              <a:rPr lang="en-US"/>
              <a:pPr>
                <a:defRPr/>
              </a:pPr>
              <a:t>9/24/2026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89803" tIns="44902" rIns="89803" bIns="44902" rtlCol="0" anchor="ctr"/>
          <a:lstStyle/>
          <a:p>
            <a:pPr lvl="0"/>
            <a:endParaRPr lang="en-US" noProof="0"/>
          </a:p>
        </p:txBody>
      </p:sp>
      <p:sp>
        <p:nvSpPr>
          <p:cNvPr id="5" name="Notes Placeholder 4"/>
          <p:cNvSpPr>
            <a:spLocks noGrp="1"/>
          </p:cNvSpPr>
          <p:nvPr>
            <p:ph type="body" sz="quarter" idx="3"/>
          </p:nvPr>
        </p:nvSpPr>
        <p:spPr bwMode="auto">
          <a:xfrm>
            <a:off x="701345" y="4416099"/>
            <a:ext cx="5607711" cy="4183995"/>
          </a:xfrm>
          <a:prstGeom prst="rect">
            <a:avLst/>
          </a:prstGeom>
          <a:noFill/>
          <a:ln w="9525">
            <a:noFill/>
            <a:miter lim="800000"/>
            <a:headEnd/>
            <a:tailEnd/>
          </a:ln>
        </p:spPr>
        <p:txBody>
          <a:bodyPr vert="horz" wrap="square" lIns="93153" tIns="46577" rIns="93153" bIns="4657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bwMode="auto">
          <a:xfrm>
            <a:off x="1" y="8829122"/>
            <a:ext cx="3038145" cy="465743"/>
          </a:xfrm>
          <a:prstGeom prst="rect">
            <a:avLst/>
          </a:prstGeom>
          <a:noFill/>
          <a:ln w="9525">
            <a:noFill/>
            <a:miter lim="800000"/>
            <a:headEnd/>
            <a:tailEnd/>
          </a:ln>
        </p:spPr>
        <p:txBody>
          <a:bodyPr vert="horz" wrap="square" lIns="93153" tIns="46577" rIns="93153" bIns="46577" numCol="1" anchor="b" anchorCtr="0" compatLnSpc="1">
            <a:prstTxWarp prst="textNoShape">
              <a:avLst/>
            </a:prstTxWarp>
          </a:bodyPr>
          <a:lstStyle>
            <a:lvl1pPr defTabSz="913482">
              <a:defRPr sz="1200">
                <a:latin typeface="Calibri" pitchFamily="34" charset="0"/>
              </a:defRPr>
            </a:lvl1pPr>
          </a:lstStyle>
          <a:p>
            <a:pPr>
              <a:defRPr/>
            </a:pPr>
            <a:endParaRPr lang="en-US"/>
          </a:p>
        </p:txBody>
      </p:sp>
      <p:sp>
        <p:nvSpPr>
          <p:cNvPr id="7" name="Slide Number Placeholder 6"/>
          <p:cNvSpPr>
            <a:spLocks noGrp="1"/>
          </p:cNvSpPr>
          <p:nvPr>
            <p:ph type="sldNum" sz="quarter" idx="5"/>
          </p:nvPr>
        </p:nvSpPr>
        <p:spPr bwMode="auto">
          <a:xfrm>
            <a:off x="3970735" y="8829122"/>
            <a:ext cx="3038145" cy="465743"/>
          </a:xfrm>
          <a:prstGeom prst="rect">
            <a:avLst/>
          </a:prstGeom>
          <a:noFill/>
          <a:ln w="9525">
            <a:noFill/>
            <a:miter lim="800000"/>
            <a:headEnd/>
            <a:tailEnd/>
          </a:ln>
        </p:spPr>
        <p:txBody>
          <a:bodyPr vert="horz" wrap="square" lIns="93153" tIns="46577" rIns="93153" bIns="46577" numCol="1" anchor="b" anchorCtr="0" compatLnSpc="1">
            <a:prstTxWarp prst="textNoShape">
              <a:avLst/>
            </a:prstTxWarp>
          </a:bodyPr>
          <a:lstStyle>
            <a:lvl1pPr algn="r" defTabSz="913482">
              <a:defRPr sz="1200">
                <a:latin typeface="Calibri" pitchFamily="34" charset="0"/>
              </a:defRPr>
            </a:lvl1pPr>
          </a:lstStyle>
          <a:p>
            <a:pPr>
              <a:defRPr/>
            </a:pPr>
            <a:fld id="{41BB943A-C3B9-42AE-8B54-C2335812312E}" type="slidenum">
              <a:rPr lang="en-US"/>
              <a:pPr>
                <a:defRPr/>
              </a:pPr>
              <a:t>‹#›</a:t>
            </a:fld>
            <a:endParaRPr lang="en-US"/>
          </a:p>
        </p:txBody>
      </p:sp>
    </p:spTree>
    <p:extLst>
      <p:ext uri="{BB962C8B-B14F-4D97-AF65-F5344CB8AC3E}">
        <p14:creationId xmlns:p14="http://schemas.microsoft.com/office/powerpoint/2010/main" val="36483195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a:noFill/>
          <a:ln/>
        </p:spPr>
        <p:txBody>
          <a:bodyPr/>
          <a:lstStyle/>
          <a:p>
            <a:pPr eaLnBrk="1" hangingPunct="1">
              <a:spcBef>
                <a:spcPct val="0"/>
              </a:spcBef>
            </a:pPr>
            <a:r>
              <a:rPr lang="en-US" dirty="0"/>
              <a:t>Bring hard copy of code from </a:t>
            </a:r>
            <a:r>
              <a:rPr lang="en-US" dirty="0" err="1"/>
              <a:t>UnitTesting</a:t>
            </a:r>
            <a:endParaRPr lang="en-US" baseline="0" dirty="0"/>
          </a:p>
        </p:txBody>
      </p:sp>
      <p:sp>
        <p:nvSpPr>
          <p:cNvPr id="26628" name="Slide Number Placeholder 3"/>
          <p:cNvSpPr>
            <a:spLocks noGrp="1"/>
          </p:cNvSpPr>
          <p:nvPr>
            <p:ph type="sldNum" sz="quarter" idx="5"/>
          </p:nvPr>
        </p:nvSpPr>
        <p:spPr>
          <a:noFill/>
        </p:spPr>
        <p:txBody>
          <a:bodyPr/>
          <a:lstStyle/>
          <a:p>
            <a:fld id="{DE2D2F29-D266-4A73-9105-1080FD86BA46}" type="slidenum">
              <a:rPr lang="en-US" smtClean="0"/>
              <a:pPr/>
              <a:t>1</a:t>
            </a:fld>
            <a:endParaRPr lang="en-US"/>
          </a:p>
        </p:txBody>
      </p:sp>
    </p:spTree>
    <p:extLst>
      <p:ext uri="{BB962C8B-B14F-4D97-AF65-F5344CB8AC3E}">
        <p14:creationId xmlns:p14="http://schemas.microsoft.com/office/powerpoint/2010/main" val="2849490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400"/>
              </a:spcBef>
              <a:spcAft>
                <a:spcPts val="1400"/>
              </a:spcAft>
            </a:pPr>
            <a:r>
              <a:rPr lang="en-US" sz="1800" b="1" i="0" u="none" strike="noStrike" dirty="0">
                <a:solidFill>
                  <a:srgbClr val="000000"/>
                </a:solidFill>
                <a:effectLst/>
                <a:latin typeface="Times New Roman" panose="02020603050405020304" pitchFamily="18" charset="0"/>
              </a:rPr>
              <a:t>Explanation of diagram in Figure 1:</a:t>
            </a:r>
            <a:endParaRPr lang="en-US" b="0" dirty="0">
              <a:effectLst/>
            </a:endParaRPr>
          </a:p>
          <a:p>
            <a:pPr rtl="0" fontAlgn="base">
              <a:spcBef>
                <a:spcPts val="140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the app's boundary from outside data is in blue</a:t>
            </a: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the red modules are responsible for handling incoming (and possibly malformed data)</a:t>
            </a: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the green modules never see raw data from outside the app, they only see data that has made it past the red module</a:t>
            </a: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red modules must be written to hand "unintentional" mistakes (or intentional malicious incoming data)</a:t>
            </a: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once the data gets past the red modules, it has crossed the </a:t>
            </a:r>
            <a:r>
              <a:rPr lang="en-US" sz="1800" b="0" i="1" u="none" strike="noStrike" dirty="0">
                <a:solidFill>
                  <a:srgbClr val="000000"/>
                </a:solidFill>
                <a:effectLst/>
                <a:latin typeface="Times New Roman" panose="02020603050405020304" pitchFamily="18" charset="0"/>
              </a:rPr>
              <a:t>inner app module boundary</a:t>
            </a:r>
            <a:r>
              <a:rPr lang="en-US" sz="1800" b="0" i="0" u="none" strike="noStrike" dirty="0">
                <a:solidFill>
                  <a:srgbClr val="000000"/>
                </a:solidFill>
                <a:effectLst/>
                <a:latin typeface="Times New Roman" panose="02020603050405020304" pitchFamily="18" charset="0"/>
              </a:rPr>
              <a:t>, and made its way to the green modules </a:t>
            </a: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the green modules can be written to have "requirements" on their incoming data (passed in by parameter)</a:t>
            </a:r>
          </a:p>
          <a:p>
            <a:pPr rtl="0" fontAlgn="base">
              <a:spcBef>
                <a:spcPts val="0"/>
              </a:spcBef>
              <a:spcAft>
                <a:spcPts val="140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all calls to green modules are from other green modules or the red modules</a:t>
            </a:r>
          </a:p>
          <a:p>
            <a:endParaRPr lang="en-US" dirty="0"/>
          </a:p>
        </p:txBody>
      </p:sp>
      <p:sp>
        <p:nvSpPr>
          <p:cNvPr id="4" name="Slide Number Placeholder 3"/>
          <p:cNvSpPr>
            <a:spLocks noGrp="1"/>
          </p:cNvSpPr>
          <p:nvPr>
            <p:ph type="sldNum" sz="quarter" idx="5"/>
          </p:nvPr>
        </p:nvSpPr>
        <p:spPr/>
        <p:txBody>
          <a:bodyPr/>
          <a:lstStyle/>
          <a:p>
            <a:pPr>
              <a:defRPr/>
            </a:pPr>
            <a:fld id="{41BB943A-C3B9-42AE-8B54-C2335812312E}" type="slidenum">
              <a:rPr lang="en-US" smtClean="0"/>
              <a:pPr>
                <a:defRPr/>
              </a:pPr>
              <a:t>8</a:t>
            </a:fld>
            <a:endParaRPr lang="en-US"/>
          </a:p>
        </p:txBody>
      </p:sp>
    </p:spTree>
    <p:extLst>
      <p:ext uri="{BB962C8B-B14F-4D97-AF65-F5344CB8AC3E}">
        <p14:creationId xmlns:p14="http://schemas.microsoft.com/office/powerpoint/2010/main" val="221477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400"/>
              </a:spcBef>
              <a:spcAft>
                <a:spcPts val="1400"/>
              </a:spcAft>
            </a:pPr>
            <a:r>
              <a:rPr lang="en-US" sz="1800" b="0" i="0" u="none" strike="noStrike" dirty="0">
                <a:solidFill>
                  <a:srgbClr val="000000"/>
                </a:solidFill>
                <a:effectLst/>
                <a:latin typeface="Times New Roman" panose="02020603050405020304" pitchFamily="18" charset="0"/>
              </a:rPr>
              <a:t>Here is where the </a:t>
            </a:r>
            <a:r>
              <a:rPr lang="en-US" sz="1800" b="0" i="1" u="none" strike="noStrike" dirty="0">
                <a:solidFill>
                  <a:srgbClr val="000000"/>
                </a:solidFill>
                <a:effectLst/>
                <a:latin typeface="Times New Roman" panose="02020603050405020304" pitchFamily="18" charset="0"/>
              </a:rPr>
              <a:t>rubber meets the road - </a:t>
            </a:r>
            <a:r>
              <a:rPr lang="en-US" sz="1800" b="0" i="0" u="none" strike="noStrike" dirty="0">
                <a:solidFill>
                  <a:srgbClr val="000000"/>
                </a:solidFill>
                <a:effectLst/>
                <a:latin typeface="Times New Roman" panose="02020603050405020304" pitchFamily="18" charset="0"/>
              </a:rPr>
              <a:t>and the basis for what is known as</a:t>
            </a:r>
            <a:r>
              <a:rPr lang="en-US" sz="1800" b="0" i="1" u="none" strike="noStrike" dirty="0">
                <a:solidFill>
                  <a:srgbClr val="000000"/>
                </a:solidFill>
                <a:effectLst/>
                <a:latin typeface="Times New Roman" panose="02020603050405020304" pitchFamily="18" charset="0"/>
              </a:rPr>
              <a:t> Design by Contract</a:t>
            </a:r>
            <a:endParaRPr lang="en-US" sz="2800" b="0" dirty="0">
              <a:effectLst/>
            </a:endParaRPr>
          </a:p>
          <a:p>
            <a:pPr rtl="0" fontAlgn="base">
              <a:spcBef>
                <a:spcPts val="1400"/>
              </a:spcBef>
              <a:spcAft>
                <a:spcPts val="0"/>
              </a:spcAft>
              <a:buFont typeface="+mj-lt"/>
              <a:buAutoNum type="arabicPeriod"/>
            </a:pPr>
            <a:r>
              <a:rPr lang="en-US" sz="1800" b="0" i="0" u="none" strike="noStrike" dirty="0">
                <a:solidFill>
                  <a:srgbClr val="000000"/>
                </a:solidFill>
                <a:effectLst/>
                <a:latin typeface="Times New Roman" panose="02020603050405020304" pitchFamily="18" charset="0"/>
              </a:rPr>
              <a:t>we write the code for a green module assuming that the callers of a green module have met the </a:t>
            </a:r>
            <a:r>
              <a:rPr lang="en-US" sz="1800" b="0" i="1" u="none" strike="noStrike" dirty="0">
                <a:solidFill>
                  <a:srgbClr val="000000"/>
                </a:solidFill>
                <a:effectLst/>
                <a:latin typeface="Times New Roman" panose="02020603050405020304" pitchFamily="18" charset="0"/>
              </a:rPr>
              <a:t>requirements </a:t>
            </a:r>
            <a:r>
              <a:rPr lang="en-US" sz="1800" b="0" i="0" u="none" strike="noStrike" dirty="0">
                <a:solidFill>
                  <a:srgbClr val="000000"/>
                </a:solidFill>
                <a:effectLst/>
                <a:latin typeface="Times New Roman" panose="02020603050405020304" pitchFamily="18" charset="0"/>
              </a:rPr>
              <a:t>placed on the parameters being passed to the green module</a:t>
            </a:r>
          </a:p>
          <a:p>
            <a:pPr rtl="0" fontAlgn="base">
              <a:spcBef>
                <a:spcPts val="0"/>
              </a:spcBef>
              <a:spcAft>
                <a:spcPts val="0"/>
              </a:spcAft>
              <a:buFont typeface="+mj-lt"/>
              <a:buAutoNum type="arabicPeriod"/>
            </a:pPr>
            <a:r>
              <a:rPr lang="en-US" sz="1800" b="0" i="0" u="none" strike="noStrike" dirty="0">
                <a:solidFill>
                  <a:srgbClr val="000000"/>
                </a:solidFill>
                <a:effectLst/>
                <a:latin typeface="Times New Roman" panose="02020603050405020304" pitchFamily="18" charset="0"/>
              </a:rPr>
              <a:t>this allows the code in a green module method to be:  (1) simpler because it doesn't have to check that the incoming data meets the requirements; (2) more efficient; (3) always written in a consistent manner, i.e., where it is written assuming the </a:t>
            </a:r>
            <a:r>
              <a:rPr lang="en-US" sz="1800" b="0" i="1" u="none" strike="noStrike" dirty="0">
                <a:solidFill>
                  <a:srgbClr val="000000"/>
                </a:solidFill>
                <a:effectLst/>
                <a:latin typeface="Times New Roman" panose="02020603050405020304" pitchFamily="18" charset="0"/>
              </a:rPr>
              <a:t>requirements </a:t>
            </a:r>
            <a:r>
              <a:rPr lang="en-US" sz="1800" b="0" i="0" u="none" strike="noStrike" dirty="0">
                <a:solidFill>
                  <a:srgbClr val="000000"/>
                </a:solidFill>
                <a:effectLst/>
                <a:latin typeface="Times New Roman" panose="02020603050405020304" pitchFamily="18" charset="0"/>
              </a:rPr>
              <a:t>have been met</a:t>
            </a:r>
          </a:p>
          <a:p>
            <a:pPr rtl="0" fontAlgn="base">
              <a:spcBef>
                <a:spcPts val="0"/>
              </a:spcBef>
              <a:spcAft>
                <a:spcPts val="0"/>
              </a:spcAft>
              <a:buFont typeface="+mj-lt"/>
              <a:buAutoNum type="arabicPeriod"/>
            </a:pPr>
            <a:r>
              <a:rPr lang="en-US" sz="1800" b="0" i="0" u="none" strike="noStrike" dirty="0">
                <a:solidFill>
                  <a:srgbClr val="000000"/>
                </a:solidFill>
                <a:effectLst/>
                <a:latin typeface="Times New Roman" panose="02020603050405020304" pitchFamily="18" charset="0"/>
              </a:rPr>
              <a:t>if a caller (a red module or another green module) is written so that it violates a green module's </a:t>
            </a:r>
            <a:r>
              <a:rPr lang="en-US" sz="1800" b="0" i="1" u="none" strike="noStrike" dirty="0">
                <a:solidFill>
                  <a:srgbClr val="000000"/>
                </a:solidFill>
                <a:effectLst/>
                <a:latin typeface="Times New Roman" panose="02020603050405020304" pitchFamily="18" charset="0"/>
              </a:rPr>
              <a:t>requirements</a:t>
            </a:r>
            <a:r>
              <a:rPr lang="en-US" sz="1800" b="0" i="0" u="none" strike="noStrike" dirty="0">
                <a:solidFill>
                  <a:srgbClr val="000000"/>
                </a:solidFill>
                <a:effectLst/>
                <a:latin typeface="Times New Roman" panose="02020603050405020304" pitchFamily="18" charset="0"/>
              </a:rPr>
              <a:t>, then that caller is defective (not the called operation)</a:t>
            </a:r>
          </a:p>
          <a:p>
            <a:pPr rtl="0" fontAlgn="base">
              <a:spcBef>
                <a:spcPts val="0"/>
              </a:spcBef>
              <a:spcAft>
                <a:spcPts val="1400"/>
              </a:spcAft>
              <a:buFont typeface="+mj-lt"/>
              <a:buAutoNum type="arabicPeriod"/>
            </a:pPr>
            <a:r>
              <a:rPr lang="en-US" sz="1800" b="0" i="0" u="none" strike="noStrike" dirty="0">
                <a:solidFill>
                  <a:srgbClr val="000000"/>
                </a:solidFill>
                <a:effectLst/>
                <a:latin typeface="Times New Roman" panose="02020603050405020304" pitchFamily="18" charset="0"/>
              </a:rPr>
              <a:t>Since green module methods assume the caller meets the </a:t>
            </a:r>
            <a:r>
              <a:rPr lang="en-US" sz="1800" b="0" i="1" u="none" strike="noStrike" dirty="0">
                <a:solidFill>
                  <a:srgbClr val="000000"/>
                </a:solidFill>
                <a:effectLst/>
                <a:latin typeface="Times New Roman" panose="02020603050405020304" pitchFamily="18" charset="0"/>
              </a:rPr>
              <a:t>requirements</a:t>
            </a:r>
            <a:r>
              <a:rPr lang="en-US" sz="1800" b="0" i="0" u="none" strike="noStrike" dirty="0">
                <a:solidFill>
                  <a:srgbClr val="000000"/>
                </a:solidFill>
                <a:effectLst/>
                <a:latin typeface="Times New Roman" panose="02020603050405020304" pitchFamily="18" charset="0"/>
              </a:rPr>
              <a:t>, it doesn't make sense to write JUnit test cases where the </a:t>
            </a:r>
            <a:r>
              <a:rPr lang="en-US" sz="1800" b="0" i="1" u="none" strike="noStrike" dirty="0">
                <a:solidFill>
                  <a:srgbClr val="000000"/>
                </a:solidFill>
                <a:effectLst/>
                <a:latin typeface="Times New Roman" panose="02020603050405020304" pitchFamily="18" charset="0"/>
              </a:rPr>
              <a:t>requirements</a:t>
            </a:r>
            <a:r>
              <a:rPr lang="en-US" sz="1800" b="0" i="0" u="none" strike="noStrike" dirty="0">
                <a:solidFill>
                  <a:srgbClr val="000000"/>
                </a:solidFill>
                <a:effectLst/>
                <a:latin typeface="Times New Roman" panose="02020603050405020304" pitchFamily="18" charset="0"/>
              </a:rPr>
              <a:t> are violated</a:t>
            </a:r>
          </a:p>
          <a:p>
            <a:pPr rtl="0">
              <a:spcBef>
                <a:spcPts val="1400"/>
              </a:spcBef>
              <a:spcAft>
                <a:spcPts val="1400"/>
              </a:spcAft>
            </a:pPr>
            <a:endParaRPr lang="en-US" sz="1800" b="0" i="0" u="none" strike="noStrike" dirty="0">
              <a:solidFill>
                <a:srgbClr val="000000"/>
              </a:solidFill>
              <a:effectLst/>
              <a:latin typeface="Times New Roman" panose="02020603050405020304" pitchFamily="18" charset="0"/>
            </a:endParaRPr>
          </a:p>
          <a:p>
            <a:pPr rtl="0">
              <a:spcBef>
                <a:spcPts val="1400"/>
              </a:spcBef>
              <a:spcAft>
                <a:spcPts val="1400"/>
              </a:spcAft>
            </a:pPr>
            <a:r>
              <a:rPr lang="en-US" sz="1800" b="0" i="0" u="none" strike="noStrike" dirty="0">
                <a:solidFill>
                  <a:srgbClr val="000000"/>
                </a:solidFill>
                <a:effectLst/>
                <a:latin typeface="Times New Roman" panose="02020603050405020304" pitchFamily="18" charset="0"/>
              </a:rPr>
              <a:t>#2 above says green module methods will be more efficient, why?</a:t>
            </a:r>
            <a:endParaRPr lang="en-US" sz="2800" b="0" dirty="0">
              <a:effectLst/>
            </a:endParaRPr>
          </a:p>
          <a:p>
            <a:pPr rtl="0">
              <a:spcBef>
                <a:spcPts val="1400"/>
              </a:spcBef>
              <a:spcAft>
                <a:spcPts val="0"/>
              </a:spcAft>
            </a:pPr>
            <a:r>
              <a:rPr lang="en-US" sz="1800" b="0" i="0" u="none" strike="noStrike" dirty="0">
                <a:solidFill>
                  <a:srgbClr val="000000"/>
                </a:solidFill>
                <a:effectLst/>
                <a:latin typeface="Times New Roman" panose="02020603050405020304" pitchFamily="18" charset="0"/>
              </a:rPr>
              <a:t>Example, suppose your method is binary search of an array. You have to write that method assuming the array meets the requirement of being sorting. Otherwise, you'd have to include code in your binary search method to check that it is sorted each time that method gets called. If you did this, you just took your O(log(n)) method and turned it into an O(n) method</a:t>
            </a:r>
            <a:endParaRPr lang="en-US" sz="2800" b="0" dirty="0">
              <a:effectLst/>
            </a:endParaRPr>
          </a:p>
          <a:p>
            <a:br>
              <a:rPr lang="en-US" sz="2800" dirty="0"/>
            </a:br>
            <a:endParaRPr lang="en-US" dirty="0"/>
          </a:p>
        </p:txBody>
      </p:sp>
      <p:sp>
        <p:nvSpPr>
          <p:cNvPr id="4" name="Slide Number Placeholder 3"/>
          <p:cNvSpPr>
            <a:spLocks noGrp="1"/>
          </p:cNvSpPr>
          <p:nvPr>
            <p:ph type="sldNum" sz="quarter" idx="5"/>
          </p:nvPr>
        </p:nvSpPr>
        <p:spPr/>
        <p:txBody>
          <a:bodyPr/>
          <a:lstStyle/>
          <a:p>
            <a:pPr>
              <a:defRPr/>
            </a:pPr>
            <a:fld id="{41BB943A-C3B9-42AE-8B54-C2335812312E}" type="slidenum">
              <a:rPr lang="en-US" smtClean="0"/>
              <a:pPr>
                <a:defRPr/>
              </a:pPr>
              <a:t>9</a:t>
            </a:fld>
            <a:endParaRPr lang="en-US"/>
          </a:p>
        </p:txBody>
      </p:sp>
    </p:spTree>
    <p:extLst>
      <p:ext uri="{BB962C8B-B14F-4D97-AF65-F5344CB8AC3E}">
        <p14:creationId xmlns:p14="http://schemas.microsoft.com/office/powerpoint/2010/main" val="3087341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You can decide whether you want to show</a:t>
            </a:r>
            <a:r>
              <a:rPr lang="en-US" baseline="0" dirty="0"/>
              <a:t> the students how to generate the toString and equals methods when testing the addFrac method to do an assertEquals(), or if you want to reduce the amount of time taken, you can also choose to simply compare the actual numerator and denominator as in the solution code.</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10</a:t>
            </a:fld>
            <a:endParaRPr lang="en-US" dirty="0"/>
          </a:p>
        </p:txBody>
      </p:sp>
    </p:spTree>
    <p:extLst>
      <p:ext uri="{BB962C8B-B14F-4D97-AF65-F5344CB8AC3E}">
        <p14:creationId xmlns:p14="http://schemas.microsoft.com/office/powerpoint/2010/main" val="2218103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You can decide whether you want to show</a:t>
            </a:r>
            <a:r>
              <a:rPr lang="en-US" baseline="0" dirty="0"/>
              <a:t> the students how to generate the toString and equals methods when testing the addFrac method to do an assertEquals(), or if you want to reduce the amount of time taken, you can also choose to simply compare the actual numerator and denominator as in the solution code.</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11</a:t>
            </a:fld>
            <a:endParaRPr lang="en-US" dirty="0"/>
          </a:p>
        </p:txBody>
      </p:sp>
    </p:spTree>
    <p:extLst>
      <p:ext uri="{BB962C8B-B14F-4D97-AF65-F5344CB8AC3E}">
        <p14:creationId xmlns:p14="http://schemas.microsoft.com/office/powerpoint/2010/main" val="4134501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12</a:t>
            </a:fld>
            <a:endParaRPr lang="en-US" dirty="0"/>
          </a:p>
        </p:txBody>
      </p:sp>
    </p:spTree>
    <p:extLst>
      <p:ext uri="{BB962C8B-B14F-4D97-AF65-F5344CB8AC3E}">
        <p14:creationId xmlns:p14="http://schemas.microsoft.com/office/powerpoint/2010/main" val="3482684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99D63304-4803-46E9-8053-E8AD2B380643}" type="datetime2">
              <a:rPr lang="en-US" smtClean="0"/>
              <a:pPr>
                <a:defRPr/>
              </a:pPr>
              <a:t>Thursday, September 24, 2026</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E242930-7B11-4C91-93D9-A54E2CD74AD7}" type="slidenum">
              <a:rPr lang="en-US" smtClean="0"/>
              <a:pPr>
                <a:defRPr/>
              </a:pPr>
              <a:t>‹#›</a:t>
            </a:fld>
            <a:endParaRPr lang="en-US" dirty="0"/>
          </a:p>
        </p:txBody>
      </p:sp>
    </p:spTree>
    <p:extLst>
      <p:ext uri="{BB962C8B-B14F-4D97-AF65-F5344CB8AC3E}">
        <p14:creationId xmlns:p14="http://schemas.microsoft.com/office/powerpoint/2010/main" val="197650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FD450AFD-1AD4-40A7-ADB3-7F87D0F8D819}" type="datetime2">
              <a:rPr lang="en-US" smtClean="0"/>
              <a:pPr>
                <a:defRPr/>
              </a:pPr>
              <a:t>Thursday, September 24, 2026</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719A2B-6AB5-4698-BD1C-B24CF46110BB}" type="slidenum">
              <a:rPr lang="en-US" smtClean="0"/>
              <a:pPr>
                <a:defRPr/>
              </a:pPr>
              <a:t>‹#›</a:t>
            </a:fld>
            <a:endParaRPr lang="en-US"/>
          </a:p>
        </p:txBody>
      </p:sp>
    </p:spTree>
    <p:extLst>
      <p:ext uri="{BB962C8B-B14F-4D97-AF65-F5344CB8AC3E}">
        <p14:creationId xmlns:p14="http://schemas.microsoft.com/office/powerpoint/2010/main" val="4180615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7E205AC-0D9D-49E5-90F5-84A523F53AD4}" type="datetime2">
              <a:rPr lang="en-US" smtClean="0"/>
              <a:pPr>
                <a:defRPr/>
              </a:pPr>
              <a:t>Thursday, September 24, 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84BE59B-51DA-440B-8545-A062048D7B9A}" type="slidenum">
              <a:rPr lang="en-US" smtClean="0"/>
              <a:pPr>
                <a:defRPr/>
              </a:pPr>
              <a:t>‹#›</a:t>
            </a:fld>
            <a:endParaRPr lang="en-US"/>
          </a:p>
        </p:txBody>
      </p:sp>
    </p:spTree>
    <p:extLst>
      <p:ext uri="{BB962C8B-B14F-4D97-AF65-F5344CB8AC3E}">
        <p14:creationId xmlns:p14="http://schemas.microsoft.com/office/powerpoint/2010/main" val="1145720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38E96CC7-A4B9-4483-A454-FAC873D5CC60}" type="datetime2">
              <a:rPr lang="en-US" smtClean="0"/>
              <a:pPr>
                <a:defRPr/>
              </a:pPr>
              <a:t>Thursday, September 24, 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232177C-87C6-43B9-A935-6328F9639B73}" type="slidenum">
              <a:rPr lang="en-US" smtClean="0"/>
              <a:pPr>
                <a:defRPr/>
              </a:pPr>
              <a:t>‹#›</a:t>
            </a:fld>
            <a:endParaRPr lang="en-US"/>
          </a:p>
        </p:txBody>
      </p:sp>
    </p:spTree>
    <p:extLst>
      <p:ext uri="{BB962C8B-B14F-4D97-AF65-F5344CB8AC3E}">
        <p14:creationId xmlns:p14="http://schemas.microsoft.com/office/powerpoint/2010/main" val="2923953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036B0ADB-9602-482B-85CF-ADC1BAEB4D83}" type="datetime2">
              <a:rPr lang="en-US" smtClean="0"/>
              <a:pPr>
                <a:defRPr/>
              </a:pPr>
              <a:t>Thursday, September 24, 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A8939F39-A2B5-4674-BBDC-FB0FC7799A06}" type="slidenum">
              <a:rPr lang="en-US" smtClean="0"/>
              <a:pPr>
                <a:defRPr/>
              </a:pPr>
              <a:t>‹#›</a:t>
            </a:fld>
            <a:endParaRPr lang="en-US"/>
          </a:p>
        </p:txBody>
      </p:sp>
    </p:spTree>
    <p:extLst>
      <p:ext uri="{BB962C8B-B14F-4D97-AF65-F5344CB8AC3E}">
        <p14:creationId xmlns:p14="http://schemas.microsoft.com/office/powerpoint/2010/main" val="27000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2E4EB50F-1288-4DFE-A2B7-2FC74B6FF41B}" type="datetime2">
              <a:rPr lang="en-US" smtClean="0"/>
              <a:pPr>
                <a:defRPr/>
              </a:pPr>
              <a:t>Thursday, September 24, 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F040A32C-847A-4008-98DF-1431C4BD4B30}" type="slidenum">
              <a:rPr lang="en-US" smtClean="0"/>
              <a:pPr>
                <a:defRPr/>
              </a:pPr>
              <a:t>‹#›</a:t>
            </a:fld>
            <a:endParaRPr lang="en-US"/>
          </a:p>
        </p:txBody>
      </p:sp>
    </p:spTree>
    <p:extLst>
      <p:ext uri="{BB962C8B-B14F-4D97-AF65-F5344CB8AC3E}">
        <p14:creationId xmlns:p14="http://schemas.microsoft.com/office/powerpoint/2010/main" val="361920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0081446E-4544-488E-A5FE-1BC8CCF1495A}" type="datetime2">
              <a:rPr lang="en-US" smtClean="0"/>
              <a:pPr>
                <a:defRPr/>
              </a:pPr>
              <a:t>Thursday, September 24, 2026</a:t>
            </a:fld>
            <a:endParaRPr lang="en-US" dirty="0"/>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A2320C44-97C4-4C75-8F69-EA40841DDDD7}" type="slidenum">
              <a:rPr lang="en-US" smtClean="0"/>
              <a:pPr>
                <a:defRPr/>
              </a:pPr>
              <a:t>‹#›</a:t>
            </a:fld>
            <a:endParaRPr lang="en-US"/>
          </a:p>
        </p:txBody>
      </p:sp>
    </p:spTree>
    <p:extLst>
      <p:ext uri="{BB962C8B-B14F-4D97-AF65-F5344CB8AC3E}">
        <p14:creationId xmlns:p14="http://schemas.microsoft.com/office/powerpoint/2010/main" val="152970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7C57AFD-AD8B-4ACE-BF5F-D584921D5881}" type="datetime2">
              <a:rPr lang="en-US" smtClean="0"/>
              <a:pPr>
                <a:defRPr/>
              </a:pPr>
              <a:t>Thursday, September 24, 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9DA3404-8575-4D7A-B473-E12712201712}" type="slidenum">
              <a:rPr lang="en-US" smtClean="0"/>
              <a:pPr>
                <a:defRPr/>
              </a:pPr>
              <a:t>‹#›</a:t>
            </a:fld>
            <a:endParaRPr lang="en-US"/>
          </a:p>
        </p:txBody>
      </p:sp>
    </p:spTree>
    <p:extLst>
      <p:ext uri="{BB962C8B-B14F-4D97-AF65-F5344CB8AC3E}">
        <p14:creationId xmlns:p14="http://schemas.microsoft.com/office/powerpoint/2010/main" val="867267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0BD2CCA-3B9B-4204-8C40-14009DD5CC52}" type="datetime2">
              <a:rPr lang="en-US" smtClean="0"/>
              <a:pPr>
                <a:defRPr/>
              </a:pPr>
              <a:t>Thursday, September 24, 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22B96DF-88DE-48C3-B785-8FAF2A41F85E}" type="slidenum">
              <a:rPr lang="en-US" smtClean="0"/>
              <a:pPr>
                <a:defRPr/>
              </a:pPr>
              <a:t>‹#›</a:t>
            </a:fld>
            <a:endParaRPr lang="en-US"/>
          </a:p>
        </p:txBody>
      </p:sp>
    </p:spTree>
    <p:extLst>
      <p:ext uri="{BB962C8B-B14F-4D97-AF65-F5344CB8AC3E}">
        <p14:creationId xmlns:p14="http://schemas.microsoft.com/office/powerpoint/2010/main" val="3187067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22621D6E-7091-4510-88D1-5FA26E14D11A}" type="datetime2">
              <a:rPr lang="en-US" smtClean="0"/>
              <a:pPr>
                <a:defRPr/>
              </a:pPr>
              <a:t>Thursday, September 24, 2026</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F59483E-09E4-48D5-BA16-BD54A4526051}" type="slidenum">
              <a:rPr lang="en-US" smtClean="0"/>
              <a:pPr>
                <a:defRPr/>
              </a:pPr>
              <a:t>‹#›</a:t>
            </a:fld>
            <a:endParaRPr lang="en-US"/>
          </a:p>
        </p:txBody>
      </p:sp>
    </p:spTree>
    <p:extLst>
      <p:ext uri="{BB962C8B-B14F-4D97-AF65-F5344CB8AC3E}">
        <p14:creationId xmlns:p14="http://schemas.microsoft.com/office/powerpoint/2010/main" val="2551556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13F03A13-9CFF-4839-B20A-D00C049D77D5}" type="datetime2">
              <a:rPr lang="en-US" smtClean="0"/>
              <a:pPr>
                <a:defRPr/>
              </a:pPr>
              <a:t>Thursday, September 24, 2026</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1CA0CD3-0616-4975-8CB6-395FF73FEB58}" type="slidenum">
              <a:rPr lang="en-US" smtClean="0"/>
              <a:pPr>
                <a:defRPr/>
              </a:pPr>
              <a:t>‹#›</a:t>
            </a:fld>
            <a:endParaRPr lang="en-US"/>
          </a:p>
        </p:txBody>
      </p:sp>
    </p:spTree>
    <p:extLst>
      <p:ext uri="{BB962C8B-B14F-4D97-AF65-F5344CB8AC3E}">
        <p14:creationId xmlns:p14="http://schemas.microsoft.com/office/powerpoint/2010/main" val="1183236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8A073B1-0DA8-47AB-B7E2-D5D57F68FCE3}" type="datetime2">
              <a:rPr lang="en-US" smtClean="0"/>
              <a:pPr>
                <a:defRPr/>
              </a:pPr>
              <a:t>Thursday, September 24, 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7341FED-3A60-48F0-B693-9093865656C9}" type="slidenum">
              <a:rPr lang="en-US" smtClean="0"/>
              <a:pPr>
                <a:defRPr/>
              </a:pPr>
              <a:t>‹#›</a:t>
            </a:fld>
            <a:endParaRPr lang="en-US"/>
          </a:p>
        </p:txBody>
      </p:sp>
    </p:spTree>
    <p:extLst>
      <p:ext uri="{BB962C8B-B14F-4D97-AF65-F5344CB8AC3E}">
        <p14:creationId xmlns:p14="http://schemas.microsoft.com/office/powerpoint/2010/main" val="3601768921"/>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junit.org/junit4/javadoc/latest/org/junit/Assert.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jetbrains.com/help/idea/create-tests.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ctrTitle"/>
          </p:nvPr>
        </p:nvSpPr>
        <p:spPr/>
        <p:txBody>
          <a:bodyPr/>
          <a:lstStyle/>
          <a:p>
            <a:r>
              <a:rPr lang="en-US" dirty="0"/>
              <a:t>CSSE 220</a:t>
            </a:r>
          </a:p>
        </p:txBody>
      </p:sp>
      <p:sp>
        <p:nvSpPr>
          <p:cNvPr id="9219" name="Rectangle 2"/>
          <p:cNvSpPr>
            <a:spLocks noGrp="1"/>
          </p:cNvSpPr>
          <p:nvPr>
            <p:ph type="subTitle" idx="1"/>
          </p:nvPr>
        </p:nvSpPr>
        <p:spPr/>
        <p:txBody>
          <a:bodyPr/>
          <a:lstStyle/>
          <a:p>
            <a:r>
              <a:rPr lang="en-US" dirty="0"/>
              <a:t>Unit Testing</a:t>
            </a:r>
          </a:p>
        </p:txBody>
      </p:sp>
      <p:sp>
        <p:nvSpPr>
          <p:cNvPr id="3" name="Rectangle 2">
            <a:extLst>
              <a:ext uri="{FF2B5EF4-FFF2-40B4-BE49-F238E27FC236}">
                <a16:creationId xmlns:a16="http://schemas.microsoft.com/office/drawing/2014/main" id="{678C4403-74EC-D32D-04C3-70921D724E77}"/>
              </a:ext>
            </a:extLst>
          </p:cNvPr>
          <p:cNvSpPr/>
          <p:nvPr/>
        </p:nvSpPr>
        <p:spPr>
          <a:xfrm>
            <a:off x="304800" y="5105400"/>
            <a:ext cx="8534400" cy="1295400"/>
          </a:xfrm>
          <a:prstGeom prst="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sz="2400" dirty="0">
                <a:solidFill>
                  <a:srgbClr val="FFFFFF"/>
                </a:solidFill>
              </a:rPr>
              <a:t>The </a:t>
            </a:r>
            <a:r>
              <a:rPr lang="en-US" sz="2400" i="1" dirty="0">
                <a:solidFill>
                  <a:srgbClr val="FFFFFF"/>
                </a:solidFill>
              </a:rPr>
              <a:t>git</a:t>
            </a:r>
            <a:r>
              <a:rPr lang="en-US" sz="2400" dirty="0">
                <a:solidFill>
                  <a:srgbClr val="FFFFFF"/>
                </a:solidFill>
              </a:rPr>
              <a:t> projects for today are:</a:t>
            </a:r>
          </a:p>
          <a:p>
            <a:pPr marL="342900" indent="-342900">
              <a:buFont typeface="Arial" panose="020B0604020202020204" pitchFamily="34" charset="0"/>
              <a:buChar char="•"/>
            </a:pPr>
            <a:r>
              <a:rPr lang="en-US" sz="2400" i="1" dirty="0" err="1"/>
              <a:t>PracticeUnitTesting</a:t>
            </a:r>
            <a:endParaRPr lang="en-US" sz="2400" i="1" dirty="0"/>
          </a:p>
          <a:p>
            <a:pPr marL="342900" indent="-342900">
              <a:buFont typeface="Arial" panose="020B0604020202020204" pitchFamily="34" charset="0"/>
              <a:buChar char="•"/>
            </a:pPr>
            <a:r>
              <a:rPr lang="en-US" sz="2400" i="1" dirty="0" err="1"/>
              <a:t>PracticeSolutionUnitTesting</a:t>
            </a:r>
            <a:endParaRPr lang="en-US" sz="24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Testing</a:t>
            </a:r>
          </a:p>
        </p:txBody>
      </p:sp>
      <p:sp>
        <p:nvSpPr>
          <p:cNvPr id="3" name="Content Placeholder 2"/>
          <p:cNvSpPr>
            <a:spLocks noGrp="1"/>
          </p:cNvSpPr>
          <p:nvPr>
            <p:ph idx="1"/>
          </p:nvPr>
        </p:nvSpPr>
        <p:spPr/>
        <p:txBody>
          <a:bodyPr/>
          <a:lstStyle/>
          <a:p>
            <a:r>
              <a:rPr lang="en-US" dirty="0"/>
              <a:t>Idea: Test “small pieces” of larger program</a:t>
            </a:r>
          </a:p>
          <a:p>
            <a:pPr lvl="1"/>
            <a:r>
              <a:rPr lang="en-US" dirty="0"/>
              <a:t>Do the expected values match what you ACTUALLY get?</a:t>
            </a:r>
          </a:p>
          <a:p>
            <a:r>
              <a:rPr lang="en-US" dirty="0"/>
              <a:t>How to test in this manner?</a:t>
            </a:r>
          </a:p>
          <a:p>
            <a:pPr lvl="1"/>
            <a:r>
              <a:rPr lang="en-US" dirty="0"/>
              <a:t>Could make a main method that calls all the methods</a:t>
            </a:r>
          </a:p>
          <a:p>
            <a:pPr lvl="1"/>
            <a:r>
              <a:rPr lang="en-US" dirty="0"/>
              <a:t>Use Java's JUnit testing framework</a:t>
            </a:r>
          </a:p>
          <a:p>
            <a:pPr lvl="2"/>
            <a:r>
              <a:rPr lang="en-US" dirty="0"/>
              <a:t>Creating a Tester </a:t>
            </a:r>
            <a:r>
              <a:rPr lang="en-US" dirty="0" err="1"/>
              <a:t>JUnit</a:t>
            </a:r>
            <a:r>
              <a:rPr lang="en-US" dirty="0"/>
              <a:t> class</a:t>
            </a:r>
          </a:p>
        </p:txBody>
      </p:sp>
      <p:sp>
        <p:nvSpPr>
          <p:cNvPr id="7" name="Rectangle 6"/>
          <p:cNvSpPr/>
          <p:nvPr/>
        </p:nvSpPr>
        <p:spPr>
          <a:xfrm>
            <a:off x="8305800" y="6126163"/>
            <a:ext cx="609600" cy="579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Q2</a:t>
            </a:r>
          </a:p>
        </p:txBody>
      </p:sp>
    </p:spTree>
    <p:extLst>
      <p:ext uri="{BB962C8B-B14F-4D97-AF65-F5344CB8AC3E}">
        <p14:creationId xmlns:p14="http://schemas.microsoft.com/office/powerpoint/2010/main" val="3923847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Unit Testing?</a:t>
            </a:r>
          </a:p>
        </p:txBody>
      </p:sp>
      <p:sp>
        <p:nvSpPr>
          <p:cNvPr id="3" name="Content Placeholder 2"/>
          <p:cNvSpPr>
            <a:spLocks noGrp="1"/>
          </p:cNvSpPr>
          <p:nvPr>
            <p:ph idx="1"/>
          </p:nvPr>
        </p:nvSpPr>
        <p:spPr/>
        <p:txBody>
          <a:bodyPr/>
          <a:lstStyle/>
          <a:p>
            <a:r>
              <a:rPr lang="en-US" dirty="0"/>
              <a:t>There are several goals of unit testing:</a:t>
            </a:r>
          </a:p>
          <a:p>
            <a:pPr lvl="1"/>
            <a:r>
              <a:rPr lang="en-US" dirty="0"/>
              <a:t>Make sure your code works (as specified!)</a:t>
            </a:r>
          </a:p>
          <a:p>
            <a:pPr lvl="1"/>
            <a:r>
              <a:rPr lang="en-US" dirty="0"/>
              <a:t>Keep it working</a:t>
            </a:r>
          </a:p>
          <a:p>
            <a:pPr lvl="1"/>
            <a:r>
              <a:rPr lang="en-US" dirty="0"/>
              <a:t>Confirm understanding of the specification</a:t>
            </a:r>
          </a:p>
          <a:p>
            <a:pPr lvl="1"/>
            <a:r>
              <a:rPr lang="en-US" dirty="0"/>
              <a:t>Confirm pieces of code in isolation</a:t>
            </a:r>
          </a:p>
          <a:p>
            <a:pPr lvl="1"/>
            <a:r>
              <a:rPr lang="en-US" dirty="0"/>
              <a:t>Provide Documentation</a:t>
            </a:r>
          </a:p>
          <a:p>
            <a:pPr lvl="1"/>
            <a:endParaRPr lang="en-US" dirty="0"/>
          </a:p>
        </p:txBody>
      </p:sp>
      <p:sp>
        <p:nvSpPr>
          <p:cNvPr id="4" name="Rectangle 3"/>
          <p:cNvSpPr/>
          <p:nvPr/>
        </p:nvSpPr>
        <p:spPr>
          <a:xfrm>
            <a:off x="8229600" y="6126163"/>
            <a:ext cx="685800" cy="579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Q3</a:t>
            </a:r>
          </a:p>
        </p:txBody>
      </p:sp>
    </p:spTree>
    <p:extLst>
      <p:ext uri="{BB962C8B-B14F-4D97-AF65-F5344CB8AC3E}">
        <p14:creationId xmlns:p14="http://schemas.microsoft.com/office/powerpoint/2010/main" val="2883654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Unit Tests (as done in CSSE120)</a:t>
            </a:r>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dirty="0"/>
              <a:t>Construct one or more objects of the class that is being tested</a:t>
            </a:r>
          </a:p>
          <a:p>
            <a:pPr marL="514350" indent="-514350">
              <a:buFont typeface="+mj-lt"/>
              <a:buAutoNum type="arabicPeriod"/>
            </a:pPr>
            <a:r>
              <a:rPr lang="en-US" dirty="0"/>
              <a:t>Invoke one or more methods</a:t>
            </a:r>
          </a:p>
          <a:p>
            <a:pPr marL="514350" indent="-514350">
              <a:buFont typeface="+mj-lt"/>
              <a:buAutoNum type="arabicPeriod"/>
            </a:pPr>
            <a:r>
              <a:rPr lang="en-US" dirty="0"/>
              <a:t>Print out one or more results</a:t>
            </a:r>
          </a:p>
          <a:p>
            <a:pPr marL="514350" indent="-514350">
              <a:buFont typeface="+mj-lt"/>
              <a:buAutoNum type="arabicPeriod"/>
            </a:pPr>
            <a:r>
              <a:rPr lang="en-US" dirty="0"/>
              <a:t>Print the expected results</a:t>
            </a:r>
          </a:p>
          <a:p>
            <a:pPr marL="514350" indent="-514350">
              <a:buFont typeface="+mj-lt"/>
              <a:buAutoNum type="arabicPeriod"/>
            </a:pPr>
            <a:r>
              <a:rPr lang="en-US" dirty="0"/>
              <a:t>Do 3 and 4 match?</a:t>
            </a:r>
          </a:p>
          <a:p>
            <a:pPr marL="514350" indent="-514350">
              <a:buFont typeface="+mj-lt"/>
              <a:buAutoNum type="arabicPeriod"/>
            </a:pPr>
            <a:endParaRPr lang="en-US" dirty="0"/>
          </a:p>
          <a:p>
            <a:pPr marL="0" indent="0">
              <a:buNone/>
            </a:pPr>
            <a:r>
              <a:rPr lang="en-US" i="1" dirty="0"/>
              <a:t>(Pages 102-103 in book)</a:t>
            </a:r>
          </a:p>
        </p:txBody>
      </p:sp>
    </p:spTree>
    <p:extLst>
      <p:ext uri="{BB962C8B-B14F-4D97-AF65-F5344CB8AC3E}">
        <p14:creationId xmlns:p14="http://schemas.microsoft.com/office/powerpoint/2010/main" val="3212822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JUnit?</a:t>
            </a:r>
          </a:p>
        </p:txBody>
      </p:sp>
      <p:sp>
        <p:nvSpPr>
          <p:cNvPr id="3" name="Content Placeholder 2"/>
          <p:cNvSpPr>
            <a:spLocks noGrp="1"/>
          </p:cNvSpPr>
          <p:nvPr>
            <p:ph idx="1"/>
          </p:nvPr>
        </p:nvSpPr>
        <p:spPr/>
        <p:txBody>
          <a:bodyPr/>
          <a:lstStyle/>
          <a:p>
            <a:r>
              <a:rPr lang="en-US" dirty="0"/>
              <a:t>Provides a Framework</a:t>
            </a:r>
          </a:p>
          <a:p>
            <a:pPr lvl="1"/>
            <a:r>
              <a:rPr lang="en-US" dirty="0"/>
              <a:t>Framework: Collection of classes to be used by another program</a:t>
            </a:r>
          </a:p>
          <a:p>
            <a:r>
              <a:rPr lang="en-US" dirty="0"/>
              <a:t>Provides easy-to-read output in IDE</a:t>
            </a:r>
          </a:p>
          <a:p>
            <a:r>
              <a:rPr lang="en-US" dirty="0"/>
              <a:t>Printouts require you to analyze all lines</a:t>
            </a:r>
          </a:p>
          <a:p>
            <a:pPr lvl="1"/>
            <a:r>
              <a:rPr lang="en-US" dirty="0"/>
              <a:t>What if it scrolls off the page?</a:t>
            </a:r>
          </a:p>
          <a:p>
            <a:pPr lvl="1"/>
            <a:r>
              <a:rPr lang="en-US" dirty="0"/>
              <a:t>What if it’s only 1 character different?</a:t>
            </a:r>
          </a:p>
          <a:p>
            <a:pPr lvl="1"/>
            <a:endParaRPr lang="en-US" dirty="0"/>
          </a:p>
          <a:p>
            <a:pPr lvl="1"/>
            <a:endParaRPr lang="en-US" dirty="0"/>
          </a:p>
        </p:txBody>
      </p:sp>
    </p:spTree>
    <p:extLst>
      <p:ext uri="{BB962C8B-B14F-4D97-AF65-F5344CB8AC3E}">
        <p14:creationId xmlns:p14="http://schemas.microsoft.com/office/powerpoint/2010/main" val="4261172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quality unit tests?</a:t>
            </a:r>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r>
              <a:rPr lang="en-US" dirty="0"/>
              <a:t>Unit tests should be small pieces that test:</a:t>
            </a:r>
          </a:p>
          <a:p>
            <a:pPr marL="971550" lvl="1" indent="-514350">
              <a:buFont typeface="+mj-lt"/>
              <a:buAutoNum type="arabicPeriod"/>
            </a:pPr>
            <a:r>
              <a:rPr lang="en-US" dirty="0"/>
              <a:t>The most common cases</a:t>
            </a:r>
          </a:p>
          <a:p>
            <a:pPr marL="971550" lvl="1" indent="-514350">
              <a:buFont typeface="+mj-lt"/>
              <a:buAutoNum type="arabicPeriod"/>
            </a:pPr>
            <a:r>
              <a:rPr lang="en-US" dirty="0"/>
              <a:t>The edge cases or boundary cases (minimum, maximum, switching from positive to negative, etc.)</a:t>
            </a:r>
          </a:p>
          <a:p>
            <a:pPr marL="971550" lvl="1" indent="-514350">
              <a:buFont typeface="+mj-lt"/>
              <a:buAutoNum type="arabicPeriod"/>
            </a:pPr>
            <a:r>
              <a:rPr lang="en-US" dirty="0"/>
              <a:t>All specific/special cases (e.g., when 0 or null the behavior is different than for any other value)</a:t>
            </a:r>
          </a:p>
          <a:p>
            <a:pPr marL="971550" lvl="1" indent="-514350">
              <a:buFont typeface="+mj-lt"/>
              <a:buAutoNum type="arabicPeriod"/>
            </a:pPr>
            <a:r>
              <a:rPr lang="en-US" dirty="0"/>
              <a:t>When you find and fix a defect, then at that same time, create a unit test that would have revealed that defect. Then in future modifications to the code, if that defect gets reintroduced, the new unit test you created will reveal its presence</a:t>
            </a:r>
          </a:p>
          <a:p>
            <a:pPr marL="971550" lvl="1" indent="-514350">
              <a:buFont typeface="+mj-lt"/>
              <a:buAutoNum type="arabicPeriod"/>
            </a:pPr>
            <a:r>
              <a:rPr lang="en-US" dirty="0"/>
              <a:t>Any overly complex code that 1-4 above don’t cover</a:t>
            </a:r>
          </a:p>
          <a:p>
            <a:pPr marL="457200" lvl="1" indent="0">
              <a:buNone/>
            </a:pPr>
            <a:endParaRPr lang="en-US" dirty="0"/>
          </a:p>
        </p:txBody>
      </p:sp>
      <p:sp>
        <p:nvSpPr>
          <p:cNvPr id="7" name="Rectangle 6"/>
          <p:cNvSpPr/>
          <p:nvPr/>
        </p:nvSpPr>
        <p:spPr>
          <a:xfrm>
            <a:off x="8229600" y="6126163"/>
            <a:ext cx="685800" cy="579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Q4</a:t>
            </a:r>
          </a:p>
        </p:txBody>
      </p:sp>
    </p:spTree>
    <p:extLst>
      <p:ext uri="{BB962C8B-B14F-4D97-AF65-F5344CB8AC3E}">
        <p14:creationId xmlns:p14="http://schemas.microsoft.com/office/powerpoint/2010/main" val="320120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poor quality test case?</a:t>
            </a:r>
          </a:p>
        </p:txBody>
      </p:sp>
      <p:sp>
        <p:nvSpPr>
          <p:cNvPr id="3" name="Content Placeholder 2"/>
          <p:cNvSpPr>
            <a:spLocks noGrp="1"/>
          </p:cNvSpPr>
          <p:nvPr>
            <p:ph idx="1"/>
          </p:nvPr>
        </p:nvSpPr>
        <p:spPr>
          <a:xfrm>
            <a:off x="457200" y="1219200"/>
            <a:ext cx="8229600" cy="4906963"/>
          </a:xfrm>
        </p:spPr>
        <p:txBody>
          <a:bodyPr>
            <a:normAutofit/>
          </a:bodyPr>
          <a:lstStyle/>
          <a:p>
            <a:pPr lvl="1"/>
            <a:r>
              <a:rPr lang="en-US" dirty="0"/>
              <a:t>A test case that provides illegal input to the operation</a:t>
            </a:r>
          </a:p>
          <a:p>
            <a:pPr lvl="1"/>
            <a:r>
              <a:rPr lang="en-US" dirty="0"/>
              <a:t>For example, the </a:t>
            </a:r>
            <a:r>
              <a:rPr lang="en-US" i="1" dirty="0"/>
              <a:t>deposit</a:t>
            </a:r>
            <a:r>
              <a:rPr lang="en-US" dirty="0"/>
              <a:t> method from the </a:t>
            </a:r>
            <a:r>
              <a:rPr lang="en-US" dirty="0" err="1"/>
              <a:t>BankAccount</a:t>
            </a:r>
            <a:r>
              <a:rPr lang="en-US" dirty="0"/>
              <a:t> class</a:t>
            </a:r>
          </a:p>
          <a:p>
            <a:pPr lvl="1"/>
            <a:r>
              <a:rPr lang="en-US" dirty="0"/>
              <a:t>It has a requires clause that states the </a:t>
            </a:r>
            <a:r>
              <a:rPr lang="en-US" dirty="0" err="1"/>
              <a:t>depositAmount</a:t>
            </a:r>
            <a:r>
              <a:rPr lang="en-US" dirty="0"/>
              <a:t> &gt; 0</a:t>
            </a:r>
          </a:p>
          <a:p>
            <a:pPr lvl="1"/>
            <a:r>
              <a:rPr lang="en-US" dirty="0"/>
              <a:t>Testing it with a negative number is a poor test case because it </a:t>
            </a:r>
            <a:r>
              <a:rPr lang="en-US" i="1" dirty="0"/>
              <a:t>requires</a:t>
            </a:r>
            <a:r>
              <a:rPr lang="en-US" dirty="0"/>
              <a:t> non-negative input</a:t>
            </a:r>
          </a:p>
          <a:p>
            <a:pPr lvl="1"/>
            <a:endParaRPr lang="en-US" dirty="0"/>
          </a:p>
          <a:p>
            <a:pPr marL="971550" lvl="1" indent="-514350">
              <a:buFont typeface="+mj-lt"/>
              <a:buAutoNum type="arabicPeriod"/>
            </a:pPr>
            <a:endParaRPr lang="en-US" dirty="0"/>
          </a:p>
          <a:p>
            <a:pPr marL="457200" lvl="1" indent="0">
              <a:buNone/>
            </a:pPr>
            <a:endParaRPr lang="en-US" dirty="0"/>
          </a:p>
        </p:txBody>
      </p:sp>
      <p:sp>
        <p:nvSpPr>
          <p:cNvPr id="7" name="Rectangle 6"/>
          <p:cNvSpPr/>
          <p:nvPr/>
        </p:nvSpPr>
        <p:spPr>
          <a:xfrm>
            <a:off x="8229600" y="6126163"/>
            <a:ext cx="685800" cy="579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Q4</a:t>
            </a:r>
          </a:p>
        </p:txBody>
      </p:sp>
      <p:pic>
        <p:nvPicPr>
          <p:cNvPr id="5" name="Picture 4">
            <a:extLst>
              <a:ext uri="{FF2B5EF4-FFF2-40B4-BE49-F238E27FC236}">
                <a16:creationId xmlns:a16="http://schemas.microsoft.com/office/drawing/2014/main" id="{E8093846-CC3C-E945-A4BF-C80F5B6F9D15}"/>
              </a:ext>
            </a:extLst>
          </p:cNvPr>
          <p:cNvPicPr>
            <a:picLocks noChangeAspect="1"/>
          </p:cNvPicPr>
          <p:nvPr/>
        </p:nvPicPr>
        <p:blipFill>
          <a:blip r:embed="rId2"/>
          <a:stretch>
            <a:fillRect/>
          </a:stretch>
        </p:blipFill>
        <p:spPr>
          <a:xfrm>
            <a:off x="4419600" y="4923080"/>
            <a:ext cx="3257550" cy="1652091"/>
          </a:xfrm>
          <a:prstGeom prst="rect">
            <a:avLst/>
          </a:prstGeom>
        </p:spPr>
      </p:pic>
    </p:spTree>
    <p:extLst>
      <p:ext uri="{BB962C8B-B14F-4D97-AF65-F5344CB8AC3E}">
        <p14:creationId xmlns:p14="http://schemas.microsoft.com/office/powerpoint/2010/main" val="3198684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1B8EF-0F32-A880-F309-8620FFB337F0}"/>
              </a:ext>
            </a:extLst>
          </p:cNvPr>
          <p:cNvSpPr>
            <a:spLocks noGrp="1"/>
          </p:cNvSpPr>
          <p:nvPr>
            <p:ph type="title"/>
          </p:nvPr>
        </p:nvSpPr>
        <p:spPr>
          <a:xfrm>
            <a:off x="437941" y="0"/>
            <a:ext cx="8229600" cy="1143000"/>
          </a:xfrm>
        </p:spPr>
        <p:txBody>
          <a:bodyPr>
            <a:normAutofit/>
          </a:bodyPr>
          <a:lstStyle/>
          <a:p>
            <a:r>
              <a:rPr lang="en-US" sz="2800" b="1" i="0" u="none" strike="noStrike" dirty="0">
                <a:solidFill>
                  <a:srgbClr val="000000"/>
                </a:solidFill>
                <a:effectLst/>
                <a:latin typeface="Times New Roman" panose="02020603050405020304" pitchFamily="18" charset="0"/>
              </a:rPr>
              <a:t>Writing JUnit Tests for the </a:t>
            </a:r>
            <a:r>
              <a:rPr lang="en-US" sz="2800" b="1" i="1" u="none" strike="noStrike" dirty="0">
                <a:solidFill>
                  <a:srgbClr val="000000"/>
                </a:solidFill>
                <a:effectLst/>
                <a:latin typeface="Times New Roman" panose="02020603050405020304" pitchFamily="18" charset="0"/>
              </a:rPr>
              <a:t>green modules</a:t>
            </a:r>
            <a:endParaRPr lang="en-US" sz="6000" b="1" dirty="0"/>
          </a:p>
        </p:txBody>
      </p:sp>
      <p:sp>
        <p:nvSpPr>
          <p:cNvPr id="3" name="Content Placeholder 2">
            <a:extLst>
              <a:ext uri="{FF2B5EF4-FFF2-40B4-BE49-F238E27FC236}">
                <a16:creationId xmlns:a16="http://schemas.microsoft.com/office/drawing/2014/main" id="{99879BF9-65E9-908C-0D16-DC0867FCB1D3}"/>
              </a:ext>
            </a:extLst>
          </p:cNvPr>
          <p:cNvSpPr>
            <a:spLocks noGrp="1"/>
          </p:cNvSpPr>
          <p:nvPr>
            <p:ph idx="1"/>
          </p:nvPr>
        </p:nvSpPr>
        <p:spPr>
          <a:xfrm>
            <a:off x="457200" y="4419600"/>
            <a:ext cx="8229600" cy="1706563"/>
          </a:xfrm>
        </p:spPr>
        <p:txBody>
          <a:bodyPr>
            <a:normAutofit/>
          </a:bodyPr>
          <a:lstStyle/>
          <a:p>
            <a:r>
              <a:rPr lang="en-US" sz="2400" dirty="0"/>
              <a:t>We write unit test cases with certain “requirements”</a:t>
            </a:r>
          </a:p>
          <a:p>
            <a:r>
              <a:rPr lang="en-US" sz="2400" dirty="0"/>
              <a:t>If a problem states that something is “required” then you </a:t>
            </a:r>
            <a:r>
              <a:rPr lang="en-US" sz="2400" b="1" dirty="0"/>
              <a:t>should</a:t>
            </a:r>
            <a:r>
              <a:rPr lang="en-US" sz="2400" dirty="0"/>
              <a:t> trust it</a:t>
            </a:r>
          </a:p>
          <a:p>
            <a:r>
              <a:rPr lang="en-US" sz="2400" dirty="0"/>
              <a:t>If the data is </a:t>
            </a:r>
            <a:r>
              <a:rPr lang="en-US" sz="2400" b="1" dirty="0"/>
              <a:t>NOT</a:t>
            </a:r>
            <a:r>
              <a:rPr lang="en-US" sz="2400" dirty="0"/>
              <a:t> trustworthy then </a:t>
            </a:r>
            <a:r>
              <a:rPr lang="en-US" sz="2400" b="1" i="1" dirty="0"/>
              <a:t>you</a:t>
            </a:r>
            <a:r>
              <a:rPr lang="en-US" sz="2400" dirty="0"/>
              <a:t> are </a:t>
            </a:r>
            <a:r>
              <a:rPr lang="en-US" sz="2400" b="1" dirty="0"/>
              <a:t>NOT</a:t>
            </a:r>
            <a:r>
              <a:rPr lang="en-US" sz="2400" dirty="0"/>
              <a:t> at fault</a:t>
            </a:r>
          </a:p>
          <a:p>
            <a:endParaRPr lang="en-US" sz="2400" dirty="0"/>
          </a:p>
        </p:txBody>
      </p:sp>
      <p:pic>
        <p:nvPicPr>
          <p:cNvPr id="1026" name="Picture 2" descr="Diagram&#10;&#10;Description automatically generated">
            <a:extLst>
              <a:ext uri="{FF2B5EF4-FFF2-40B4-BE49-F238E27FC236}">
                <a16:creationId xmlns:a16="http://schemas.microsoft.com/office/drawing/2014/main" id="{97F88AF4-3F21-46D4-975E-7F6BBF1AFE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990600"/>
            <a:ext cx="4410075" cy="316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1241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1B8EF-0F32-A880-F309-8620FFB337F0}"/>
              </a:ext>
            </a:extLst>
          </p:cNvPr>
          <p:cNvSpPr>
            <a:spLocks noGrp="1"/>
          </p:cNvSpPr>
          <p:nvPr>
            <p:ph type="title"/>
          </p:nvPr>
        </p:nvSpPr>
        <p:spPr>
          <a:xfrm>
            <a:off x="437941" y="0"/>
            <a:ext cx="8229600" cy="1143000"/>
          </a:xfrm>
        </p:spPr>
        <p:txBody>
          <a:bodyPr>
            <a:normAutofit/>
          </a:bodyPr>
          <a:lstStyle/>
          <a:p>
            <a:r>
              <a:rPr lang="en-US" sz="2800" b="1" i="0" u="none" strike="noStrike" dirty="0">
                <a:solidFill>
                  <a:srgbClr val="000000"/>
                </a:solidFill>
                <a:effectLst/>
                <a:latin typeface="Times New Roman" panose="02020603050405020304" pitchFamily="18" charset="0"/>
              </a:rPr>
              <a:t>Writing JUnit Tests for the </a:t>
            </a:r>
            <a:r>
              <a:rPr lang="en-US" sz="2800" b="1" i="1" u="none" strike="noStrike" dirty="0">
                <a:solidFill>
                  <a:srgbClr val="000000"/>
                </a:solidFill>
                <a:effectLst/>
                <a:latin typeface="Times New Roman" panose="02020603050405020304" pitchFamily="18" charset="0"/>
              </a:rPr>
              <a:t>green modules</a:t>
            </a:r>
            <a:endParaRPr lang="en-US" sz="6000" b="1" dirty="0"/>
          </a:p>
        </p:txBody>
      </p:sp>
      <p:sp>
        <p:nvSpPr>
          <p:cNvPr id="3" name="Content Placeholder 2">
            <a:extLst>
              <a:ext uri="{FF2B5EF4-FFF2-40B4-BE49-F238E27FC236}">
                <a16:creationId xmlns:a16="http://schemas.microsoft.com/office/drawing/2014/main" id="{99879BF9-65E9-908C-0D16-DC0867FCB1D3}"/>
              </a:ext>
            </a:extLst>
          </p:cNvPr>
          <p:cNvSpPr>
            <a:spLocks noGrp="1"/>
          </p:cNvSpPr>
          <p:nvPr>
            <p:ph idx="1"/>
          </p:nvPr>
        </p:nvSpPr>
        <p:spPr>
          <a:xfrm>
            <a:off x="457200" y="4419600"/>
            <a:ext cx="8229600" cy="1706563"/>
          </a:xfrm>
        </p:spPr>
        <p:txBody>
          <a:bodyPr>
            <a:normAutofit lnSpcReduction="10000"/>
          </a:bodyPr>
          <a:lstStyle/>
          <a:p>
            <a:pPr marL="0" indent="0">
              <a:buNone/>
            </a:pPr>
            <a:r>
              <a:rPr lang="en-US" sz="2400" dirty="0">
                <a:solidFill>
                  <a:srgbClr val="000000"/>
                </a:solidFill>
                <a:latin typeface="Times New Roman" panose="02020603050405020304" pitchFamily="18" charset="0"/>
              </a:rPr>
              <a:t>T</a:t>
            </a:r>
            <a:r>
              <a:rPr lang="en-US" sz="2400" b="0" i="0" u="none" strike="noStrike" dirty="0">
                <a:solidFill>
                  <a:srgbClr val="000000"/>
                </a:solidFill>
                <a:effectLst/>
                <a:latin typeface="Times New Roman" panose="02020603050405020304" pitchFamily="18" charset="0"/>
              </a:rPr>
              <a:t>his allows the code in a green module method to be</a:t>
            </a:r>
          </a:p>
          <a:p>
            <a:pPr marL="457200" indent="-457200">
              <a:buFont typeface="+mj-lt"/>
              <a:buAutoNum type="arabicPeriod"/>
            </a:pPr>
            <a:r>
              <a:rPr lang="en-US" sz="2400" dirty="0"/>
              <a:t>Simpler</a:t>
            </a:r>
          </a:p>
          <a:p>
            <a:pPr marL="457200" indent="-457200">
              <a:buFont typeface="+mj-lt"/>
              <a:buAutoNum type="arabicPeriod"/>
            </a:pPr>
            <a:r>
              <a:rPr lang="en-US" sz="2400" dirty="0"/>
              <a:t>More efficient</a:t>
            </a:r>
          </a:p>
          <a:p>
            <a:pPr marL="457200" indent="-457200">
              <a:buFont typeface="+mj-lt"/>
              <a:buAutoNum type="arabicPeriod"/>
            </a:pPr>
            <a:r>
              <a:rPr lang="en-US" sz="2400" dirty="0"/>
              <a:t>Always written consistently (assumes requirements met)</a:t>
            </a:r>
          </a:p>
          <a:p>
            <a:endParaRPr lang="en-US" sz="2400" dirty="0"/>
          </a:p>
          <a:p>
            <a:endParaRPr lang="en-US" sz="2400" dirty="0"/>
          </a:p>
        </p:txBody>
      </p:sp>
      <p:pic>
        <p:nvPicPr>
          <p:cNvPr id="1026" name="Picture 2" descr="Diagram&#10;&#10;Description automatically generated">
            <a:extLst>
              <a:ext uri="{FF2B5EF4-FFF2-40B4-BE49-F238E27FC236}">
                <a16:creationId xmlns:a16="http://schemas.microsoft.com/office/drawing/2014/main" id="{97F88AF4-3F21-46D4-975E-7F6BBF1AFE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990600"/>
            <a:ext cx="4410075" cy="316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0548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Testing</a:t>
            </a:r>
          </a:p>
        </p:txBody>
      </p:sp>
      <p:sp>
        <p:nvSpPr>
          <p:cNvPr id="3" name="Content Placeholder 2"/>
          <p:cNvSpPr>
            <a:spLocks noGrp="1"/>
          </p:cNvSpPr>
          <p:nvPr>
            <p:ph idx="1"/>
          </p:nvPr>
        </p:nvSpPr>
        <p:spPr/>
        <p:txBody>
          <a:bodyPr/>
          <a:lstStyle/>
          <a:p>
            <a:r>
              <a:rPr lang="en-US" dirty="0"/>
              <a:t>Use JUnit “assert” to make sure results match</a:t>
            </a:r>
            <a:br>
              <a:rPr lang="en-US" dirty="0"/>
            </a:br>
            <a:r>
              <a:rPr lang="en-US" sz="1600" dirty="0">
                <a:latin typeface="Courier New" panose="02070309020205020404" pitchFamily="49" charset="0"/>
                <a:cs typeface="Courier New" panose="02070309020205020404" pitchFamily="49" charset="0"/>
                <a:hlinkClick r:id="rId3"/>
              </a:rPr>
              <a:t>https://junit.org/junit4/javadoc/latest/org/junit/Assert.html</a:t>
            </a:r>
            <a:r>
              <a:rPr lang="en-US" dirty="0"/>
              <a:t> </a:t>
            </a:r>
          </a:p>
          <a:p>
            <a:r>
              <a:rPr lang="en-US" dirty="0"/>
              <a:t>Let’s look at BadFrac.java and BadFracTest.java</a:t>
            </a:r>
          </a:p>
          <a:p>
            <a:pPr lvl="1"/>
            <a:r>
              <a:rPr lang="en-US" dirty="0"/>
              <a:t>Let’s make some unit tests and figure out why this project has been yielding some strange results</a:t>
            </a:r>
          </a:p>
        </p:txBody>
      </p:sp>
    </p:spTree>
    <p:extLst>
      <p:ext uri="{BB962C8B-B14F-4D97-AF65-F5344CB8AC3E}">
        <p14:creationId xmlns:p14="http://schemas.microsoft.com/office/powerpoint/2010/main" val="4114754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265238"/>
          </a:xfrm>
        </p:spPr>
        <p:txBody>
          <a:bodyPr/>
          <a:lstStyle/>
          <a:p>
            <a:r>
              <a:rPr lang="en-US" dirty="0"/>
              <a:t>Unit Testing</a:t>
            </a:r>
          </a:p>
        </p:txBody>
      </p:sp>
      <p:sp>
        <p:nvSpPr>
          <p:cNvPr id="3" name="Content Placeholder 2"/>
          <p:cNvSpPr>
            <a:spLocks noGrp="1"/>
          </p:cNvSpPr>
          <p:nvPr>
            <p:ph idx="1"/>
          </p:nvPr>
        </p:nvSpPr>
        <p:spPr>
          <a:xfrm>
            <a:off x="457200" y="1143000"/>
            <a:ext cx="8610600" cy="4983163"/>
          </a:xfrm>
        </p:spPr>
        <p:txBody>
          <a:bodyPr>
            <a:normAutofit/>
          </a:bodyPr>
          <a:lstStyle/>
          <a:p>
            <a:r>
              <a:rPr lang="en-US" dirty="0"/>
              <a:t>Create </a:t>
            </a:r>
            <a:r>
              <a:rPr lang="en-US" i="1" dirty="0"/>
              <a:t>BadFracTest.java</a:t>
            </a:r>
            <a:r>
              <a:rPr lang="en-US" dirty="0"/>
              <a:t> – then create test cases</a:t>
            </a:r>
          </a:p>
          <a:p>
            <a:r>
              <a:rPr lang="en-US" dirty="0">
                <a:hlinkClick r:id="rId3"/>
              </a:rPr>
              <a:t>IntelliJ docs: “Create tests”</a:t>
            </a:r>
            <a:endParaRPr lang="en-US" dirty="0"/>
          </a:p>
          <a:p>
            <a:endParaRPr lang="en-US" dirty="0"/>
          </a:p>
          <a:p>
            <a:pPr marL="514350" indent="-514350">
              <a:buFont typeface="+mj-lt"/>
              <a:buAutoNum type="arabicPeriod"/>
            </a:pPr>
            <a:r>
              <a:rPr lang="en-US" dirty="0"/>
              <a:t>Left-click class name, </a:t>
            </a:r>
            <a:r>
              <a:rPr lang="en-US" dirty="0" err="1"/>
              <a:t>Alt+Enter</a:t>
            </a:r>
            <a:r>
              <a:rPr lang="en-US" dirty="0"/>
              <a:t>, “Create test”</a:t>
            </a:r>
          </a:p>
          <a:p>
            <a:pPr lvl="1"/>
            <a:r>
              <a:rPr lang="en-US" dirty="0"/>
              <a:t>Alternative: Right-click, “Generate…” -&gt; “Test…”</a:t>
            </a:r>
          </a:p>
          <a:p>
            <a:pPr marL="514350" indent="-514350">
              <a:buFont typeface="+mj-lt"/>
              <a:buAutoNum type="arabicPeriod"/>
            </a:pPr>
            <a:r>
              <a:rPr lang="en-US" dirty="0"/>
              <a:t>Select “JUnit4” as Testing library</a:t>
            </a:r>
          </a:p>
          <a:p>
            <a:pPr marL="514350" indent="-514350">
              <a:buFont typeface="+mj-lt"/>
              <a:buAutoNum type="arabicPeriod"/>
            </a:pPr>
            <a:r>
              <a:rPr lang="en-US" dirty="0"/>
              <a:t>Name the test class (default usually good)</a:t>
            </a:r>
          </a:p>
          <a:p>
            <a:pPr marL="514350" indent="-514350">
              <a:buFont typeface="+mj-lt"/>
              <a:buAutoNum type="arabicPeriod"/>
            </a:pPr>
            <a:r>
              <a:rPr lang="en-US" dirty="0"/>
              <a:t>Check box(es) for method(s) you want to test</a:t>
            </a:r>
          </a:p>
          <a:p>
            <a:pPr lvl="1"/>
            <a:endParaRPr lang="en-US" dirty="0"/>
          </a:p>
        </p:txBody>
      </p:sp>
    </p:spTree>
    <p:extLst>
      <p:ext uri="{BB962C8B-B14F-4D97-AF65-F5344CB8AC3E}">
        <p14:creationId xmlns:p14="http://schemas.microsoft.com/office/powerpoint/2010/main" val="3442696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US" dirty="0"/>
              <a:t>Create Test Dialog</a:t>
            </a:r>
          </a:p>
        </p:txBody>
      </p:sp>
      <p:pic>
        <p:nvPicPr>
          <p:cNvPr id="5" name="Picture 4">
            <a:extLst>
              <a:ext uri="{FF2B5EF4-FFF2-40B4-BE49-F238E27FC236}">
                <a16:creationId xmlns:a16="http://schemas.microsoft.com/office/drawing/2014/main" id="{A41D5109-5909-665A-A654-B43BF6F9476F}"/>
              </a:ext>
            </a:extLst>
          </p:cNvPr>
          <p:cNvPicPr>
            <a:picLocks noChangeAspect="1"/>
          </p:cNvPicPr>
          <p:nvPr/>
        </p:nvPicPr>
        <p:blipFill>
          <a:blip r:embed="rId3"/>
          <a:stretch>
            <a:fillRect/>
          </a:stretch>
        </p:blipFill>
        <p:spPr>
          <a:xfrm>
            <a:off x="2471444" y="1219200"/>
            <a:ext cx="4201111" cy="5344271"/>
          </a:xfrm>
          <a:prstGeom prst="rect">
            <a:avLst/>
          </a:prstGeom>
        </p:spPr>
      </p:pic>
    </p:spTree>
    <p:extLst>
      <p:ext uri="{BB962C8B-B14F-4D97-AF65-F5344CB8AC3E}">
        <p14:creationId xmlns:p14="http://schemas.microsoft.com/office/powerpoint/2010/main" val="1049400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F8CCD6A-20CF-9D96-74A6-9A7745D96243}"/>
              </a:ext>
            </a:extLst>
          </p:cNvPr>
          <p:cNvPicPr>
            <a:picLocks noChangeAspect="1"/>
          </p:cNvPicPr>
          <p:nvPr/>
        </p:nvPicPr>
        <p:blipFill>
          <a:blip r:embed="rId2"/>
          <a:stretch>
            <a:fillRect/>
          </a:stretch>
        </p:blipFill>
        <p:spPr>
          <a:xfrm>
            <a:off x="2057644" y="1103883"/>
            <a:ext cx="5465935" cy="627510"/>
          </a:xfrm>
          <a:prstGeom prst="rect">
            <a:avLst/>
          </a:prstGeom>
        </p:spPr>
      </p:pic>
      <p:sp>
        <p:nvSpPr>
          <p:cNvPr id="2" name="Title 1"/>
          <p:cNvSpPr>
            <a:spLocks noGrp="1"/>
          </p:cNvSpPr>
          <p:nvPr>
            <p:ph type="title"/>
          </p:nvPr>
        </p:nvSpPr>
        <p:spPr/>
        <p:txBody>
          <a:bodyPr/>
          <a:lstStyle/>
          <a:p>
            <a:r>
              <a:rPr lang="en-US" dirty="0" err="1"/>
              <a:t>UnitTesting</a:t>
            </a:r>
            <a:r>
              <a:rPr lang="en-US" dirty="0"/>
              <a:t> Homework</a:t>
            </a:r>
          </a:p>
        </p:txBody>
      </p:sp>
      <p:pic>
        <p:nvPicPr>
          <p:cNvPr id="4" name="Picture 3">
            <a:extLst>
              <a:ext uri="{FF2B5EF4-FFF2-40B4-BE49-F238E27FC236}">
                <a16:creationId xmlns:a16="http://schemas.microsoft.com/office/drawing/2014/main" id="{CC841364-5B4E-7C92-2A28-6B60CF76336C}"/>
              </a:ext>
            </a:extLst>
          </p:cNvPr>
          <p:cNvPicPr>
            <a:picLocks noChangeAspect="1"/>
          </p:cNvPicPr>
          <p:nvPr/>
        </p:nvPicPr>
        <p:blipFill>
          <a:blip r:embed="rId3"/>
          <a:stretch>
            <a:fillRect/>
          </a:stretch>
        </p:blipFill>
        <p:spPr>
          <a:xfrm>
            <a:off x="152400" y="2549349"/>
            <a:ext cx="3077004" cy="4096322"/>
          </a:xfrm>
          <a:prstGeom prst="rect">
            <a:avLst/>
          </a:prstGeom>
        </p:spPr>
      </p:pic>
      <p:sp>
        <p:nvSpPr>
          <p:cNvPr id="5" name="TextBox 4">
            <a:extLst>
              <a:ext uri="{FF2B5EF4-FFF2-40B4-BE49-F238E27FC236}">
                <a16:creationId xmlns:a16="http://schemas.microsoft.com/office/drawing/2014/main" id="{28809749-5B7E-1686-E987-2EBCC5F9B30A}"/>
              </a:ext>
            </a:extLst>
          </p:cNvPr>
          <p:cNvSpPr txBox="1"/>
          <p:nvPr/>
        </p:nvSpPr>
        <p:spPr>
          <a:xfrm>
            <a:off x="152400" y="1817205"/>
            <a:ext cx="3365024" cy="646331"/>
          </a:xfrm>
          <a:prstGeom prst="rect">
            <a:avLst/>
          </a:prstGeom>
          <a:noFill/>
        </p:spPr>
        <p:txBody>
          <a:bodyPr wrap="none" rtlCol="0">
            <a:spAutoFit/>
          </a:bodyPr>
          <a:lstStyle/>
          <a:p>
            <a:r>
              <a:rPr lang="en-US" dirty="0"/>
              <a:t>Given: </a:t>
            </a:r>
            <a:br>
              <a:rPr lang="en-US" dirty="0"/>
            </a:br>
            <a:r>
              <a:rPr lang="en-US" dirty="0"/>
              <a:t>Three methods, two with errors</a:t>
            </a:r>
          </a:p>
        </p:txBody>
      </p:sp>
      <p:pic>
        <p:nvPicPr>
          <p:cNvPr id="8" name="Picture 7">
            <a:extLst>
              <a:ext uri="{FF2B5EF4-FFF2-40B4-BE49-F238E27FC236}">
                <a16:creationId xmlns:a16="http://schemas.microsoft.com/office/drawing/2014/main" id="{6D96983E-635C-6EAB-5331-024EE2431DCB}"/>
              </a:ext>
            </a:extLst>
          </p:cNvPr>
          <p:cNvPicPr>
            <a:picLocks noChangeAspect="1"/>
          </p:cNvPicPr>
          <p:nvPr/>
        </p:nvPicPr>
        <p:blipFill>
          <a:blip r:embed="rId4"/>
          <a:stretch>
            <a:fillRect/>
          </a:stretch>
        </p:blipFill>
        <p:spPr>
          <a:xfrm>
            <a:off x="5694116" y="2560638"/>
            <a:ext cx="3029373" cy="4115374"/>
          </a:xfrm>
          <a:prstGeom prst="rect">
            <a:avLst/>
          </a:prstGeom>
        </p:spPr>
      </p:pic>
      <p:sp>
        <p:nvSpPr>
          <p:cNvPr id="12" name="TextBox 11">
            <a:extLst>
              <a:ext uri="{FF2B5EF4-FFF2-40B4-BE49-F238E27FC236}">
                <a16:creationId xmlns:a16="http://schemas.microsoft.com/office/drawing/2014/main" id="{F717899A-2575-C7AC-E7E9-451CD77031C0}"/>
              </a:ext>
            </a:extLst>
          </p:cNvPr>
          <p:cNvSpPr txBox="1"/>
          <p:nvPr/>
        </p:nvSpPr>
        <p:spPr>
          <a:xfrm>
            <a:off x="5674360" y="1626019"/>
            <a:ext cx="3198666" cy="923330"/>
          </a:xfrm>
          <a:prstGeom prst="rect">
            <a:avLst/>
          </a:prstGeom>
          <a:noFill/>
        </p:spPr>
        <p:txBody>
          <a:bodyPr wrap="square" rtlCol="0">
            <a:spAutoFit/>
          </a:bodyPr>
          <a:lstStyle/>
          <a:p>
            <a:r>
              <a:rPr lang="en-US" dirty="0"/>
              <a:t>Create: </a:t>
            </a:r>
            <a:br>
              <a:rPr lang="en-US" dirty="0"/>
            </a:br>
            <a:r>
              <a:rPr lang="en-US" dirty="0"/>
              <a:t>JUnit test class with </a:t>
            </a:r>
            <a:br>
              <a:rPr lang="en-US" dirty="0"/>
            </a:br>
            <a:r>
              <a:rPr lang="en-US" dirty="0"/>
              <a:t>thorough cases</a:t>
            </a:r>
          </a:p>
        </p:txBody>
      </p:sp>
    </p:spTree>
    <p:extLst>
      <p:ext uri="{BB962C8B-B14F-4D97-AF65-F5344CB8AC3E}">
        <p14:creationId xmlns:p14="http://schemas.microsoft.com/office/powerpoint/2010/main" val="159770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285D81DBE5F5A448E892B34D6B8CF20" ma:contentTypeVersion="8" ma:contentTypeDescription="Create a new document." ma:contentTypeScope="" ma:versionID="ecce54155d2ea7caa9aed06c8b6b9867">
  <xsd:schema xmlns:xsd="http://www.w3.org/2001/XMLSchema" xmlns:xs="http://www.w3.org/2001/XMLSchema" xmlns:p="http://schemas.microsoft.com/office/2006/metadata/properties" xmlns:ns2="08600313-7276-4ca7-b5d3-7d86193ee0ac" xmlns:ns3="820f9cb1-409d-4c4b-8197-1d4f7dd48124" targetNamespace="http://schemas.microsoft.com/office/2006/metadata/properties" ma:root="true" ma:fieldsID="bfd7385540b70b2fe84ac888cc214377" ns2:_="" ns3:_="">
    <xsd:import namespace="08600313-7276-4ca7-b5d3-7d86193ee0ac"/>
    <xsd:import namespace="820f9cb1-409d-4c4b-8197-1d4f7dd4812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600313-7276-4ca7-b5d3-7d86193ee0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71a83542-6b13-4414-947d-2211b265f7bc"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20f9cb1-409d-4c4b-8197-1d4f7dd4812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e4b8413-bde8-45bb-ad7f-2c4efb398c4d}" ma:internalName="TaxCatchAll" ma:showField="CatchAllData" ma:web="820f9cb1-409d-4c4b-8197-1d4f7dd48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20f9cb1-409d-4c4b-8197-1d4f7dd48124" xsi:nil="true"/>
    <lcf76f155ced4ddcb4097134ff3c332f xmlns="08600313-7276-4ca7-b5d3-7d86193ee0a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ED348A6-F888-42FE-B8A0-507D124DDDD0}">
  <ds:schemaRefs>
    <ds:schemaRef ds:uri="http://schemas.microsoft.com/sharepoint/v3/contenttype/forms"/>
  </ds:schemaRefs>
</ds:datastoreItem>
</file>

<file path=customXml/itemProps2.xml><?xml version="1.0" encoding="utf-8"?>
<ds:datastoreItem xmlns:ds="http://schemas.openxmlformats.org/officeDocument/2006/customXml" ds:itemID="{2C9829EE-E9BA-4487-9787-07D4B8A418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600313-7276-4ca7-b5d3-7d86193ee0ac"/>
    <ds:schemaRef ds:uri="820f9cb1-409d-4c4b-8197-1d4f7dd48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69D980-10BF-43F2-8F41-9F5218CC07AD}">
  <ds:schemaRefs>
    <ds:schemaRef ds:uri="http://schemas.microsoft.com/office/2006/metadata/properties"/>
    <ds:schemaRef ds:uri="http://schemas.microsoft.com/office/infopath/2007/PartnerControls"/>
    <ds:schemaRef ds:uri="820f9cb1-409d-4c4b-8197-1d4f7dd48124"/>
    <ds:schemaRef ds:uri="08600313-7276-4ca7-b5d3-7d86193ee0ac"/>
  </ds:schemaRefs>
</ds:datastoreItem>
</file>

<file path=docProps/app.xml><?xml version="1.0" encoding="utf-8"?>
<Properties xmlns="http://schemas.openxmlformats.org/officeDocument/2006/extended-properties" xmlns:vt="http://schemas.openxmlformats.org/officeDocument/2006/docPropsVTypes">
  <Template/>
  <TotalTime>15987</TotalTime>
  <Words>1122</Words>
  <Application>Microsoft Office PowerPoint</Application>
  <PresentationFormat>On-screen Show (4:3)</PresentationFormat>
  <Paragraphs>103</Paragraphs>
  <Slides>13</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Courier New</vt:lpstr>
      <vt:lpstr>Times New Roman</vt:lpstr>
      <vt:lpstr>Office Theme</vt:lpstr>
      <vt:lpstr>CSSE 220</vt:lpstr>
      <vt:lpstr>Unit Testing</vt:lpstr>
      <vt:lpstr>Why Unit Testing?</vt:lpstr>
      <vt:lpstr>Unit Tests (as done in CSSE120)</vt:lpstr>
      <vt:lpstr>Why JUnit?</vt:lpstr>
      <vt:lpstr>What are quality unit tests?</vt:lpstr>
      <vt:lpstr>What is a poor quality test case?</vt:lpstr>
      <vt:lpstr>Writing JUnit Tests for the green modules</vt:lpstr>
      <vt:lpstr>Writing JUnit Tests for the green modules</vt:lpstr>
      <vt:lpstr>Unit Testing</vt:lpstr>
      <vt:lpstr>Unit Testing</vt:lpstr>
      <vt:lpstr>Create Test Dialog</vt:lpstr>
      <vt:lpstr>UnitTesting 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Curtis Clifton</dc:creator>
  <cp:lastModifiedBy>Ludden, Ian</cp:lastModifiedBy>
  <cp:revision>281</cp:revision>
  <cp:lastPrinted>2015-09-17T13:25:27Z</cp:lastPrinted>
  <dcterms:created xsi:type="dcterms:W3CDTF">2007-11-19T15:20:41Z</dcterms:created>
  <dcterms:modified xsi:type="dcterms:W3CDTF">2026-09-24T18:11:57Z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TC101671231033</vt:lpwstr>
  </property>
  <property fmtid="{D5CDD505-2E9C-101B-9397-08002B2CF9AE}" pid="3" name="ContentTypeId">
    <vt:lpwstr>0x0101004285D81DBE5F5A448E892B34D6B8CF20</vt:lpwstr>
  </property>
</Properties>
</file>