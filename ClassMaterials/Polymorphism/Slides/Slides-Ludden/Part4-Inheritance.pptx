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51" r:id="rId4"/>
  </p:sldMasterIdLst>
  <p:notesMasterIdLst>
    <p:notesMasterId r:id="rId25"/>
  </p:notesMasterIdLst>
  <p:handoutMasterIdLst>
    <p:handoutMasterId r:id="rId26"/>
  </p:handoutMasterIdLst>
  <p:sldIdLst>
    <p:sldId id="256" r:id="rId5"/>
    <p:sldId id="368" r:id="rId6"/>
    <p:sldId id="369" r:id="rId7"/>
    <p:sldId id="370" r:id="rId8"/>
    <p:sldId id="371" r:id="rId9"/>
    <p:sldId id="372" r:id="rId10"/>
    <p:sldId id="374" r:id="rId11"/>
    <p:sldId id="375" r:id="rId12"/>
    <p:sldId id="376" r:id="rId13"/>
    <p:sldId id="387" r:id="rId14"/>
    <p:sldId id="391" r:id="rId15"/>
    <p:sldId id="377" r:id="rId16"/>
    <p:sldId id="392" r:id="rId17"/>
    <p:sldId id="378" r:id="rId18"/>
    <p:sldId id="380" r:id="rId19"/>
    <p:sldId id="389" r:id="rId20"/>
    <p:sldId id="379" r:id="rId21"/>
    <p:sldId id="388" r:id="rId22"/>
    <p:sldId id="396" r:id="rId23"/>
    <p:sldId id="381" r:id="rId2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A4166D-275D-42FB-9415-E159EBF2FD40}" v="1" dt="2023-11-20T21:44:12.7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1885" autoAdjust="0"/>
  </p:normalViewPr>
  <p:slideViewPr>
    <p:cSldViewPr snapToGrid="0">
      <p:cViewPr varScale="1">
        <p:scale>
          <a:sx n="90" d="100"/>
          <a:sy n="90" d="100"/>
        </p:scale>
        <p:origin x="90" y="16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merville, Macartan" userId="S::summermt@rose-hulman.edu::7b2a0604-6c98-4445-9309-9fb015585c0d" providerId="AD" clId="Web-{06F8DD94-CAFF-48A1-A9C3-868B0C5AA276}"/>
    <pc:docChg chg="modSld">
      <pc:chgData name="Summerville, Macartan" userId="S::summermt@rose-hulman.edu::7b2a0604-6c98-4445-9309-9fb015585c0d" providerId="AD" clId="Web-{06F8DD94-CAFF-48A1-A9C3-868B0C5AA276}" dt="2021-10-12T13:32:43.738" v="1" actId="1076"/>
      <pc:docMkLst>
        <pc:docMk/>
      </pc:docMkLst>
      <pc:sldChg chg="modSp">
        <pc:chgData name="Summerville, Macartan" userId="S::summermt@rose-hulman.edu::7b2a0604-6c98-4445-9309-9fb015585c0d" providerId="AD" clId="Web-{06F8DD94-CAFF-48A1-A9C3-868B0C5AA276}" dt="2021-10-12T13:32:43.738" v="1" actId="1076"/>
        <pc:sldMkLst>
          <pc:docMk/>
          <pc:sldMk cId="2922646918" sldId="391"/>
        </pc:sldMkLst>
        <pc:picChg chg="mod">
          <ac:chgData name="Summerville, Macartan" userId="S::summermt@rose-hulman.edu::7b2a0604-6c98-4445-9309-9fb015585c0d" providerId="AD" clId="Web-{06F8DD94-CAFF-48A1-A9C3-868B0C5AA276}" dt="2021-10-12T13:32:43.738" v="1" actId="1076"/>
          <ac:picMkLst>
            <pc:docMk/>
            <pc:sldMk cId="2922646918" sldId="391"/>
            <ac:picMk id="5" creationId="{6CBCA8B7-839A-6B48-9A15-D29E72AB46FA}"/>
          </ac:picMkLst>
        </pc:picChg>
      </pc:sldChg>
    </pc:docChg>
  </pc:docChgLst>
  <pc:docChgLst>
    <pc:chgData name="Yoder, Jason" userId="28f4d4d8-da04-4f86-b14d-a21675737bc5" providerId="ADAL" clId="{26A4166D-275D-42FB-9415-E159EBF2FD40}"/>
    <pc:docChg chg="custSel addSld modSld sldOrd">
      <pc:chgData name="Yoder, Jason" userId="28f4d4d8-da04-4f86-b14d-a21675737bc5" providerId="ADAL" clId="{26A4166D-275D-42FB-9415-E159EBF2FD40}" dt="2023-11-21T17:25:21.540" v="554" actId="14100"/>
      <pc:docMkLst>
        <pc:docMk/>
      </pc:docMkLst>
      <pc:sldChg chg="modSp mod modNotesTx">
        <pc:chgData name="Yoder, Jason" userId="28f4d4d8-da04-4f86-b14d-a21675737bc5" providerId="ADAL" clId="{26A4166D-275D-42FB-9415-E159EBF2FD40}" dt="2023-11-21T17:25:21.540" v="554" actId="14100"/>
        <pc:sldMkLst>
          <pc:docMk/>
          <pc:sldMk cId="0" sldId="256"/>
        </pc:sldMkLst>
        <pc:spChg chg="mod">
          <ac:chgData name="Yoder, Jason" userId="28f4d4d8-da04-4f86-b14d-a21675737bc5" providerId="ADAL" clId="{26A4166D-275D-42FB-9415-E159EBF2FD40}" dt="2023-11-21T17:25:21.540" v="554" actId="14100"/>
          <ac:spMkLst>
            <pc:docMk/>
            <pc:sldMk cId="0" sldId="256"/>
            <ac:spMk id="5" creationId="{74C4FB13-A9C6-AE49-93D9-007B088B724C}"/>
          </ac:spMkLst>
        </pc:spChg>
      </pc:sldChg>
      <pc:sldChg chg="ord">
        <pc:chgData name="Yoder, Jason" userId="28f4d4d8-da04-4f86-b14d-a21675737bc5" providerId="ADAL" clId="{26A4166D-275D-42FB-9415-E159EBF2FD40}" dt="2023-11-20T21:49:20.219" v="521"/>
        <pc:sldMkLst>
          <pc:docMk/>
          <pc:sldMk cId="0" sldId="381"/>
        </pc:sldMkLst>
      </pc:sldChg>
      <pc:sldChg chg="addSp modSp new mod modNotesTx">
        <pc:chgData name="Yoder, Jason" userId="28f4d4d8-da04-4f86-b14d-a21675737bc5" providerId="ADAL" clId="{26A4166D-275D-42FB-9415-E159EBF2FD40}" dt="2023-11-20T21:49:09.344" v="517" actId="20577"/>
        <pc:sldMkLst>
          <pc:docMk/>
          <pc:sldMk cId="2283330882" sldId="396"/>
        </pc:sldMkLst>
        <pc:spChg chg="mod">
          <ac:chgData name="Yoder, Jason" userId="28f4d4d8-da04-4f86-b14d-a21675737bc5" providerId="ADAL" clId="{26A4166D-275D-42FB-9415-E159EBF2FD40}" dt="2023-11-20T21:43:13.322" v="131" actId="20577"/>
          <ac:spMkLst>
            <pc:docMk/>
            <pc:sldMk cId="2283330882" sldId="396"/>
            <ac:spMk id="2" creationId="{0FE5D7D7-B2C6-CA92-C52A-C39677C41C69}"/>
          </ac:spMkLst>
        </pc:spChg>
        <pc:spChg chg="mod">
          <ac:chgData name="Yoder, Jason" userId="28f4d4d8-da04-4f86-b14d-a21675737bc5" providerId="ADAL" clId="{26A4166D-275D-42FB-9415-E159EBF2FD40}" dt="2023-11-20T21:48:43.476" v="458" actId="14100"/>
          <ac:spMkLst>
            <pc:docMk/>
            <pc:sldMk cId="2283330882" sldId="396"/>
            <ac:spMk id="3" creationId="{59607EB5-0DCE-F85D-2869-0FE09B932F1B}"/>
          </ac:spMkLst>
        </pc:spChg>
        <pc:picChg chg="add mod">
          <ac:chgData name="Yoder, Jason" userId="28f4d4d8-da04-4f86-b14d-a21675737bc5" providerId="ADAL" clId="{26A4166D-275D-42FB-9415-E159EBF2FD40}" dt="2023-11-20T21:48:48.353" v="462" actId="1076"/>
          <ac:picMkLst>
            <pc:docMk/>
            <pc:sldMk cId="2283330882" sldId="396"/>
            <ac:picMk id="5" creationId="{0BD5A0DF-4E2C-82EC-5E5E-62D988B31CB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6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D184755D-2083-4E78-A15A-12BCB3E43BAF}" type="datetimeFigureOut">
              <a:rPr lang="en-US"/>
              <a:pPr>
                <a:defRPr/>
              </a:pPr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6" y="8829121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66E5494-E446-4433-8013-DBDE64CEAD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900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75D8C37-1815-4FAF-9DC3-E6CC2A524965}" type="datetimeFigureOut">
              <a:rPr lang="en-US"/>
              <a:pPr>
                <a:defRPr/>
              </a:pPr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8" tIns="44904" rIns="89808" bIns="4490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8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A187583-0EC9-4694-9EAD-0DA64A2767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0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Bring hard copy of </a:t>
            </a:r>
            <a:r>
              <a:rPr lang="en-US" dirty="0" err="1"/>
              <a:t>CheckingAccount</a:t>
            </a:r>
            <a:r>
              <a:rPr lang="en-US" dirty="0"/>
              <a:t>, </a:t>
            </a:r>
            <a:r>
              <a:rPr lang="en-US" dirty="0" err="1"/>
              <a:t>ChessPiece</a:t>
            </a:r>
            <a:r>
              <a:rPr lang="en-US" dirty="0"/>
              <a:t>, King, Queen, etc.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Aim </a:t>
            </a:r>
            <a:r>
              <a:rPr lang="en-US" dirty="0"/>
              <a:t>to finish </a:t>
            </a:r>
            <a:r>
              <a:rPr lang="en-US" dirty="0" err="1"/>
              <a:t>CheckingAccount</a:t>
            </a:r>
            <a:r>
              <a:rPr lang="en-US" dirty="0"/>
              <a:t> exam before the start of the second hour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957318-F2D6-4424-86CA-EC3D1642FA8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70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9247D9-907D-412C-BCC1-5896E9FEDD1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55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- animated bullets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1ABF6A-382B-4F4B-90A1-319474DFB21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30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Draw a Venn diagram here showing the set of all SavingsAccounts is a subset of the set of all BankAccounts.  Subclass is like subset.</a:t>
            </a:r>
          </a:p>
          <a:p>
            <a:r>
              <a:rPr lang="en-US"/>
              <a:t>(Also inheritance flows down, so subclasses are below superclasses.)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A26CBE-175B-4D78-98E5-F4A9240C5EA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4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[Show code example here, just looking at code for </a:t>
            </a:r>
            <a:r>
              <a:rPr lang="en-US" err="1"/>
              <a:t>BankAccount</a:t>
            </a:r>
            <a:r>
              <a:rPr lang="en-US"/>
              <a:t> and </a:t>
            </a:r>
            <a:r>
              <a:rPr lang="en-US" err="1"/>
              <a:t>SavingsAccount</a:t>
            </a:r>
            <a:r>
              <a:rPr lang="en-US"/>
              <a:t> (not writing it live)]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CE116A-8D8C-4A53-8193-C79E6772096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32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Advanced code sometimes has deep inheritance hierarchies</a:t>
            </a:r>
          </a:p>
          <a:p>
            <a:r>
              <a:rPr lang="en-US"/>
              <a:t>Trace through a few paths asking students what might be inherited and what might be added at each level (See</a:t>
            </a:r>
            <a:r>
              <a:rPr lang="en-US" baseline="0"/>
              <a:t> Figure 1 - 3, pages 422 - 3</a:t>
            </a:r>
            <a:r>
              <a:rPr lang="en-US"/>
              <a:t>)</a:t>
            </a:r>
          </a:p>
          <a:p>
            <a:endParaRPr lang="en-US"/>
          </a:p>
          <a:p>
            <a:r>
              <a:rPr lang="en-US"/>
              <a:t>Every </a:t>
            </a:r>
            <a:r>
              <a:rPr lang="en-US" err="1"/>
              <a:t>JComponent</a:t>
            </a:r>
            <a:r>
              <a:rPr lang="en-US"/>
              <a:t> has a width and a height, so the</a:t>
            </a:r>
            <a:r>
              <a:rPr lang="en-US" baseline="0"/>
              <a:t> </a:t>
            </a:r>
            <a:r>
              <a:rPr lang="en-US" baseline="0" err="1"/>
              <a:t>JComponent</a:t>
            </a:r>
            <a:r>
              <a:rPr lang="en-US" baseline="0"/>
              <a:t> class has a </a:t>
            </a:r>
            <a:r>
              <a:rPr lang="en-US" baseline="0" err="1"/>
              <a:t>getWidth</a:t>
            </a:r>
            <a:r>
              <a:rPr lang="en-US" baseline="0"/>
              <a:t>() and a </a:t>
            </a:r>
            <a:r>
              <a:rPr lang="en-US" baseline="0" err="1"/>
              <a:t>getHeight</a:t>
            </a:r>
            <a:r>
              <a:rPr lang="en-US" baseline="0"/>
              <a:t>() method.</a:t>
            </a:r>
          </a:p>
          <a:p>
            <a:endParaRPr lang="en-US" baseline="0"/>
          </a:p>
          <a:p>
            <a:r>
              <a:rPr lang="en-US" baseline="0"/>
              <a:t>Every </a:t>
            </a:r>
            <a:r>
              <a:rPr lang="en-US" baseline="0" err="1"/>
              <a:t>JButton</a:t>
            </a:r>
            <a:r>
              <a:rPr lang="en-US" baseline="0"/>
              <a:t> can have text or an icon on it, so the </a:t>
            </a:r>
            <a:r>
              <a:rPr lang="en-US" baseline="0" err="1"/>
              <a:t>AbstractButton</a:t>
            </a:r>
            <a:r>
              <a:rPr lang="en-US" baseline="0"/>
              <a:t> class has a </a:t>
            </a:r>
            <a:r>
              <a:rPr lang="en-US" baseline="0" err="1"/>
              <a:t>setText</a:t>
            </a:r>
            <a:r>
              <a:rPr lang="en-US" baseline="0"/>
              <a:t>() and a </a:t>
            </a:r>
            <a:r>
              <a:rPr lang="en-US" baseline="0" err="1"/>
              <a:t>setIcon</a:t>
            </a:r>
            <a:r>
              <a:rPr lang="en-US" baseline="0"/>
              <a:t>() method.</a:t>
            </a:r>
            <a:endParaRPr 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0DD58A-E7F9-4DAF-8A80-6658051FAE3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81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5268C4-EF31-4B3E-B203-B8DB2EAD44A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565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Start to implement </a:t>
            </a:r>
            <a:r>
              <a:rPr lang="en-US" err="1"/>
              <a:t>CheckingAccount</a:t>
            </a:r>
            <a:r>
              <a:rPr lang="en-US"/>
              <a:t>, just create class,</a:t>
            </a:r>
            <a:r>
              <a:rPr lang="en-US" baseline="0"/>
              <a:t> but do not add methods yet.</a:t>
            </a:r>
            <a:endParaRPr lang="en-US"/>
          </a:p>
          <a:p>
            <a:endParaRPr lang="en-US"/>
          </a:p>
          <a:p>
            <a:r>
              <a:rPr lang="en-US"/>
              <a:t>Draw UML diagram with details (See Figure on</a:t>
            </a:r>
            <a:r>
              <a:rPr lang="en-US" baseline="0"/>
              <a:t> page 443</a:t>
            </a:r>
            <a:r>
              <a:rPr lang="en-US"/>
              <a:t>)  on board first [keep this, you’ll need it later]</a:t>
            </a:r>
          </a:p>
          <a:p>
            <a:endParaRPr lang="en-US"/>
          </a:p>
          <a:p>
            <a:r>
              <a:rPr lang="en-US"/>
              <a:t>Use no-</a:t>
            </a:r>
            <a:r>
              <a:rPr lang="en-US" err="1"/>
              <a:t>arg</a:t>
            </a:r>
            <a:r>
              <a:rPr lang="en-US"/>
              <a:t> constructor initially. We’ll add</a:t>
            </a:r>
            <a:r>
              <a:rPr lang="en-US" baseline="0"/>
              <a:t> the argument later.</a:t>
            </a:r>
            <a:endParaRPr 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F75752-6D26-48BC-AC88-4E3BADE4DD7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67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Discuss super method calls.</a:t>
            </a:r>
          </a:p>
          <a:p>
            <a:endParaRPr lang="en-US"/>
          </a:p>
          <a:p>
            <a:r>
              <a:rPr lang="en-US"/>
              <a:t>Add </a:t>
            </a:r>
            <a:r>
              <a:rPr lang="en-US" err="1"/>
              <a:t>CheckingAccount</a:t>
            </a:r>
            <a:r>
              <a:rPr lang="en-US"/>
              <a:t>(double) constructor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2AAE34-BB19-4F3D-9984-C1B088AF47B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66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Override:</a:t>
            </a:r>
          </a:p>
          <a:p>
            <a:endParaRPr lang="en-US"/>
          </a:p>
          <a:p>
            <a:r>
              <a:rPr lang="en-US"/>
              <a:t>deposit( amount )</a:t>
            </a:r>
          </a:p>
          <a:p>
            <a:r>
              <a:rPr lang="en-US"/>
              <a:t>withdraw(</a:t>
            </a:r>
            <a:r>
              <a:rPr lang="en-US" baseline="0"/>
              <a:t> </a:t>
            </a:r>
            <a:r>
              <a:rPr lang="en-US"/>
              <a:t>amount )</a:t>
            </a:r>
          </a:p>
          <a:p>
            <a:r>
              <a:rPr lang="en-US" err="1"/>
              <a:t>deductFees</a:t>
            </a:r>
            <a:r>
              <a:rPr lang="en-US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90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Draw B&amp;P diagrams.  Show calls.</a:t>
            </a:r>
          </a:p>
          <a:p>
            <a:r>
              <a:rPr lang="en-US"/>
              <a:t>Why not? Because </a:t>
            </a:r>
            <a:r>
              <a:rPr lang="en-US" err="1"/>
              <a:t>BankAccount</a:t>
            </a:r>
            <a:r>
              <a:rPr lang="en-US"/>
              <a:t> doesn’t have an </a:t>
            </a:r>
            <a:r>
              <a:rPr lang="en-US" err="1"/>
              <a:t>deductFees</a:t>
            </a:r>
            <a:r>
              <a:rPr lang="en-US"/>
              <a:t>() method!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F60CBC-2A70-49D3-9866-05F00BCCB9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82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Draw B&amp;P diagrams.  Show calls.</a:t>
            </a:r>
          </a:p>
          <a:p>
            <a:r>
              <a:rPr lang="en-US"/>
              <a:t>Why not? Because </a:t>
            </a:r>
            <a:r>
              <a:rPr lang="en-US" err="1"/>
              <a:t>BankAccount</a:t>
            </a:r>
            <a:r>
              <a:rPr lang="en-US"/>
              <a:t> doesn’t have an </a:t>
            </a:r>
            <a:r>
              <a:rPr lang="en-US" err="1"/>
              <a:t>deductFees</a:t>
            </a:r>
            <a:r>
              <a:rPr lang="en-US"/>
              <a:t>() method!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F60CBC-2A70-49D3-9866-05F00BCCB9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76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Suggest</a:t>
            </a:r>
            <a:r>
              <a:rPr lang="en-US" baseline="0"/>
              <a:t> d</a:t>
            </a:r>
            <a:r>
              <a:rPr lang="en-US"/>
              <a:t>rawing B&amp;P diagram and trace calls as practice for the exam.</a:t>
            </a: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88C4F2-B63F-49B5-8554-101017854A6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970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400" baseline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2993E5-32C8-4EC2-BBC6-DB69025B612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263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/>
              <a:t>Walk through the Chess example in Inheritance project. Start by showing the King and </a:t>
            </a:r>
            <a:r>
              <a:rPr lang="en-US" baseline="0" err="1"/>
              <a:t>ChessPiece</a:t>
            </a:r>
            <a:r>
              <a:rPr lang="en-US" baseline="0"/>
              <a:t> interface. Implement the queen, and note to the students how we end up copying a lot of code from the King into the Queen, there has to be a better way…</a:t>
            </a:r>
          </a:p>
          <a:p>
            <a:endParaRPr lang="en-US" baseline="0"/>
          </a:p>
          <a:p>
            <a:r>
              <a:rPr lang="en-US" baseline="0"/>
              <a:t>It works well to just make the </a:t>
            </a:r>
            <a:r>
              <a:rPr lang="en-US" baseline="0" err="1"/>
              <a:t>ChessPiece</a:t>
            </a:r>
            <a:r>
              <a:rPr lang="en-US" baseline="0"/>
              <a:t> a class first and put in a </a:t>
            </a:r>
            <a:r>
              <a:rPr lang="en-US" baseline="0" err="1"/>
              <a:t>System.err.println</a:t>
            </a:r>
            <a:r>
              <a:rPr lang="en-US" baseline="0"/>
              <a:t>(“Implement this method!”) then show them if we forget to implement a method (Queen’s </a:t>
            </a:r>
            <a:r>
              <a:rPr lang="en-US" baseline="0" err="1"/>
              <a:t>checkMove</a:t>
            </a:r>
            <a:r>
              <a:rPr lang="en-US" baseline="0"/>
              <a:t>) we see that message at runtime.</a:t>
            </a:r>
          </a:p>
          <a:p>
            <a:endParaRPr lang="en-US" baseline="0"/>
          </a:p>
          <a:p>
            <a:r>
              <a:rPr lang="en-US" sz="1400" baseline="0"/>
              <a:t>At this point, they should see the justification for an abstract class, show that on next slide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4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The main reason for using Abstract classes is to force programmers to create</a:t>
            </a:r>
            <a:r>
              <a:rPr lang="en-US" baseline="0"/>
              <a:t> subclasses. Declaring certain methods abstract prevents you from coming up with useless default methods that others might inherit by accident.</a:t>
            </a:r>
          </a:p>
          <a:p>
            <a:endParaRPr lang="en-US" baseline="0"/>
          </a:p>
          <a:p>
            <a:r>
              <a:rPr lang="en-US" baseline="0"/>
              <a:t>This also allows code reuse when only a few methods of an interface differ in implementation. </a:t>
            </a:r>
          </a:p>
          <a:p>
            <a:endParaRPr lang="en-US" baseline="0"/>
          </a:p>
          <a:p>
            <a:r>
              <a:rPr lang="en-US" sz="1200" baseline="0"/>
              <a:t>Make the </a:t>
            </a:r>
            <a:r>
              <a:rPr lang="en-US" sz="1200" baseline="0" err="1"/>
              <a:t>ChessPiece</a:t>
            </a:r>
            <a:r>
              <a:rPr lang="en-US" sz="1200" baseline="0"/>
              <a:t> abstract, and pull the items that don’t change into the new abstract class, and leave the other methods abstract (see solution code). Walk students through this refactor for King/Queen, then have them implement the other pieces. Remind them that the Pawn is actually the hardest, and to do </a:t>
            </a:r>
            <a:r>
              <a:rPr lang="en-US" baseline="0"/>
              <a:t>that LAST. </a:t>
            </a:r>
          </a:p>
          <a:p>
            <a:endParaRPr lang="en-US"/>
          </a:p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02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Emphasize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doing Pawn last it requires several things (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hasMoved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field) and needs to override the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checkAttack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method which is not obvious without looking at more code than they usually have to look at for the rest of the classes.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@Override 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boolean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checkAttack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dx, int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ChessPiece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piece) {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this.isWhite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==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piece.isWhite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 {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false;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(!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movedCorrectDirection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)) {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false;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dx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Math.abs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(dx);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Math.abs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dx == 1 &amp;&amp;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1;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522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showing working version of the solution in the private repo or playing part of the final functionality video:</a:t>
            </a:r>
          </a:p>
          <a:p>
            <a:endParaRPr lang="en-US" dirty="0"/>
          </a:p>
          <a:p>
            <a:r>
              <a:rPr lang="en-US" dirty="0"/>
              <a:t>https://rose-hulman.hosted.panopto.com/Panopto/Pages/Viewer.aspx?id=c6958003-1803-436a-bc65-aba6002fdeb3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96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7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7653D9-4690-439F-9AB7-DB1A2AAA78D3}" type="datetime2">
              <a:rPr lang="en-US" smtClean="0"/>
              <a:pPr>
                <a:defRPr/>
              </a:pPr>
              <a:t>Wednesday, October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C4F6E3-AEAB-490F-94DF-5833884795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6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3B8731-4EFC-479C-A7C9-026151864EE8}" type="datetime2">
              <a:rPr lang="en-US" smtClean="0"/>
              <a:pPr>
                <a:defRPr/>
              </a:pPr>
              <a:t>Wednesday, October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990282-8062-4273-9F07-599A313EBCD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01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23CBDE-6397-40B8-BCC4-2A8AF6618F34}" type="datetime2">
              <a:rPr lang="en-US" smtClean="0"/>
              <a:pPr>
                <a:defRPr/>
              </a:pPr>
              <a:t>Wednesday, October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2178AF-D2B4-4A07-ACA1-D2BF4B37B5E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04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64C111-18F6-4A24-8976-49396BFA8EF2}" type="datetime2">
              <a:rPr lang="en-US" smtClean="0"/>
              <a:pPr>
                <a:defRPr/>
              </a:pPr>
              <a:t>Wednesday, October 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19513-1C4C-4968-BA21-20417918839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85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3CD23E-6C8D-45CB-BC3E-8DD3561F842A}" type="datetime2">
              <a:rPr lang="en-US" smtClean="0"/>
              <a:pPr>
                <a:defRPr/>
              </a:pPr>
              <a:t>Wednesday, October 8,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E7C3EA-5B8B-4C8A-999C-888DFF1E68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9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B72ED1-ED88-4B41-A8C3-B18B662B8B90}" type="datetime2">
              <a:rPr lang="en-US" smtClean="0"/>
              <a:pPr>
                <a:defRPr/>
              </a:pPr>
              <a:t>Wednesday, October 8,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532257-2EEB-4A36-B5C4-9C4A7F1C50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2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D68C66-E7B6-4C99-A1F9-9976E1949B1A}" type="datetime2">
              <a:rPr lang="en-US" smtClean="0"/>
              <a:pPr>
                <a:defRPr/>
              </a:pPr>
              <a:t>Wednesday, October 8,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6F40FA-9170-44FD-AFAC-69ADFB377A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8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3E2C5D-F413-4AEC-A4BC-39DF47ABD9FD}" type="datetime2">
              <a:rPr lang="en-US" smtClean="0"/>
              <a:pPr>
                <a:defRPr/>
              </a:pPr>
              <a:t>Wednesday, October 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526979-BFCF-4BF5-B677-EA86DE1B42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26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3A144D-5F63-4A2D-9E44-D40037CB6000}" type="datetime2">
              <a:rPr lang="en-US" smtClean="0"/>
              <a:pPr>
                <a:defRPr/>
              </a:pPr>
              <a:t>Wednesday, October 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62EF4B-3459-4A1A-A9F2-72414015F7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12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A18366-BF24-4613-8FED-CA818E6D4477}" type="datetime2">
              <a:rPr lang="en-US" smtClean="0"/>
              <a:pPr>
                <a:defRPr/>
              </a:pPr>
              <a:t>Wednesday, October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03D57-373B-4F0D-B05A-B8082F9156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7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A47346-F063-481E-A86A-41BD06C43298}" type="datetime2">
              <a:rPr lang="en-US" smtClean="0"/>
              <a:pPr>
                <a:defRPr/>
              </a:pPr>
              <a:t>Wednesday, October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FC9157-32CE-4916-8093-BFDE56DFB0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7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7E089E1-7597-4F62-8647-1221879FBF32}" type="datetime2">
              <a:rPr lang="en-US" smtClean="0"/>
              <a:pPr>
                <a:defRPr/>
              </a:pPr>
              <a:t>Wednesday, October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B04DC7-7A80-4E55-ADE6-967D940C8C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2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2" r:id="rId1"/>
    <p:sldLayoutId id="2147484253" r:id="rId2"/>
    <p:sldLayoutId id="2147484254" r:id="rId3"/>
    <p:sldLayoutId id="2147484255" r:id="rId4"/>
    <p:sldLayoutId id="2147484256" r:id="rId5"/>
    <p:sldLayoutId id="2147484257" r:id="rId6"/>
    <p:sldLayoutId id="2147484258" r:id="rId7"/>
    <p:sldLayoutId id="2147484259" r:id="rId8"/>
    <p:sldLayoutId id="2147484260" r:id="rId9"/>
    <p:sldLayoutId id="2147484261" r:id="rId10"/>
    <p:sldLayoutId id="214748426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plantuml.com/plantuml/uml/dP71Ri8m38RFyLFaMAJn2XEbQYKkJ6gv8o_nQ4HnKUAEmxPtNpCYBPsq2xtP_zVVl-DD4FGoNGOm0uQWjyZdqfXnOj4Ve5vnG3O4AkiNgsNfs8d3ONj7Pz7ITGnE2hn4VMxSdFJMu-stSo99V7GJZnpUo2VzIO_IayzchE0BKi0EtnsVGX9q3EbOo5EG5eL0BO72eyHCQEqkOSMFMxAhUZBdcSzsRjgwFXxQSj-LrM7tikz0PTMngUkK68suaQlu7wZSwC5NqUcpP2SZ3L6uH_spydgwhZ-Vyqj1FlmVP4DivpD_0m0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/>
              <a:t>Inheritance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accent3"/>
                </a:solidFill>
              </a:rPr>
              <a:t>Inheritance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1481138"/>
            <a:ext cx="8382000" cy="45259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/>
              <a:t>Sometimes a new class is </a:t>
            </a:r>
            <a:r>
              <a:rPr lang="en-US" sz="2400" b="1" dirty="0">
                <a:solidFill>
                  <a:schemeClr val="accent3"/>
                </a:solidFill>
              </a:rPr>
              <a:t>a special case </a:t>
            </a:r>
            <a:r>
              <a:rPr lang="en-US" sz="2400" dirty="0"/>
              <a:t>of the concept represented by another already existing class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New class can “inherit” from an existing class, and new class can be changed to add new/different functional specific to the new class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The new class </a:t>
            </a:r>
            <a:r>
              <a:rPr lang="en-US" sz="2400" b="1" dirty="0">
                <a:solidFill>
                  <a:schemeClr val="accent3"/>
                </a:solidFill>
              </a:rPr>
              <a:t>inherits</a:t>
            </a:r>
            <a:r>
              <a:rPr lang="en-US" sz="2400" dirty="0"/>
              <a:t> from the existing one:</a:t>
            </a:r>
          </a:p>
          <a:p>
            <a:pPr lvl="1">
              <a:defRPr/>
            </a:pPr>
            <a:r>
              <a:rPr lang="en-US" sz="2000" dirty="0"/>
              <a:t>all methods</a:t>
            </a:r>
          </a:p>
          <a:p>
            <a:pPr lvl="1">
              <a:defRPr/>
            </a:pPr>
            <a:r>
              <a:rPr lang="en-US" sz="2000" dirty="0"/>
              <a:t>all instance fields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class </a:t>
            </a:r>
            <a:r>
              <a:rPr lang="en-US" sz="2400" b="1" dirty="0" err="1">
                <a:solidFill>
                  <a:schemeClr val="accent3"/>
                </a:solidFill>
                <a:latin typeface="Lucida Sans Typewriter" pitchFamily="49" charset="0"/>
              </a:rPr>
              <a:t>SavingsAccount</a:t>
            </a: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 extends </a:t>
            </a:r>
            <a:r>
              <a:rPr lang="en-US" sz="2400" b="1" dirty="0" err="1">
                <a:solidFill>
                  <a:schemeClr val="accent3"/>
                </a:solidFill>
                <a:latin typeface="Lucida Sans Typewriter" pitchFamily="49" charset="0"/>
              </a:rPr>
              <a:t>BankAccount</a:t>
            </a:r>
            <a:endParaRPr lang="en-US" sz="2400" b="1" dirty="0">
              <a:solidFill>
                <a:schemeClr val="accent3"/>
              </a:solidFill>
              <a:latin typeface="Lucida Sans Typewriter" pitchFamily="49" charset="0"/>
            </a:endParaRPr>
          </a:p>
          <a:p>
            <a:pPr lvl="1">
              <a:defRPr/>
            </a:pPr>
            <a:r>
              <a:rPr lang="en-US" dirty="0" err="1"/>
              <a:t>SavingsAccount</a:t>
            </a:r>
            <a:r>
              <a:rPr lang="en-US" dirty="0"/>
              <a:t> adds interest earning, keeps other traits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class Employee extends Person</a:t>
            </a:r>
          </a:p>
          <a:p>
            <a:pPr lvl="1">
              <a:defRPr/>
            </a:pPr>
            <a:r>
              <a:rPr lang="en-US" dirty="0"/>
              <a:t>Employee adds pay information and methods, keeps other traits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sz="2400" b="1" dirty="0">
                <a:solidFill>
                  <a:schemeClr val="accent3"/>
                </a:solidFill>
                <a:latin typeface="Lucida Sans Typewriter" pitchFamily="49" charset="0"/>
              </a:rPr>
              <a:t>class Manager extends Employee</a:t>
            </a:r>
          </a:p>
          <a:p>
            <a:pPr lvl="1">
              <a:defRPr/>
            </a:pPr>
            <a:r>
              <a:rPr lang="en-US" dirty="0"/>
              <a:t>Manager adds information about employees managed, changes the pay mechanism, keeps other traits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Notation and Terminology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001000" cy="452596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SavingsAccount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BankAccount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//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fields</a:t>
            </a:r>
            <a:b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//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methods</a:t>
            </a:r>
            <a:b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Say “</a:t>
            </a:r>
            <a:r>
              <a:rPr lang="en-US" sz="2400" dirty="0" err="1">
                <a:latin typeface="Lucida Sans Typewriter" pitchFamily="49" charset="0"/>
              </a:rPr>
              <a:t>SavingsAccount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accent3"/>
                </a:solidFill>
              </a:rPr>
              <a:t>is a</a:t>
            </a:r>
            <a:r>
              <a:rPr lang="en-US" sz="2400" dirty="0"/>
              <a:t> </a:t>
            </a:r>
            <a:r>
              <a:rPr lang="en-US" sz="2400" dirty="0" err="1">
                <a:latin typeface="Lucida Sans Typewriter" pitchFamily="49" charset="0"/>
              </a:rPr>
              <a:t>BankAccount</a:t>
            </a:r>
            <a:r>
              <a:rPr lang="en-US" sz="2400" dirty="0"/>
              <a:t>”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b="1" dirty="0">
                <a:solidFill>
                  <a:schemeClr val="accent3"/>
                </a:solidFill>
              </a:rPr>
              <a:t>Superclass</a:t>
            </a:r>
            <a:r>
              <a:rPr lang="en-US" sz="2400" dirty="0"/>
              <a:t>: </a:t>
            </a:r>
            <a:r>
              <a:rPr lang="en-US" sz="2400" dirty="0" err="1">
                <a:latin typeface="Lucida Sans Typewriter" pitchFamily="49" charset="0"/>
              </a:rPr>
              <a:t>BankAccount</a:t>
            </a:r>
            <a:endParaRPr lang="en-US" sz="2400" dirty="0">
              <a:latin typeface="Lucida Sans Typewriter" pitchFamily="49" charset="0"/>
            </a:endParaRP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b="1" dirty="0">
                <a:solidFill>
                  <a:schemeClr val="accent3"/>
                </a:solidFill>
              </a:rPr>
              <a:t>Subclass</a:t>
            </a:r>
            <a:r>
              <a:rPr lang="en-US" sz="2400" dirty="0"/>
              <a:t>: </a:t>
            </a:r>
            <a:r>
              <a:rPr lang="en-US" sz="2400" dirty="0" err="1">
                <a:latin typeface="Lucida Sans Typewriter" pitchFamily="49" charset="0"/>
              </a:rPr>
              <a:t>SavingsAccount</a:t>
            </a:r>
            <a:endParaRPr lang="en-US" sz="2400" dirty="0">
              <a:latin typeface="Lucida Sans Typewriter" pitchFamily="49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F6C5A2-8459-8A48-BD1F-6D03763E33B0}"/>
              </a:ext>
            </a:extLst>
          </p:cNvPr>
          <p:cNvSpPr/>
          <p:nvPr/>
        </p:nvSpPr>
        <p:spPr>
          <a:xfrm>
            <a:off x="5355771" y="1502229"/>
            <a:ext cx="2002972" cy="3374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30ADCA63-E0C6-0E4A-956A-A8AB26E5CF24}"/>
              </a:ext>
            </a:extLst>
          </p:cNvPr>
          <p:cNvSpPr/>
          <p:nvPr/>
        </p:nvSpPr>
        <p:spPr>
          <a:xfrm>
            <a:off x="4822371" y="1926771"/>
            <a:ext cx="2779653" cy="2601686"/>
          </a:xfrm>
          <a:custGeom>
            <a:avLst/>
            <a:gdLst>
              <a:gd name="connsiteX0" fmla="*/ 0 w 2779653"/>
              <a:gd name="connsiteY0" fmla="*/ 2601686 h 2601686"/>
              <a:gd name="connsiteX1" fmla="*/ 2623458 w 2779653"/>
              <a:gd name="connsiteY1" fmla="*/ 1992086 h 2601686"/>
              <a:gd name="connsiteX2" fmla="*/ 2253343 w 2779653"/>
              <a:gd name="connsiteY2" fmla="*/ 0 h 260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79653" h="2601686">
                <a:moveTo>
                  <a:pt x="0" y="2601686"/>
                </a:moveTo>
                <a:cubicBezTo>
                  <a:pt x="1123950" y="2513693"/>
                  <a:pt x="2247901" y="2425700"/>
                  <a:pt x="2623458" y="1992086"/>
                </a:cubicBezTo>
                <a:cubicBezTo>
                  <a:pt x="2999015" y="1558472"/>
                  <a:pt x="2626179" y="779236"/>
                  <a:pt x="2253343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43A7FA-442F-D24D-B39A-B7799943AA68}"/>
              </a:ext>
            </a:extLst>
          </p:cNvPr>
          <p:cNvCxnSpPr/>
          <p:nvPr/>
        </p:nvCxnSpPr>
        <p:spPr>
          <a:xfrm>
            <a:off x="1643743" y="4593771"/>
            <a:ext cx="533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DC9713-03CE-1441-B0ED-EFA2E3AD9420}"/>
              </a:ext>
            </a:extLst>
          </p:cNvPr>
          <p:cNvCxnSpPr/>
          <p:nvPr/>
        </p:nvCxnSpPr>
        <p:spPr>
          <a:xfrm>
            <a:off x="1415143" y="5464628"/>
            <a:ext cx="533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344648E-AC02-2E40-99EB-7ABC505C9F22}"/>
              </a:ext>
            </a:extLst>
          </p:cNvPr>
          <p:cNvSpPr/>
          <p:nvPr/>
        </p:nvSpPr>
        <p:spPr>
          <a:xfrm>
            <a:off x="1523999" y="1513115"/>
            <a:ext cx="2471057" cy="3374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187544D-F11F-694E-AB7E-DA44E5A3FF67}"/>
              </a:ext>
            </a:extLst>
          </p:cNvPr>
          <p:cNvSpPr/>
          <p:nvPr/>
        </p:nvSpPr>
        <p:spPr>
          <a:xfrm>
            <a:off x="111536" y="1861457"/>
            <a:ext cx="2250664" cy="4037262"/>
          </a:xfrm>
          <a:custGeom>
            <a:avLst/>
            <a:gdLst>
              <a:gd name="connsiteX0" fmla="*/ 2250664 w 2250664"/>
              <a:gd name="connsiteY0" fmla="*/ 3690257 h 4037262"/>
              <a:gd name="connsiteX1" fmla="*/ 802864 w 2250664"/>
              <a:gd name="connsiteY1" fmla="*/ 4016829 h 4037262"/>
              <a:gd name="connsiteX2" fmla="*/ 127950 w 2250664"/>
              <a:gd name="connsiteY2" fmla="*/ 3167743 h 4037262"/>
              <a:gd name="connsiteX3" fmla="*/ 117064 w 2250664"/>
              <a:gd name="connsiteY3" fmla="*/ 816429 h 4037262"/>
              <a:gd name="connsiteX4" fmla="*/ 1347150 w 2250664"/>
              <a:gd name="connsiteY4" fmla="*/ 0 h 4037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0664" h="4037262">
                <a:moveTo>
                  <a:pt x="2250664" y="3690257"/>
                </a:moveTo>
                <a:cubicBezTo>
                  <a:pt x="1703657" y="3897086"/>
                  <a:pt x="1156650" y="4103915"/>
                  <a:pt x="802864" y="4016829"/>
                </a:cubicBezTo>
                <a:cubicBezTo>
                  <a:pt x="449078" y="3929743"/>
                  <a:pt x="242250" y="3701143"/>
                  <a:pt x="127950" y="3167743"/>
                </a:cubicBezTo>
                <a:cubicBezTo>
                  <a:pt x="13650" y="2634343"/>
                  <a:pt x="-86136" y="1344386"/>
                  <a:pt x="117064" y="816429"/>
                </a:cubicBezTo>
                <a:cubicBezTo>
                  <a:pt x="320264" y="288472"/>
                  <a:pt x="833707" y="144236"/>
                  <a:pt x="134715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Inheritance in UML</a:t>
            </a:r>
          </a:p>
        </p:txBody>
      </p:sp>
      <p:pic>
        <p:nvPicPr>
          <p:cNvPr id="14339" name="Picture 2" descr="C:\DOCUME~1\ADMINI~1\LOCALS~1\Temp\VMwareDnD\00002d81\Inheritanc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2168253"/>
            <a:ext cx="3200400" cy="406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Callout 2 4"/>
          <p:cNvSpPr/>
          <p:nvPr/>
        </p:nvSpPr>
        <p:spPr>
          <a:xfrm>
            <a:off x="5622870" y="1143000"/>
            <a:ext cx="2817813" cy="123398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3944"/>
              <a:gd name="adj6" fmla="val -345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Class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en-US" sz="2400"/>
              <a:t> is the “</a:t>
            </a:r>
            <a:r>
              <a:rPr lang="en-US" sz="2400" err="1"/>
              <a:t>superest</a:t>
            </a:r>
            <a:r>
              <a:rPr lang="en-US" sz="2400"/>
              <a:t>” class in Java</a:t>
            </a:r>
          </a:p>
        </p:txBody>
      </p:sp>
      <p:sp>
        <p:nvSpPr>
          <p:cNvPr id="6" name="Line Callout 2 5"/>
          <p:cNvSpPr/>
          <p:nvPr/>
        </p:nvSpPr>
        <p:spPr>
          <a:xfrm>
            <a:off x="6400800" y="5045460"/>
            <a:ext cx="2311400" cy="8382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3771"/>
              <a:gd name="adj6" fmla="val -752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Still means “is a”</a:t>
            </a:r>
          </a:p>
        </p:txBody>
      </p:sp>
      <p:sp>
        <p:nvSpPr>
          <p:cNvPr id="7" name="Line Callout 2 6"/>
          <p:cNvSpPr/>
          <p:nvPr/>
        </p:nvSpPr>
        <p:spPr>
          <a:xfrm flipH="1">
            <a:off x="486103" y="4319588"/>
            <a:ext cx="2133600" cy="130016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2684"/>
              <a:gd name="adj6" fmla="val -902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Solid line shows inheritance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Inheritance Run Amok?</a:t>
            </a:r>
          </a:p>
        </p:txBody>
      </p:sp>
      <p:pic>
        <p:nvPicPr>
          <p:cNvPr id="16387" name="Picture 3" descr="C:\DOCUME~1\ADMINI~1\LOCALS~1\Temp\VMwareDnD\00003a70\InheritanceAmo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7650" y="1143000"/>
            <a:ext cx="86487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With Methods, Subclasses can: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>
                <a:solidFill>
                  <a:schemeClr val="accent3"/>
                </a:solidFill>
              </a:rPr>
              <a:t>Inherit</a:t>
            </a:r>
            <a:r>
              <a:rPr lang="en-US"/>
              <a:t> methods </a:t>
            </a:r>
            <a:r>
              <a:rPr lang="en-US">
                <a:solidFill>
                  <a:schemeClr val="accent3"/>
                </a:solidFill>
              </a:rPr>
              <a:t>unchanged</a:t>
            </a:r>
            <a:endParaRPr lang="en-US"/>
          </a:p>
          <a:p>
            <a:pPr>
              <a:defRPr/>
            </a:pPr>
            <a:r>
              <a:rPr lang="en-US" b="1">
                <a:solidFill>
                  <a:schemeClr val="accent3"/>
                </a:solidFill>
              </a:rPr>
              <a:t>Override</a:t>
            </a:r>
            <a:r>
              <a:rPr lang="en-US"/>
              <a:t> methods</a:t>
            </a:r>
          </a:p>
          <a:p>
            <a:pPr lvl="1">
              <a:defRPr/>
            </a:pPr>
            <a:r>
              <a:rPr lang="en-US"/>
              <a:t>Declare a new method </a:t>
            </a:r>
            <a:r>
              <a:rPr lang="en-US">
                <a:solidFill>
                  <a:schemeClr val="accent3"/>
                </a:solidFill>
              </a:rPr>
              <a:t>with same signature </a:t>
            </a:r>
            <a:r>
              <a:rPr lang="en-US"/>
              <a:t>to use </a:t>
            </a:r>
            <a:r>
              <a:rPr lang="en-US" b="1">
                <a:solidFill>
                  <a:schemeClr val="accent3"/>
                </a:solidFill>
              </a:rPr>
              <a:t>instead of </a:t>
            </a:r>
            <a:r>
              <a:rPr lang="en-US">
                <a:solidFill>
                  <a:schemeClr val="accent3"/>
                </a:solidFill>
              </a:rPr>
              <a:t>superclass method</a:t>
            </a:r>
          </a:p>
          <a:p>
            <a:pPr lvl="1">
              <a:defRPr/>
            </a:pPr>
            <a:r>
              <a:rPr lang="en-US"/>
              <a:t>i.e., change </a:t>
            </a:r>
            <a:r>
              <a:rPr lang="en-US" i="1"/>
              <a:t>how it works</a:t>
            </a:r>
            <a:endParaRPr lang="en-US"/>
          </a:p>
          <a:p>
            <a:pPr>
              <a:defRPr/>
            </a:pPr>
            <a:r>
              <a:rPr lang="en-US" b="1">
                <a:solidFill>
                  <a:schemeClr val="accent3"/>
                </a:solidFill>
              </a:rPr>
              <a:t>Add</a:t>
            </a:r>
            <a:r>
              <a:rPr lang="en-US"/>
              <a:t> entirely new methods not in superclass</a:t>
            </a:r>
          </a:p>
          <a:p>
            <a:pPr lvl="1">
              <a:defRPr/>
            </a:pPr>
            <a:r>
              <a:rPr lang="en-US"/>
              <a:t>i.e., add new </a:t>
            </a:r>
            <a:r>
              <a:rPr lang="en-US" i="1"/>
              <a:t>what it does</a:t>
            </a:r>
            <a:r>
              <a:rPr lang="en-US"/>
              <a:t> &amp; </a:t>
            </a:r>
            <a:r>
              <a:rPr lang="en-US" i="1"/>
              <a:t>how it does it</a:t>
            </a:r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err="1"/>
              <a:t>w.r.t</a:t>
            </a:r>
            <a:r>
              <a:rPr lang="en-US"/>
              <a:t> Fields, Subclasses: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3"/>
                </a:solidFill>
              </a:rPr>
              <a:t>ALWAYS inherit</a:t>
            </a:r>
            <a:r>
              <a:rPr lang="en-US" dirty="0"/>
              <a:t> all fields </a:t>
            </a:r>
            <a:r>
              <a:rPr lang="en-US" dirty="0">
                <a:solidFill>
                  <a:schemeClr val="accent3"/>
                </a:solidFill>
              </a:rPr>
              <a:t>unchanged</a:t>
            </a:r>
          </a:p>
          <a:p>
            <a:pPr lvl="1">
              <a:defRPr/>
            </a:pPr>
            <a:r>
              <a:rPr lang="en-US" dirty="0"/>
              <a:t>But cannot access superclass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/>
              <a:t> fields</a:t>
            </a:r>
          </a:p>
          <a:p>
            <a:pPr lvl="1">
              <a:defRPr/>
            </a:pPr>
            <a:r>
              <a:rPr lang="en-US" dirty="0"/>
              <a:t>Can access directly fields at </a:t>
            </a:r>
            <a:r>
              <a:rPr lang="en-US" i="1" dirty="0"/>
              <a:t>access levels</a:t>
            </a:r>
            <a:r>
              <a:rPr lang="en-US" dirty="0"/>
              <a:t>:</a:t>
            </a:r>
          </a:p>
          <a:p>
            <a:pPr lvl="2">
              <a:defRPr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</a:p>
          <a:p>
            <a:pPr lvl="2">
              <a:defRPr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</a:p>
          <a:p>
            <a:pPr lvl="2">
              <a:defRPr/>
            </a:pPr>
            <a:r>
              <a:rPr lang="en-US" dirty="0"/>
              <a:t>package</a:t>
            </a:r>
          </a:p>
          <a:p>
            <a:pPr>
              <a:defRPr/>
            </a:pPr>
            <a:r>
              <a:rPr lang="en-US" b="1" dirty="0"/>
              <a:t>The subclass </a:t>
            </a:r>
            <a:r>
              <a:rPr lang="en-US" b="1" dirty="0">
                <a:solidFill>
                  <a:schemeClr val="accent3"/>
                </a:solidFill>
              </a:rPr>
              <a:t>can add</a:t>
            </a:r>
            <a:r>
              <a:rPr lang="en-US" dirty="0"/>
              <a:t> entirely new fields not in superclass</a:t>
            </a:r>
          </a:p>
        </p:txBody>
      </p:sp>
      <p:sp>
        <p:nvSpPr>
          <p:cNvPr id="4" name="Line Callout 2 3"/>
          <p:cNvSpPr/>
          <p:nvPr/>
        </p:nvSpPr>
        <p:spPr>
          <a:xfrm>
            <a:off x="3309257" y="4887685"/>
            <a:ext cx="5181600" cy="14478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3089"/>
              <a:gd name="adj6" fmla="val -4541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dirty="0"/>
              <a:t>DANGER!  Don’t use the same field name as a superclass field!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How Subclass calls Superclass Methods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0371" y="1567543"/>
            <a:ext cx="8327571" cy="4525963"/>
          </a:xfrm>
        </p:spPr>
        <p:txBody>
          <a:bodyPr/>
          <a:lstStyle/>
          <a:p>
            <a:pPr>
              <a:defRPr/>
            </a:pPr>
            <a:r>
              <a:rPr lang="en-US" dirty="0"/>
              <a:t>Calling a superclass </a:t>
            </a:r>
            <a:r>
              <a:rPr lang="en-US" b="1" dirty="0">
                <a:solidFill>
                  <a:schemeClr val="accent3"/>
                </a:solidFill>
              </a:rPr>
              <a:t>method </a:t>
            </a:r>
            <a:r>
              <a:rPr lang="en-US" dirty="0"/>
              <a:t>from the subclass:</a:t>
            </a:r>
          </a:p>
          <a:p>
            <a:pPr marL="457200" lvl="1" indent="0">
              <a:buNone/>
              <a:defRPr/>
            </a:pPr>
            <a:r>
              <a:rPr lang="en-US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super.methodName</a:t>
            </a:r>
            <a:r>
              <a:rPr lang="en-US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Calling superclass </a:t>
            </a:r>
            <a:r>
              <a:rPr lang="en-US" b="1" dirty="0">
                <a:solidFill>
                  <a:schemeClr val="accent3"/>
                </a:solidFill>
              </a:rPr>
              <a:t>constructor</a:t>
            </a:r>
            <a:r>
              <a:rPr lang="en-US" dirty="0"/>
              <a:t>:</a:t>
            </a:r>
          </a:p>
          <a:p>
            <a:pPr marL="457200" lvl="1" indent="0">
              <a:buNone/>
              <a:defRPr/>
            </a:pPr>
            <a:r>
              <a:rPr lang="en-US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</a:t>
            </a:r>
            <a:r>
              <a:rPr lang="en-US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4" name="Line Callout 2 3"/>
          <p:cNvSpPr/>
          <p:nvPr/>
        </p:nvSpPr>
        <p:spPr>
          <a:xfrm>
            <a:off x="4669971" y="5076357"/>
            <a:ext cx="3903068" cy="1206500"/>
          </a:xfrm>
          <a:prstGeom prst="borderCallout2">
            <a:avLst>
              <a:gd name="adj1" fmla="val 27579"/>
              <a:gd name="adj2" fmla="val -1170"/>
              <a:gd name="adj3" fmla="val -21758"/>
              <a:gd name="adj4" fmla="val -18637"/>
              <a:gd name="adj5" fmla="val -34124"/>
              <a:gd name="adj6" fmla="val -338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/>
              <a:t>Must appear as the first line of the subclass constructor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Code </a:t>
            </a:r>
            <a:r>
              <a:rPr lang="en-US" err="1"/>
              <a:t>CheckingAccount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special type of </a:t>
            </a:r>
            <a:r>
              <a:rPr lang="en-US" sz="2400" dirty="0" err="1"/>
              <a:t>BankAccount</a:t>
            </a:r>
            <a:endParaRPr lang="en-US" sz="2400" dirty="0"/>
          </a:p>
          <a:p>
            <a:r>
              <a:rPr lang="en-US" sz="2400" dirty="0"/>
              <a:t>Has 3 free transactions each month </a:t>
            </a:r>
            <a:br>
              <a:rPr lang="en-US" sz="2400" dirty="0"/>
            </a:br>
            <a:r>
              <a:rPr lang="en-US" sz="2400" dirty="0"/>
              <a:t>Transactions that </a:t>
            </a:r>
            <a:r>
              <a:rPr lang="en-US" sz="2400"/>
              <a:t>are counted:</a:t>
            </a:r>
            <a:endParaRPr lang="en-US" sz="2400" dirty="0"/>
          </a:p>
          <a:p>
            <a:pPr lvl="1"/>
            <a:r>
              <a:rPr lang="en-US" sz="2000" dirty="0"/>
              <a:t>Withdraw</a:t>
            </a:r>
          </a:p>
          <a:p>
            <a:pPr lvl="1"/>
            <a:r>
              <a:rPr lang="en-US" sz="2000" dirty="0"/>
              <a:t>Deposit</a:t>
            </a:r>
          </a:p>
          <a:p>
            <a:r>
              <a:rPr lang="en-US" sz="2400" dirty="0"/>
              <a:t>Every additional transaction (beyond) costs $1.50</a:t>
            </a:r>
          </a:p>
          <a:p>
            <a:pPr lvl="1"/>
            <a:r>
              <a:rPr lang="en-US" sz="2000" dirty="0"/>
              <a:t>4 cost $1.50</a:t>
            </a:r>
          </a:p>
          <a:p>
            <a:pPr lvl="1"/>
            <a:r>
              <a:rPr lang="en-US" sz="2000" dirty="0"/>
              <a:t>5 cost $3.00</a:t>
            </a:r>
          </a:p>
          <a:p>
            <a:r>
              <a:rPr lang="en-US" sz="2400" dirty="0"/>
              <a:t>At end of each month fees are deducted (all together)</a:t>
            </a:r>
          </a:p>
          <a:p>
            <a:pPr lvl="1"/>
            <a:r>
              <a:rPr lang="en-US" sz="2000" dirty="0"/>
              <a:t>Transaction count is reset at this time</a:t>
            </a:r>
          </a:p>
          <a:p>
            <a:pPr lvl="1"/>
            <a:r>
              <a:rPr lang="en-US" sz="2000" dirty="0"/>
              <a:t>Add new public method to </a:t>
            </a:r>
            <a:r>
              <a:rPr lang="en-US" sz="2000" dirty="0" err="1"/>
              <a:t>CheckingAccount</a:t>
            </a:r>
            <a:r>
              <a:rPr lang="en-US" sz="2000" dirty="0"/>
              <a:t> called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deductFees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00348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then Implement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>
                <a:hlinkClick r:id="rId2"/>
              </a:rPr>
              <a:t>plantuml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BCA8B7-839A-6B48-9A15-D29E72AB4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5000" y="1419225"/>
            <a:ext cx="6788364" cy="482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46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Polymorphism and Subclasses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A subclass instance </a:t>
            </a:r>
            <a:r>
              <a:rPr lang="en-US" b="1" i="1" dirty="0"/>
              <a:t>is a</a:t>
            </a:r>
            <a:r>
              <a:rPr lang="en-US" dirty="0"/>
              <a:t> superclass instance</a:t>
            </a:r>
          </a:p>
          <a:p>
            <a:pPr lvl="1">
              <a:defRPr/>
            </a:pPr>
            <a:r>
              <a:rPr lang="en-US" dirty="0"/>
              <a:t>Polymorphism still works!</a:t>
            </a:r>
          </a:p>
          <a:p>
            <a:pPr marL="457200" lvl="1" indent="0">
              <a:buNone/>
              <a:defRPr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  <a:defRPr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BankAccount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CheckingAccount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ba.deposit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(100.0);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defRPr/>
            </a:pPr>
            <a:r>
              <a:rPr lang="en-US" dirty="0" err="1"/>
              <a:t>BankAccount</a:t>
            </a:r>
            <a:r>
              <a:rPr lang="en-US" dirty="0"/>
              <a:t> is </a:t>
            </a:r>
            <a:r>
              <a:rPr lang="en-US" i="1" dirty="0"/>
              <a:t>declared type</a:t>
            </a:r>
          </a:p>
          <a:p>
            <a:pPr lvl="1">
              <a:defRPr/>
            </a:pPr>
            <a:r>
              <a:rPr lang="en-US" dirty="0" err="1"/>
              <a:t>CheckingAccount</a:t>
            </a:r>
            <a:r>
              <a:rPr lang="en-US" dirty="0"/>
              <a:t> is </a:t>
            </a:r>
            <a:r>
              <a:rPr lang="en-US" i="1" dirty="0"/>
              <a:t>instantiated type</a:t>
            </a:r>
          </a:p>
          <a:p>
            <a:pPr lvl="1">
              <a:defRPr/>
            </a:pPr>
            <a:r>
              <a:rPr lang="en-US" dirty="0"/>
              <a:t>The code above compiles and runs because</a:t>
            </a:r>
            <a:br>
              <a:rPr lang="en-US" dirty="0"/>
            </a:br>
            <a:r>
              <a:rPr lang="en-US" dirty="0" err="1"/>
              <a:t>CheckingAccount</a:t>
            </a:r>
            <a:r>
              <a:rPr lang="en-US" dirty="0"/>
              <a:t> </a:t>
            </a:r>
            <a:r>
              <a:rPr lang="en-US" i="1" dirty="0" err="1"/>
              <a:t>isA</a:t>
            </a:r>
            <a:r>
              <a:rPr lang="en-US" dirty="0"/>
              <a:t> </a:t>
            </a:r>
            <a:r>
              <a:rPr lang="en-US" dirty="0" err="1"/>
              <a:t>BankAccount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Polymorphism and Subclasses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00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This code (below) does not work</a:t>
            </a:r>
          </a:p>
          <a:p>
            <a:pPr marL="457200" lvl="1" indent="0">
              <a:buNone/>
              <a:defRPr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CheckingAccount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ca =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BankAccount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ca.deductFees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>
              <a:defRPr/>
            </a:pPr>
            <a:r>
              <a:rPr lang="en-US" dirty="0" err="1"/>
              <a:t>CheckingAccount</a:t>
            </a:r>
            <a:r>
              <a:rPr lang="en-US" dirty="0"/>
              <a:t> is the </a:t>
            </a:r>
            <a:r>
              <a:rPr lang="en-US" i="1" dirty="0"/>
              <a:t>declared type</a:t>
            </a:r>
          </a:p>
          <a:p>
            <a:pPr lvl="1">
              <a:defRPr/>
            </a:pPr>
            <a:r>
              <a:rPr lang="en-US" dirty="0" err="1"/>
              <a:t>BankAccount</a:t>
            </a:r>
            <a:r>
              <a:rPr lang="en-US" dirty="0"/>
              <a:t> is the </a:t>
            </a:r>
            <a:r>
              <a:rPr lang="en-US" i="1" dirty="0"/>
              <a:t>instantiated type</a:t>
            </a:r>
          </a:p>
          <a:p>
            <a:pPr lvl="1">
              <a:defRPr/>
            </a:pPr>
            <a:r>
              <a:rPr lang="en-US" dirty="0"/>
              <a:t>It doesn't compile because </a:t>
            </a:r>
            <a:br>
              <a:rPr lang="en-US" dirty="0"/>
            </a:br>
            <a:r>
              <a:rPr lang="en-US" dirty="0" err="1"/>
              <a:t>BackAccount</a:t>
            </a:r>
            <a:r>
              <a:rPr lang="en-US" dirty="0"/>
              <a:t> </a:t>
            </a:r>
            <a:r>
              <a:rPr lang="en-US" i="1" dirty="0" err="1"/>
              <a:t>isNotA</a:t>
            </a:r>
            <a:r>
              <a:rPr lang="en-US" dirty="0"/>
              <a:t> </a:t>
            </a:r>
            <a:r>
              <a:rPr lang="en-US" dirty="0" err="1"/>
              <a:t>CheckingAccount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300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Another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Can use </a:t>
            </a:r>
            <a:r>
              <a:rPr lang="en-US" err="1"/>
              <a:t>BankAccount's</a:t>
            </a:r>
            <a:r>
              <a:rPr lang="en-US"/>
              <a:t> </a:t>
            </a:r>
            <a:r>
              <a:rPr lang="en-US" i="1"/>
              <a:t>transfer</a:t>
            </a:r>
            <a:r>
              <a:rPr lang="en-US"/>
              <a:t> method to transfer between different accounts:</a:t>
            </a:r>
          </a:p>
          <a:p>
            <a:pPr marL="457200" lvl="1" indent="0">
              <a:buNone/>
              <a:defRPr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  <a:defRPr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SavingsAccount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sa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…;</a:t>
            </a:r>
          </a:p>
          <a:p>
            <a:pPr marL="457200" lvl="1" indent="0">
              <a:buNone/>
              <a:defRPr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CheckingAccount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ca = …;</a:t>
            </a:r>
          </a:p>
          <a:p>
            <a:pPr marL="457200" lvl="1" indent="0">
              <a:buNone/>
              <a:defRPr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sa.transfer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(100, ca);  // 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71450" lvl="1" indent="0">
              <a:buNone/>
              <a:defRPr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transfer(double amount,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BankAccount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o){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this.withdraw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(amount);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o.deposit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(amount);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Access Modifiers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tabLst>
                <a:tab pos="3197225" algn="l"/>
              </a:tabLst>
              <a:defRPr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b="1" dirty="0">
                <a:solidFill>
                  <a:schemeClr val="accent3"/>
                </a:solidFill>
                <a:latin typeface="Lucida Sans Typewriter" pitchFamily="49" charset="0"/>
              </a:rPr>
              <a:t>	</a:t>
            </a:r>
            <a:r>
              <a:rPr lang="en-US" dirty="0"/>
              <a:t>any code can see it</a:t>
            </a:r>
          </a:p>
          <a:p>
            <a:pPr lvl="1">
              <a:tabLst>
                <a:tab pos="3197225" algn="l"/>
              </a:tabLst>
              <a:defRPr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dirty="0"/>
              <a:t>	package and subclasses can see it</a:t>
            </a:r>
          </a:p>
          <a:p>
            <a:pPr lvl="1">
              <a:tabLst>
                <a:tab pos="3197225" algn="l"/>
              </a:tabLst>
              <a:defRPr/>
            </a:pPr>
            <a:r>
              <a:rPr lang="en-US" dirty="0">
                <a:cs typeface="Courier New" panose="02070309020205020404" pitchFamily="49" charset="0"/>
              </a:rPr>
              <a:t>default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	anything in the package can see it</a:t>
            </a:r>
            <a:endParaRPr lang="en-US" b="1" dirty="0">
              <a:solidFill>
                <a:schemeClr val="accent3"/>
              </a:solidFill>
              <a:latin typeface="Lucida Sans Typewriter" pitchFamily="49" charset="0"/>
            </a:endParaRPr>
          </a:p>
          <a:p>
            <a:pPr lvl="1">
              <a:tabLst>
                <a:tab pos="3197225" algn="l"/>
              </a:tabLst>
              <a:defRPr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/>
              <a:t>	only the class itself can see it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Notes:</a:t>
            </a:r>
          </a:p>
          <a:p>
            <a:pPr lvl="1">
              <a:defRPr/>
            </a:pPr>
            <a:r>
              <a:rPr lang="en-US" b="1" dirty="0"/>
              <a:t>default</a:t>
            </a:r>
            <a:r>
              <a:rPr lang="en-US" dirty="0"/>
              <a:t> (i.e., modifier missing) — only code </a:t>
            </a:r>
            <a:br>
              <a:rPr lang="en-US" dirty="0"/>
            </a:br>
            <a:r>
              <a:rPr lang="en-US" dirty="0"/>
              <a:t>in the same </a:t>
            </a:r>
            <a:r>
              <a:rPr lang="en-US" b="1" dirty="0">
                <a:solidFill>
                  <a:schemeClr val="accent3"/>
                </a:solidFill>
              </a:rPr>
              <a:t>package</a:t>
            </a:r>
            <a:r>
              <a:rPr lang="en-US" dirty="0"/>
              <a:t> can access it</a:t>
            </a:r>
          </a:p>
          <a:p>
            <a:pPr lvl="2">
              <a:defRPr/>
            </a:pPr>
            <a:r>
              <a:rPr lang="en-US" dirty="0"/>
              <a:t>good choice for classes</a:t>
            </a:r>
          </a:p>
          <a:p>
            <a:pPr lvl="1">
              <a:defRPr/>
            </a:pPr>
            <a:r>
              <a:rPr lang="en-US" b="1" dirty="0">
                <a:solidFill>
                  <a:schemeClr val="accent3"/>
                </a:solidFill>
                <a:latin typeface="Lucida Sans Typewriter" pitchFamily="49" charset="0"/>
              </a:rPr>
              <a:t>Protected </a:t>
            </a:r>
            <a:r>
              <a:rPr lang="en-US" dirty="0"/>
              <a:t>— like default, but </a:t>
            </a:r>
            <a:br>
              <a:rPr lang="en-US" dirty="0"/>
            </a:br>
            <a:r>
              <a:rPr lang="en-US" dirty="0"/>
              <a:t>subclasses also have access</a:t>
            </a:r>
          </a:p>
          <a:p>
            <a:pPr lvl="2">
              <a:defRPr/>
            </a:pPr>
            <a:r>
              <a:rPr lang="en-US" dirty="0"/>
              <a:t>sometimes useful for helper methods</a:t>
            </a:r>
          </a:p>
        </p:txBody>
      </p:sp>
      <p:sp>
        <p:nvSpPr>
          <p:cNvPr id="5" name="Right Brace 4"/>
          <p:cNvSpPr/>
          <p:nvPr/>
        </p:nvSpPr>
        <p:spPr>
          <a:xfrm>
            <a:off x="6553200" y="3505200"/>
            <a:ext cx="533400" cy="2501900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162800" y="3733800"/>
            <a:ext cx="1371600" cy="20574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/>
              <a:t>Bad for fields!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Live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Let’s look at </a:t>
            </a:r>
            <a:r>
              <a:rPr lang="en-US" err="1"/>
              <a:t>chessPieces</a:t>
            </a:r>
            <a:r>
              <a:rPr lang="en-US"/>
              <a:t>/</a:t>
            </a:r>
            <a:r>
              <a:rPr lang="en-US" err="1"/>
              <a:t>chessSupport</a:t>
            </a:r>
            <a:endParaRPr lang="en-US"/>
          </a:p>
          <a:p>
            <a:pPr lvl="1"/>
            <a:r>
              <a:rPr lang="en-US"/>
              <a:t>Let’s Look at King and </a:t>
            </a:r>
            <a:r>
              <a:rPr lang="en-US" err="1"/>
              <a:t>ChessPiece</a:t>
            </a:r>
            <a:endParaRPr lang="en-US"/>
          </a:p>
          <a:p>
            <a:pPr lvl="1"/>
            <a:r>
              <a:rPr lang="en-US" err="1"/>
              <a:t>StandardBoardProvider</a:t>
            </a:r>
            <a:r>
              <a:rPr lang="en-US"/>
              <a:t> (uncomment King lines)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90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accent3"/>
                </a:solidFill>
              </a:rPr>
              <a:t>Abstract</a:t>
            </a:r>
            <a:r>
              <a:rPr lang="en-US"/>
              <a:t> Classes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n-US"/>
              <a:t>Hybrid of </a:t>
            </a:r>
            <a:r>
              <a:rPr lang="en-US" err="1"/>
              <a:t>superclasses</a:t>
            </a:r>
            <a:r>
              <a:rPr lang="en-US"/>
              <a:t> and interfaces</a:t>
            </a:r>
          </a:p>
          <a:p>
            <a:pPr lvl="1">
              <a:defRPr/>
            </a:pPr>
            <a:r>
              <a:rPr lang="en-US"/>
              <a:t>Like regular </a:t>
            </a:r>
            <a:r>
              <a:rPr lang="en-US" err="1"/>
              <a:t>superclasses</a:t>
            </a:r>
            <a:r>
              <a:rPr lang="en-US"/>
              <a:t>:</a:t>
            </a:r>
          </a:p>
          <a:p>
            <a:pPr lvl="2">
              <a:defRPr/>
            </a:pPr>
            <a:r>
              <a:rPr lang="en-US"/>
              <a:t>Provide implementation of some methods</a:t>
            </a:r>
          </a:p>
          <a:p>
            <a:pPr lvl="1">
              <a:defRPr/>
            </a:pPr>
            <a:r>
              <a:rPr lang="en-US"/>
              <a:t>Like interfaces</a:t>
            </a:r>
          </a:p>
          <a:p>
            <a:pPr lvl="2">
              <a:defRPr/>
            </a:pPr>
            <a:r>
              <a:rPr lang="en-US"/>
              <a:t>Just provide signatures and docs of other methods</a:t>
            </a:r>
          </a:p>
          <a:p>
            <a:pPr lvl="2">
              <a:defRPr/>
            </a:pPr>
            <a:r>
              <a:rPr lang="en-US"/>
              <a:t>Can’t be instantiated</a:t>
            </a:r>
          </a:p>
          <a:p>
            <a:pPr>
              <a:defRPr/>
            </a:pPr>
            <a:r>
              <a:rPr lang="en-US"/>
              <a:t>Example:</a:t>
            </a:r>
          </a:p>
          <a:p>
            <a:pPr lvl="1">
              <a:defRPr/>
            </a:pPr>
            <a:r>
              <a:rPr lang="en-US" b="1">
                <a:latin typeface="Lucida Sans Typewriter" pitchFamily="49" charset="0"/>
              </a:rPr>
              <a:t>public </a:t>
            </a:r>
            <a:r>
              <a:rPr lang="en-US" b="1">
                <a:solidFill>
                  <a:schemeClr val="accent3"/>
                </a:solidFill>
                <a:latin typeface="Lucida Sans Typewriter" pitchFamily="49" charset="0"/>
              </a:rPr>
              <a:t>abstract</a:t>
            </a:r>
            <a:r>
              <a:rPr lang="en-US" b="1">
                <a:latin typeface="Lucida Sans Typewriter" pitchFamily="49" charset="0"/>
              </a:rPr>
              <a:t> class </a:t>
            </a:r>
            <a:r>
              <a:rPr lang="en-US" b="1" err="1">
                <a:latin typeface="Lucida Sans Typewriter" pitchFamily="49" charset="0"/>
              </a:rPr>
              <a:t>BankAccount</a:t>
            </a:r>
            <a:r>
              <a:rPr lang="en-US" b="1">
                <a:latin typeface="Lucida Sans Typewriter" pitchFamily="49" charset="0"/>
              </a:rPr>
              <a:t> {</a:t>
            </a:r>
            <a:br>
              <a:rPr lang="en-US" b="1">
                <a:latin typeface="Lucida Sans Typewriter" pitchFamily="49" charset="0"/>
              </a:rPr>
            </a:br>
            <a:r>
              <a:rPr lang="en-US" b="1">
                <a:latin typeface="Lucida Sans Typewriter" pitchFamily="49" charset="0"/>
              </a:rPr>
              <a:t>    /** documentation here */</a:t>
            </a:r>
            <a:br>
              <a:rPr lang="en-US" b="1">
                <a:latin typeface="Lucida Sans Typewriter" pitchFamily="49" charset="0"/>
              </a:rPr>
            </a:br>
            <a:r>
              <a:rPr lang="en-US" b="1">
                <a:latin typeface="Lucida Sans Typewriter" pitchFamily="49" charset="0"/>
              </a:rPr>
              <a:t>    public </a:t>
            </a:r>
            <a:r>
              <a:rPr lang="en-US" b="1">
                <a:solidFill>
                  <a:schemeClr val="accent3"/>
                </a:solidFill>
                <a:latin typeface="Lucida Sans Typewriter" pitchFamily="49" charset="0"/>
              </a:rPr>
              <a:t>abstract</a:t>
            </a:r>
            <a:r>
              <a:rPr lang="en-US" b="1">
                <a:latin typeface="Lucida Sans Typewriter" pitchFamily="49" charset="0"/>
              </a:rPr>
              <a:t> void </a:t>
            </a:r>
            <a:r>
              <a:rPr lang="en-US" b="1" err="1">
                <a:latin typeface="Lucida Sans Typewriter" pitchFamily="49" charset="0"/>
              </a:rPr>
              <a:t>deductFees</a:t>
            </a:r>
            <a:r>
              <a:rPr lang="en-US" b="1">
                <a:latin typeface="Lucida Sans Typewriter" pitchFamily="49" charset="0"/>
              </a:rPr>
              <a:t>()</a:t>
            </a:r>
            <a:r>
              <a:rPr lang="en-US" b="1">
                <a:solidFill>
                  <a:schemeClr val="accent3"/>
                </a:solidFill>
                <a:latin typeface="Lucida Sans Typewriter" pitchFamily="49" charset="0"/>
              </a:rPr>
              <a:t>;</a:t>
            </a:r>
            <a:br>
              <a:rPr lang="en-US" b="1">
                <a:latin typeface="Lucida Sans Typewriter" pitchFamily="49" charset="0"/>
              </a:rPr>
            </a:br>
            <a:r>
              <a:rPr lang="en-US" b="1">
                <a:latin typeface="Lucida Sans Typewriter" pitchFamily="49" charset="0"/>
              </a:rPr>
              <a:t>    …</a:t>
            </a:r>
            <a:br>
              <a:rPr lang="en-US" b="1">
                <a:latin typeface="Lucida Sans Typewriter" pitchFamily="49" charset="0"/>
              </a:rPr>
            </a:br>
            <a:r>
              <a:rPr lang="en-US" b="1">
                <a:latin typeface="Lucida Sans Typewriter" pitchFamily="49" charset="0"/>
              </a:rPr>
              <a:t>}</a:t>
            </a:r>
          </a:p>
        </p:txBody>
      </p:sp>
      <p:sp>
        <p:nvSpPr>
          <p:cNvPr id="4" name="Line Callout 2 3"/>
          <p:cNvSpPr/>
          <p:nvPr/>
        </p:nvSpPr>
        <p:spPr>
          <a:xfrm>
            <a:off x="3581400" y="6007100"/>
            <a:ext cx="3429000" cy="6223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1872"/>
              <a:gd name="adj6" fmla="val -444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Elided methods as before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lh3.googleusercontent.com/-nCSw8aR4ICA/TYCGy3xrZPI/AAAAAAAAABI/CG0rejrXNR8/s1600/mov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84" y="304800"/>
            <a:ext cx="8354632" cy="6350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679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5D7D7-B2C6-CA92-C52A-C39677C4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07EB5-0DCE-F85D-2869-0FE09B932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/>
          <a:lstStyle/>
          <a:p>
            <a:r>
              <a:rPr lang="en-US" dirty="0"/>
              <a:t>HW11 </a:t>
            </a:r>
            <a:r>
              <a:rPr lang="en-US" dirty="0" err="1"/>
              <a:t>RefactoringInheritance</a:t>
            </a:r>
            <a:endParaRPr lang="en-US" dirty="0"/>
          </a:p>
          <a:p>
            <a:pPr lvl="1"/>
            <a:r>
              <a:rPr lang="en-US" dirty="0"/>
              <a:t>Requires you to utilize inheritance</a:t>
            </a:r>
          </a:p>
          <a:p>
            <a:pPr lvl="1"/>
            <a:r>
              <a:rPr lang="en-US" dirty="0"/>
              <a:t>Careful to avoid variable shadowing</a:t>
            </a:r>
          </a:p>
          <a:p>
            <a:pPr lvl="1"/>
            <a:r>
              <a:rPr lang="en-US" dirty="0"/>
              <a:t>Read instructions carefully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D5A0DF-4E2C-82EC-5E5E-62D988B31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47653"/>
            <a:ext cx="7071360" cy="302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30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Work Time</a:t>
            </a:r>
          </a:p>
        </p:txBody>
      </p:sp>
      <p:sp>
        <p:nvSpPr>
          <p:cNvPr id="24579" name="Text Placeholder 4"/>
          <p:cNvSpPr>
            <a:spLocks noGrp="1"/>
          </p:cNvSpPr>
          <p:nvPr>
            <p:ph type="body" idx="1"/>
          </p:nvPr>
        </p:nvSpPr>
        <p:spPr>
          <a:xfrm>
            <a:off x="722313" y="1828801"/>
            <a:ext cx="7772400" cy="2578100"/>
          </a:xfrm>
        </p:spPr>
        <p:txBody>
          <a:bodyPr>
            <a:normAutofit/>
          </a:bodyPr>
          <a:lstStyle/>
          <a:p>
            <a:r>
              <a:rPr lang="en-US"/>
              <a:t>Chess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And to ask instructor/assistants for help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C4378FB-03E6-44FD-B96F-DE665721A1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F9EA22-5825-4E8D-9432-59C9592C34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2D20C57-C3B5-47E7-874B-37927E7B786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1385</TotalTime>
  <Words>1425</Words>
  <Application>Microsoft Office PowerPoint</Application>
  <PresentationFormat>On-screen Show (4:3)</PresentationFormat>
  <Paragraphs>202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Lucida Sans Typewriter</vt:lpstr>
      <vt:lpstr>Office Theme</vt:lpstr>
      <vt:lpstr>CSSE 220</vt:lpstr>
      <vt:lpstr>Inheritance</vt:lpstr>
      <vt:lpstr>Examples</vt:lpstr>
      <vt:lpstr>Notation and Terminology</vt:lpstr>
      <vt:lpstr>Inheritance in UML</vt:lpstr>
      <vt:lpstr>Inheritance Run Amok?</vt:lpstr>
      <vt:lpstr>With Methods, Subclasses can:</vt:lpstr>
      <vt:lpstr>w.r.t Fields, Subclasses:</vt:lpstr>
      <vt:lpstr>How Subclass calls Superclass Methods</vt:lpstr>
      <vt:lpstr>Let’s Code CheckingAccount</vt:lpstr>
      <vt:lpstr>Design then Implement</vt:lpstr>
      <vt:lpstr>Polymorphism and Subclasses</vt:lpstr>
      <vt:lpstr>Polymorphism and Subclasses</vt:lpstr>
      <vt:lpstr>Another Example</vt:lpstr>
      <vt:lpstr>Access Modifiers</vt:lpstr>
      <vt:lpstr>Live coding</vt:lpstr>
      <vt:lpstr>Abstract Classes</vt:lpstr>
      <vt:lpstr>PowerPoint Presentation</vt:lpstr>
      <vt:lpstr>Upcoming Homework</vt:lpstr>
      <vt:lpstr>Work Time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21</cp:revision>
  <cp:lastPrinted>2015-01-19T18:06:47Z</cp:lastPrinted>
  <dcterms:created xsi:type="dcterms:W3CDTF">2011-01-25T15:45:15Z</dcterms:created>
  <dcterms:modified xsi:type="dcterms:W3CDTF">2025-10-09T15:38:04Z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0x0101001570BCAAD2E4294F9443DCB038A55380</vt:lpwstr>
  </property>
</Properties>
</file>