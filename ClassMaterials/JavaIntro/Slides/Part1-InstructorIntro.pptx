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331" r:id="rId2"/>
    <p:sldId id="346" r:id="rId3"/>
    <p:sldId id="332" r:id="rId4"/>
    <p:sldId id="334" r:id="rId5"/>
    <p:sldId id="355" r:id="rId6"/>
    <p:sldId id="344" r:id="rId7"/>
    <p:sldId id="347" r:id="rId8"/>
    <p:sldId id="356" r:id="rId9"/>
    <p:sldId id="357" r:id="rId10"/>
    <p:sldId id="348" r:id="rId11"/>
    <p:sldId id="358" r:id="rId12"/>
    <p:sldId id="359" r:id="rId13"/>
    <p:sldId id="360" r:id="rId14"/>
    <p:sldId id="354" r:id="rId15"/>
    <p:sldId id="349" r:id="rId16"/>
    <p:sldId id="345" r:id="rId17"/>
    <p:sldId id="335" r:id="rId18"/>
    <p:sldId id="336" r:id="rId19"/>
    <p:sldId id="337" r:id="rId20"/>
    <p:sldId id="339" r:id="rId21"/>
    <p:sldId id="340" r:id="rId22"/>
    <p:sldId id="341" r:id="rId23"/>
    <p:sldId id="302" r:id="rId24"/>
    <p:sldId id="303" r:id="rId25"/>
    <p:sldId id="304" r:id="rId26"/>
    <p:sldId id="305" r:id="rId27"/>
    <p:sldId id="293" r:id="rId28"/>
    <p:sldId id="294" r:id="rId29"/>
    <p:sldId id="284" r:id="rId30"/>
    <p:sldId id="296" r:id="rId31"/>
    <p:sldId id="297" r:id="rId32"/>
    <p:sldId id="298" r:id="rId33"/>
    <p:sldId id="28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B1CBB4-3093-4A40-83BB-FA1DC57246A6}" v="12" dt="2023-11-21T14:51:31.3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3010" autoAdjust="0"/>
  </p:normalViewPr>
  <p:slideViewPr>
    <p:cSldViewPr snapToGrid="0" snapToObjects="1">
      <p:cViewPr varScale="1">
        <p:scale>
          <a:sx n="92" d="100"/>
          <a:sy n="92" d="100"/>
        </p:scale>
        <p:origin x="12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der, Jason" userId="28f4d4d8-da04-4f86-b14d-a21675737bc5" providerId="ADAL" clId="{56B1CBB4-3093-4A40-83BB-FA1DC57246A6}"/>
    <pc:docChg chg="undo custSel addSld delSld modSld">
      <pc:chgData name="Yoder, Jason" userId="28f4d4d8-da04-4f86-b14d-a21675737bc5" providerId="ADAL" clId="{56B1CBB4-3093-4A40-83BB-FA1DC57246A6}" dt="2023-11-21T14:52:01.448" v="764" actId="5793"/>
      <pc:docMkLst>
        <pc:docMk/>
      </pc:docMkLst>
      <pc:sldChg chg="del">
        <pc:chgData name="Yoder, Jason" userId="28f4d4d8-da04-4f86-b14d-a21675737bc5" providerId="ADAL" clId="{56B1CBB4-3093-4A40-83BB-FA1DC57246A6}" dt="2023-11-21T13:26:08.201" v="1" actId="47"/>
        <pc:sldMkLst>
          <pc:docMk/>
          <pc:sldMk cId="4166995301" sldId="330"/>
        </pc:sldMkLst>
      </pc:sldChg>
      <pc:sldChg chg="addSp delSp modSp mod">
        <pc:chgData name="Yoder, Jason" userId="28f4d4d8-da04-4f86-b14d-a21675737bc5" providerId="ADAL" clId="{56B1CBB4-3093-4A40-83BB-FA1DC57246A6}" dt="2023-11-21T14:13:34.247" v="651"/>
        <pc:sldMkLst>
          <pc:docMk/>
          <pc:sldMk cId="1302042835" sldId="331"/>
        </pc:sldMkLst>
        <pc:spChg chg="mod">
          <ac:chgData name="Yoder, Jason" userId="28f4d4d8-da04-4f86-b14d-a21675737bc5" providerId="ADAL" clId="{56B1CBB4-3093-4A40-83BB-FA1DC57246A6}" dt="2023-11-21T14:00:52.182" v="102" actId="113"/>
          <ac:spMkLst>
            <pc:docMk/>
            <pc:sldMk cId="1302042835" sldId="331"/>
            <ac:spMk id="2" creationId="{29826FFB-88E1-2671-3232-3FA756FD33C1}"/>
          </ac:spMkLst>
        </pc:spChg>
        <pc:spChg chg="mod">
          <ac:chgData name="Yoder, Jason" userId="28f4d4d8-da04-4f86-b14d-a21675737bc5" providerId="ADAL" clId="{56B1CBB4-3093-4A40-83BB-FA1DC57246A6}" dt="2023-11-21T14:13:06.769" v="642" actId="6549"/>
          <ac:spMkLst>
            <pc:docMk/>
            <pc:sldMk cId="1302042835" sldId="331"/>
            <ac:spMk id="50" creationId="{00000000-0000-0000-0000-000000000000}"/>
          </ac:spMkLst>
        </pc:spChg>
        <pc:grpChg chg="mod">
          <ac:chgData name="Yoder, Jason" userId="28f4d4d8-da04-4f86-b14d-a21675737bc5" providerId="ADAL" clId="{56B1CBB4-3093-4A40-83BB-FA1DC57246A6}" dt="2023-11-21T14:13:34.247" v="651"/>
          <ac:grpSpMkLst>
            <pc:docMk/>
            <pc:sldMk cId="1302042835" sldId="331"/>
            <ac:grpSpMk id="29" creationId="{152EEEF7-4B46-8B7A-2C11-1AAB4C25B088}"/>
          </ac:grpSpMkLst>
        </pc:grpChg>
        <pc:picChg chg="add del mod">
          <ac:chgData name="Yoder, Jason" userId="28f4d4d8-da04-4f86-b14d-a21675737bc5" providerId="ADAL" clId="{56B1CBB4-3093-4A40-83BB-FA1DC57246A6}" dt="2023-11-21T13:57:44.259" v="11" actId="478"/>
          <ac:picMkLst>
            <pc:docMk/>
            <pc:sldMk cId="1302042835" sldId="331"/>
            <ac:picMk id="4" creationId="{EC03BD0D-317D-5109-9A04-C17FB29E9752}"/>
          </ac:picMkLst>
        </pc:picChg>
        <pc:picChg chg="del mod">
          <ac:chgData name="Yoder, Jason" userId="28f4d4d8-da04-4f86-b14d-a21675737bc5" providerId="ADAL" clId="{56B1CBB4-3093-4A40-83BB-FA1DC57246A6}" dt="2023-11-21T13:53:06.398" v="8" actId="478"/>
          <ac:picMkLst>
            <pc:docMk/>
            <pc:sldMk cId="1302042835" sldId="331"/>
            <ac:picMk id="5" creationId="{E2A0B1BB-29E7-46F6-A3C8-2B3931560926}"/>
          </ac:picMkLst>
        </pc:picChg>
        <pc:picChg chg="add del">
          <ac:chgData name="Yoder, Jason" userId="28f4d4d8-da04-4f86-b14d-a21675737bc5" providerId="ADAL" clId="{56B1CBB4-3093-4A40-83BB-FA1DC57246A6}" dt="2023-11-21T13:56:42.922" v="10" actId="478"/>
          <ac:picMkLst>
            <pc:docMk/>
            <pc:sldMk cId="1302042835" sldId="331"/>
            <ac:picMk id="7" creationId="{5E5AD2FF-B589-2789-5B99-857B5F78A88B}"/>
          </ac:picMkLst>
        </pc:picChg>
        <pc:picChg chg="add del mod">
          <ac:chgData name="Yoder, Jason" userId="28f4d4d8-da04-4f86-b14d-a21675737bc5" providerId="ADAL" clId="{56B1CBB4-3093-4A40-83BB-FA1DC57246A6}" dt="2023-11-21T13:58:59.226" v="43" actId="478"/>
          <ac:picMkLst>
            <pc:docMk/>
            <pc:sldMk cId="1302042835" sldId="331"/>
            <ac:picMk id="9" creationId="{56C478B7-D855-7381-20F6-EC0BFAF7C12F}"/>
          </ac:picMkLst>
        </pc:picChg>
        <pc:picChg chg="del">
          <ac:chgData name="Yoder, Jason" userId="28f4d4d8-da04-4f86-b14d-a21675737bc5" providerId="ADAL" clId="{56B1CBB4-3093-4A40-83BB-FA1DC57246A6}" dt="2023-11-21T13:51:58.644" v="2" actId="478"/>
          <ac:picMkLst>
            <pc:docMk/>
            <pc:sldMk cId="1302042835" sldId="331"/>
            <ac:picMk id="10" creationId="{15CDABD2-30A2-469B-AC17-0A008297CC65}"/>
          </ac:picMkLst>
        </pc:picChg>
        <pc:picChg chg="add del mod">
          <ac:chgData name="Yoder, Jason" userId="28f4d4d8-da04-4f86-b14d-a21675737bc5" providerId="ADAL" clId="{56B1CBB4-3093-4A40-83BB-FA1DC57246A6}" dt="2023-11-21T13:59:20.809" v="46" actId="478"/>
          <ac:picMkLst>
            <pc:docMk/>
            <pc:sldMk cId="1302042835" sldId="331"/>
            <ac:picMk id="12" creationId="{77980875-9127-6C40-E42C-79F9AC7F3B20}"/>
          </ac:picMkLst>
        </pc:picChg>
        <pc:picChg chg="add del mod">
          <ac:chgData name="Yoder, Jason" userId="28f4d4d8-da04-4f86-b14d-a21675737bc5" providerId="ADAL" clId="{56B1CBB4-3093-4A40-83BB-FA1DC57246A6}" dt="2023-11-21T13:59:35.294" v="49" actId="478"/>
          <ac:picMkLst>
            <pc:docMk/>
            <pc:sldMk cId="1302042835" sldId="331"/>
            <ac:picMk id="14" creationId="{D8030BE8-DEC5-4255-4D17-2BBABEC52844}"/>
          </ac:picMkLst>
        </pc:picChg>
        <pc:picChg chg="add mod">
          <ac:chgData name="Yoder, Jason" userId="28f4d4d8-da04-4f86-b14d-a21675737bc5" providerId="ADAL" clId="{56B1CBB4-3093-4A40-83BB-FA1DC57246A6}" dt="2023-11-21T13:59:41.103" v="52" actId="14100"/>
          <ac:picMkLst>
            <pc:docMk/>
            <pc:sldMk cId="1302042835" sldId="331"/>
            <ac:picMk id="16" creationId="{0453F0D0-DCB5-098B-EAC5-47388051A55A}"/>
          </ac:picMkLst>
        </pc:picChg>
        <pc:picChg chg="add mod modCrop">
          <ac:chgData name="Yoder, Jason" userId="28f4d4d8-da04-4f86-b14d-a21675737bc5" providerId="ADAL" clId="{56B1CBB4-3093-4A40-83BB-FA1DC57246A6}" dt="2023-11-21T14:13:12.222" v="644" actId="1076"/>
          <ac:picMkLst>
            <pc:docMk/>
            <pc:sldMk cId="1302042835" sldId="331"/>
            <ac:picMk id="22" creationId="{0B8B5539-82AD-A632-D769-F2E52565373B}"/>
          </ac:picMkLst>
        </pc:picChg>
        <pc:inkChg chg="add">
          <ac:chgData name="Yoder, Jason" userId="28f4d4d8-da04-4f86-b14d-a21675737bc5" providerId="ADAL" clId="{56B1CBB4-3093-4A40-83BB-FA1DC57246A6}" dt="2023-11-21T14:01:07.493" v="103" actId="9405"/>
          <ac:inkMkLst>
            <pc:docMk/>
            <pc:sldMk cId="1302042835" sldId="331"/>
            <ac:inkMk id="17" creationId="{F92E14CB-B205-43BF-A106-8C7B4F06602C}"/>
          </ac:inkMkLst>
        </pc:inkChg>
        <pc:inkChg chg="add">
          <ac:chgData name="Yoder, Jason" userId="28f4d4d8-da04-4f86-b14d-a21675737bc5" providerId="ADAL" clId="{56B1CBB4-3093-4A40-83BB-FA1DC57246A6}" dt="2023-11-21T14:01:16.818" v="104" actId="9405"/>
          <ac:inkMkLst>
            <pc:docMk/>
            <pc:sldMk cId="1302042835" sldId="331"/>
            <ac:inkMk id="18" creationId="{4EC42C5D-6651-7930-0ED2-9DFB1A6153C8}"/>
          </ac:inkMkLst>
        </pc:inkChg>
        <pc:inkChg chg="add">
          <ac:chgData name="Yoder, Jason" userId="28f4d4d8-da04-4f86-b14d-a21675737bc5" providerId="ADAL" clId="{56B1CBB4-3093-4A40-83BB-FA1DC57246A6}" dt="2023-11-21T14:01:20.310" v="105" actId="9405"/>
          <ac:inkMkLst>
            <pc:docMk/>
            <pc:sldMk cId="1302042835" sldId="331"/>
            <ac:inkMk id="19" creationId="{F62E0E69-4ED3-01FE-D364-AB4C0FBEE3CC}"/>
          </ac:inkMkLst>
        </pc:inkChg>
        <pc:inkChg chg="add del">
          <ac:chgData name="Yoder, Jason" userId="28f4d4d8-da04-4f86-b14d-a21675737bc5" providerId="ADAL" clId="{56B1CBB4-3093-4A40-83BB-FA1DC57246A6}" dt="2023-11-21T14:13:09.135" v="643" actId="478"/>
          <ac:inkMkLst>
            <pc:docMk/>
            <pc:sldMk cId="1302042835" sldId="331"/>
            <ac:inkMk id="20" creationId="{2DDF09EE-6254-33F6-D871-44AF5AD4C0C6}"/>
          </ac:inkMkLst>
        </pc:inkChg>
        <pc:inkChg chg="add">
          <ac:chgData name="Yoder, Jason" userId="28f4d4d8-da04-4f86-b14d-a21675737bc5" providerId="ADAL" clId="{56B1CBB4-3093-4A40-83BB-FA1DC57246A6}" dt="2023-11-21T14:13:18.104" v="645" actId="9405"/>
          <ac:inkMkLst>
            <pc:docMk/>
            <pc:sldMk cId="1302042835" sldId="331"/>
            <ac:inkMk id="23" creationId="{3F46DDE0-B337-B19B-A7D2-28AC5F5556E9}"/>
          </ac:inkMkLst>
        </pc:inkChg>
        <pc:inkChg chg="add">
          <ac:chgData name="Yoder, Jason" userId="28f4d4d8-da04-4f86-b14d-a21675737bc5" providerId="ADAL" clId="{56B1CBB4-3093-4A40-83BB-FA1DC57246A6}" dt="2023-11-21T14:13:21.872" v="646" actId="9405"/>
          <ac:inkMkLst>
            <pc:docMk/>
            <pc:sldMk cId="1302042835" sldId="331"/>
            <ac:inkMk id="24" creationId="{C0E210E2-4A31-2EAC-435E-3F99A99397C8}"/>
          </ac:inkMkLst>
        </pc:inkChg>
        <pc:inkChg chg="add">
          <ac:chgData name="Yoder, Jason" userId="28f4d4d8-da04-4f86-b14d-a21675737bc5" providerId="ADAL" clId="{56B1CBB4-3093-4A40-83BB-FA1DC57246A6}" dt="2023-11-21T14:13:26.870" v="647" actId="9405"/>
          <ac:inkMkLst>
            <pc:docMk/>
            <pc:sldMk cId="1302042835" sldId="331"/>
            <ac:inkMk id="25" creationId="{8E038D5F-76AF-1F5D-1C46-DED553C3EFA4}"/>
          </ac:inkMkLst>
        </pc:inkChg>
        <pc:inkChg chg="add mod">
          <ac:chgData name="Yoder, Jason" userId="28f4d4d8-da04-4f86-b14d-a21675737bc5" providerId="ADAL" clId="{56B1CBB4-3093-4A40-83BB-FA1DC57246A6}" dt="2023-11-21T14:13:34.247" v="651"/>
          <ac:inkMkLst>
            <pc:docMk/>
            <pc:sldMk cId="1302042835" sldId="331"/>
            <ac:inkMk id="26" creationId="{D5303D9A-01F0-248B-0962-86165AB8D37E}"/>
          </ac:inkMkLst>
        </pc:inkChg>
        <pc:inkChg chg="add mod">
          <ac:chgData name="Yoder, Jason" userId="28f4d4d8-da04-4f86-b14d-a21675737bc5" providerId="ADAL" clId="{56B1CBB4-3093-4A40-83BB-FA1DC57246A6}" dt="2023-11-21T14:13:34.247" v="651"/>
          <ac:inkMkLst>
            <pc:docMk/>
            <pc:sldMk cId="1302042835" sldId="331"/>
            <ac:inkMk id="27" creationId="{DFE8D2C3-7A48-7416-D60C-F714A02A313B}"/>
          </ac:inkMkLst>
        </pc:inkChg>
        <pc:inkChg chg="add mod">
          <ac:chgData name="Yoder, Jason" userId="28f4d4d8-da04-4f86-b14d-a21675737bc5" providerId="ADAL" clId="{56B1CBB4-3093-4A40-83BB-FA1DC57246A6}" dt="2023-11-21T14:13:34.247" v="651"/>
          <ac:inkMkLst>
            <pc:docMk/>
            <pc:sldMk cId="1302042835" sldId="331"/>
            <ac:inkMk id="28" creationId="{C1925A05-52A3-BBBF-6125-CBFBC941D36D}"/>
          </ac:inkMkLst>
        </pc:inkChg>
      </pc:sldChg>
      <pc:sldChg chg="mod modShow">
        <pc:chgData name="Yoder, Jason" userId="28f4d4d8-da04-4f86-b14d-a21675737bc5" providerId="ADAL" clId="{56B1CBB4-3093-4A40-83BB-FA1DC57246A6}" dt="2023-11-21T13:24:22.910" v="0" actId="729"/>
        <pc:sldMkLst>
          <pc:docMk/>
          <pc:sldMk cId="3952179403" sldId="342"/>
        </pc:sldMkLst>
      </pc:sldChg>
      <pc:sldChg chg="addSp delSp modSp new mod">
        <pc:chgData name="Yoder, Jason" userId="28f4d4d8-da04-4f86-b14d-a21675737bc5" providerId="ADAL" clId="{56B1CBB4-3093-4A40-83BB-FA1DC57246A6}" dt="2023-11-21T14:11:43.462" v="628" actId="1076"/>
        <pc:sldMkLst>
          <pc:docMk/>
          <pc:sldMk cId="3678158814" sldId="343"/>
        </pc:sldMkLst>
        <pc:spChg chg="mod">
          <ac:chgData name="Yoder, Jason" userId="28f4d4d8-da04-4f86-b14d-a21675737bc5" providerId="ADAL" clId="{56B1CBB4-3093-4A40-83BB-FA1DC57246A6}" dt="2023-11-21T14:10:28.890" v="565" actId="1076"/>
          <ac:spMkLst>
            <pc:docMk/>
            <pc:sldMk cId="3678158814" sldId="343"/>
            <ac:spMk id="2" creationId="{83D4630F-C598-95D2-A677-264975F7D4DB}"/>
          </ac:spMkLst>
        </pc:spChg>
        <pc:spChg chg="del">
          <ac:chgData name="Yoder, Jason" userId="28f4d4d8-da04-4f86-b14d-a21675737bc5" providerId="ADAL" clId="{56B1CBB4-3093-4A40-83BB-FA1DC57246A6}" dt="2023-11-21T14:06:23.605" v="241"/>
          <ac:spMkLst>
            <pc:docMk/>
            <pc:sldMk cId="3678158814" sldId="343"/>
            <ac:spMk id="3" creationId="{90133505-B1FD-9F3B-96D3-6F2572152795}"/>
          </ac:spMkLst>
        </pc:spChg>
        <pc:spChg chg="add del mod">
          <ac:chgData name="Yoder, Jason" userId="28f4d4d8-da04-4f86-b14d-a21675737bc5" providerId="ADAL" clId="{56B1CBB4-3093-4A40-83BB-FA1DC57246A6}" dt="2023-11-21T14:06:46.222" v="250"/>
          <ac:spMkLst>
            <pc:docMk/>
            <pc:sldMk cId="3678158814" sldId="343"/>
            <ac:spMk id="6" creationId="{1DD580A1-8FD3-3EDE-D8A4-79F027E984ED}"/>
          </ac:spMkLst>
        </pc:spChg>
        <pc:spChg chg="add mod">
          <ac:chgData name="Yoder, Jason" userId="28f4d4d8-da04-4f86-b14d-a21675737bc5" providerId="ADAL" clId="{56B1CBB4-3093-4A40-83BB-FA1DC57246A6}" dt="2023-11-21T14:09:11.814" v="424" actId="1076"/>
          <ac:spMkLst>
            <pc:docMk/>
            <pc:sldMk cId="3678158814" sldId="343"/>
            <ac:spMk id="13" creationId="{477AD6E2-555F-45D2-149A-5FE1442798BF}"/>
          </ac:spMkLst>
        </pc:spChg>
        <pc:spChg chg="add mod">
          <ac:chgData name="Yoder, Jason" userId="28f4d4d8-da04-4f86-b14d-a21675737bc5" providerId="ADAL" clId="{56B1CBB4-3093-4A40-83BB-FA1DC57246A6}" dt="2023-11-21T14:11:30.477" v="624" actId="20577"/>
          <ac:spMkLst>
            <pc:docMk/>
            <pc:sldMk cId="3678158814" sldId="343"/>
            <ac:spMk id="15" creationId="{017E3B92-AC47-5027-9A6B-DF9660518F15}"/>
          </ac:spMkLst>
        </pc:spChg>
        <pc:spChg chg="add mod">
          <ac:chgData name="Yoder, Jason" userId="28f4d4d8-da04-4f86-b14d-a21675737bc5" providerId="ADAL" clId="{56B1CBB4-3093-4A40-83BB-FA1DC57246A6}" dt="2023-11-21T14:11:43.462" v="628" actId="1076"/>
          <ac:spMkLst>
            <pc:docMk/>
            <pc:sldMk cId="3678158814" sldId="343"/>
            <ac:spMk id="17" creationId="{EB7CC05C-E84E-59DE-1114-D38B01CE2D3D}"/>
          </ac:spMkLst>
        </pc:spChg>
        <pc:picChg chg="add mod">
          <ac:chgData name="Yoder, Jason" userId="28f4d4d8-da04-4f86-b14d-a21675737bc5" providerId="ADAL" clId="{56B1CBB4-3093-4A40-83BB-FA1DC57246A6}" dt="2023-11-21T14:10:30.374" v="566" actId="1076"/>
          <ac:picMkLst>
            <pc:docMk/>
            <pc:sldMk cId="3678158814" sldId="343"/>
            <ac:picMk id="5" creationId="{3A28BBE1-AC40-F1C0-08B3-09EF337CD7AC}"/>
          </ac:picMkLst>
        </pc:picChg>
        <pc:picChg chg="add del mod">
          <ac:chgData name="Yoder, Jason" userId="28f4d4d8-da04-4f86-b14d-a21675737bc5" providerId="ADAL" clId="{56B1CBB4-3093-4A40-83BB-FA1DC57246A6}" dt="2023-11-21T14:09:08.345" v="422" actId="478"/>
          <ac:picMkLst>
            <pc:docMk/>
            <pc:sldMk cId="3678158814" sldId="343"/>
            <ac:picMk id="8" creationId="{453A9E6A-2D6F-8B03-7D2D-502EB7F2D8FF}"/>
          </ac:picMkLst>
        </pc:picChg>
        <pc:picChg chg="add del mod">
          <ac:chgData name="Yoder, Jason" userId="28f4d4d8-da04-4f86-b14d-a21675737bc5" providerId="ADAL" clId="{56B1CBB4-3093-4A40-83BB-FA1DC57246A6}" dt="2023-11-21T14:09:50.710" v="549" actId="21"/>
          <ac:picMkLst>
            <pc:docMk/>
            <pc:sldMk cId="3678158814" sldId="343"/>
            <ac:picMk id="10" creationId="{05C76A6C-7E42-3FF0-50DC-547F97600827}"/>
          </ac:picMkLst>
        </pc:picChg>
        <pc:picChg chg="add del mod">
          <ac:chgData name="Yoder, Jason" userId="28f4d4d8-da04-4f86-b14d-a21675737bc5" providerId="ADAL" clId="{56B1CBB4-3093-4A40-83BB-FA1DC57246A6}" dt="2023-11-21T14:10:33.192" v="567" actId="21"/>
          <ac:picMkLst>
            <pc:docMk/>
            <pc:sldMk cId="3678158814" sldId="343"/>
            <ac:picMk id="12" creationId="{973EAF2F-BB8D-C9D7-F163-CF57653FAA72}"/>
          </ac:picMkLst>
        </pc:picChg>
        <pc:picChg chg="add mod">
          <ac:chgData name="Yoder, Jason" userId="28f4d4d8-da04-4f86-b14d-a21675737bc5" providerId="ADAL" clId="{56B1CBB4-3093-4A40-83BB-FA1DC57246A6}" dt="2023-11-21T14:11:34.150" v="626" actId="1076"/>
          <ac:picMkLst>
            <pc:docMk/>
            <pc:sldMk cId="3678158814" sldId="343"/>
            <ac:picMk id="14" creationId="{11D30C01-D557-EBE6-56F2-F79EC3488938}"/>
          </ac:picMkLst>
        </pc:picChg>
        <pc:picChg chg="add mod">
          <ac:chgData name="Yoder, Jason" userId="28f4d4d8-da04-4f86-b14d-a21675737bc5" providerId="ADAL" clId="{56B1CBB4-3093-4A40-83BB-FA1DC57246A6}" dt="2023-11-21T14:11:33.022" v="625" actId="1076"/>
          <ac:picMkLst>
            <pc:docMk/>
            <pc:sldMk cId="3678158814" sldId="343"/>
            <ac:picMk id="16" creationId="{886DF227-E112-AD76-369A-C7ACC343C905}"/>
          </ac:picMkLst>
        </pc:picChg>
        <pc:picChg chg="add mod">
          <ac:chgData name="Yoder, Jason" userId="28f4d4d8-da04-4f86-b14d-a21675737bc5" providerId="ADAL" clId="{56B1CBB4-3093-4A40-83BB-FA1DC57246A6}" dt="2023-11-21T14:11:07.255" v="617" actId="1076"/>
          <ac:picMkLst>
            <pc:docMk/>
            <pc:sldMk cId="3678158814" sldId="343"/>
            <ac:picMk id="18" creationId="{19B249A5-C4E3-C13A-000A-1C50FE03731E}"/>
          </ac:picMkLst>
        </pc:picChg>
      </pc:sldChg>
      <pc:sldChg chg="addSp delSp modSp new mod">
        <pc:chgData name="Yoder, Jason" userId="28f4d4d8-da04-4f86-b14d-a21675737bc5" providerId="ADAL" clId="{56B1CBB4-3093-4A40-83BB-FA1DC57246A6}" dt="2023-11-21T14:52:01.448" v="764" actId="5793"/>
        <pc:sldMkLst>
          <pc:docMk/>
          <pc:sldMk cId="433860932" sldId="344"/>
        </pc:sldMkLst>
        <pc:spChg chg="mod">
          <ac:chgData name="Yoder, Jason" userId="28f4d4d8-da04-4f86-b14d-a21675737bc5" providerId="ADAL" clId="{56B1CBB4-3093-4A40-83BB-FA1DC57246A6}" dt="2023-11-21T14:26:19.252" v="698" actId="20577"/>
          <ac:spMkLst>
            <pc:docMk/>
            <pc:sldMk cId="433860932" sldId="344"/>
            <ac:spMk id="2" creationId="{FD253367-16C3-B25E-B1DE-84702A2D435A}"/>
          </ac:spMkLst>
        </pc:spChg>
        <pc:spChg chg="del mod">
          <ac:chgData name="Yoder, Jason" userId="28f4d4d8-da04-4f86-b14d-a21675737bc5" providerId="ADAL" clId="{56B1CBB4-3093-4A40-83BB-FA1DC57246A6}" dt="2023-11-21T14:49:19.911" v="730" actId="478"/>
          <ac:spMkLst>
            <pc:docMk/>
            <pc:sldMk cId="433860932" sldId="344"/>
            <ac:spMk id="3" creationId="{D7BA9E3B-9371-8AD3-CF67-7774B62327B6}"/>
          </ac:spMkLst>
        </pc:spChg>
        <pc:spChg chg="add mod">
          <ac:chgData name="Yoder, Jason" userId="28f4d4d8-da04-4f86-b14d-a21675737bc5" providerId="ADAL" clId="{56B1CBB4-3093-4A40-83BB-FA1DC57246A6}" dt="2023-11-21T14:52:01.448" v="764" actId="5793"/>
          <ac:spMkLst>
            <pc:docMk/>
            <pc:sldMk cId="433860932" sldId="344"/>
            <ac:spMk id="5" creationId="{E5813C33-4C9A-4D8F-DCB7-0BCD95AA9F9A}"/>
          </ac:spMkLst>
        </pc:spChg>
        <pc:picChg chg="add del mod">
          <ac:chgData name="Yoder, Jason" userId="28f4d4d8-da04-4f86-b14d-a21675737bc5" providerId="ADAL" clId="{56B1CBB4-3093-4A40-83BB-FA1DC57246A6}" dt="2023-11-21T14:49:18.191" v="729" actId="478"/>
          <ac:picMkLst>
            <pc:docMk/>
            <pc:sldMk cId="433860932" sldId="344"/>
            <ac:picMk id="6" creationId="{DCD4BF5B-938B-8CD0-5544-883010EE9F25}"/>
          </ac:picMkLst>
        </pc:picChg>
        <pc:picChg chg="add del mod modCrop">
          <ac:chgData name="Yoder, Jason" userId="28f4d4d8-da04-4f86-b14d-a21675737bc5" providerId="ADAL" clId="{56B1CBB4-3093-4A40-83BB-FA1DC57246A6}" dt="2023-11-21T14:49:17.575" v="728" actId="478"/>
          <ac:picMkLst>
            <pc:docMk/>
            <pc:sldMk cId="433860932" sldId="344"/>
            <ac:picMk id="8" creationId="{10AB7D43-961D-7101-1E42-AE1F142DE2BA}"/>
          </ac:picMkLst>
        </pc:picChg>
        <pc:picChg chg="add mod">
          <ac:chgData name="Yoder, Jason" userId="28f4d4d8-da04-4f86-b14d-a21675737bc5" providerId="ADAL" clId="{56B1CBB4-3093-4A40-83BB-FA1DC57246A6}" dt="2023-11-21T14:49:30.581" v="734" actId="14100"/>
          <ac:picMkLst>
            <pc:docMk/>
            <pc:sldMk cId="433860932" sldId="344"/>
            <ac:picMk id="9" creationId="{018590F4-F96B-3618-DA8F-F3CC25BD6817}"/>
          </ac:picMkLst>
        </pc:picChg>
        <pc:inkChg chg="add del">
          <ac:chgData name="Yoder, Jason" userId="28f4d4d8-da04-4f86-b14d-a21675737bc5" providerId="ADAL" clId="{56B1CBB4-3093-4A40-83BB-FA1DC57246A6}" dt="2023-11-21T14:26:08.544" v="654" actId="9405"/>
          <ac:inkMkLst>
            <pc:docMk/>
            <pc:sldMk cId="433860932" sldId="344"/>
            <ac:inkMk id="4" creationId="{B3CD4D95-25DA-B31D-C4D1-6BA16DA4521C}"/>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4:01:07.489"/>
    </inkml:context>
    <inkml:brush xml:id="br0">
      <inkml:brushProperty name="width" value="0.05" units="cm"/>
      <inkml:brushProperty name="height" value="0.05" units="cm"/>
      <inkml:brushProperty name="color" value="#E71224"/>
    </inkml:brush>
  </inkml:definitions>
  <inkml:trace contextRef="#ctx0" brushRef="#br0">0 0 24575,'4'3'0,"0"0"0,-1-1 0,1 1 0,0-1 0,0 0 0,0 0 0,1 0 0,-1-1 0,0 1 0,7 0 0,50 6 0,-20-4 0,240 45 0,-234-36 0,1 2 0,-2 1 0,67 34 0,60 23 0,170 39 0,-296-100 0,1-2 0,69 5 0,-12-2 0,-33-1 0,-18-3 0,60 4 0,15 2 0,-2 1 0,-66-11 0,-1 4 0,0 2 0,63 21 0,-67-17 0,-19-8 0,1-1 0,56 2 0,-49-5 0,-40-3 0,0 1 0,-1-1 0,1 0 0,-1 0 0,1-1 0,0 1 0,-1-1 0,1 0 0,-1 0 0,1-1 0,-1 1 0,0-1 0,0 0 0,5-2 0,-7 2 0,0 0 0,0-1 0,0 1 0,0 0 0,-1-1 0,1 1 0,-1-1 0,1 1 0,-1-1 0,0 0 0,0 1 0,0-1 0,-1 0 0,1 0 0,0 0 0,-1 0 0,0 0 0,0 1 0,0-1 0,0 0 0,0 0 0,-1 0 0,0-5 0,-8-35 0,-16-50 0,-4-19 0,25 89 0,2 12 0,0 0 0,0 1 0,0-1 0,-2 1 0,1 0 0,-1 0 0,-8-15 0,-1 15 0,3 15 0,9-3 0,0 1 0,0-1 0,0 0 0,0 1 0,1 0 0,-1-1 0,1 1 0,-1-1 0,1 1 0,0 4 0,3 20 0,2-1 0,0-1 0,2 1 0,1-1 0,1 0 0,18 35 0,19 59 0,-42-104 0,0 0 0,0 0 0,-2 0 0,0 1 0,-1-1 0,0 16 0,-2-22 0,0-1-1,-1 1 1,0-1-1,0 1 0,-1-1 1,0 0-1,0 0 1,-1 0-1,0 0 0,0-1 1,-1 0-1,0 0 1,-9 10-1,-7 5 25,-1-1 0,-39 29 0,39-34-500,0 2-1,-30 33 1,34-30-6350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4:01:16.817"/>
    </inkml:context>
    <inkml:brush xml:id="br0">
      <inkml:brushProperty name="width" value="0.05" units="cm"/>
      <inkml:brushProperty name="height" value="0.05" units="cm"/>
      <inkml:brushProperty name="color" value="#E71224"/>
    </inkml:brush>
  </inkml:definitions>
  <inkml:trace contextRef="#ctx0" brushRef="#br0">0 324 24575,'2'3'0,"-1"0"0,1 0 0,0-1 0,-1 1 0,1 0 0,0-1 0,1 0 0,-1 1 0,0-1 0,1 0 0,-1 0 0,1 0 0,5 2 0,5 6 0,90 77 0,-54-48 0,50 51 0,-76-58 0,-23-32 0,0 0 0,0 0 0,0 0 0,0 0 0,0 0 0,0 0 0,0 0 0,0 0 0,0 0 0,-1 0 0,1 0 0,0 0 0,0 0 0,0 0 0,0 1 0,0-1 0,0 0 0,0 0 0,0 0 0,0 0 0,0 0 0,0 0 0,0 0 0,0 0 0,0 0 0,-1 0 0,1 0 0,0 0 0,0 0 0,0 0 0,0 0 0,0 0 0,0 1 0,0-1 0,0 0 0,0 0 0,0 0 0,0 0 0,0 0 0,0 0 0,0 0 0,0 0 0,0 0 0,0 0 0,0 0 0,0 1 0,0-1 0,0 0 0,0 0 0,0 0 0,0 0 0,0 0 0,-16-15 0,-36-38 0,3-1 0,3-3 0,-60-94 0,92 129 0,12 19 0,-1 0 0,1 0 0,-1 0 0,1 0 0,0-1 0,0 1 0,1-1 0,-1 1 0,1-1 0,0 0 0,0 0 0,0 0 0,0 1 0,1-1 0,-1 0 0,1 0 0,0 0 0,0 0 0,0 0 0,1 0 0,1-4 0,1 0 5,0 1-1,0 0 0,1 0 0,1 0 1,-1 0-1,1 1 0,0 0 0,0 0 1,13-11-1,1 2-114,41-25 0,-16 12-1078,-10 5-5638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4:01:20.308"/>
    </inkml:context>
    <inkml:brush xml:id="br0">
      <inkml:brushProperty name="width" value="0.05" units="cm"/>
      <inkml:brushProperty name="height" value="0.05" units="cm"/>
      <inkml:brushProperty name="color" value="#E71224"/>
    </inkml:brush>
  </inkml:definitions>
  <inkml:trace contextRef="#ctx0" brushRef="#br0">1 1 24575,'52'0'0,"635"12"0,-499-6 0,209 20 0,-352-19 0,-1 3 0,0 2 0,59 24 0,118 65 0,-126-60 0,-64-29 0,-1 0 0,54 33 0,-53-22 0,-1 1 0,-1 1 0,48 57 0,-19-20 0,82 73 0,-102-101 0,2-1 0,46 29 0,31 24 0,-46-28 0,-8-7 0,70 71 0,38 45 0,-13-15 0,-90-84 0,58 66 0,-92-87 0,-2 2 0,34 69 0,10 18 0,-32-62 0,-25-40 0,1-1 0,46 57 0,-36-56 0,-1 1 0,-2 1 0,-1 2 0,31 61 0,79 131 0,-15-28 0,-76-127 0,-33-58 0,0 1 0,-2 1 0,0-1 0,14 41 0,-23-52 0,1-2 0,-1 1 0,1-1 0,-1 0 0,2 1 0,-1-1 0,5 7 0,-7-11 0,0-1 0,1 0 0,-1 1 0,1-1 0,-1 1 0,1-1 0,-1 1 0,1-1 0,-1 0 0,1 0 0,-1 1 0,1-1 0,-1 0 0,1 0 0,0 1 0,-1-1 0,1 0 0,-1 0 0,1 0 0,0 0 0,-1 0 0,1 0 0,-1 0 0,2 0 0,0-1 0,-1 0 0,1 1 0,0-1 0,-1 0 0,1 0 0,-1 0 0,1-1 0,-1 1 0,0 0 0,1 0 0,-1-1 0,2-2 0,22-30 0,-2-2 0,26-52 0,-9 14 0,-33 62 0,-1 1 0,0 0 0,1 1 0,0 0 0,0 0 0,11-10 0,-18 20 0,0-1 0,1 1 0,-1-1 0,0 1 0,1 0 0,-1-1 0,1 1 0,-1-1 0,1 1 0,0 0 0,-1-1 0,1 1 0,-1 0 0,1 0 0,-1-1 0,1 1 0,0 0 0,-1 0 0,1 0 0,-1 0 0,1 0 0,0 0 0,-1 0 0,1 0 0,0 0 0,0 0 0,3 14 0,-9 25 0,5-38 0,-4 13 0,-1 0 0,-1-1 0,1 1 0,-2-1 0,-12 19 0,-17 35 0,26-37 0,9-24 0,-1 1 0,0-1 0,0 1 0,-1-1 0,0 0 0,0 0 0,0 0 0,-1 0 0,0 0 0,0-1 0,0 0 0,-1 0 0,1 0 0,-11 8 0,5-9 0,1 0 0,-1-1 0,0 0 0,0-1 0,0 0 0,0 0 0,-1-1 0,1 0 0,0-1 0,-1 0 0,-16-3 0,-16-3 0,-57-17 0,98 23 0,-401-103-1365,338 87-5461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4:13:18.102"/>
    </inkml:context>
    <inkml:brush xml:id="br0">
      <inkml:brushProperty name="width" value="0.05" units="cm"/>
      <inkml:brushProperty name="height" value="0.05" units="cm"/>
      <inkml:brushProperty name="color" value="#E71224"/>
    </inkml:brush>
  </inkml:definitions>
  <inkml:trace contextRef="#ctx0" brushRef="#br0">1 31 24575,'3'-3'0,"1"1"0,-1-1 0,1 1 0,0 0 0,0 0 0,0 0 0,0 0 0,0 1 0,0 0 0,0 0 0,0 0 0,9-1 0,59 2 0,-33 1 0,104-5 0,116 1 0,-192 5 0,121 20 0,-166-17 0,-1 2 0,0 0 0,0 1 0,0 1 0,-1 1 0,36 24 0,100 88 0,83 93 0,-209-184 0,-2 0 0,-1 2 0,-1 1 0,37 66 0,61 159 0,-54-86 0,45 96 0,-58-148 0,-6 1 0,54 194 0,-96-278 0,-2 1 0,-2 0 0,2 44 0,-9 118 0,0-98 0,1-79 0,3 197 0,1-173 0,3 0 0,17 75 0,6-7 0,68 231 0,-37-136 0,-14-45 0,-14-79 0,71 139 0,-2-7 0,-84-177 0,2 0 0,2-1 0,2-1 0,2-1 0,58 70 0,67 87 0,-51-60 0,-79-114 0,0 0 0,1-2 0,0 0 0,45 30 0,105 53 0,-159-96 0,15 7 0,1-1 0,0-1 0,1-1 0,46 10 0,-55-14 0,-1 0 0,1 2 0,-1 0 0,-1 1 0,0 0 0,23 19 0,7 3 0,-6-6 0,0-2 0,50 20 0,-71-36 0,0-1 0,1-1 0,-1-1 0,1 0 0,0-2 0,44 1 0,-36-4 0,42 5 0,-60-3 0,0 0 0,0 1 0,-1 1 0,1 0 0,-1 0 0,14 8 0,62 29 0,164 54 0,-240-92 0,-9-2 0,6 2 0,0 0 0,0-1 0,0 0 0,0 0 0,13 0 0,-19-2 0,0 0 0,1 0 0,-1-1 0,0 1 0,0-1 0,0 1 0,0-1 0,1 0 0,-1 0 0,0 0 0,0 0 0,-1 0 0,1 0 0,0 0 0,0-1 0,0 1 0,-1-1 0,1 1 0,-1-1 0,1 0 0,-1 1 0,0-1 0,0 0 0,1 0 0,0-3 0,4-11 0,-1 0 0,0 0 0,-1-1 0,-1 1 0,0-1 0,-1 0 0,-1 0 0,-2-24 0,1 14 0,6-41 0,-6 67 0,0 0 0,0 1 0,0-1 0,0 0 0,0 1 0,0-1 0,0 0 0,0 1 0,1-1 0,-1 0 0,0 1 0,0-1 0,1 0 0,-1 1 0,0-1 0,1 0 0,-1 1 0,0-1 0,1 1 0,-1-1 0,1 1 0,-1-1 0,1 1 0,0-1 0,-1 1 0,1 0 0,-1-1 0,1 1 0,0 0 0,-1-1 0,1 1 0,0 0 0,-1 0 0,1 0 0,0 0 0,-1-1 0,1 1 0,0 0 0,0 0 0,-1 0 0,1 1 0,1-1 0,0 1 0,0 0 0,1 0 0,-1 0 0,0 0 0,0 1 0,0-1 0,0 1 0,-1 0 0,1-1 0,0 1 0,2 3 0,6 12 0,-1 0 0,0 1 0,-1-1 0,-1 2 0,-1-1 0,-1 1 0,0 0 0,-1 0 0,-1 0 0,-1 1 0,-1-1 0,-1 1 0,-2 27 0,0-38 0,0 0 0,-1-1 0,0 1 0,0-1 0,0 0 0,-1 1 0,-1-2 0,1 1 0,-1 0 0,-1-1 0,1 0 0,-1 0 0,-10 8 0,-8 6 0,0-2 0,-42 24 0,29-20-227,-2-2-1,-1-2 1,0-1-1,-1-2 1,-59 14-1,51-18-6598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4:13:21.871"/>
    </inkml:context>
    <inkml:brush xml:id="br0">
      <inkml:brushProperty name="width" value="0.05" units="cm"/>
      <inkml:brushProperty name="height" value="0.05" units="cm"/>
      <inkml:brushProperty name="color" value="#E71224"/>
    </inkml:brush>
  </inkml:definitions>
  <inkml:trace contextRef="#ctx0" brushRef="#br0">2779 0 24575,'22'54'0,"2"-2"0,2 0 0,44 64 0,-36-61 0,508 897 0,-474-820 0,79 220 0,16 153 0,-143-440 0,-4 0 0,-3 1 0,-2 1 0,3 109 0,-14-155 0,-4 374 0,-2-331 0,-3-1 0,-2 0 0,-4-1 0,-1 0 0,-4-1 0,-2-1 0,-3-1 0,-2-2 0,-61 95 0,72-125 0,-2-1 0,0-1 0,-2-1 0,0 0 0,-2-2 0,-48 39 0,-213 117 0,-260 98 0,507-261 0,-1-3 0,0-1 0,-65 11 0,98-21 0,-63 16 0,-123 51 0,79-26 0,10-6 0,-2-4 0,-2-5 0,-110 14 0,167-35 0,0 1 0,1 3 0,0 1 0,-56 23 0,-96 35 0,-20 8 0,178-58 0,0-3 0,-1-1 0,-1-2 0,-48 8 0,42-10 0,-73 24 0,49-12 0,47-15 0,-9 2 0,-1 0 0,0-2 0,-47 4 0,67-11 0,3 0 0,-1 0 0,1-1 0,-1 0 0,-26-5 0,38 5 0,-1-1 0,1 0 0,-1 1 0,1-1 0,0 0 0,-1 0 0,1 0 0,0-1 0,0 1 0,0 0 0,0-1 0,0 0 0,0 1 0,0-1 0,0 0 0,1 0 0,-1 0 0,1 0 0,0 0 0,-1 0 0,1 0 0,0-1 0,0 1 0,0 0 0,0-1 0,1 1 0,-1-1 0,1 1 0,-1-1 0,1 1 0,0-1 0,0 1 0,1-4 0,0-10 0,2 0 0,0 1 0,1-1 0,0 0 0,1 1 0,1 0 0,1 0 0,10-17 0,75-109 0,-92 141 0,6-8 0,15-20 0,-20 26 0,0 1 0,0 0 0,0 0 0,0 0 0,1 0 0,-1 0 0,0 0 0,1 0 0,-1 0 0,1 0 0,-1 0 0,1 1 0,-1-1 0,1 1 0,-1-1 0,4 0 0,-4 2 0,-1-1 0,1 0 0,0 1 0,-1-1 0,1 1 0,0-1 0,-1 1 0,1-1 0,-1 1 0,1-1 0,-1 1 0,1-1 0,-1 1 0,1 0 0,-1-1 0,0 1 0,1 0 0,-1-1 0,0 1 0,0 0 0,1-1 0,-1 1 0,0 0 0,0 0 0,0-1 0,0 1 0,0 0 0,0 0 0,0-1 0,0 1 0,0 0 0,0 0 0,-1 0 0,-4 32 0,5-29 0,-8 27 0,0 1 0,-2-1 0,-2 0 0,0-1 0,-2-1 0,-1 0 0,-2 0 0,-21 27 0,34-52 0,1 1 0,1-1 0,-1 1 0,0-1 0,1 1 0,0 0 0,0 0 0,1 0 0,-1 0 0,1 0 0,0 0 0,1 0 0,-1 0 0,1 1 0,0-1 0,0 0 0,1 0 0,-1 1 0,1-1 0,0 0 0,1 0 0,-1 0 0,1 0 0,0 0 0,0 0 0,1-1 0,3 7 0,8 8 0,0-1 0,1-1 0,0 0 0,35 28 0,-40-37 0,20 18-341,1-1 0,2-2-1,37 20 1,-38-26-6485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4:13:26.868"/>
    </inkml:context>
    <inkml:brush xml:id="br0">
      <inkml:brushProperty name="width" value="0.05" units="cm"/>
      <inkml:brushProperty name="height" value="0.05" units="cm"/>
      <inkml:brushProperty name="color" value="#E71224"/>
    </inkml:brush>
  </inkml:definitions>
  <inkml:trace contextRef="#ctx0" brushRef="#br0">1372 1296 24575,'-18'-7'0,"-1"1"0,1 0 0,-1 2 0,0 0 0,-29-1 0,-20-5 0,18-3 0,0-3 0,1-2 0,-63-33 0,71 32 0,7 4 0,2-1 0,-1-1 0,2-2 0,1-2 0,0 0 0,2-2 0,-46-46 0,33 25 0,23 25 0,-23-30 0,-54-65 0,54 68 0,25 29 0,0-1 0,2-1 0,0 0 0,-12-21 0,2-8 0,-22-58 0,38 83 0,1 0 0,2-1 0,0 1 0,-4-49 0,10-104 0,-1 173 0,0 0 0,0 0 0,-1 0 0,1 0 0,-1 0 0,0 0 0,1 0 0,-2 0 0,1 0 0,0 0 0,0 1 0,-1-1 0,-2-3 0,2 5 0,1 0 0,0-1 0,-1 1 0,1 0 0,-1 0 0,0 1 0,1-1 0,-1 0 0,0 0 0,1 1 0,-1-1 0,0 1 0,0 0 0,0-1 0,1 1 0,-1 0 0,0 0 0,0 0 0,0 0 0,0 1 0,1-1 0,-1 0 0,-2 1 0,-4 1 0,1 0 0,0 0 0,-1 0 0,1 1 0,0 0 0,0 0 0,0 1 0,1 0 0,-9 6 0,14-9 0,1-1 0,-1 0 0,1 1 0,-1-1 0,1 1 0,-1-1 0,1 1 0,-1-1 0,1 1 0,0 0 0,-1-1 0,1 1 0,0-1 0,-1 1 0,1 0 0,0-1 0,0 1 0,0 0 0,0-1 0,-1 1 0,1 0 0,0-1 0,0 1 0,0 0 0,0 0 0,1-1 0,-1 1 0,0 0 0,1 0 0,-1 0 0,1 0 0,0 0 0,0-1 0,0 1 0,0 0 0,-1 0 0,1-1 0,0 1 0,0-1 0,0 1 0,0-1 0,1 1 0,-1-1 0,1 1 0,5 1 0,1-1 0,-1 0 0,1 0 0,8 0 0,-5-2 0,0 0 0,0-1 0,0-1 0,0 1 0,12-6 0,-15 5 0,0 0 0,0 0 0,0 1 0,0 0 0,1 1 0,-1 0 0,0 0 0,1 1 0,-1 0 0,17 2 0,-14 1-195,0 1 0,0 0 0,-1 1 0,1 0 0,-1 1 0,10 8 0,17 12-6631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4:13:30.273"/>
    </inkml:context>
    <inkml:brush xml:id="br0">
      <inkml:brushProperty name="width" value="0.05" units="cm"/>
      <inkml:brushProperty name="height" value="0.05" units="cm"/>
      <inkml:brushProperty name="color" value="#E71224"/>
    </inkml:brush>
  </inkml:definitions>
  <inkml:trace contextRef="#ctx0" brushRef="#br0">196 1 24575,'0'5'0,"0"7"0,0 6 0,0 5 0,-5 4 0,-7 3 0,-1 0 0,-4 2 0,-3-6 0,-4-7 0,2-2 0,5 2 0,0-3 0,-2 1 0,2 8 0,4 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4:13:31.348"/>
    </inkml:context>
    <inkml:brush xml:id="br0">
      <inkml:brushProperty name="width" value="0.05" units="cm"/>
      <inkml:brushProperty name="height" value="0.05" units="cm"/>
      <inkml:brushProperty name="color" value="#E71224"/>
    </inkml:brush>
  </inkml:definitions>
  <inkml:trace contextRef="#ctx0" brushRef="#br0">7 0 24575,'-5'0'0,"3"5"0,12 7 0,10 1 0,12 4 0,5-1 0,1 1 0,5 4 0,5 3 0,-6-3-8191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1T14:13:33.674"/>
    </inkml:context>
    <inkml:brush xml:id="br0">
      <inkml:brushProperty name="width" value="0.05" units="cm"/>
      <inkml:brushProperty name="height" value="0.05" units="cm"/>
      <inkml:brushProperty name="color" value="#E71224"/>
    </inkml:brush>
  </inkml:definitions>
  <inkml:trace contextRef="#ctx0" brushRef="#br0">0 325 24575,'27'-9'0,"-6"1"0,20 1 0,1 2 0,0 2 0,65 4 0,-51 0 0,9 6 0,-53-5 0,0 0 0,1-1 0,-1 0 0,0-1 0,17-1 0,-27 0 0,0 1 0,0-1 0,0 1 0,-1-1 0,1 0 0,0 0 0,0 0 0,-1 0 0,1 0 0,-1 0 0,1 0 0,-1 0 0,1-1 0,-1 1 0,1-1 0,-1 1 0,0-1 0,0 1 0,0-1 0,0 0 0,0 1 0,0-1 0,-1 0 0,1 0 0,0 0 0,-1 0 0,0 0 0,1 0 0,-1 0 0,0 1 0,0-1 0,0 0 0,0-4 0,-1-7 0,-1 0 0,0 1 0,-1-1 0,-4-12 0,5 15 0,-2-4 0,-22-69 0,23 75 0,0 0 0,-1 0 0,0 0 0,0 1 0,-1-1 0,0 1 0,-9-10 0,12 22 0,6 14 0,8 21 0,10 16 0,-6-18 0,17 65 0,-30-90 0,-1-1 0,0 0 0,0 0 0,-2 1 0,1-1 0,-2 1 0,1-1 0,-2 1 0,-5 22 0,-44 104-1365,39-102-5461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1F60-86AF-274C-B759-04AFDD96F2D3}"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505E3F-8821-6843-B7F4-F11EF974A4DA}" type="slidenum">
              <a:rPr lang="en-US" smtClean="0"/>
              <a:t>‹#›</a:t>
            </a:fld>
            <a:endParaRPr lang="en-US"/>
          </a:p>
        </p:txBody>
      </p:sp>
    </p:spTree>
    <p:extLst>
      <p:ext uri="{BB962C8B-B14F-4D97-AF65-F5344CB8AC3E}">
        <p14:creationId xmlns:p14="http://schemas.microsoft.com/office/powerpoint/2010/main" val="392104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hape 51"/>
          <p:cNvSpPr>
            <a:spLocks noGrp="1" noRot="1" noChangeAspect="1"/>
          </p:cNvSpPr>
          <p:nvPr>
            <p:ph type="sldImg"/>
          </p:nvPr>
        </p:nvSpPr>
        <p:spPr>
          <a:prstGeom prst="rect">
            <a:avLst/>
          </a:prstGeom>
        </p:spPr>
        <p:txBody>
          <a:bodyPr/>
          <a:lstStyle/>
          <a:p>
            <a:pPr lvl="0"/>
            <a:endParaRPr/>
          </a:p>
        </p:txBody>
      </p:sp>
      <p:sp>
        <p:nvSpPr>
          <p:cNvPr id="52" name="Shape 52"/>
          <p:cNvSpPr>
            <a:spLocks noGrp="1"/>
          </p:cNvSpPr>
          <p:nvPr>
            <p:ph type="body" sz="quarter" idx="1"/>
          </p:nvPr>
        </p:nvSpPr>
        <p:spPr>
          <a:prstGeom prst="rect">
            <a:avLst/>
          </a:prstGeom>
        </p:spPr>
        <p:txBody>
          <a:bodyPr/>
          <a:lstStyle/>
          <a:p>
            <a:pPr lvl="0">
              <a:defRPr sz="1800"/>
            </a:pPr>
            <a:r>
              <a:rPr sz="2200" dirty="0"/>
              <a:t>The code/project we’re working in today will be in </a:t>
            </a:r>
            <a:r>
              <a:rPr lang="en-US" sz="2200" dirty="0"/>
              <a:t>JavaIntro</a:t>
            </a:r>
            <a:r>
              <a:rPr lang="en-US" sz="2200" baseline="0" dirty="0"/>
              <a:t> and </a:t>
            </a:r>
            <a:r>
              <a:rPr sz="2200" dirty="0"/>
              <a:t>HW1.  The solution has a number of different examples that may be used if desired.</a:t>
            </a:r>
          </a:p>
        </p:txBody>
      </p:sp>
    </p:spTree>
    <p:extLst>
      <p:ext uri="{BB962C8B-B14F-4D97-AF65-F5344CB8AC3E}">
        <p14:creationId xmlns:p14="http://schemas.microsoft.com/office/powerpoint/2010/main" val="234781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hape 51"/>
          <p:cNvSpPr>
            <a:spLocks noGrp="1" noRot="1" noChangeAspect="1"/>
          </p:cNvSpPr>
          <p:nvPr>
            <p:ph type="sldImg"/>
          </p:nvPr>
        </p:nvSpPr>
        <p:spPr>
          <a:prstGeom prst="rect">
            <a:avLst/>
          </a:prstGeom>
        </p:spPr>
        <p:txBody>
          <a:bodyPr/>
          <a:lstStyle/>
          <a:p>
            <a:pPr lvl="0"/>
            <a:endParaRPr/>
          </a:p>
        </p:txBody>
      </p:sp>
      <p:sp>
        <p:nvSpPr>
          <p:cNvPr id="52" name="Shape 52"/>
          <p:cNvSpPr>
            <a:spLocks noGrp="1"/>
          </p:cNvSpPr>
          <p:nvPr>
            <p:ph type="body" sz="quarter" idx="1"/>
          </p:nvPr>
        </p:nvSpPr>
        <p:spPr>
          <a:prstGeom prst="rect">
            <a:avLst/>
          </a:prstGeom>
        </p:spPr>
        <p:txBody>
          <a:bodyPr/>
          <a:lstStyle/>
          <a:p>
            <a:pPr lvl="0">
              <a:defRPr sz="1800"/>
            </a:pPr>
            <a:endParaRPr sz="2200" dirty="0"/>
          </a:p>
        </p:txBody>
      </p:sp>
    </p:spTree>
    <p:extLst>
      <p:ext uri="{BB962C8B-B14F-4D97-AF65-F5344CB8AC3E}">
        <p14:creationId xmlns:p14="http://schemas.microsoft.com/office/powerpoint/2010/main" val="234781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hape 56"/>
          <p:cNvSpPr>
            <a:spLocks noGrp="1" noRot="1" noChangeAspect="1"/>
          </p:cNvSpPr>
          <p:nvPr>
            <p:ph type="sldImg"/>
          </p:nvPr>
        </p:nvSpPr>
        <p:spPr>
          <a:prstGeom prst="rect">
            <a:avLst/>
          </a:prstGeom>
        </p:spPr>
        <p:txBody>
          <a:bodyPr/>
          <a:lstStyle/>
          <a:p>
            <a:pPr lvl="0"/>
            <a:endParaRPr/>
          </a:p>
        </p:txBody>
      </p:sp>
      <p:sp>
        <p:nvSpPr>
          <p:cNvPr id="57" name="Shape 57"/>
          <p:cNvSpPr>
            <a:spLocks noGrp="1"/>
          </p:cNvSpPr>
          <p:nvPr>
            <p:ph type="body" sz="quarter" idx="1"/>
          </p:nvPr>
        </p:nvSpPr>
        <p:spPr>
          <a:prstGeom prst="rect">
            <a:avLst/>
          </a:prstGeom>
        </p:spPr>
        <p:txBody>
          <a:bodyPr/>
          <a:lstStyle>
            <a:lvl1pPr defTabSz="914400">
              <a:lnSpc>
                <a:spcPct val="100000"/>
              </a:lnSpc>
              <a:defRPr sz="1200">
                <a:latin typeface="Lucida Sans"/>
                <a:ea typeface="Lucida Sans"/>
                <a:cs typeface="Lucida Sans"/>
                <a:sym typeface="Lucida Sans"/>
              </a:defRPr>
            </a:lvl1pPr>
          </a:lstStyle>
          <a:p>
            <a:pPr lvl="0">
              <a:defRPr sz="1800"/>
            </a:pPr>
            <a:endParaRPr sz="1200" dirty="0"/>
          </a:p>
        </p:txBody>
      </p:sp>
    </p:spTree>
    <p:extLst>
      <p:ext uri="{BB962C8B-B14F-4D97-AF65-F5344CB8AC3E}">
        <p14:creationId xmlns:p14="http://schemas.microsoft.com/office/powerpoint/2010/main" val="580716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06723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here comes from a different background with different experiences, both with respected to programming and just life in general. </a:t>
            </a:r>
          </a:p>
          <a:p>
            <a:endParaRPr lang="en-US" dirty="0"/>
          </a:p>
          <a:p>
            <a:r>
              <a:rPr lang="en-US" dirty="0">
                <a:solidFill>
                  <a:schemeClr val="bg1"/>
                </a:solidFill>
                <a:latin typeface="Montserrat" pitchFamily="2" charset="0"/>
              </a:rPr>
              <a:t>Respect each other’s identities. Critique ideas, not people. </a:t>
            </a:r>
          </a:p>
          <a:p>
            <a:endParaRPr lang="en-US" dirty="0">
              <a:solidFill>
                <a:schemeClr val="bg1"/>
              </a:solidFill>
              <a:latin typeface="Montserrat" pitchFamily="2" charset="0"/>
            </a:endParaRPr>
          </a:p>
          <a:p>
            <a:r>
              <a:rPr lang="en-US" dirty="0">
                <a:solidFill>
                  <a:schemeClr val="bg1"/>
                </a:solidFill>
                <a:latin typeface="Montserrat" pitchFamily="2" charset="0"/>
              </a:rPr>
              <a:t>Focus on class material (no phones, except when prompted for recall activity). You’re adults, can determine when to step out for emergency phone call. When working on laptop/tablet, use do not disturb mode and stay on task. </a:t>
            </a:r>
          </a:p>
          <a:p>
            <a:endParaRPr lang="en-US" dirty="0">
              <a:solidFill>
                <a:schemeClr val="bg1"/>
              </a:solidFill>
              <a:latin typeface="Montserrat" pitchFamily="2" charset="0"/>
            </a:endParaRPr>
          </a:p>
          <a:p>
            <a:r>
              <a:rPr lang="en-US" dirty="0">
                <a:solidFill>
                  <a:schemeClr val="bg1"/>
                </a:solidFill>
                <a:latin typeface="Montserrat" pitchFamily="2" charset="0"/>
              </a:rPr>
              <a:t>Joyful exploration: Strive for “intelligent failures”: make mistakes quickly, and learn from each mistake. I’ll point out examples of what I mean when we get to certain topics. </a:t>
            </a:r>
          </a:p>
          <a:p>
            <a:endParaRPr lang="en-US" dirty="0">
              <a:solidFill>
                <a:schemeClr val="bg1"/>
              </a:solidFill>
              <a:latin typeface="Montserrat" pitchFamily="2" charset="0"/>
            </a:endParaRPr>
          </a:p>
          <a:p>
            <a:endParaRPr lang="en-US" dirty="0"/>
          </a:p>
        </p:txBody>
      </p:sp>
      <p:sp>
        <p:nvSpPr>
          <p:cNvPr id="4" name="Slide Number Placeholder 3"/>
          <p:cNvSpPr>
            <a:spLocks noGrp="1"/>
          </p:cNvSpPr>
          <p:nvPr>
            <p:ph type="sldNum" sz="quarter" idx="5"/>
          </p:nvPr>
        </p:nvSpPr>
        <p:spPr/>
        <p:txBody>
          <a:bodyPr/>
          <a:lstStyle/>
          <a:p>
            <a:fld id="{1F505E3F-8821-6843-B7F4-F11EF974A4DA}" type="slidenum">
              <a:rPr lang="en-US" smtClean="0"/>
              <a:t>7</a:t>
            </a:fld>
            <a:endParaRPr lang="en-US"/>
          </a:p>
        </p:txBody>
      </p:sp>
    </p:spTree>
    <p:extLst>
      <p:ext uri="{BB962C8B-B14F-4D97-AF65-F5344CB8AC3E}">
        <p14:creationId xmlns:p14="http://schemas.microsoft.com/office/powerpoint/2010/main" val="743052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8:notes"/>
          <p:cNvSpPr txBox="1">
            <a:spLocks noGrp="1"/>
          </p:cNvSpPr>
          <p:nvPr>
            <p:ph type="body" idx="1"/>
          </p:nvPr>
        </p:nvSpPr>
        <p:spPr>
          <a:xfrm>
            <a:off x="701040" y="4473892"/>
            <a:ext cx="5608320" cy="3660458"/>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r>
              <a:rPr lang="en-US" dirty="0"/>
              <a:t>Distinguish passive and active learning. Briefly motivate all the active learning activities we will use in class. </a:t>
            </a:r>
            <a:endParaRPr dirty="0"/>
          </a:p>
        </p:txBody>
      </p:sp>
      <p:sp>
        <p:nvSpPr>
          <p:cNvPr id="138" name="Google Shape;138;p8:notes"/>
          <p:cNvSpPr txBox="1">
            <a:spLocks noGrp="1"/>
          </p:cNvSpPr>
          <p:nvPr>
            <p:ph type="sldNum" idx="12"/>
          </p:nvPr>
        </p:nvSpPr>
        <p:spPr>
          <a:xfrm>
            <a:off x="3970938" y="8829967"/>
            <a:ext cx="3037840" cy="466433"/>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489197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53583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15031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82025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51894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95517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39788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56082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53583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51894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15031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reviews are consistent: </a:t>
            </a:r>
          </a:p>
          <a:p>
            <a:pPr lvl="1"/>
            <a:r>
              <a:rPr lang="en-US" dirty="0"/>
              <a:t>Not around as often as I’d like, but responds very quickly to email.</a:t>
            </a:r>
          </a:p>
          <a:p>
            <a:endParaRPr lang="en-US" dirty="0"/>
          </a:p>
        </p:txBody>
      </p:sp>
    </p:spTree>
    <p:extLst>
      <p:ext uri="{BB962C8B-B14F-4D97-AF65-F5344CB8AC3E}">
        <p14:creationId xmlns:p14="http://schemas.microsoft.com/office/powerpoint/2010/main" val="26621125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am</a:t>
            </a:r>
            <a:r>
              <a:rPr lang="en-US" baseline="0" dirty="0"/>
              <a:t> I doing this?</a:t>
            </a:r>
          </a:p>
          <a:p>
            <a:pPr marL="342900" indent="-342900">
              <a:buFontTx/>
              <a:buChar char="-"/>
            </a:pPr>
            <a:r>
              <a:rPr lang="en-US" baseline="0" dirty="0"/>
              <a:t>I don’t like repeating myself, and laptops are distracting. When I allow them to be open throughout class, I end up repeating myself and have students who have no idea what’s going on. For example, one year, I had a student who, three weeks into the class said he didn’t know what the schedule page was… There was more going on, but he was never forced to watch what was going on. Also, I know how tempting it is to turn on a game in the middle of class… don’t, 1) you won’t get the most out of this class… 2) You’re not as fast as you think you are at switching out of that game!</a:t>
            </a:r>
          </a:p>
          <a:p>
            <a:pPr marL="342900" indent="-342900">
              <a:buFontTx/>
              <a:buChar char="-"/>
            </a:pPr>
            <a:r>
              <a:rPr lang="en-US" dirty="0"/>
              <a:t>We</a:t>
            </a:r>
            <a:r>
              <a:rPr lang="en-US" baseline="0" dirty="0"/>
              <a:t> will do a lot of live-coding, so you will need your laptops, and for those portions of the class, no problem! But during lecture, when we’re not live-coding, I’ll ask you to close / lower your laptop lids so I know I have your attention</a:t>
            </a:r>
          </a:p>
          <a:p>
            <a:pPr marL="342900" indent="-342900">
              <a:buFontTx/>
              <a:buChar char="-"/>
            </a:pPr>
            <a:r>
              <a:rPr lang="en-US" baseline="0" dirty="0"/>
              <a:t>Phones / other devices: I’m not blind, I can see you’re texting someone… You’re looking down, not up, easy to spot.</a:t>
            </a:r>
          </a:p>
          <a:p>
            <a:pPr marL="342900" indent="-342900">
              <a:buFontTx/>
              <a:buChar char="-"/>
            </a:pPr>
            <a:r>
              <a:rPr lang="en-US" baseline="0" dirty="0"/>
              <a:t>Since we will open and close our laptops a lot, I’m okay if you only close it so you can’t see the screen, rather than all the way, but barely tilted doesn’t cut it.</a:t>
            </a:r>
          </a:p>
          <a:p>
            <a:pPr marL="342900" indent="-342900">
              <a:buFontTx/>
              <a:buChar char="-"/>
            </a:pPr>
            <a:r>
              <a:rPr lang="en-US" baseline="0" dirty="0"/>
              <a:t>I know some people take notes on their laptops… If that’s you, I would ask that you come to my office after class and show me an example of the notes that you typically take on your laptop and I’ll make an exception. However, a lot of the notes taken in here should be on the daily quizzes, which we’ll get to shortly.</a:t>
            </a:r>
          </a:p>
          <a:p>
            <a:pPr marL="342900" indent="-342900">
              <a:buFontTx/>
              <a:buChar char="-"/>
            </a:pPr>
            <a:r>
              <a:rPr lang="en-US" baseline="0" dirty="0"/>
              <a:t>With all that said… please close (or at least lower) your laptop screens for the moment.</a:t>
            </a:r>
          </a:p>
          <a:p>
            <a:pPr marL="342900" indent="-342900">
              <a:buFontTx/>
              <a:buChar char="-"/>
            </a:pPr>
            <a:endParaRPr lang="en-US" dirty="0"/>
          </a:p>
        </p:txBody>
      </p:sp>
    </p:spTree>
    <p:extLst>
      <p:ext uri="{BB962C8B-B14F-4D97-AF65-F5344CB8AC3E}">
        <p14:creationId xmlns:p14="http://schemas.microsoft.com/office/powerpoint/2010/main" val="2313550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42096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B42FC-A75F-6E46-949F-22F15D26DA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7ACFCF-15C0-954A-9580-0AACC77E76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D002F9-933F-9A45-B3C9-833027AD3652}"/>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5" name="Footer Placeholder 4">
            <a:extLst>
              <a:ext uri="{FF2B5EF4-FFF2-40B4-BE49-F238E27FC236}">
                <a16:creationId xmlns:a16="http://schemas.microsoft.com/office/drawing/2014/main" id="{DA8C6DFF-2CE0-BA42-B491-3748AA921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9F306-C50D-3E4F-8063-8A91EE66FA52}"/>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1881335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1BD51-5367-A94A-B476-616F335E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0B5135-1B19-A448-850F-D5311CE619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41720F-5659-DD41-9CE9-118793925880}"/>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5" name="Footer Placeholder 4">
            <a:extLst>
              <a:ext uri="{FF2B5EF4-FFF2-40B4-BE49-F238E27FC236}">
                <a16:creationId xmlns:a16="http://schemas.microsoft.com/office/drawing/2014/main" id="{32A00E62-7FED-444D-8BCE-998EC91499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AE0604-C341-CC40-990B-1E472A08EE02}"/>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1252283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A313A-EDDA-2041-9966-EECDD2B238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326D43-6C08-0B4E-9302-8916C23D2C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8C83D2-98C1-6543-A3DB-B646A8001DB1}"/>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5" name="Footer Placeholder 4">
            <a:extLst>
              <a:ext uri="{FF2B5EF4-FFF2-40B4-BE49-F238E27FC236}">
                <a16:creationId xmlns:a16="http://schemas.microsoft.com/office/drawing/2014/main" id="{0E445C18-9ABD-5B40-BAA8-C77F95F14C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2392B6-A095-1540-9998-0F3989FF7443}"/>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1147143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86562-EA8A-5440-B60E-A90605175F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4E8823-9C31-8146-AA8A-091E1E0D37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586C45-A302-F144-B7CA-C559B1A06B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3F7D52-3FBF-D142-A290-D158512138C0}"/>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6" name="Footer Placeholder 5">
            <a:extLst>
              <a:ext uri="{FF2B5EF4-FFF2-40B4-BE49-F238E27FC236}">
                <a16:creationId xmlns:a16="http://schemas.microsoft.com/office/drawing/2014/main" id="{CE72402E-E17E-1247-9ADB-961805712B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D5FEC9-71D0-C844-B3F7-8C0F9FBF687F}"/>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1227549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F36F0-4921-9B4B-8BB9-A20838DB4E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503876-49E7-C245-9AF8-474756480D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95F9A2-B7C3-9B40-9DF6-12EE1B5E96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240873-8079-A148-BCCE-BB3E1797AB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F53B49-97FC-E843-861D-9AA0490BC2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ABFE99-3FBA-994F-8554-15A389B69137}"/>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8" name="Footer Placeholder 7">
            <a:extLst>
              <a:ext uri="{FF2B5EF4-FFF2-40B4-BE49-F238E27FC236}">
                <a16:creationId xmlns:a16="http://schemas.microsoft.com/office/drawing/2014/main" id="{3EF1F348-ADB2-9F44-BF04-A894D458A1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3EC666-6A15-4945-90EA-361EA49C018A}"/>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435705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9053-F016-7C48-83BC-93B8CC7C14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B35BA2-CD9C-5F4E-82A4-1C52E15E7035}"/>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4" name="Footer Placeholder 3">
            <a:extLst>
              <a:ext uri="{FF2B5EF4-FFF2-40B4-BE49-F238E27FC236}">
                <a16:creationId xmlns:a16="http://schemas.microsoft.com/office/drawing/2014/main" id="{85836770-C03B-094A-A32D-9CBDA12DF2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777EE4-ECEB-584B-BB40-7AD802E1B664}"/>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4275112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36837D-54B2-B341-8F8C-66A716AE62B6}"/>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3" name="Footer Placeholder 2">
            <a:extLst>
              <a:ext uri="{FF2B5EF4-FFF2-40B4-BE49-F238E27FC236}">
                <a16:creationId xmlns:a16="http://schemas.microsoft.com/office/drawing/2014/main" id="{64D2A46A-236C-CC4E-9382-C935359F69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297E7C-954D-3444-932D-352B1F58C0B6}"/>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3847567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91E0-B226-5B4D-8278-14A7E224E8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38EB0C-A339-2546-81CA-E65A30E059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B9E2D6-13C0-434C-A0B2-E322A4506D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A4FD5F-F977-474C-927A-A75B42178495}"/>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6" name="Footer Placeholder 5">
            <a:extLst>
              <a:ext uri="{FF2B5EF4-FFF2-40B4-BE49-F238E27FC236}">
                <a16:creationId xmlns:a16="http://schemas.microsoft.com/office/drawing/2014/main" id="{C695779F-5A81-544B-A880-536654AC01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CFAAED-6B7F-EA42-A80D-AC24D476CD01}"/>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2616593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736-BDA6-0640-BA7C-ED0693959A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67234C-81C1-D04E-ABD7-EF7CEDD319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2CE6E8-411E-1E45-83DE-92AAD96C56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6301-15EB-2A46-9130-0BDC4285044B}"/>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6" name="Footer Placeholder 5">
            <a:extLst>
              <a:ext uri="{FF2B5EF4-FFF2-40B4-BE49-F238E27FC236}">
                <a16:creationId xmlns:a16="http://schemas.microsoft.com/office/drawing/2014/main" id="{CB79F32D-093F-0547-B747-D1ED95C949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D52AAF-0180-3647-81D3-28BA9AC69A85}"/>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2656670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11997-21F5-7747-A55D-7A6108D84C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53BE49-B359-E24E-ACB8-7EDD6A7D50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A63FF-361B-2146-90FA-D2983D9B0D9B}"/>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5" name="Footer Placeholder 4">
            <a:extLst>
              <a:ext uri="{FF2B5EF4-FFF2-40B4-BE49-F238E27FC236}">
                <a16:creationId xmlns:a16="http://schemas.microsoft.com/office/drawing/2014/main" id="{64D7C8BF-CB84-DC40-95D9-E39A2CAA7F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58D01-370D-5240-9D50-988FEFB6C605}"/>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2921307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EE236B-D96E-D545-9CFC-A9CC6ADB7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4A0FD1-3B44-2B4B-B86C-F956EFCBA8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E819E-A15C-3642-AEE2-5C0F9FC380E5}"/>
              </a:ext>
            </a:extLst>
          </p:cNvPr>
          <p:cNvSpPr>
            <a:spLocks noGrp="1"/>
          </p:cNvSpPr>
          <p:nvPr>
            <p:ph type="dt" sz="half" idx="10"/>
          </p:nvPr>
        </p:nvSpPr>
        <p:spPr/>
        <p:txBody>
          <a:bodyPr/>
          <a:lstStyle/>
          <a:p>
            <a:fld id="{1558ECB0-78E8-2947-93F5-766FFF283DA8}" type="datetimeFigureOut">
              <a:rPr lang="en-US" smtClean="0"/>
              <a:t>8/26/2026</a:t>
            </a:fld>
            <a:endParaRPr lang="en-US"/>
          </a:p>
        </p:txBody>
      </p:sp>
      <p:sp>
        <p:nvSpPr>
          <p:cNvPr id="5" name="Footer Placeholder 4">
            <a:extLst>
              <a:ext uri="{FF2B5EF4-FFF2-40B4-BE49-F238E27FC236}">
                <a16:creationId xmlns:a16="http://schemas.microsoft.com/office/drawing/2014/main" id="{A4C50015-129C-F849-A9E9-D1CE8F778C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4944F-6730-7A4E-8C15-3E4FE173BC75}"/>
              </a:ext>
            </a:extLst>
          </p:cNvPr>
          <p:cNvSpPr>
            <a:spLocks noGrp="1"/>
          </p:cNvSpPr>
          <p:nvPr>
            <p:ph type="sldNum" sz="quarter" idx="12"/>
          </p:nvPr>
        </p:nvSpPr>
        <p:spPr/>
        <p:txBody>
          <a:bodyPr/>
          <a:lstStyle/>
          <a:p>
            <a:fld id="{0A5184BF-6867-B84D-9A5B-F22C4903AC7B}" type="slidenum">
              <a:rPr lang="en-US" smtClean="0"/>
              <a:t>‹#›</a:t>
            </a:fld>
            <a:endParaRPr lang="en-US"/>
          </a:p>
        </p:txBody>
      </p:sp>
    </p:spTree>
    <p:extLst>
      <p:ext uri="{BB962C8B-B14F-4D97-AF65-F5344CB8AC3E}">
        <p14:creationId xmlns:p14="http://schemas.microsoft.com/office/powerpoint/2010/main" val="1954942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239E1C-EBC2-654A-9BC3-996A86D763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22CC07-40E4-0C42-95E1-4A335F1E5E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24CD33-5804-7E49-A355-0FA81E1BE8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8ECB0-78E8-2947-93F5-766FFF283DA8}" type="datetimeFigureOut">
              <a:rPr lang="en-US" smtClean="0"/>
              <a:t>8/26/2026</a:t>
            </a:fld>
            <a:endParaRPr lang="en-US"/>
          </a:p>
        </p:txBody>
      </p:sp>
      <p:sp>
        <p:nvSpPr>
          <p:cNvPr id="5" name="Footer Placeholder 4">
            <a:extLst>
              <a:ext uri="{FF2B5EF4-FFF2-40B4-BE49-F238E27FC236}">
                <a16:creationId xmlns:a16="http://schemas.microsoft.com/office/drawing/2014/main" id="{1ED0BA8B-1432-994A-BB61-FE5BD4A703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D33797B-B715-E547-B637-DF2B783893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5184BF-6867-B84D-9A5B-F22C4903AC7B}" type="slidenum">
              <a:rPr lang="en-US" smtClean="0"/>
              <a:t>‹#›</a:t>
            </a:fld>
            <a:endParaRPr lang="en-US"/>
          </a:p>
        </p:txBody>
      </p:sp>
    </p:spTree>
    <p:extLst>
      <p:ext uri="{BB962C8B-B14F-4D97-AF65-F5344CB8AC3E}">
        <p14:creationId xmlns:p14="http://schemas.microsoft.com/office/powerpoint/2010/main" val="1548015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customXml" Target="../ink/ink5.xml"/><Relationship Id="rId18" Type="http://schemas.openxmlformats.org/officeDocument/2006/relationships/image" Target="../media/image9.png"/><Relationship Id="rId3" Type="http://schemas.openxmlformats.org/officeDocument/2006/relationships/image" Target="../media/image1.png"/><Relationship Id="rId21" Type="http://schemas.openxmlformats.org/officeDocument/2006/relationships/customXml" Target="../ink/ink9.xml"/><Relationship Id="rId7" Type="http://schemas.openxmlformats.org/officeDocument/2006/relationships/image" Target="../media/image3.png"/><Relationship Id="rId12" Type="http://schemas.openxmlformats.org/officeDocument/2006/relationships/image" Target="../media/image6.png"/><Relationship Id="rId17" Type="http://schemas.openxmlformats.org/officeDocument/2006/relationships/customXml" Target="../ink/ink7.xml"/><Relationship Id="rId2" Type="http://schemas.openxmlformats.org/officeDocument/2006/relationships/notesSlide" Target="../notesSlides/notesSlide1.xml"/><Relationship Id="rId16" Type="http://schemas.openxmlformats.org/officeDocument/2006/relationships/image" Target="../media/image8.png"/><Relationship Id="rId20"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customXml" Target="../ink/ink4.xml"/><Relationship Id="rId5" Type="http://schemas.openxmlformats.org/officeDocument/2006/relationships/image" Target="../media/image2.png"/><Relationship Id="rId15" Type="http://schemas.openxmlformats.org/officeDocument/2006/relationships/customXml" Target="../ink/ink6.xml"/><Relationship Id="rId10" Type="http://schemas.openxmlformats.org/officeDocument/2006/relationships/image" Target="../media/image5.png"/><Relationship Id="rId19" Type="http://schemas.openxmlformats.org/officeDocument/2006/relationships/customXml" Target="../ink/ink8.xml"/><Relationship Id="rId4" Type="http://schemas.openxmlformats.org/officeDocument/2006/relationships/customXml" Target="../ink/ink1.xml"/><Relationship Id="rId9" Type="http://schemas.openxmlformats.org/officeDocument/2006/relationships/image" Target="../media/image4.png"/><Relationship Id="rId14" Type="http://schemas.openxmlformats.org/officeDocument/2006/relationships/image" Target="../media/image7.png"/><Relationship Id="rId22"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tinyurl.com/csse220setup" TargetMode="External"/><Relationship Id="rId2" Type="http://schemas.openxmlformats.org/officeDocument/2006/relationships/hyperlink" Target="https://github.com/RHIT-CSSE/csse220/tree/master/ClassMaterials/JavaIntro/Slid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21.jpg"/><Relationship Id="rId2" Type="http://schemas.openxmlformats.org/officeDocument/2006/relationships/image" Target="../media/image16.jpg"/><Relationship Id="rId1" Type="http://schemas.openxmlformats.org/officeDocument/2006/relationships/slideLayout" Target="../slideLayouts/slideLayout1.xml"/><Relationship Id="rId6" Type="http://schemas.openxmlformats.org/officeDocument/2006/relationships/image" Target="../media/image20.jpg"/><Relationship Id="rId5" Type="http://schemas.openxmlformats.org/officeDocument/2006/relationships/image" Target="../media/image19.jpeg"/><Relationship Id="rId4" Type="http://schemas.openxmlformats.org/officeDocument/2006/relationships/image" Target="../media/image18.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a:spLocks noGrp="1"/>
          </p:cNvSpPr>
          <p:nvPr>
            <p:ph type="title"/>
          </p:nvPr>
        </p:nvSpPr>
        <p:spPr>
          <a:xfrm>
            <a:off x="3124200" y="152401"/>
            <a:ext cx="6172200" cy="857251"/>
          </a:xfrm>
          <a:prstGeom prst="rect">
            <a:avLst/>
          </a:prstGeom>
        </p:spPr>
        <p:txBody>
          <a:bodyPr>
            <a:normAutofit/>
          </a:bodyPr>
          <a:lstStyle/>
          <a:p>
            <a:pPr lvl="0">
              <a:defRPr sz="1800"/>
            </a:pPr>
            <a:r>
              <a:rPr sz="3200" dirty="0"/>
              <a:t>Welcome to CSSE 220</a:t>
            </a:r>
          </a:p>
        </p:txBody>
      </p:sp>
      <p:sp>
        <p:nvSpPr>
          <p:cNvPr id="50" name="Shape 50"/>
          <p:cNvSpPr>
            <a:spLocks noGrp="1"/>
          </p:cNvSpPr>
          <p:nvPr>
            <p:ph type="body" idx="1"/>
          </p:nvPr>
        </p:nvSpPr>
        <p:spPr>
          <a:xfrm>
            <a:off x="59352" y="1009652"/>
            <a:ext cx="8724900" cy="5848348"/>
          </a:xfrm>
          <a:prstGeom prst="rect">
            <a:avLst/>
          </a:prstGeom>
        </p:spPr>
        <p:txBody>
          <a:bodyPr vert="horz" lIns="34289" tIns="34290" rIns="34289" bIns="34290" rtlCol="0" anchor="t">
            <a:normAutofit/>
          </a:bodyPr>
          <a:lstStyle/>
          <a:p>
            <a:pPr marL="0" indent="0">
              <a:buNone/>
              <a:defRPr sz="1800"/>
            </a:pPr>
            <a:r>
              <a:rPr sz="2400" dirty="0"/>
              <a:t>We are excited that you are here:</a:t>
            </a:r>
          </a:p>
          <a:p>
            <a:pPr marL="557213" lvl="1" indent="-214313">
              <a:spcBef>
                <a:spcPts val="450"/>
              </a:spcBef>
              <a:defRPr sz="1800"/>
            </a:pPr>
            <a:r>
              <a:rPr lang="en-US" sz="2100" dirty="0"/>
              <a:t>Hopefully you followed the instructions in the welcome email, </a:t>
            </a:r>
            <a:br>
              <a:rPr lang="en-US" sz="2100" dirty="0"/>
            </a:br>
            <a:r>
              <a:rPr lang="en-US" sz="2100" dirty="0"/>
              <a:t>installing Java and IntelliJ</a:t>
            </a:r>
          </a:p>
          <a:p>
            <a:pPr marL="557213" lvl="1" indent="-214313">
              <a:spcBef>
                <a:spcPts val="450"/>
              </a:spcBef>
              <a:defRPr sz="1800"/>
            </a:pPr>
            <a:r>
              <a:rPr sz="2100" dirty="0"/>
              <a:t>Start your computer</a:t>
            </a:r>
            <a:r>
              <a:rPr lang="en-US" sz="2100" dirty="0"/>
              <a:t> &amp; IntelliJ</a:t>
            </a:r>
          </a:p>
          <a:p>
            <a:pPr marL="0" indent="0">
              <a:spcBef>
                <a:spcPts val="450"/>
              </a:spcBef>
              <a:buNone/>
              <a:defRPr sz="1800"/>
            </a:pPr>
            <a:endParaRPr lang="en-US" sz="2100" b="1" dirty="0"/>
          </a:p>
          <a:p>
            <a:pPr marL="0" indent="0">
              <a:spcBef>
                <a:spcPts val="450"/>
              </a:spcBef>
              <a:buNone/>
              <a:defRPr sz="1800"/>
            </a:pPr>
            <a:r>
              <a:rPr lang="en-US" sz="2100" b="1" dirty="0"/>
              <a:t>Every day:</a:t>
            </a:r>
            <a:endParaRPr lang="en-US" b="1" dirty="0"/>
          </a:p>
          <a:p>
            <a:pPr marL="557213" lvl="1" indent="-214313">
              <a:spcBef>
                <a:spcPts val="450"/>
              </a:spcBef>
              <a:defRPr sz="1800"/>
            </a:pPr>
            <a:endParaRPr lang="en-US" sz="2100" dirty="0"/>
          </a:p>
          <a:p>
            <a:pPr marL="557213" lvl="1" indent="-214313">
              <a:spcBef>
                <a:spcPts val="450"/>
              </a:spcBef>
              <a:defRPr sz="1800"/>
            </a:pPr>
            <a:r>
              <a:rPr lang="en-US" sz="2100" dirty="0"/>
              <a:t>There is a daily attendance on Moodle</a:t>
            </a:r>
          </a:p>
          <a:p>
            <a:pPr marL="557213" lvl="1" indent="-214313">
              <a:spcBef>
                <a:spcPts val="450"/>
              </a:spcBef>
              <a:defRPr sz="1800"/>
            </a:pPr>
            <a:r>
              <a:rPr lang="en-US" sz="2100" dirty="0"/>
              <a:t>Time limited (+/- 10 min)</a:t>
            </a:r>
          </a:p>
          <a:p>
            <a:pPr marL="557213" lvl="1" indent="-214313">
              <a:spcBef>
                <a:spcPts val="450"/>
              </a:spcBef>
              <a:defRPr sz="1800"/>
            </a:pPr>
            <a:endParaRPr lang="en-US" sz="2100" dirty="0"/>
          </a:p>
          <a:p>
            <a:pPr marL="557213" lvl="1" indent="-214313">
              <a:spcBef>
                <a:spcPts val="450"/>
              </a:spcBef>
              <a:defRPr sz="1800"/>
            </a:pPr>
            <a:r>
              <a:rPr lang="en-US" sz="2100" dirty="0"/>
              <a:t>There is a daily quiz on Moodle</a:t>
            </a:r>
          </a:p>
          <a:p>
            <a:pPr marL="557213" lvl="1" indent="-214313">
              <a:spcBef>
                <a:spcPts val="450"/>
              </a:spcBef>
              <a:defRPr sz="1800"/>
            </a:pPr>
            <a:endParaRPr lang="en-US" sz="2100" dirty="0"/>
          </a:p>
          <a:p>
            <a:pPr marL="557213" lvl="1" indent="-214313">
              <a:spcBef>
                <a:spcPts val="450"/>
              </a:spcBef>
              <a:defRPr sz="1800"/>
            </a:pPr>
            <a:endParaRPr lang="en-US" sz="2100" dirty="0"/>
          </a:p>
          <a:p>
            <a:pPr marL="557213" lvl="1" indent="-214313">
              <a:spcBef>
                <a:spcPts val="450"/>
              </a:spcBef>
              <a:defRPr sz="1800"/>
            </a:pPr>
            <a:endParaRPr lang="en-US" sz="2100" dirty="0"/>
          </a:p>
          <a:p>
            <a:pPr marL="557213" lvl="1" indent="-214313">
              <a:spcBef>
                <a:spcPts val="450"/>
              </a:spcBef>
              <a:defRPr sz="1800"/>
            </a:pPr>
            <a:endParaRPr lang="en-US" sz="2100" dirty="0"/>
          </a:p>
          <a:p>
            <a:pPr marL="557213" lvl="1" indent="-214313">
              <a:spcBef>
                <a:spcPts val="450"/>
              </a:spcBef>
              <a:defRPr sz="1800"/>
            </a:pPr>
            <a:endParaRPr sz="2100" dirty="0"/>
          </a:p>
        </p:txBody>
      </p:sp>
      <p:sp>
        <p:nvSpPr>
          <p:cNvPr id="2" name="TextBox 1">
            <a:extLst>
              <a:ext uri="{FF2B5EF4-FFF2-40B4-BE49-F238E27FC236}">
                <a16:creationId xmlns:a16="http://schemas.microsoft.com/office/drawing/2014/main" id="{29826FFB-88E1-2671-3232-3FA756FD33C1}"/>
              </a:ext>
            </a:extLst>
          </p:cNvPr>
          <p:cNvSpPr txBox="1"/>
          <p:nvPr/>
        </p:nvSpPr>
        <p:spPr>
          <a:xfrm>
            <a:off x="9129099" y="134212"/>
            <a:ext cx="3003549" cy="1477328"/>
          </a:xfrm>
          <a:prstGeom prst="rect">
            <a:avLst/>
          </a:prstGeom>
          <a:solidFill>
            <a:srgbClr val="FFFF00"/>
          </a:solidFill>
          <a:ln>
            <a:solidFill>
              <a:schemeClr val="tx1"/>
            </a:solidFill>
          </a:ln>
        </p:spPr>
        <p:txBody>
          <a:bodyPr wrap="square" rtlCol="0">
            <a:spAutoFit/>
          </a:bodyPr>
          <a:lstStyle/>
          <a:p>
            <a:r>
              <a:rPr lang="en-US" dirty="0"/>
              <a:t>Today’s Attendance Password:</a:t>
            </a:r>
          </a:p>
          <a:p>
            <a:r>
              <a:rPr lang="en-US" b="1" dirty="0"/>
              <a:t>intro</a:t>
            </a:r>
          </a:p>
          <a:p>
            <a:endParaRPr lang="en-US" dirty="0"/>
          </a:p>
          <a:p>
            <a:r>
              <a:rPr lang="en-US" dirty="0"/>
              <a:t>Today’s Quiz:</a:t>
            </a:r>
          </a:p>
          <a:p>
            <a:r>
              <a:rPr lang="en-US" b="1" dirty="0" err="1"/>
              <a:t>JavaIntroQuiz</a:t>
            </a:r>
            <a:endParaRPr lang="en-US" b="1" dirty="0"/>
          </a:p>
        </p:txBody>
      </p:sp>
      <p:pic>
        <p:nvPicPr>
          <p:cNvPr id="16" name="Picture 15">
            <a:extLst>
              <a:ext uri="{FF2B5EF4-FFF2-40B4-BE49-F238E27FC236}">
                <a16:creationId xmlns:a16="http://schemas.microsoft.com/office/drawing/2014/main" id="{0453F0D0-DCB5-098B-EAC5-47388051A55A}"/>
              </a:ext>
            </a:extLst>
          </p:cNvPr>
          <p:cNvPicPr>
            <a:picLocks noChangeAspect="1"/>
          </p:cNvPicPr>
          <p:nvPr/>
        </p:nvPicPr>
        <p:blipFill>
          <a:blip r:embed="rId3"/>
          <a:stretch>
            <a:fillRect/>
          </a:stretch>
        </p:blipFill>
        <p:spPr>
          <a:xfrm>
            <a:off x="5584500" y="2248348"/>
            <a:ext cx="6548148" cy="4609652"/>
          </a:xfrm>
          <a:prstGeom prst="rect">
            <a:avLst/>
          </a:prstGeom>
        </p:spPr>
      </p:pic>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F92E14CB-B205-43BF-A106-8C7B4F06602C}"/>
                  </a:ext>
                </a:extLst>
              </p14:cNvPr>
              <p14:cNvContentPartPr/>
              <p14:nvPr/>
            </p14:nvContentPartPr>
            <p14:xfrm>
              <a:off x="4872664" y="3582148"/>
              <a:ext cx="966960" cy="333360"/>
            </p14:xfrm>
          </p:contentPart>
        </mc:Choice>
        <mc:Fallback xmlns="">
          <p:pic>
            <p:nvPicPr>
              <p:cNvPr id="17" name="Ink 16">
                <a:extLst>
                  <a:ext uri="{FF2B5EF4-FFF2-40B4-BE49-F238E27FC236}">
                    <a16:creationId xmlns:a16="http://schemas.microsoft.com/office/drawing/2014/main" id="{F92E14CB-B205-43BF-A106-8C7B4F06602C}"/>
                  </a:ext>
                </a:extLst>
              </p:cNvPr>
              <p:cNvPicPr/>
              <p:nvPr/>
            </p:nvPicPr>
            <p:blipFill>
              <a:blip r:embed="rId5"/>
              <a:stretch>
                <a:fillRect/>
              </a:stretch>
            </p:blipFill>
            <p:spPr>
              <a:xfrm>
                <a:off x="4863664" y="3573148"/>
                <a:ext cx="984600" cy="351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4EC42C5D-6651-7930-0ED2-9DFB1A6153C8}"/>
                  </a:ext>
                </a:extLst>
              </p14:cNvPr>
              <p14:cNvContentPartPr/>
              <p14:nvPr/>
            </p14:nvContentPartPr>
            <p14:xfrm>
              <a:off x="6852304" y="3702388"/>
              <a:ext cx="116280" cy="223560"/>
            </p14:xfrm>
          </p:contentPart>
        </mc:Choice>
        <mc:Fallback xmlns="">
          <p:pic>
            <p:nvPicPr>
              <p:cNvPr id="18" name="Ink 17">
                <a:extLst>
                  <a:ext uri="{FF2B5EF4-FFF2-40B4-BE49-F238E27FC236}">
                    <a16:creationId xmlns:a16="http://schemas.microsoft.com/office/drawing/2014/main" id="{4EC42C5D-6651-7930-0ED2-9DFB1A6153C8}"/>
                  </a:ext>
                </a:extLst>
              </p:cNvPr>
              <p:cNvPicPr/>
              <p:nvPr/>
            </p:nvPicPr>
            <p:blipFill>
              <a:blip r:embed="rId7"/>
              <a:stretch>
                <a:fillRect/>
              </a:stretch>
            </p:blipFill>
            <p:spPr>
              <a:xfrm>
                <a:off x="6843304" y="3693748"/>
                <a:ext cx="13392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F62E0E69-4ED3-01FE-D364-AB4C0FBEE3CC}"/>
                  </a:ext>
                </a:extLst>
              </p14:cNvPr>
              <p14:cNvContentPartPr/>
              <p14:nvPr/>
            </p14:nvContentPartPr>
            <p14:xfrm>
              <a:off x="6873544" y="3786268"/>
              <a:ext cx="1664280" cy="1146960"/>
            </p14:xfrm>
          </p:contentPart>
        </mc:Choice>
        <mc:Fallback xmlns="">
          <p:pic>
            <p:nvPicPr>
              <p:cNvPr id="19" name="Ink 18">
                <a:extLst>
                  <a:ext uri="{FF2B5EF4-FFF2-40B4-BE49-F238E27FC236}">
                    <a16:creationId xmlns:a16="http://schemas.microsoft.com/office/drawing/2014/main" id="{F62E0E69-4ED3-01FE-D364-AB4C0FBEE3CC}"/>
                  </a:ext>
                </a:extLst>
              </p:cNvPr>
              <p:cNvPicPr/>
              <p:nvPr/>
            </p:nvPicPr>
            <p:blipFill>
              <a:blip r:embed="rId9"/>
              <a:stretch>
                <a:fillRect/>
              </a:stretch>
            </p:blipFill>
            <p:spPr>
              <a:xfrm>
                <a:off x="6864904" y="3777628"/>
                <a:ext cx="1681920" cy="1164600"/>
              </a:xfrm>
              <a:prstGeom prst="rect">
                <a:avLst/>
              </a:prstGeom>
            </p:spPr>
          </p:pic>
        </mc:Fallback>
      </mc:AlternateContent>
      <p:pic>
        <p:nvPicPr>
          <p:cNvPr id="22" name="Picture 21">
            <a:extLst>
              <a:ext uri="{FF2B5EF4-FFF2-40B4-BE49-F238E27FC236}">
                <a16:creationId xmlns:a16="http://schemas.microsoft.com/office/drawing/2014/main" id="{0B8B5539-82AD-A632-D769-F2E52565373B}"/>
              </a:ext>
            </a:extLst>
          </p:cNvPr>
          <p:cNvPicPr>
            <a:picLocks noChangeAspect="1"/>
          </p:cNvPicPr>
          <p:nvPr/>
        </p:nvPicPr>
        <p:blipFill rotWithShape="1">
          <a:blip r:embed="rId10"/>
          <a:srcRect t="28066"/>
          <a:stretch/>
        </p:blipFill>
        <p:spPr>
          <a:xfrm>
            <a:off x="767591" y="4891140"/>
            <a:ext cx="2356609" cy="1914416"/>
          </a:xfrm>
          <a:prstGeom prst="rect">
            <a:avLst/>
          </a:prstGeom>
        </p:spPr>
      </p:pic>
      <mc:AlternateContent xmlns:mc="http://schemas.openxmlformats.org/markup-compatibility/2006" xmlns:p14="http://schemas.microsoft.com/office/powerpoint/2010/main">
        <mc:Choice Requires="p14">
          <p:contentPart p14:bwMode="auto" r:id="rId11">
            <p14:nvContentPartPr>
              <p14:cNvPr id="23" name="Ink 22">
                <a:extLst>
                  <a:ext uri="{FF2B5EF4-FFF2-40B4-BE49-F238E27FC236}">
                    <a16:creationId xmlns:a16="http://schemas.microsoft.com/office/drawing/2014/main" id="{3F46DDE0-B337-B19B-A7D2-28AC5F5556E9}"/>
                  </a:ext>
                </a:extLst>
              </p14:cNvPr>
              <p14:cNvContentPartPr/>
              <p14:nvPr/>
            </p14:nvContentPartPr>
            <p14:xfrm>
              <a:off x="4097944" y="4679068"/>
              <a:ext cx="1786320" cy="2158560"/>
            </p14:xfrm>
          </p:contentPart>
        </mc:Choice>
        <mc:Fallback xmlns="">
          <p:pic>
            <p:nvPicPr>
              <p:cNvPr id="23" name="Ink 22">
                <a:extLst>
                  <a:ext uri="{FF2B5EF4-FFF2-40B4-BE49-F238E27FC236}">
                    <a16:creationId xmlns:a16="http://schemas.microsoft.com/office/drawing/2014/main" id="{3F46DDE0-B337-B19B-A7D2-28AC5F5556E9}"/>
                  </a:ext>
                </a:extLst>
              </p:cNvPr>
              <p:cNvPicPr/>
              <p:nvPr/>
            </p:nvPicPr>
            <p:blipFill>
              <a:blip r:embed="rId12"/>
              <a:stretch>
                <a:fillRect/>
              </a:stretch>
            </p:blipFill>
            <p:spPr>
              <a:xfrm>
                <a:off x="4089304" y="4670428"/>
                <a:ext cx="1803960" cy="2176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4" name="Ink 23">
                <a:extLst>
                  <a:ext uri="{FF2B5EF4-FFF2-40B4-BE49-F238E27FC236}">
                    <a16:creationId xmlns:a16="http://schemas.microsoft.com/office/drawing/2014/main" id="{C0E210E2-4A31-2EAC-435E-3F99A99397C8}"/>
                  </a:ext>
                </a:extLst>
              </p14:cNvPr>
              <p14:cNvContentPartPr/>
              <p14:nvPr/>
            </p14:nvContentPartPr>
            <p14:xfrm>
              <a:off x="3087064" y="4829908"/>
              <a:ext cx="1422000" cy="2006640"/>
            </p14:xfrm>
          </p:contentPart>
        </mc:Choice>
        <mc:Fallback xmlns="">
          <p:pic>
            <p:nvPicPr>
              <p:cNvPr id="24" name="Ink 23">
                <a:extLst>
                  <a:ext uri="{FF2B5EF4-FFF2-40B4-BE49-F238E27FC236}">
                    <a16:creationId xmlns:a16="http://schemas.microsoft.com/office/drawing/2014/main" id="{C0E210E2-4A31-2EAC-435E-3F99A99397C8}"/>
                  </a:ext>
                </a:extLst>
              </p:cNvPr>
              <p:cNvPicPr/>
              <p:nvPr/>
            </p:nvPicPr>
            <p:blipFill>
              <a:blip r:embed="rId14"/>
              <a:stretch>
                <a:fillRect/>
              </a:stretch>
            </p:blipFill>
            <p:spPr>
              <a:xfrm>
                <a:off x="3078064" y="4820908"/>
                <a:ext cx="1439640" cy="2024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5" name="Ink 24">
                <a:extLst>
                  <a:ext uri="{FF2B5EF4-FFF2-40B4-BE49-F238E27FC236}">
                    <a16:creationId xmlns:a16="http://schemas.microsoft.com/office/drawing/2014/main" id="{8E038D5F-76AF-1F5D-1C46-DED553C3EFA4}"/>
                  </a:ext>
                </a:extLst>
              </p14:cNvPr>
              <p14:cNvContentPartPr/>
              <p14:nvPr/>
            </p14:nvContentPartPr>
            <p14:xfrm>
              <a:off x="1614664" y="6235348"/>
              <a:ext cx="493920" cy="466920"/>
            </p14:xfrm>
          </p:contentPart>
        </mc:Choice>
        <mc:Fallback xmlns="">
          <p:pic>
            <p:nvPicPr>
              <p:cNvPr id="25" name="Ink 24">
                <a:extLst>
                  <a:ext uri="{FF2B5EF4-FFF2-40B4-BE49-F238E27FC236}">
                    <a16:creationId xmlns:a16="http://schemas.microsoft.com/office/drawing/2014/main" id="{8E038D5F-76AF-1F5D-1C46-DED553C3EFA4}"/>
                  </a:ext>
                </a:extLst>
              </p:cNvPr>
              <p:cNvPicPr/>
              <p:nvPr/>
            </p:nvPicPr>
            <p:blipFill>
              <a:blip r:embed="rId16"/>
              <a:stretch>
                <a:fillRect/>
              </a:stretch>
            </p:blipFill>
            <p:spPr>
              <a:xfrm>
                <a:off x="1605664" y="6226348"/>
                <a:ext cx="511560" cy="484560"/>
              </a:xfrm>
              <a:prstGeom prst="rect">
                <a:avLst/>
              </a:prstGeom>
            </p:spPr>
          </p:pic>
        </mc:Fallback>
      </mc:AlternateContent>
      <p:grpSp>
        <p:nvGrpSpPr>
          <p:cNvPr id="29" name="Group 28">
            <a:extLst>
              <a:ext uri="{FF2B5EF4-FFF2-40B4-BE49-F238E27FC236}">
                <a16:creationId xmlns:a16="http://schemas.microsoft.com/office/drawing/2014/main" id="{152EEEF7-4B46-8B7A-2C11-1AAB4C25B088}"/>
              </a:ext>
            </a:extLst>
          </p:cNvPr>
          <p:cNvGrpSpPr/>
          <p:nvPr/>
        </p:nvGrpSpPr>
        <p:grpSpPr>
          <a:xfrm>
            <a:off x="1575064" y="5993068"/>
            <a:ext cx="391680" cy="347760"/>
            <a:chOff x="1575064" y="5993068"/>
            <a:chExt cx="391680" cy="347760"/>
          </a:xfrm>
        </p:grpSpPr>
        <mc:AlternateContent xmlns:mc="http://schemas.openxmlformats.org/markup-compatibility/2006" xmlns:p14="http://schemas.microsoft.com/office/powerpoint/2010/main">
          <mc:Choice Requires="p14">
            <p:contentPart p14:bwMode="auto" r:id="rId17">
              <p14:nvContentPartPr>
                <p14:cNvPr id="26" name="Ink 25">
                  <a:extLst>
                    <a:ext uri="{FF2B5EF4-FFF2-40B4-BE49-F238E27FC236}">
                      <a16:creationId xmlns:a16="http://schemas.microsoft.com/office/drawing/2014/main" id="{D5303D9A-01F0-248B-0962-86165AB8D37E}"/>
                    </a:ext>
                  </a:extLst>
                </p14:cNvPr>
                <p14:cNvContentPartPr/>
                <p14:nvPr/>
              </p14:nvContentPartPr>
              <p14:xfrm>
                <a:off x="1575064" y="6217708"/>
                <a:ext cx="70560" cy="123120"/>
              </p14:xfrm>
            </p:contentPart>
          </mc:Choice>
          <mc:Fallback xmlns="">
            <p:pic>
              <p:nvPicPr>
                <p:cNvPr id="26" name="Ink 25">
                  <a:extLst>
                    <a:ext uri="{FF2B5EF4-FFF2-40B4-BE49-F238E27FC236}">
                      <a16:creationId xmlns:a16="http://schemas.microsoft.com/office/drawing/2014/main" id="{D5303D9A-01F0-248B-0962-86165AB8D37E}"/>
                    </a:ext>
                  </a:extLst>
                </p:cNvPr>
                <p:cNvPicPr/>
                <p:nvPr/>
              </p:nvPicPr>
              <p:blipFill>
                <a:blip r:embed="rId18"/>
                <a:stretch>
                  <a:fillRect/>
                </a:stretch>
              </p:blipFill>
              <p:spPr>
                <a:xfrm>
                  <a:off x="1566064" y="6209068"/>
                  <a:ext cx="882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7" name="Ink 26">
                  <a:extLst>
                    <a:ext uri="{FF2B5EF4-FFF2-40B4-BE49-F238E27FC236}">
                      <a16:creationId xmlns:a16="http://schemas.microsoft.com/office/drawing/2014/main" id="{DFE8D2C3-7A48-7416-D60C-F714A02A313B}"/>
                    </a:ext>
                  </a:extLst>
                </p14:cNvPr>
                <p14:cNvContentPartPr/>
                <p14:nvPr/>
              </p14:nvContentPartPr>
              <p14:xfrm>
                <a:off x="1686304" y="6239308"/>
                <a:ext cx="97560" cy="52920"/>
              </p14:xfrm>
            </p:contentPart>
          </mc:Choice>
          <mc:Fallback xmlns="">
            <p:pic>
              <p:nvPicPr>
                <p:cNvPr id="27" name="Ink 26">
                  <a:extLst>
                    <a:ext uri="{FF2B5EF4-FFF2-40B4-BE49-F238E27FC236}">
                      <a16:creationId xmlns:a16="http://schemas.microsoft.com/office/drawing/2014/main" id="{DFE8D2C3-7A48-7416-D60C-F714A02A313B}"/>
                    </a:ext>
                  </a:extLst>
                </p:cNvPr>
                <p:cNvPicPr/>
                <p:nvPr/>
              </p:nvPicPr>
              <p:blipFill>
                <a:blip r:embed="rId20"/>
                <a:stretch>
                  <a:fillRect/>
                </a:stretch>
              </p:blipFill>
              <p:spPr>
                <a:xfrm>
                  <a:off x="1677304" y="6230308"/>
                  <a:ext cx="11520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8" name="Ink 27">
                  <a:extLst>
                    <a:ext uri="{FF2B5EF4-FFF2-40B4-BE49-F238E27FC236}">
                      <a16:creationId xmlns:a16="http://schemas.microsoft.com/office/drawing/2014/main" id="{C1925A05-52A3-BBBF-6125-CBFBC941D36D}"/>
                    </a:ext>
                  </a:extLst>
                </p14:cNvPr>
                <p14:cNvContentPartPr/>
                <p14:nvPr/>
              </p14:nvContentPartPr>
              <p14:xfrm>
                <a:off x="1774504" y="5993068"/>
                <a:ext cx="192240" cy="210600"/>
              </p14:xfrm>
            </p:contentPart>
          </mc:Choice>
          <mc:Fallback xmlns="">
            <p:pic>
              <p:nvPicPr>
                <p:cNvPr id="28" name="Ink 27">
                  <a:extLst>
                    <a:ext uri="{FF2B5EF4-FFF2-40B4-BE49-F238E27FC236}">
                      <a16:creationId xmlns:a16="http://schemas.microsoft.com/office/drawing/2014/main" id="{C1925A05-52A3-BBBF-6125-CBFBC941D36D}"/>
                    </a:ext>
                  </a:extLst>
                </p:cNvPr>
                <p:cNvPicPr/>
                <p:nvPr/>
              </p:nvPicPr>
              <p:blipFill>
                <a:blip r:embed="rId22"/>
                <a:stretch>
                  <a:fillRect/>
                </a:stretch>
              </p:blipFill>
              <p:spPr>
                <a:xfrm>
                  <a:off x="1765504" y="5984428"/>
                  <a:ext cx="209880" cy="228240"/>
                </a:xfrm>
                <a:prstGeom prst="rect">
                  <a:avLst/>
                </a:prstGeom>
              </p:spPr>
            </p:pic>
          </mc:Fallback>
        </mc:AlternateContent>
      </p:grpSp>
    </p:spTree>
    <p:extLst>
      <p:ext uri="{BB962C8B-B14F-4D97-AF65-F5344CB8AC3E}">
        <p14:creationId xmlns:p14="http://schemas.microsoft.com/office/powerpoint/2010/main" val="1302042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a:spLocks noGrp="1"/>
          </p:cNvSpPr>
          <p:nvPr>
            <p:ph type="title"/>
          </p:nvPr>
        </p:nvSpPr>
        <p:spPr>
          <a:xfrm>
            <a:off x="647114" y="143744"/>
            <a:ext cx="10846190" cy="857251"/>
          </a:xfrm>
          <a:prstGeom prst="rect">
            <a:avLst/>
          </a:prstGeom>
        </p:spPr>
        <p:txBody>
          <a:bodyPr>
            <a:noAutofit/>
          </a:bodyPr>
          <a:lstStyle/>
          <a:p>
            <a:pPr algn="ctr">
              <a:defRPr sz="1800"/>
            </a:pPr>
            <a:r>
              <a:rPr lang="en-US" sz="3200" dirty="0" err="1">
                <a:latin typeface="Courier New" panose="02070309020205020404" pitchFamily="49" charset="0"/>
                <a:cs typeface="Courier New" panose="02070309020205020404" pitchFamily="49" charset="0"/>
              </a:rPr>
              <a:t>System.out.println</a:t>
            </a:r>
            <a:r>
              <a:rPr lang="en-US" sz="3200" dirty="0">
                <a:latin typeface="Courier New" panose="02070309020205020404" pitchFamily="49" charset="0"/>
                <a:cs typeface="Courier New" panose="02070309020205020404" pitchFamily="49" charset="0"/>
              </a:rPr>
              <a:t>("</a:t>
            </a:r>
            <a:r>
              <a:rPr sz="3200" dirty="0">
                <a:latin typeface="Courier New" panose="02070309020205020404" pitchFamily="49" charset="0"/>
                <a:cs typeface="Courier New" panose="02070309020205020404" pitchFamily="49" charset="0"/>
              </a:rPr>
              <a:t>Welcome to CSSE 220</a:t>
            </a:r>
            <a:r>
              <a:rPr lang="en-US" sz="3200" dirty="0">
                <a:latin typeface="Courier New" panose="02070309020205020404" pitchFamily="49" charset="0"/>
                <a:cs typeface="Courier New" panose="02070309020205020404" pitchFamily="49" charset="0"/>
              </a:rPr>
              <a:t>!");</a:t>
            </a:r>
            <a:endParaRPr sz="320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A2CB8FBC-81DC-50AB-2851-A854FE3976FA}"/>
              </a:ext>
            </a:extLst>
          </p:cNvPr>
          <p:cNvSpPr txBox="1"/>
          <p:nvPr/>
        </p:nvSpPr>
        <p:spPr>
          <a:xfrm>
            <a:off x="647114" y="1138046"/>
            <a:ext cx="10846191" cy="353943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Grandview" panose="020B0502040204020203" pitchFamily="34" charset="0"/>
              </a:rPr>
              <a:t>Sit next to someone</a:t>
            </a:r>
          </a:p>
          <a:p>
            <a:pPr marL="285750" indent="-285750">
              <a:buFont typeface="Arial" panose="020B0604020202020204" pitchFamily="34" charset="0"/>
              <a:buChar char="•"/>
            </a:pPr>
            <a:endParaRPr lang="en-US" sz="2800" dirty="0">
              <a:latin typeface="Grandview" panose="020B0502040204020203" pitchFamily="34" charset="0"/>
            </a:endParaRPr>
          </a:p>
          <a:p>
            <a:pPr marL="285750" indent="-285750">
              <a:buFont typeface="Arial" panose="020B0604020202020204" pitchFamily="34" charset="0"/>
              <a:buChar char="•"/>
            </a:pPr>
            <a:r>
              <a:rPr lang="en-US" sz="2800" dirty="0">
                <a:latin typeface="Grandview" panose="020B0502040204020203" pitchFamily="34" charset="0"/>
              </a:rPr>
              <a:t>Open the syllabus PDF (linked from Moodle) and read pages 1-3 if you haven’t already</a:t>
            </a:r>
          </a:p>
          <a:p>
            <a:pPr marL="285750" indent="-285750">
              <a:buFont typeface="Arial" panose="020B0604020202020204" pitchFamily="34" charset="0"/>
              <a:buChar char="•"/>
            </a:pPr>
            <a:endParaRPr lang="en-US" sz="2800" dirty="0">
              <a:latin typeface="Grandview" panose="020B0502040204020203" pitchFamily="34" charset="0"/>
            </a:endParaRPr>
          </a:p>
          <a:p>
            <a:pPr marL="285750" indent="-285750">
              <a:buFont typeface="Arial" panose="020B0604020202020204" pitchFamily="34" charset="0"/>
              <a:buChar char="•"/>
            </a:pPr>
            <a:r>
              <a:rPr lang="en-US" sz="2800" dirty="0">
                <a:latin typeface="Grandview" panose="020B0502040204020203" pitchFamily="34" charset="0"/>
              </a:rPr>
              <a:t>Open the </a:t>
            </a:r>
            <a:r>
              <a:rPr lang="en-US" sz="2800" dirty="0" err="1">
                <a:latin typeface="Grandview" panose="020B0502040204020203" pitchFamily="34" charset="0"/>
              </a:rPr>
              <a:t>ClassMaterials</a:t>
            </a:r>
            <a:r>
              <a:rPr lang="en-US" sz="2800" dirty="0">
                <a:latin typeface="Grandview" panose="020B0502040204020203" pitchFamily="34" charset="0"/>
              </a:rPr>
              <a:t>/</a:t>
            </a:r>
            <a:r>
              <a:rPr lang="en-US" sz="2800" dirty="0" err="1">
                <a:latin typeface="Grandview" panose="020B0502040204020203" pitchFamily="34" charset="0"/>
              </a:rPr>
              <a:t>JavaIntro</a:t>
            </a:r>
            <a:r>
              <a:rPr lang="en-US" sz="2800" dirty="0">
                <a:latin typeface="Grandview" panose="020B0502040204020203" pitchFamily="34" charset="0"/>
              </a:rPr>
              <a:t> folder in the csse220 git repository that you should have cloned (i.e., copied) locally</a:t>
            </a:r>
          </a:p>
          <a:p>
            <a:pPr marL="285750" indent="-285750">
              <a:buFont typeface="Arial" panose="020B0604020202020204" pitchFamily="34" charset="0"/>
              <a:buChar char="•"/>
            </a:pPr>
            <a:endParaRPr lang="en-US" sz="2800" dirty="0">
              <a:latin typeface="Grandview" panose="020B0502040204020203" pitchFamily="34" charset="0"/>
            </a:endParaRPr>
          </a:p>
        </p:txBody>
      </p:sp>
      <p:pic>
        <p:nvPicPr>
          <p:cNvPr id="8" name="Graphic 7">
            <a:extLst>
              <a:ext uri="{FF2B5EF4-FFF2-40B4-BE49-F238E27FC236}">
                <a16:creationId xmlns:a16="http://schemas.microsoft.com/office/drawing/2014/main" id="{C96EDB61-FF8B-5A98-212A-A36E4417B4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75747" y="4773310"/>
            <a:ext cx="1035115" cy="1893288"/>
          </a:xfrm>
          <a:prstGeom prst="rect">
            <a:avLst/>
          </a:prstGeom>
        </p:spPr>
      </p:pic>
      <p:pic>
        <p:nvPicPr>
          <p:cNvPr id="12" name="Picture 11" descr="A red letter r on a black background&#10;&#10;AI-generated content may be incorrect.">
            <a:extLst>
              <a:ext uri="{FF2B5EF4-FFF2-40B4-BE49-F238E27FC236}">
                <a16:creationId xmlns:a16="http://schemas.microsoft.com/office/drawing/2014/main" id="{FF362833-F787-7C39-435F-B609ECC21645}"/>
              </a:ext>
            </a:extLst>
          </p:cNvPr>
          <p:cNvPicPr>
            <a:picLocks noChangeAspect="1"/>
          </p:cNvPicPr>
          <p:nvPr/>
        </p:nvPicPr>
        <p:blipFill>
          <a:blip r:embed="rId4"/>
          <a:stretch>
            <a:fillRect/>
          </a:stretch>
        </p:blipFill>
        <p:spPr>
          <a:xfrm>
            <a:off x="0" y="4800108"/>
            <a:ext cx="1554483" cy="1914148"/>
          </a:xfrm>
          <a:prstGeom prst="rect">
            <a:avLst/>
          </a:prstGeom>
        </p:spPr>
      </p:pic>
    </p:spTree>
    <p:extLst>
      <p:ext uri="{BB962C8B-B14F-4D97-AF65-F5344CB8AC3E}">
        <p14:creationId xmlns:p14="http://schemas.microsoft.com/office/powerpoint/2010/main" val="1606784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hape 54"/>
          <p:cNvSpPr>
            <a:spLocks noGrp="1"/>
          </p:cNvSpPr>
          <p:nvPr>
            <p:ph type="title"/>
          </p:nvPr>
        </p:nvSpPr>
        <p:spPr>
          <a:xfrm>
            <a:off x="3181350" y="2455071"/>
            <a:ext cx="5829300" cy="1102519"/>
          </a:xfrm>
          <a:prstGeom prst="rect">
            <a:avLst/>
          </a:prstGeom>
        </p:spPr>
        <p:txBody>
          <a:bodyPr/>
          <a:lstStyle/>
          <a:p>
            <a:pPr lvl="0">
              <a:defRPr sz="1800"/>
            </a:pPr>
            <a:r>
              <a:rPr sz="3300"/>
              <a:t>Course Introduction,</a:t>
            </a:r>
            <a:br>
              <a:rPr sz="3300"/>
            </a:br>
            <a:r>
              <a:rPr sz="3300"/>
              <a:t>Starting with Java</a:t>
            </a:r>
          </a:p>
        </p:txBody>
      </p:sp>
      <p:sp>
        <p:nvSpPr>
          <p:cNvPr id="55" name="Shape 55"/>
          <p:cNvSpPr>
            <a:spLocks noGrp="1"/>
          </p:cNvSpPr>
          <p:nvPr>
            <p:ph type="body" idx="1"/>
          </p:nvPr>
        </p:nvSpPr>
        <p:spPr>
          <a:xfrm>
            <a:off x="3695700" y="3771900"/>
            <a:ext cx="4800600" cy="1314450"/>
          </a:xfrm>
          <a:prstGeom prst="rect">
            <a:avLst/>
          </a:prstGeom>
        </p:spPr>
        <p:txBody>
          <a:bodyPr/>
          <a:lstStyle/>
          <a:p>
            <a:pPr defTabSz="651510">
              <a:spcBef>
                <a:spcPts val="375"/>
              </a:spcBef>
              <a:defRPr sz="1800">
                <a:solidFill>
                  <a:srgbClr val="000000"/>
                </a:solidFill>
              </a:defRPr>
            </a:pPr>
            <a:r>
              <a:rPr sz="1710">
                <a:solidFill>
                  <a:srgbClr val="888888"/>
                </a:solidFill>
              </a:rPr>
              <a:t>CSSE 220—Object-Oriented Software Development</a:t>
            </a:r>
          </a:p>
          <a:p>
            <a:pPr defTabSz="651510">
              <a:defRPr sz="1800">
                <a:solidFill>
                  <a:srgbClr val="000000"/>
                </a:solidFill>
              </a:defRPr>
            </a:pPr>
            <a:r>
              <a:rPr sz="2280">
                <a:solidFill>
                  <a:srgbClr val="888888"/>
                </a:solidFill>
              </a:rPr>
              <a:t>Rose-Hulman Institute of Technology</a:t>
            </a:r>
          </a:p>
        </p:txBody>
      </p:sp>
    </p:spTree>
    <p:extLst>
      <p:ext uri="{BB962C8B-B14F-4D97-AF65-F5344CB8AC3E}">
        <p14:creationId xmlns:p14="http://schemas.microsoft.com/office/powerpoint/2010/main" val="795713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Text Placeholder 2"/>
          <p:cNvSpPr>
            <a:spLocks noGrp="1"/>
          </p:cNvSpPr>
          <p:nvPr>
            <p:ph type="body" idx="1"/>
          </p:nvPr>
        </p:nvSpPr>
        <p:spPr/>
        <p:txBody>
          <a:bodyPr vert="horz" lIns="34289" tIns="34290" rIns="34289" bIns="34290" rtlCol="0" anchor="t">
            <a:normAutofit/>
          </a:bodyPr>
          <a:lstStyle/>
          <a:p>
            <a:r>
              <a:rPr lang="en-US" dirty="0"/>
              <a:t>Instructor intro</a:t>
            </a:r>
          </a:p>
          <a:p>
            <a:r>
              <a:rPr lang="en-US" dirty="0"/>
              <a:t>Critical logistics</a:t>
            </a:r>
          </a:p>
          <a:p>
            <a:r>
              <a:rPr lang="en-US" dirty="0"/>
              <a:t>We write some Java code</a:t>
            </a:r>
          </a:p>
          <a:p>
            <a:pPr marL="587693" lvl="1" indent="-244793"/>
            <a:r>
              <a:rPr lang="en-US" dirty="0"/>
              <a:t>Conditionals</a:t>
            </a:r>
          </a:p>
          <a:p>
            <a:pPr marL="587693" lvl="1" indent="-244793"/>
            <a:r>
              <a:rPr lang="en-US" dirty="0"/>
              <a:t>Loops</a:t>
            </a:r>
          </a:p>
          <a:p>
            <a:endParaRPr lang="en-US" dirty="0"/>
          </a:p>
        </p:txBody>
      </p:sp>
    </p:spTree>
    <p:extLst>
      <p:ext uri="{BB962C8B-B14F-4D97-AF65-F5344CB8AC3E}">
        <p14:creationId xmlns:p14="http://schemas.microsoft.com/office/powerpoint/2010/main" val="3228078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randview" panose="020B0502040204020203" pitchFamily="34" charset="0"/>
              </a:rPr>
              <a:t>Goals for this course</a:t>
            </a:r>
          </a:p>
        </p:txBody>
      </p:sp>
      <p:sp>
        <p:nvSpPr>
          <p:cNvPr id="3" name="Text Placeholder 2"/>
          <p:cNvSpPr>
            <a:spLocks noGrp="1"/>
          </p:cNvSpPr>
          <p:nvPr>
            <p:ph type="body" idx="1"/>
          </p:nvPr>
        </p:nvSpPr>
        <p:spPr>
          <a:xfrm>
            <a:off x="838199" y="1825625"/>
            <a:ext cx="11091203" cy="4351338"/>
          </a:xfrm>
        </p:spPr>
        <p:txBody>
          <a:bodyPr>
            <a:normAutofit/>
          </a:bodyPr>
          <a:lstStyle/>
          <a:p>
            <a:r>
              <a:rPr lang="en-US" dirty="0">
                <a:latin typeface="Grandview" panose="020B0502040204020203" pitchFamily="34" charset="0"/>
              </a:rPr>
              <a:t>Move from Python to Java</a:t>
            </a:r>
          </a:p>
          <a:p>
            <a:pPr lvl="1"/>
            <a:r>
              <a:rPr lang="en-US" dirty="0">
                <a:latin typeface="Grandview" panose="020B0502040204020203" pitchFamily="34" charset="0"/>
              </a:rPr>
              <a:t>Lots of little programs in the first few weeks</a:t>
            </a:r>
          </a:p>
          <a:p>
            <a:r>
              <a:rPr lang="en-US" dirty="0">
                <a:latin typeface="Grandview" panose="020B0502040204020203" pitchFamily="34" charset="0"/>
              </a:rPr>
              <a:t>Move from writing functions to writing whole classes from scratch</a:t>
            </a:r>
          </a:p>
          <a:p>
            <a:pPr lvl="1"/>
            <a:r>
              <a:rPr lang="en-US" dirty="0">
                <a:latin typeface="Grandview" panose="020B0502040204020203" pitchFamily="34" charset="0"/>
              </a:rPr>
              <a:t>Learn how to </a:t>
            </a:r>
            <a:r>
              <a:rPr lang="en-US" b="1" i="1" dirty="0">
                <a:latin typeface="Grandview" panose="020B0502040204020203" pitchFamily="34" charset="0"/>
              </a:rPr>
              <a:t>design</a:t>
            </a:r>
            <a:r>
              <a:rPr lang="en-US" dirty="0">
                <a:latin typeface="Grandview" panose="020B0502040204020203" pitchFamily="34" charset="0"/>
              </a:rPr>
              <a:t> programs</a:t>
            </a:r>
          </a:p>
          <a:p>
            <a:r>
              <a:rPr lang="en-US" dirty="0">
                <a:latin typeface="Grandview" panose="020B0502040204020203" pitchFamily="34" charset="0"/>
              </a:rPr>
              <a:t>Break up larger programs into multiple classes</a:t>
            </a:r>
          </a:p>
          <a:p>
            <a:pPr lvl="1"/>
            <a:r>
              <a:rPr lang="en-US" dirty="0">
                <a:latin typeface="Grandview" panose="020B0502040204020203" pitchFamily="34" charset="0"/>
              </a:rPr>
              <a:t>Final project</a:t>
            </a:r>
          </a:p>
          <a:p>
            <a:r>
              <a:rPr lang="en-US" dirty="0">
                <a:latin typeface="Grandview" panose="020B0502040204020203" pitchFamily="34" charset="0"/>
              </a:rPr>
              <a:t>Learn algorithms and data storage</a:t>
            </a:r>
          </a:p>
          <a:p>
            <a:pPr lvl="1"/>
            <a:r>
              <a:rPr lang="en-US" dirty="0">
                <a:latin typeface="Grandview" panose="020B0502040204020203" pitchFamily="34" charset="0"/>
              </a:rPr>
              <a:t>Maps, sorting, mixed patterns, and problem solving</a:t>
            </a:r>
          </a:p>
        </p:txBody>
      </p:sp>
    </p:spTree>
    <p:extLst>
      <p:ext uri="{BB962C8B-B14F-4D97-AF65-F5344CB8AC3E}">
        <p14:creationId xmlns:p14="http://schemas.microsoft.com/office/powerpoint/2010/main" val="3232050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53367-16C3-B25E-B1DE-84702A2D435A}"/>
              </a:ext>
            </a:extLst>
          </p:cNvPr>
          <p:cNvSpPr>
            <a:spLocks noGrp="1"/>
          </p:cNvSpPr>
          <p:nvPr>
            <p:ph type="title"/>
          </p:nvPr>
        </p:nvSpPr>
        <p:spPr>
          <a:xfrm>
            <a:off x="838200" y="365125"/>
            <a:ext cx="10515600" cy="4359343"/>
          </a:xfrm>
        </p:spPr>
        <p:txBody>
          <a:bodyPr>
            <a:normAutofit fontScale="90000"/>
          </a:bodyPr>
          <a:lstStyle/>
          <a:p>
            <a:r>
              <a:rPr lang="en-US" dirty="0"/>
              <a:t>If you didn’t follow emailed instructions yet, </a:t>
            </a:r>
            <a:br>
              <a:rPr lang="en-US" dirty="0"/>
            </a:br>
            <a:r>
              <a:rPr lang="en-US" dirty="0"/>
              <a:t>see the “Getting Started” section on the Moodle page or view the “</a:t>
            </a:r>
            <a:r>
              <a:rPr lang="en-US" dirty="0" err="1"/>
              <a:t>SettingUpEnvironment</a:t>
            </a:r>
            <a:r>
              <a:rPr lang="en-US" dirty="0"/>
              <a:t>” slides: </a:t>
            </a:r>
            <a:br>
              <a:rPr lang="en-US" dirty="0"/>
            </a:br>
            <a:r>
              <a:rPr lang="en-US" dirty="0">
                <a:hlinkClick r:id="rId2"/>
              </a:rPr>
              <a:t>https://github.com/RHIT-CSSE/csse220/tree/master/ClassMaterials/JavaIntro/Slides</a:t>
            </a:r>
            <a:r>
              <a:rPr lang="en-US" dirty="0"/>
              <a:t> </a:t>
            </a:r>
            <a:br>
              <a:rPr lang="en-US" dirty="0"/>
            </a:br>
            <a:endParaRPr lang="en-US" dirty="0"/>
          </a:p>
        </p:txBody>
      </p:sp>
      <p:sp>
        <p:nvSpPr>
          <p:cNvPr id="5" name="Content Placeholder 4">
            <a:extLst>
              <a:ext uri="{FF2B5EF4-FFF2-40B4-BE49-F238E27FC236}">
                <a16:creationId xmlns:a16="http://schemas.microsoft.com/office/drawing/2014/main" id="{E5813C33-4C9A-4D8F-DCB7-0BCD95AA9F9A}"/>
              </a:ext>
            </a:extLst>
          </p:cNvPr>
          <p:cNvSpPr>
            <a:spLocks noGrp="1"/>
          </p:cNvSpPr>
          <p:nvPr>
            <p:ph idx="1"/>
          </p:nvPr>
        </p:nvSpPr>
        <p:spPr>
          <a:xfrm>
            <a:off x="475854" y="4724468"/>
            <a:ext cx="11553713" cy="1014394"/>
          </a:xfrm>
        </p:spPr>
        <p:txBody>
          <a:bodyPr>
            <a:normAutofit fontScale="70000" lnSpcReduction="20000"/>
          </a:bodyPr>
          <a:lstStyle/>
          <a:p>
            <a:pPr marL="0" indent="0">
              <a:buNone/>
            </a:pPr>
            <a:r>
              <a:rPr lang="en-US" sz="5400" dirty="0"/>
              <a:t>This short link might also get you there:</a:t>
            </a:r>
            <a:endParaRPr lang="en-US" sz="5200" dirty="0">
              <a:hlinkClick r:id="rId3"/>
            </a:endParaRPr>
          </a:p>
          <a:p>
            <a:pPr marL="0" indent="0">
              <a:buNone/>
            </a:pPr>
            <a:r>
              <a:rPr lang="en-US" sz="5200" dirty="0">
                <a:hlinkClick r:id="rId3"/>
              </a:rPr>
              <a:t>https://tinyurl.com/csse220setup</a:t>
            </a:r>
            <a:r>
              <a:rPr lang="en-US" sz="5200" dirty="0"/>
              <a:t> </a:t>
            </a:r>
          </a:p>
          <a:p>
            <a:endParaRPr lang="en-US" sz="2400" dirty="0"/>
          </a:p>
        </p:txBody>
      </p:sp>
    </p:spTree>
    <p:extLst>
      <p:ext uri="{BB962C8B-B14F-4D97-AF65-F5344CB8AC3E}">
        <p14:creationId xmlns:p14="http://schemas.microsoft.com/office/powerpoint/2010/main" val="433860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70F68-AD89-C49D-E907-200E2D2866ED}"/>
              </a:ext>
            </a:extLst>
          </p:cNvPr>
          <p:cNvSpPr>
            <a:spLocks noGrp="1"/>
          </p:cNvSpPr>
          <p:nvPr>
            <p:ph type="title"/>
          </p:nvPr>
        </p:nvSpPr>
        <p:spPr/>
        <p:txBody>
          <a:bodyPr/>
          <a:lstStyle/>
          <a:p>
            <a:r>
              <a:rPr lang="en-US" dirty="0">
                <a:latin typeface="Grandview" panose="020B0502040204020203" pitchFamily="34" charset="0"/>
              </a:rPr>
              <a:t>A note on our backgrounds</a:t>
            </a:r>
          </a:p>
        </p:txBody>
      </p:sp>
      <p:sp>
        <p:nvSpPr>
          <p:cNvPr id="3" name="Content Placeholder 2">
            <a:extLst>
              <a:ext uri="{FF2B5EF4-FFF2-40B4-BE49-F238E27FC236}">
                <a16:creationId xmlns:a16="http://schemas.microsoft.com/office/drawing/2014/main" id="{11853294-5337-D177-D6B7-641299DF5CCC}"/>
              </a:ext>
            </a:extLst>
          </p:cNvPr>
          <p:cNvSpPr>
            <a:spLocks noGrp="1"/>
          </p:cNvSpPr>
          <p:nvPr>
            <p:ph idx="1"/>
          </p:nvPr>
        </p:nvSpPr>
        <p:spPr/>
        <p:txBody>
          <a:bodyPr/>
          <a:lstStyle/>
          <a:p>
            <a:r>
              <a:rPr lang="en-US" dirty="0">
                <a:latin typeface="Grandview" panose="020B0502040204020203" pitchFamily="34" charset="0"/>
              </a:rPr>
              <a:t>Some have taken CSSE 120, </a:t>
            </a:r>
            <a:br>
              <a:rPr lang="en-US" dirty="0">
                <a:latin typeface="Grandview" panose="020B0502040204020203" pitchFamily="34" charset="0"/>
              </a:rPr>
            </a:br>
            <a:r>
              <a:rPr lang="en-US" dirty="0">
                <a:latin typeface="Grandview" panose="020B0502040204020203" pitchFamily="34" charset="0"/>
              </a:rPr>
              <a:t>some have not</a:t>
            </a:r>
          </a:p>
          <a:p>
            <a:r>
              <a:rPr lang="en-US" dirty="0">
                <a:latin typeface="Grandview" panose="020B0502040204020203" pitchFamily="34" charset="0"/>
              </a:rPr>
              <a:t>Some have written Java code before, </a:t>
            </a:r>
            <a:br>
              <a:rPr lang="en-US" dirty="0">
                <a:latin typeface="Grandview" panose="020B0502040204020203" pitchFamily="34" charset="0"/>
              </a:rPr>
            </a:br>
            <a:r>
              <a:rPr lang="en-US" dirty="0">
                <a:latin typeface="Grandview" panose="020B0502040204020203" pitchFamily="34" charset="0"/>
              </a:rPr>
              <a:t>some have not</a:t>
            </a:r>
          </a:p>
          <a:p>
            <a:r>
              <a:rPr lang="en-US" dirty="0">
                <a:latin typeface="Grandview" panose="020B0502040204020203" pitchFamily="34" charset="0"/>
              </a:rPr>
              <a:t>Some have been Rose-Hulman </a:t>
            </a:r>
            <a:br>
              <a:rPr lang="en-US" dirty="0">
                <a:latin typeface="Grandview" panose="020B0502040204020203" pitchFamily="34" charset="0"/>
              </a:rPr>
            </a:br>
            <a:r>
              <a:rPr lang="en-US" dirty="0">
                <a:latin typeface="Grandview" panose="020B0502040204020203" pitchFamily="34" charset="0"/>
              </a:rPr>
              <a:t>students for years, </a:t>
            </a:r>
            <a:br>
              <a:rPr lang="en-US" dirty="0">
                <a:latin typeface="Grandview" panose="020B0502040204020203" pitchFamily="34" charset="0"/>
              </a:rPr>
            </a:br>
            <a:r>
              <a:rPr lang="en-US" dirty="0">
                <a:latin typeface="Grandview" panose="020B0502040204020203" pitchFamily="34" charset="0"/>
              </a:rPr>
              <a:t>some for a day</a:t>
            </a:r>
          </a:p>
          <a:p>
            <a:r>
              <a:rPr lang="en-US" dirty="0">
                <a:latin typeface="Grandview" panose="020B0502040204020203" pitchFamily="34" charset="0"/>
              </a:rPr>
              <a:t>But everyone is prepared to succeed </a:t>
            </a:r>
            <a:br>
              <a:rPr lang="en-US" dirty="0">
                <a:latin typeface="Grandview" panose="020B0502040204020203" pitchFamily="34" charset="0"/>
              </a:rPr>
            </a:br>
            <a:r>
              <a:rPr lang="en-US" dirty="0">
                <a:latin typeface="Grandview" panose="020B0502040204020203" pitchFamily="34" charset="0"/>
              </a:rPr>
              <a:t>in this course, and I expect: </a:t>
            </a:r>
          </a:p>
        </p:txBody>
      </p:sp>
      <p:sp>
        <p:nvSpPr>
          <p:cNvPr id="4" name="Isosceles Triangle 3">
            <a:extLst>
              <a:ext uri="{FF2B5EF4-FFF2-40B4-BE49-F238E27FC236}">
                <a16:creationId xmlns:a16="http://schemas.microsoft.com/office/drawing/2014/main" id="{D4466553-453D-ABC8-0D27-28691F0BBD75}"/>
              </a:ext>
            </a:extLst>
          </p:cNvPr>
          <p:cNvSpPr/>
          <p:nvPr/>
        </p:nvSpPr>
        <p:spPr>
          <a:xfrm>
            <a:off x="7613047" y="1122218"/>
            <a:ext cx="4367671" cy="5188747"/>
          </a:xfrm>
          <a:prstGeom prst="triangle">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Montserrat" pitchFamily="2" charset="0"/>
            </a:endParaRPr>
          </a:p>
          <a:p>
            <a:pPr algn="ctr"/>
            <a:endParaRPr lang="en-US" sz="2400" dirty="0">
              <a:latin typeface="Montserrat" pitchFamily="2" charset="0"/>
            </a:endParaRPr>
          </a:p>
          <a:p>
            <a:pPr algn="ctr"/>
            <a:endParaRPr lang="en-US" sz="2400" dirty="0">
              <a:latin typeface="Montserrat" pitchFamily="2" charset="0"/>
            </a:endParaRPr>
          </a:p>
          <a:p>
            <a:pPr algn="ctr"/>
            <a:endParaRPr lang="en-US" sz="2400" dirty="0">
              <a:latin typeface="Montserrat" pitchFamily="2" charset="0"/>
            </a:endParaRPr>
          </a:p>
          <a:p>
            <a:pPr algn="ctr"/>
            <a:endParaRPr lang="en-US" sz="2400" dirty="0">
              <a:latin typeface="Montserrat" pitchFamily="2" charset="0"/>
            </a:endParaRPr>
          </a:p>
          <a:p>
            <a:pPr algn="ctr"/>
            <a:r>
              <a:rPr lang="en-US" sz="2400" b="1" dirty="0">
                <a:latin typeface="Montserrat" pitchFamily="2" charset="0"/>
              </a:rPr>
              <a:t>RESPECT</a:t>
            </a:r>
          </a:p>
        </p:txBody>
      </p:sp>
      <p:sp>
        <p:nvSpPr>
          <p:cNvPr id="5" name="Isosceles Triangle 4">
            <a:extLst>
              <a:ext uri="{FF2B5EF4-FFF2-40B4-BE49-F238E27FC236}">
                <a16:creationId xmlns:a16="http://schemas.microsoft.com/office/drawing/2014/main" id="{38CAC9C1-8C77-4158-83D8-5BF822D50460}"/>
              </a:ext>
            </a:extLst>
          </p:cNvPr>
          <p:cNvSpPr/>
          <p:nvPr/>
        </p:nvSpPr>
        <p:spPr>
          <a:xfrm>
            <a:off x="7827773" y="1148761"/>
            <a:ext cx="3955517" cy="4587021"/>
          </a:xfrm>
          <a:prstGeom prst="triangl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Montserrat" pitchFamily="2" charset="0"/>
            </a:endParaRPr>
          </a:p>
          <a:p>
            <a:pPr algn="ctr"/>
            <a:endParaRPr lang="en-US" sz="2400" dirty="0">
              <a:latin typeface="Montserrat" pitchFamily="2" charset="0"/>
            </a:endParaRPr>
          </a:p>
          <a:p>
            <a:pPr algn="ctr"/>
            <a:endParaRPr lang="en-US" sz="2400" dirty="0">
              <a:latin typeface="Montserrat" pitchFamily="2" charset="0"/>
            </a:endParaRPr>
          </a:p>
          <a:p>
            <a:pPr algn="ctr"/>
            <a:endParaRPr lang="en-US" sz="2400" dirty="0">
              <a:latin typeface="Montserrat" pitchFamily="2" charset="0"/>
            </a:endParaRPr>
          </a:p>
        </p:txBody>
      </p:sp>
      <p:sp>
        <p:nvSpPr>
          <p:cNvPr id="6" name="TextBox 5">
            <a:extLst>
              <a:ext uri="{FF2B5EF4-FFF2-40B4-BE49-F238E27FC236}">
                <a16:creationId xmlns:a16="http://schemas.microsoft.com/office/drawing/2014/main" id="{5644754E-0FBE-0FF9-8D39-113527B8CBEB}"/>
              </a:ext>
            </a:extLst>
          </p:cNvPr>
          <p:cNvSpPr txBox="1"/>
          <p:nvPr/>
        </p:nvSpPr>
        <p:spPr>
          <a:xfrm>
            <a:off x="6749847" y="5140709"/>
            <a:ext cx="609407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Montserrat" pitchFamily="2" charset="0"/>
                <a:ea typeface="+mn-ea"/>
                <a:cs typeface="+mn-cs"/>
              </a:rPr>
              <a:t>ENGAGEMENT</a:t>
            </a:r>
          </a:p>
        </p:txBody>
      </p:sp>
      <p:sp>
        <p:nvSpPr>
          <p:cNvPr id="7" name="Isosceles Triangle 6">
            <a:extLst>
              <a:ext uri="{FF2B5EF4-FFF2-40B4-BE49-F238E27FC236}">
                <a16:creationId xmlns:a16="http://schemas.microsoft.com/office/drawing/2014/main" id="{B819FC91-CA0C-39C1-2163-9EF89ED67C13}"/>
              </a:ext>
            </a:extLst>
          </p:cNvPr>
          <p:cNvSpPr/>
          <p:nvPr/>
        </p:nvSpPr>
        <p:spPr>
          <a:xfrm>
            <a:off x="8146472" y="1122218"/>
            <a:ext cx="3345719" cy="3885084"/>
          </a:xfrm>
          <a:prstGeom prst="triangl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Montserrat" pitchFamily="2" charset="0"/>
            </a:endParaRPr>
          </a:p>
          <a:p>
            <a:pPr algn="ctr"/>
            <a:endParaRPr lang="en-US" sz="2400" dirty="0">
              <a:latin typeface="Montserrat" pitchFamily="2" charset="0"/>
            </a:endParaRPr>
          </a:p>
          <a:p>
            <a:pPr algn="ctr"/>
            <a:endParaRPr lang="en-US" sz="2400" dirty="0">
              <a:latin typeface="Montserrat" pitchFamily="2" charset="0"/>
            </a:endParaRPr>
          </a:p>
          <a:p>
            <a:pPr algn="ctr"/>
            <a:endParaRPr lang="en-US" sz="2400" dirty="0">
              <a:latin typeface="Montserrat" pitchFamily="2" charset="0"/>
            </a:endParaRPr>
          </a:p>
        </p:txBody>
      </p:sp>
      <p:sp>
        <p:nvSpPr>
          <p:cNvPr id="8" name="TextBox 7">
            <a:extLst>
              <a:ext uri="{FF2B5EF4-FFF2-40B4-BE49-F238E27FC236}">
                <a16:creationId xmlns:a16="http://schemas.microsoft.com/office/drawing/2014/main" id="{7CBBCED0-F02D-5B86-43B6-6A819FE8EF64}"/>
              </a:ext>
            </a:extLst>
          </p:cNvPr>
          <p:cNvSpPr txBox="1"/>
          <p:nvPr/>
        </p:nvSpPr>
        <p:spPr>
          <a:xfrm>
            <a:off x="6749847" y="4151217"/>
            <a:ext cx="609407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Montserrat" pitchFamily="2" charset="0"/>
                <a:ea typeface="+mn-ea"/>
                <a:cs typeface="+mn-cs"/>
              </a:rPr>
              <a:t>JOYFUL</a:t>
            </a:r>
            <a:br>
              <a:rPr kumimoji="0" lang="en-US" sz="2400" b="1" i="0" u="none" strike="noStrike" kern="1200" cap="none" spc="0" normalizeH="0" baseline="0" noProof="0" dirty="0">
                <a:ln>
                  <a:noFill/>
                </a:ln>
                <a:solidFill>
                  <a:prstClr val="white"/>
                </a:solidFill>
                <a:effectLst/>
                <a:uLnTx/>
                <a:uFillTx/>
                <a:latin typeface="Montserrat" pitchFamily="2" charset="0"/>
                <a:ea typeface="+mn-ea"/>
                <a:cs typeface="+mn-cs"/>
              </a:rPr>
            </a:br>
            <a:r>
              <a:rPr kumimoji="0" lang="en-US" sz="2400" b="1" i="0" u="none" strike="noStrike" kern="1200" cap="none" spc="0" normalizeH="0" baseline="0" noProof="0" dirty="0">
                <a:ln>
                  <a:noFill/>
                </a:ln>
                <a:solidFill>
                  <a:prstClr val="white"/>
                </a:solidFill>
                <a:effectLst/>
                <a:uLnTx/>
                <a:uFillTx/>
                <a:latin typeface="Montserrat" pitchFamily="2" charset="0"/>
                <a:ea typeface="+mn-ea"/>
                <a:cs typeface="+mn-cs"/>
              </a:rPr>
              <a:t>EXPLORATION</a:t>
            </a:r>
          </a:p>
        </p:txBody>
      </p:sp>
    </p:spTree>
    <p:extLst>
      <p:ext uri="{BB962C8B-B14F-4D97-AF65-F5344CB8AC3E}">
        <p14:creationId xmlns:p14="http://schemas.microsoft.com/office/powerpoint/2010/main" val="138327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139"/>
        <p:cNvGrpSpPr/>
        <p:nvPr/>
      </p:nvGrpSpPr>
      <p:grpSpPr>
        <a:xfrm>
          <a:off x="0" y="0"/>
          <a:ext cx="0" cy="0"/>
          <a:chOff x="0" y="0"/>
          <a:chExt cx="0" cy="0"/>
        </a:xfrm>
      </p:grpSpPr>
      <p:pic>
        <p:nvPicPr>
          <p:cNvPr id="2" name="Picture 1">
            <a:extLst>
              <a:ext uri="{FF2B5EF4-FFF2-40B4-BE49-F238E27FC236}">
                <a16:creationId xmlns:a16="http://schemas.microsoft.com/office/drawing/2014/main" id="{66CE3D4F-82A0-7F50-FC53-697AB2AC2AE6}"/>
              </a:ext>
            </a:extLst>
          </p:cNvPr>
          <p:cNvPicPr>
            <a:picLocks noChangeAspect="1"/>
          </p:cNvPicPr>
          <p:nvPr/>
        </p:nvPicPr>
        <p:blipFill>
          <a:blip r:embed="rId3"/>
          <a:stretch>
            <a:fillRect/>
          </a:stretch>
        </p:blipFill>
        <p:spPr>
          <a:xfrm>
            <a:off x="1535261" y="2125600"/>
            <a:ext cx="2871465" cy="4029805"/>
          </a:xfrm>
          <a:prstGeom prst="rect">
            <a:avLst/>
          </a:prstGeom>
        </p:spPr>
      </p:pic>
      <p:pic>
        <p:nvPicPr>
          <p:cNvPr id="3" name="Picture 2">
            <a:extLst>
              <a:ext uri="{FF2B5EF4-FFF2-40B4-BE49-F238E27FC236}">
                <a16:creationId xmlns:a16="http://schemas.microsoft.com/office/drawing/2014/main" id="{E7604838-5C1D-CAD5-7263-2CFE995ABC32}"/>
              </a:ext>
            </a:extLst>
          </p:cNvPr>
          <p:cNvPicPr>
            <a:picLocks noChangeAspect="1"/>
          </p:cNvPicPr>
          <p:nvPr/>
        </p:nvPicPr>
        <p:blipFill>
          <a:blip r:embed="rId4"/>
          <a:stretch>
            <a:fillRect/>
          </a:stretch>
        </p:blipFill>
        <p:spPr>
          <a:xfrm>
            <a:off x="7352138" y="3277844"/>
            <a:ext cx="4328535" cy="2877561"/>
          </a:xfrm>
          <a:prstGeom prst="rect">
            <a:avLst/>
          </a:prstGeom>
        </p:spPr>
      </p:pic>
      <p:sp>
        <p:nvSpPr>
          <p:cNvPr id="4" name="Title 1">
            <a:extLst>
              <a:ext uri="{FF2B5EF4-FFF2-40B4-BE49-F238E27FC236}">
                <a16:creationId xmlns:a16="http://schemas.microsoft.com/office/drawing/2014/main" id="{D5927EF3-F66A-14B1-D400-698603AD5457}"/>
              </a:ext>
            </a:extLst>
          </p:cNvPr>
          <p:cNvSpPr txBox="1">
            <a:spLocks/>
          </p:cNvSpPr>
          <p:nvPr/>
        </p:nvSpPr>
        <p:spPr>
          <a:xfrm>
            <a:off x="419100" y="365125"/>
            <a:ext cx="113538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Grandview" panose="020B0502040204020203" pitchFamily="34" charset="0"/>
              </a:rPr>
              <a:t>How we visualize learning has changed over time</a:t>
            </a:r>
          </a:p>
        </p:txBody>
      </p:sp>
    </p:spTree>
    <p:extLst>
      <p:ext uri="{BB962C8B-B14F-4D97-AF65-F5344CB8AC3E}">
        <p14:creationId xmlns:p14="http://schemas.microsoft.com/office/powerpoint/2010/main" val="259742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randview" panose="020B0502040204020203" pitchFamily="34" charset="0"/>
              </a:rPr>
              <a:t>Instructor Info</a:t>
            </a:r>
          </a:p>
        </p:txBody>
      </p:sp>
      <p:sp>
        <p:nvSpPr>
          <p:cNvPr id="3" name="Text Placeholder 2"/>
          <p:cNvSpPr>
            <a:spLocks noGrp="1"/>
          </p:cNvSpPr>
          <p:nvPr>
            <p:ph type="body" idx="1"/>
          </p:nvPr>
        </p:nvSpPr>
        <p:spPr>
          <a:xfrm>
            <a:off x="41563" y="1538736"/>
            <a:ext cx="10027227" cy="4721225"/>
          </a:xfrm>
        </p:spPr>
        <p:txBody>
          <a:bodyPr>
            <a:normAutofit/>
          </a:bodyPr>
          <a:lstStyle/>
          <a:p>
            <a:pPr marL="0" indent="0">
              <a:buNone/>
            </a:pPr>
            <a:r>
              <a:rPr lang="en-US" sz="2400" dirty="0">
                <a:latin typeface="Grandview" panose="020B0502040204020203" pitchFamily="34" charset="0"/>
              </a:rPr>
              <a:t>Ian Ludden</a:t>
            </a:r>
          </a:p>
          <a:p>
            <a:r>
              <a:rPr lang="en-US" sz="2400" dirty="0">
                <a:latin typeface="Grandview" panose="020B0502040204020203" pitchFamily="34" charset="0"/>
              </a:rPr>
              <a:t>Feel free to call me:</a:t>
            </a:r>
          </a:p>
          <a:p>
            <a:pPr lvl="1"/>
            <a:r>
              <a:rPr lang="en-US" sz="2000" dirty="0">
                <a:latin typeface="Grandview" panose="020B0502040204020203" pitchFamily="34" charset="0"/>
              </a:rPr>
              <a:t>Ian, Professor/Dr. Ludden, or Professor/Dr. Ian</a:t>
            </a:r>
          </a:p>
          <a:p>
            <a:r>
              <a:rPr lang="en-US" sz="2400" dirty="0">
                <a:latin typeface="Grandview" panose="020B0502040204020203" pitchFamily="34" charset="0"/>
              </a:rPr>
              <a:t>Originally from Tampa, Florida </a:t>
            </a:r>
            <a:br>
              <a:rPr lang="en-US" sz="2400" dirty="0">
                <a:latin typeface="Grandview" panose="020B0502040204020203" pitchFamily="34" charset="0"/>
              </a:rPr>
            </a:br>
            <a:r>
              <a:rPr lang="en-US" sz="2400" dirty="0">
                <a:latin typeface="Grandview" panose="020B0502040204020203" pitchFamily="34" charset="0"/>
              </a:rPr>
              <a:t>(grateful the Midwest has seasons)</a:t>
            </a:r>
          </a:p>
          <a:p>
            <a:r>
              <a:rPr lang="en-US" sz="2400" dirty="0">
                <a:latin typeface="Grandview" panose="020B0502040204020203" pitchFamily="34" charset="0"/>
              </a:rPr>
              <a:t>B.S. in CPE/MA from Rose-Hulman, Fall 2016</a:t>
            </a:r>
          </a:p>
          <a:p>
            <a:r>
              <a:rPr lang="en-US" sz="2400" dirty="0">
                <a:latin typeface="Grandview" panose="020B0502040204020203" pitchFamily="34" charset="0"/>
              </a:rPr>
              <a:t>Ph.D. in CS from UIUC in 2023</a:t>
            </a:r>
          </a:p>
          <a:p>
            <a:r>
              <a:rPr lang="en-US" sz="2400" dirty="0">
                <a:latin typeface="Grandview" panose="020B0502040204020203" pitchFamily="34" charset="0"/>
              </a:rPr>
              <a:t>Industry experience: FitzMark (Indy), Garmin (KC), </a:t>
            </a:r>
            <a:br>
              <a:rPr lang="en-US" sz="2400" dirty="0">
                <a:latin typeface="Grandview" panose="020B0502040204020203" pitchFamily="34" charset="0"/>
              </a:rPr>
            </a:br>
            <a:r>
              <a:rPr lang="en-US" sz="2400" dirty="0">
                <a:latin typeface="Grandview" panose="020B0502040204020203" pitchFamily="34" charset="0"/>
              </a:rPr>
              <a:t>LGS (Tampa), PilotFish (Tampa)</a:t>
            </a:r>
          </a:p>
          <a:p>
            <a:pPr lvl="1"/>
            <a:r>
              <a:rPr lang="en-US" sz="2000" dirty="0">
                <a:latin typeface="Grandview" panose="020B0502040204020203" pitchFamily="34" charset="0"/>
              </a:rPr>
              <a:t>Wrote lots of Java code at </a:t>
            </a:r>
            <a:r>
              <a:rPr lang="en-US" sz="2000" dirty="0" err="1">
                <a:latin typeface="Grandview" panose="020B0502040204020203" pitchFamily="34" charset="0"/>
              </a:rPr>
              <a:t>PilotFish</a:t>
            </a:r>
            <a:r>
              <a:rPr lang="en-US" sz="2000" dirty="0">
                <a:latin typeface="Grandview" panose="020B0502040204020203" pitchFamily="34" charset="0"/>
              </a:rPr>
              <a:t>! </a:t>
            </a:r>
          </a:p>
        </p:txBody>
      </p:sp>
      <p:pic>
        <p:nvPicPr>
          <p:cNvPr id="5" name="Picture 4">
            <a:extLst>
              <a:ext uri="{FF2B5EF4-FFF2-40B4-BE49-F238E27FC236}">
                <a16:creationId xmlns:a16="http://schemas.microsoft.com/office/drawing/2014/main" id="{3C3C2DEA-FDC8-4992-99CD-DD7957A72A34}"/>
              </a:ext>
            </a:extLst>
          </p:cNvPr>
          <p:cNvPicPr>
            <a:picLocks noChangeAspect="1"/>
          </p:cNvPicPr>
          <p:nvPr/>
        </p:nvPicPr>
        <p:blipFill>
          <a:blip r:embed="rId3"/>
          <a:stretch>
            <a:fillRect/>
          </a:stretch>
        </p:blipFill>
        <p:spPr>
          <a:xfrm>
            <a:off x="7836286" y="135082"/>
            <a:ext cx="4165213" cy="6587836"/>
          </a:xfrm>
          <a:prstGeom prst="rect">
            <a:avLst/>
          </a:prstGeom>
        </p:spPr>
      </p:pic>
    </p:spTree>
    <p:extLst>
      <p:ext uri="{BB962C8B-B14F-4D97-AF65-F5344CB8AC3E}">
        <p14:creationId xmlns:p14="http://schemas.microsoft.com/office/powerpoint/2010/main" val="167995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descr="A person and person taking a selfie in front of a sign&#10;&#10;Description automatically generated">
            <a:extLst>
              <a:ext uri="{FF2B5EF4-FFF2-40B4-BE49-F238E27FC236}">
                <a16:creationId xmlns:a16="http://schemas.microsoft.com/office/drawing/2014/main" id="{1D4AD7BF-6B3C-1DF8-AB08-48615EAB5DFE}"/>
              </a:ext>
            </a:extLst>
          </p:cNvPr>
          <p:cNvPicPr>
            <a:picLocks noChangeAspect="1"/>
          </p:cNvPicPr>
          <p:nvPr/>
        </p:nvPicPr>
        <p:blipFill>
          <a:blip r:embed="rId2">
            <a:extLst>
              <a:ext uri="{28A0092B-C50C-407E-A947-70E740481C1C}">
                <a14:useLocalDpi xmlns:a14="http://schemas.microsoft.com/office/drawing/2010/main" val="0"/>
              </a:ext>
            </a:extLst>
          </a:blip>
          <a:srcRect l="-285" t="15378" r="372" b="16205"/>
          <a:stretch>
            <a:fillRect/>
          </a:stretch>
        </p:blipFill>
        <p:spPr>
          <a:xfrm>
            <a:off x="191084" y="142880"/>
            <a:ext cx="7805559" cy="4022151"/>
          </a:xfrm>
          <a:prstGeom prst="rect">
            <a:avLst/>
          </a:prstGeom>
        </p:spPr>
      </p:pic>
      <p:pic>
        <p:nvPicPr>
          <p:cNvPr id="4" name="Picture 3" descr="A person running with numbers on his shirt&#10;&#10;Description automatically generated">
            <a:extLst>
              <a:ext uri="{FF2B5EF4-FFF2-40B4-BE49-F238E27FC236}">
                <a16:creationId xmlns:a16="http://schemas.microsoft.com/office/drawing/2014/main" id="{E24BEEF9-8BAD-BEC6-8063-ACB3F4F74588}"/>
              </a:ext>
            </a:extLst>
          </p:cNvPr>
          <p:cNvPicPr>
            <a:picLocks noChangeAspect="1"/>
          </p:cNvPicPr>
          <p:nvPr/>
        </p:nvPicPr>
        <p:blipFill>
          <a:blip r:embed="rId3">
            <a:extLst>
              <a:ext uri="{28A0092B-C50C-407E-A947-70E740481C1C}">
                <a14:useLocalDpi xmlns:a14="http://schemas.microsoft.com/office/drawing/2010/main" val="0"/>
              </a:ext>
            </a:extLst>
          </a:blip>
          <a:srcRect r="2" b="19113"/>
          <a:stretch>
            <a:fillRect/>
          </a:stretch>
        </p:blipFill>
        <p:spPr>
          <a:xfrm>
            <a:off x="8195999" y="169254"/>
            <a:ext cx="3826711" cy="2066161"/>
          </a:xfrm>
          <a:prstGeom prst="rect">
            <a:avLst/>
          </a:prstGeom>
        </p:spPr>
      </p:pic>
      <p:pic>
        <p:nvPicPr>
          <p:cNvPr id="3" name="Picture 2" descr="A person and person posing with a snowman&#10;&#10;AI-generated content may be incorrect.">
            <a:extLst>
              <a:ext uri="{FF2B5EF4-FFF2-40B4-BE49-F238E27FC236}">
                <a16:creationId xmlns:a16="http://schemas.microsoft.com/office/drawing/2014/main" id="{5573D4E6-CE65-7DCF-E683-ED8A032ACF42}"/>
              </a:ext>
            </a:extLst>
          </p:cNvPr>
          <p:cNvPicPr>
            <a:picLocks noChangeAspect="1"/>
          </p:cNvPicPr>
          <p:nvPr/>
        </p:nvPicPr>
        <p:blipFill>
          <a:blip r:embed="rId4">
            <a:extLst>
              <a:ext uri="{28A0092B-C50C-407E-A947-70E740481C1C}">
                <a14:useLocalDpi xmlns:a14="http://schemas.microsoft.com/office/drawing/2010/main" val="0"/>
              </a:ext>
            </a:extLst>
          </a:blip>
          <a:srcRect t="4527" r="2" b="8444"/>
          <a:stretch>
            <a:fillRect/>
          </a:stretch>
        </p:blipFill>
        <p:spPr>
          <a:xfrm>
            <a:off x="191087" y="4257676"/>
            <a:ext cx="3808694" cy="2494353"/>
          </a:xfrm>
          <a:prstGeom prst="rect">
            <a:avLst/>
          </a:prstGeom>
        </p:spPr>
      </p:pic>
      <p:pic>
        <p:nvPicPr>
          <p:cNvPr id="9" name="Picture 8" descr="A person and person holding a mug&#10;&#10;Description automatically generated">
            <a:extLst>
              <a:ext uri="{FF2B5EF4-FFF2-40B4-BE49-F238E27FC236}">
                <a16:creationId xmlns:a16="http://schemas.microsoft.com/office/drawing/2014/main" id="{D01B151F-8986-3A43-DC44-43101119FE75}"/>
              </a:ext>
            </a:extLst>
          </p:cNvPr>
          <p:cNvPicPr>
            <a:picLocks noChangeAspect="1"/>
          </p:cNvPicPr>
          <p:nvPr/>
        </p:nvPicPr>
        <p:blipFill rotWithShape="1">
          <a:blip r:embed="rId5">
            <a:extLst>
              <a:ext uri="{28A0092B-C50C-407E-A947-70E740481C1C}">
                <a14:useLocalDpi xmlns:a14="http://schemas.microsoft.com/office/drawing/2010/main" val="0"/>
              </a:ext>
            </a:extLst>
          </a:blip>
          <a:srcRect t="11448" b="39805"/>
          <a:stretch>
            <a:fillRect/>
          </a:stretch>
        </p:blipFill>
        <p:spPr>
          <a:xfrm>
            <a:off x="4185626" y="4257676"/>
            <a:ext cx="3814183" cy="2479102"/>
          </a:xfrm>
          <a:prstGeom prst="rect">
            <a:avLst/>
          </a:prstGeom>
        </p:spPr>
      </p:pic>
      <p:pic>
        <p:nvPicPr>
          <p:cNvPr id="12" name="Picture 11" descr="A person playing chess on a table&#10;&#10;AI-generated content may be incorrect.">
            <a:extLst>
              <a:ext uri="{FF2B5EF4-FFF2-40B4-BE49-F238E27FC236}">
                <a16:creationId xmlns:a16="http://schemas.microsoft.com/office/drawing/2014/main" id="{FEF0AF4F-CBF4-AA02-03EE-BE002C3D5DEF}"/>
              </a:ext>
            </a:extLst>
          </p:cNvPr>
          <p:cNvPicPr>
            <a:picLocks noChangeAspect="1"/>
          </p:cNvPicPr>
          <p:nvPr/>
        </p:nvPicPr>
        <p:blipFill>
          <a:blip r:embed="rId6">
            <a:extLst>
              <a:ext uri="{28A0092B-C50C-407E-A947-70E740481C1C}">
                <a14:useLocalDpi xmlns:a14="http://schemas.microsoft.com/office/drawing/2010/main" val="0"/>
              </a:ext>
            </a:extLst>
          </a:blip>
          <a:srcRect t="6087" r="2" b="21710"/>
          <a:stretch>
            <a:fillRect/>
          </a:stretch>
        </p:blipFill>
        <p:spPr>
          <a:xfrm>
            <a:off x="8179442" y="2391883"/>
            <a:ext cx="3826711" cy="2072296"/>
          </a:xfrm>
          <a:prstGeom prst="rect">
            <a:avLst/>
          </a:prstGeom>
        </p:spPr>
      </p:pic>
      <p:pic>
        <p:nvPicPr>
          <p:cNvPr id="10" name="Picture 9" descr="A pair of feet on a rocky cliff overlooking a body of water&#10;&#10;AI-generated content may be incorrect.">
            <a:extLst>
              <a:ext uri="{FF2B5EF4-FFF2-40B4-BE49-F238E27FC236}">
                <a16:creationId xmlns:a16="http://schemas.microsoft.com/office/drawing/2014/main" id="{617131B7-A8FC-2DB5-EB5B-DFA7528492A0}"/>
              </a:ext>
            </a:extLst>
          </p:cNvPr>
          <p:cNvPicPr>
            <a:picLocks noChangeAspect="1"/>
          </p:cNvPicPr>
          <p:nvPr/>
        </p:nvPicPr>
        <p:blipFill>
          <a:blip r:embed="rId7">
            <a:extLst>
              <a:ext uri="{28A0092B-C50C-407E-A947-70E740481C1C}">
                <a14:useLocalDpi xmlns:a14="http://schemas.microsoft.com/office/drawing/2010/main" val="0"/>
              </a:ext>
            </a:extLst>
          </a:blip>
          <a:srcRect t="20722" r="2" b="7263"/>
          <a:stretch>
            <a:fillRect/>
          </a:stretch>
        </p:blipFill>
        <p:spPr>
          <a:xfrm>
            <a:off x="8193994" y="4620643"/>
            <a:ext cx="3826711" cy="2066908"/>
          </a:xfrm>
          <a:prstGeom prst="rect">
            <a:avLst/>
          </a:prstGeom>
        </p:spPr>
      </p:pic>
    </p:spTree>
    <p:extLst>
      <p:ext uri="{BB962C8B-B14F-4D97-AF65-F5344CB8AC3E}">
        <p14:creationId xmlns:p14="http://schemas.microsoft.com/office/powerpoint/2010/main" val="1657587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randview" panose="020B0502040204020203" pitchFamily="34" charset="0"/>
              </a:rPr>
              <a:t>Instructor Info</a:t>
            </a:r>
          </a:p>
        </p:txBody>
      </p:sp>
      <p:sp>
        <p:nvSpPr>
          <p:cNvPr id="3" name="Text Placeholder 2"/>
          <p:cNvSpPr>
            <a:spLocks noGrp="1"/>
          </p:cNvSpPr>
          <p:nvPr>
            <p:ph type="body" idx="1"/>
          </p:nvPr>
        </p:nvSpPr>
        <p:spPr>
          <a:xfrm>
            <a:off x="661182" y="1407943"/>
            <a:ext cx="10817308" cy="5470524"/>
          </a:xfrm>
        </p:spPr>
        <p:txBody>
          <a:bodyPr>
            <a:normAutofit/>
          </a:bodyPr>
          <a:lstStyle/>
          <a:p>
            <a:r>
              <a:rPr lang="en-US" dirty="0">
                <a:latin typeface="Grandview" panose="020B0502040204020203" pitchFamily="34" charset="0"/>
              </a:rPr>
              <a:t>More about me</a:t>
            </a:r>
          </a:p>
          <a:p>
            <a:r>
              <a:rPr lang="en-US" dirty="0">
                <a:latin typeface="Grandview" panose="020B0502040204020203" pitchFamily="34" charset="0"/>
              </a:rPr>
              <a:t>When I was a student here: </a:t>
            </a:r>
          </a:p>
          <a:p>
            <a:pPr lvl="1"/>
            <a:r>
              <a:rPr lang="en-US" dirty="0">
                <a:latin typeface="Grandview" panose="020B0502040204020203" pitchFamily="34" charset="0"/>
              </a:rPr>
              <a:t>Cross Country, Engineers Without Borders, symphony orchestra, musicals, improv club, St. Joseph’s University Ministry</a:t>
            </a:r>
          </a:p>
          <a:p>
            <a:pPr lvl="1"/>
            <a:r>
              <a:rPr lang="en-US" dirty="0">
                <a:latin typeface="Grandview" panose="020B0502040204020203" pitchFamily="34" charset="0"/>
              </a:rPr>
              <a:t>Friends &amp; activities helped me make it through Rose</a:t>
            </a:r>
          </a:p>
          <a:p>
            <a:pPr lvl="2"/>
            <a:r>
              <a:rPr lang="en-US" dirty="0">
                <a:latin typeface="Grandview" panose="020B0502040204020203" pitchFamily="34" charset="0"/>
              </a:rPr>
              <a:t>Find your people! </a:t>
            </a:r>
          </a:p>
          <a:p>
            <a:pPr lvl="1"/>
            <a:endParaRPr lang="en-US" dirty="0">
              <a:latin typeface="Grandview" panose="020B0502040204020203" pitchFamily="34" charset="0"/>
            </a:endParaRPr>
          </a:p>
          <a:p>
            <a:r>
              <a:rPr lang="en-US" dirty="0">
                <a:latin typeface="Grandview" panose="020B0502040204020203" pitchFamily="34" charset="0"/>
              </a:rPr>
              <a:t>Interested in working with students on research</a:t>
            </a:r>
          </a:p>
          <a:p>
            <a:pPr lvl="1"/>
            <a:r>
              <a:rPr lang="en-US" dirty="0">
                <a:latin typeface="Grandview" panose="020B0502040204020203" pitchFamily="34" charset="0"/>
              </a:rPr>
              <a:t>Feel free to schedule appt. or email if you have interest in research</a:t>
            </a:r>
          </a:p>
          <a:p>
            <a:pPr lvl="1"/>
            <a:r>
              <a:rPr lang="en-US" dirty="0">
                <a:latin typeface="Grandview" panose="020B0502040204020203" pitchFamily="34" charset="0"/>
              </a:rPr>
              <a:t>Graph theory, algorithmic game theory, operations research</a:t>
            </a:r>
          </a:p>
          <a:p>
            <a:pPr lvl="1"/>
            <a:r>
              <a:rPr lang="en-US" dirty="0">
                <a:latin typeface="Grandview" panose="020B0502040204020203" pitchFamily="34" charset="0"/>
              </a:rPr>
              <a:t>Most projects require CSSE 230, but we can talk before then</a:t>
            </a:r>
            <a:endParaRPr lang="en-US" sz="2000" dirty="0">
              <a:latin typeface="Grandview" panose="020B0502040204020203" pitchFamily="34" charset="0"/>
            </a:endParaRPr>
          </a:p>
        </p:txBody>
      </p:sp>
    </p:spTree>
    <p:extLst>
      <p:ext uri="{BB962C8B-B14F-4D97-AF65-F5344CB8AC3E}">
        <p14:creationId xmlns:p14="http://schemas.microsoft.com/office/powerpoint/2010/main" val="705266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randview" panose="020B0502040204020203" pitchFamily="34" charset="0"/>
              </a:rPr>
              <a:t>Introductions</a:t>
            </a:r>
          </a:p>
        </p:txBody>
      </p:sp>
      <p:sp>
        <p:nvSpPr>
          <p:cNvPr id="3" name="Text Placeholder 2"/>
          <p:cNvSpPr>
            <a:spLocks noGrp="1"/>
          </p:cNvSpPr>
          <p:nvPr>
            <p:ph type="body" idx="1"/>
          </p:nvPr>
        </p:nvSpPr>
        <p:spPr>
          <a:xfrm>
            <a:off x="1634971" y="1675152"/>
            <a:ext cx="8229600" cy="2819400"/>
          </a:xfrm>
        </p:spPr>
        <p:txBody>
          <a:bodyPr>
            <a:normAutofit/>
          </a:bodyPr>
          <a:lstStyle/>
          <a:p>
            <a:r>
              <a:rPr lang="en-US" sz="3600" dirty="0">
                <a:latin typeface="Grandview" panose="020B0502040204020203" pitchFamily="34" charset="0"/>
              </a:rPr>
              <a:t>TA</a:t>
            </a:r>
          </a:p>
          <a:p>
            <a:r>
              <a:rPr lang="en-US" sz="3600" dirty="0">
                <a:latin typeface="Grandview" panose="020B0502040204020203" pitchFamily="34" charset="0"/>
              </a:rPr>
              <a:t>Students (briefly! </a:t>
            </a:r>
            <a:r>
              <a:rPr lang="en-US" sz="3600" dirty="0">
                <a:latin typeface="Grandview" panose="020B0502040204020203" pitchFamily="34" charset="0"/>
                <a:sym typeface="Wingdings" panose="05000000000000000000" pitchFamily="2" charset="2"/>
              </a:rPr>
              <a:t> it’s a big class</a:t>
            </a:r>
            <a:r>
              <a:rPr lang="en-US" sz="3600" dirty="0">
                <a:latin typeface="Grandview" panose="020B0502040204020203" pitchFamily="34" charset="0"/>
              </a:rPr>
              <a:t>)</a:t>
            </a:r>
          </a:p>
          <a:p>
            <a:pPr lvl="1"/>
            <a:r>
              <a:rPr lang="en-US" sz="3200" dirty="0">
                <a:latin typeface="Grandview" panose="020B0502040204020203" pitchFamily="34" charset="0"/>
              </a:rPr>
              <a:t>What should we call you?</a:t>
            </a:r>
          </a:p>
          <a:p>
            <a:pPr lvl="1"/>
            <a:r>
              <a:rPr lang="en-US" sz="3200" dirty="0">
                <a:latin typeface="Grandview" panose="020B0502040204020203" pitchFamily="34" charset="0"/>
              </a:rPr>
              <a:t>What you do for fun/rejuvenation?</a:t>
            </a:r>
          </a:p>
          <a:p>
            <a:pPr marL="0" indent="0">
              <a:buNone/>
            </a:pPr>
            <a:endParaRPr lang="en-US" sz="3600" dirty="0">
              <a:latin typeface="Grandview" panose="020B0502040204020203" pitchFamily="34" charset="0"/>
            </a:endParaRPr>
          </a:p>
        </p:txBody>
      </p:sp>
    </p:spTree>
    <p:extLst>
      <p:ext uri="{BB962C8B-B14F-4D97-AF65-F5344CB8AC3E}">
        <p14:creationId xmlns:p14="http://schemas.microsoft.com/office/powerpoint/2010/main" val="35166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randview" panose="020B0502040204020203" pitchFamily="34" charset="0"/>
              </a:rPr>
              <a:t>How to get help</a:t>
            </a:r>
          </a:p>
        </p:txBody>
      </p:sp>
      <p:sp>
        <p:nvSpPr>
          <p:cNvPr id="3" name="Text Placeholder 2"/>
          <p:cNvSpPr>
            <a:spLocks noGrp="1"/>
          </p:cNvSpPr>
          <p:nvPr>
            <p:ph type="body" idx="1"/>
          </p:nvPr>
        </p:nvSpPr>
        <p:spPr>
          <a:xfrm>
            <a:off x="838199" y="1492163"/>
            <a:ext cx="10295021" cy="4764505"/>
          </a:xfrm>
        </p:spPr>
        <p:txBody>
          <a:bodyPr>
            <a:normAutofit lnSpcReduction="10000"/>
          </a:bodyPr>
          <a:lstStyle/>
          <a:p>
            <a:r>
              <a:rPr lang="en-US" sz="3200" dirty="0">
                <a:latin typeface="Grandview" panose="020B0502040204020203" pitchFamily="34" charset="0"/>
              </a:rPr>
              <a:t>General questions (HW, course logistics): </a:t>
            </a:r>
          </a:p>
          <a:p>
            <a:pPr lvl="1"/>
            <a:r>
              <a:rPr lang="en-US" sz="2800" dirty="0">
                <a:latin typeface="Grandview" panose="020B0502040204020203" pitchFamily="34" charset="0"/>
              </a:rPr>
              <a:t>Please use course Teams channel</a:t>
            </a:r>
          </a:p>
          <a:p>
            <a:pPr lvl="1"/>
            <a:r>
              <a:rPr lang="en-US" sz="2800" dirty="0">
                <a:latin typeface="Grandview" panose="020B0502040204020203" pitchFamily="34" charset="0"/>
              </a:rPr>
              <a:t>TAs or other students may be able to respond faster</a:t>
            </a:r>
            <a:endParaRPr lang="en-US" sz="3200" dirty="0">
              <a:latin typeface="Grandview" panose="020B0502040204020203" pitchFamily="34" charset="0"/>
            </a:endParaRPr>
          </a:p>
          <a:p>
            <a:r>
              <a:rPr lang="en-US" sz="3200" dirty="0">
                <a:latin typeface="Grandview" panose="020B0502040204020203" pitchFamily="34" charset="0"/>
              </a:rPr>
              <a:t>Personal questions: </a:t>
            </a:r>
          </a:p>
          <a:p>
            <a:pPr lvl="1"/>
            <a:r>
              <a:rPr lang="en-US" sz="2800" dirty="0">
                <a:latin typeface="Grandview" panose="020B0502040204020203" pitchFamily="34" charset="0"/>
              </a:rPr>
              <a:t>Office “drop-in” hours (no appointment needed)</a:t>
            </a:r>
          </a:p>
          <a:p>
            <a:pPr lvl="1"/>
            <a:r>
              <a:rPr lang="en-US" sz="2800" dirty="0">
                <a:latin typeface="Grandview" panose="020B0502040204020203" pitchFamily="34" charset="0"/>
              </a:rPr>
              <a:t>Email</a:t>
            </a:r>
          </a:p>
          <a:p>
            <a:pPr lvl="1"/>
            <a:r>
              <a:rPr lang="en-US" sz="2800" dirty="0">
                <a:latin typeface="Grandview" panose="020B0502040204020203" pitchFamily="34" charset="0"/>
              </a:rPr>
              <a:t>1-1 meeting, scheduled via link in email signature</a:t>
            </a:r>
          </a:p>
          <a:p>
            <a:pPr lvl="2"/>
            <a:r>
              <a:rPr lang="en-US" sz="2400" dirty="0">
                <a:latin typeface="Grandview" panose="020B0502040204020203" pitchFamily="34" charset="0"/>
              </a:rPr>
              <a:t>Helps me plan my time effectively</a:t>
            </a:r>
          </a:p>
          <a:p>
            <a:pPr lvl="2"/>
            <a:r>
              <a:rPr lang="en-US" sz="2400" dirty="0">
                <a:latin typeface="Grandview" panose="020B0502040204020203" pitchFamily="34" charset="0"/>
              </a:rPr>
              <a:t>Email me if you can’t find a time</a:t>
            </a:r>
          </a:p>
          <a:p>
            <a:r>
              <a:rPr lang="en-US" sz="3200" dirty="0">
                <a:latin typeface="Grandview" panose="020B0502040204020203" pitchFamily="34" charset="0"/>
              </a:rPr>
              <a:t>Visit the Learning Center and/or Sophomore Resident Tutors for free(!) peer tutoring</a:t>
            </a:r>
          </a:p>
        </p:txBody>
      </p:sp>
    </p:spTree>
    <p:extLst>
      <p:ext uri="{BB962C8B-B14F-4D97-AF65-F5344CB8AC3E}">
        <p14:creationId xmlns:p14="http://schemas.microsoft.com/office/powerpoint/2010/main" val="1898028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327EC-39E7-791D-4CFA-7AC33EC76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BB4FD-C7A6-4191-97AE-CFF843A5C353}"/>
              </a:ext>
            </a:extLst>
          </p:cNvPr>
          <p:cNvSpPr>
            <a:spLocks noGrp="1"/>
          </p:cNvSpPr>
          <p:nvPr>
            <p:ph type="title"/>
          </p:nvPr>
        </p:nvSpPr>
        <p:spPr/>
        <p:txBody>
          <a:bodyPr/>
          <a:lstStyle/>
          <a:p>
            <a:r>
              <a:rPr lang="en-US" dirty="0">
                <a:latin typeface="Grandview" panose="020B0502040204020203" pitchFamily="34" charset="0"/>
              </a:rPr>
              <a:t>Quick Moodle tour</a:t>
            </a:r>
          </a:p>
        </p:txBody>
      </p:sp>
      <p:sp>
        <p:nvSpPr>
          <p:cNvPr id="3" name="Content Placeholder 2">
            <a:extLst>
              <a:ext uri="{FF2B5EF4-FFF2-40B4-BE49-F238E27FC236}">
                <a16:creationId xmlns:a16="http://schemas.microsoft.com/office/drawing/2014/main" id="{56E40064-4D8F-7DF6-E7D3-1EA93AB836AE}"/>
              </a:ext>
            </a:extLst>
          </p:cNvPr>
          <p:cNvSpPr>
            <a:spLocks noGrp="1"/>
          </p:cNvSpPr>
          <p:nvPr>
            <p:ph idx="1"/>
          </p:nvPr>
        </p:nvSpPr>
        <p:spPr/>
        <p:txBody>
          <a:bodyPr/>
          <a:lstStyle/>
          <a:p>
            <a:r>
              <a:rPr lang="en-US" dirty="0">
                <a:latin typeface="Grandview" panose="020B0502040204020203" pitchFamily="34" charset="0"/>
              </a:rPr>
              <a:t>Colorful calendar with start/end dates</a:t>
            </a:r>
          </a:p>
          <a:p>
            <a:r>
              <a:rPr lang="en-US" dirty="0">
                <a:latin typeface="Grandview" panose="020B0502040204020203" pitchFamily="34" charset="0"/>
              </a:rPr>
              <a:t>Links to get help and ask for an extension</a:t>
            </a:r>
          </a:p>
          <a:p>
            <a:r>
              <a:rPr lang="en-US" dirty="0">
                <a:latin typeface="Grandview" panose="020B0502040204020203" pitchFamily="34" charset="0"/>
              </a:rPr>
              <a:t>Syllabus</a:t>
            </a:r>
          </a:p>
          <a:p>
            <a:endParaRPr lang="en-US" dirty="0">
              <a:latin typeface="Grandview" panose="020B0502040204020203" pitchFamily="34" charset="0"/>
            </a:endParaRPr>
          </a:p>
        </p:txBody>
      </p:sp>
    </p:spTree>
    <p:extLst>
      <p:ext uri="{BB962C8B-B14F-4D97-AF65-F5344CB8AC3E}">
        <p14:creationId xmlns:p14="http://schemas.microsoft.com/office/powerpoint/2010/main" val="3793779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56749-BC47-701F-4A62-C2A34F64AFDF}"/>
              </a:ext>
            </a:extLst>
          </p:cNvPr>
          <p:cNvSpPr>
            <a:spLocks noGrp="1"/>
          </p:cNvSpPr>
          <p:nvPr>
            <p:ph type="title"/>
          </p:nvPr>
        </p:nvSpPr>
        <p:spPr/>
        <p:txBody>
          <a:bodyPr/>
          <a:lstStyle/>
          <a:p>
            <a:r>
              <a:rPr lang="en-US" dirty="0">
                <a:latin typeface="Grandview" panose="020B0502040204020203" pitchFamily="34" charset="0"/>
              </a:rPr>
              <a:t>Can we just Java already?</a:t>
            </a:r>
          </a:p>
        </p:txBody>
      </p:sp>
      <p:sp>
        <p:nvSpPr>
          <p:cNvPr id="3" name="Content Placeholder 2">
            <a:extLst>
              <a:ext uri="{FF2B5EF4-FFF2-40B4-BE49-F238E27FC236}">
                <a16:creationId xmlns:a16="http://schemas.microsoft.com/office/drawing/2014/main" id="{73A9F6B5-48CF-1D47-CEBA-3846F695D1EE}"/>
              </a:ext>
            </a:extLst>
          </p:cNvPr>
          <p:cNvSpPr>
            <a:spLocks noGrp="1"/>
          </p:cNvSpPr>
          <p:nvPr>
            <p:ph idx="1"/>
          </p:nvPr>
        </p:nvSpPr>
        <p:spPr/>
        <p:txBody>
          <a:bodyPr/>
          <a:lstStyle/>
          <a:p>
            <a:r>
              <a:rPr lang="en-US" dirty="0">
                <a:latin typeface="Grandview" panose="020B0502040204020203" pitchFamily="34" charset="0"/>
              </a:rPr>
              <a:t>Find a partner with a similar level of Java experience</a:t>
            </a:r>
          </a:p>
          <a:p>
            <a:r>
              <a:rPr lang="en-US" dirty="0">
                <a:latin typeface="Grandview" panose="020B0502040204020203" pitchFamily="34" charset="0"/>
              </a:rPr>
              <a:t>Open the </a:t>
            </a:r>
            <a:r>
              <a:rPr lang="en-US" dirty="0" err="1">
                <a:latin typeface="Grandview" panose="020B0502040204020203" pitchFamily="34" charset="0"/>
              </a:rPr>
              <a:t>JavaIntro</a:t>
            </a:r>
            <a:r>
              <a:rPr lang="en-US" dirty="0">
                <a:latin typeface="Grandview" panose="020B0502040204020203" pitchFamily="34" charset="0"/>
              </a:rPr>
              <a:t> folder in file explorer and IntelliJ</a:t>
            </a:r>
          </a:p>
          <a:p>
            <a:r>
              <a:rPr lang="en-US" dirty="0">
                <a:latin typeface="Grandview" panose="020B0502040204020203" pitchFamily="34" charset="0"/>
              </a:rPr>
              <a:t>Pick up an “Introduction to Java” handout</a:t>
            </a:r>
          </a:p>
        </p:txBody>
      </p:sp>
    </p:spTree>
    <p:extLst>
      <p:ext uri="{BB962C8B-B14F-4D97-AF65-F5344CB8AC3E}">
        <p14:creationId xmlns:p14="http://schemas.microsoft.com/office/powerpoint/2010/main" val="2104661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C6964-9B4F-B821-1AB7-600D953BA0E0}"/>
              </a:ext>
            </a:extLst>
          </p:cNvPr>
          <p:cNvSpPr>
            <a:spLocks noGrp="1"/>
          </p:cNvSpPr>
          <p:nvPr>
            <p:ph type="title"/>
          </p:nvPr>
        </p:nvSpPr>
        <p:spPr/>
        <p:txBody>
          <a:bodyPr/>
          <a:lstStyle/>
          <a:p>
            <a:r>
              <a:rPr lang="en-US" dirty="0"/>
              <a:t>Let’s get to know each other</a:t>
            </a:r>
          </a:p>
        </p:txBody>
      </p:sp>
      <p:pic>
        <p:nvPicPr>
          <p:cNvPr id="5" name="Picture 4">
            <a:extLst>
              <a:ext uri="{FF2B5EF4-FFF2-40B4-BE49-F238E27FC236}">
                <a16:creationId xmlns:a16="http://schemas.microsoft.com/office/drawing/2014/main" id="{10140473-44D1-D1C1-6B02-CEE1839E84EF}"/>
              </a:ext>
            </a:extLst>
          </p:cNvPr>
          <p:cNvPicPr>
            <a:picLocks noChangeAspect="1"/>
          </p:cNvPicPr>
          <p:nvPr/>
        </p:nvPicPr>
        <p:blipFill>
          <a:blip r:embed="rId2"/>
          <a:stretch>
            <a:fillRect/>
          </a:stretch>
        </p:blipFill>
        <p:spPr>
          <a:xfrm>
            <a:off x="838200" y="1690688"/>
            <a:ext cx="3941657" cy="2122431"/>
          </a:xfrm>
          <a:prstGeom prst="rect">
            <a:avLst/>
          </a:prstGeom>
        </p:spPr>
      </p:pic>
      <p:pic>
        <p:nvPicPr>
          <p:cNvPr id="7" name="Picture 6">
            <a:extLst>
              <a:ext uri="{FF2B5EF4-FFF2-40B4-BE49-F238E27FC236}">
                <a16:creationId xmlns:a16="http://schemas.microsoft.com/office/drawing/2014/main" id="{EEA0DD62-CD40-1109-29D9-ED5322A5DAAA}"/>
              </a:ext>
            </a:extLst>
          </p:cNvPr>
          <p:cNvPicPr>
            <a:picLocks noChangeAspect="1"/>
          </p:cNvPicPr>
          <p:nvPr/>
        </p:nvPicPr>
        <p:blipFill>
          <a:blip r:embed="rId3"/>
          <a:stretch>
            <a:fillRect/>
          </a:stretch>
        </p:blipFill>
        <p:spPr>
          <a:xfrm>
            <a:off x="4967441" y="3635498"/>
            <a:ext cx="6198775" cy="1883173"/>
          </a:xfrm>
          <a:prstGeom prst="rect">
            <a:avLst/>
          </a:prstGeom>
        </p:spPr>
      </p:pic>
    </p:spTree>
    <p:extLst>
      <p:ext uri="{BB962C8B-B14F-4D97-AF65-F5344CB8AC3E}">
        <p14:creationId xmlns:p14="http://schemas.microsoft.com/office/powerpoint/2010/main" val="2397446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2133600" y="1771650"/>
            <a:ext cx="8229600" cy="4114800"/>
          </a:xfrm>
        </p:spPr>
        <p:txBody>
          <a:bodyPr>
            <a:normAutofit/>
          </a:bodyPr>
          <a:lstStyle/>
          <a:p>
            <a:r>
              <a:rPr lang="en-US" dirty="0"/>
              <a:t>Jason Yoder</a:t>
            </a:r>
          </a:p>
          <a:p>
            <a:pPr lvl="1"/>
            <a:r>
              <a:rPr lang="en-US" dirty="0"/>
              <a:t>Feel free to call me:</a:t>
            </a:r>
          </a:p>
          <a:p>
            <a:pPr lvl="2"/>
            <a:r>
              <a:rPr lang="en-US" dirty="0"/>
              <a:t>Dr. Yoder</a:t>
            </a:r>
          </a:p>
          <a:p>
            <a:pPr lvl="2"/>
            <a:r>
              <a:rPr lang="en-US" dirty="0"/>
              <a:t>Jason (if you prefer first name)</a:t>
            </a:r>
          </a:p>
          <a:p>
            <a:pPr lvl="1"/>
            <a:r>
              <a:rPr lang="en-US" dirty="0"/>
              <a:t>Degree from Indiana University: </a:t>
            </a:r>
          </a:p>
          <a:p>
            <a:pPr lvl="2"/>
            <a:r>
              <a:rPr lang="en-US" dirty="0"/>
              <a:t>Computer Science, Cognitive Science</a:t>
            </a:r>
          </a:p>
          <a:p>
            <a:pPr lvl="1"/>
            <a:r>
              <a:rPr lang="en-US" dirty="0"/>
              <a:t>Only on campus Mon, Tue, Thu (normally)</a:t>
            </a:r>
          </a:p>
          <a:p>
            <a:pPr lvl="1"/>
            <a:r>
              <a:rPr lang="en-US" dirty="0"/>
              <a:t>Piazza/Email/Teams anytime!</a:t>
            </a:r>
          </a:p>
        </p:txBody>
      </p:sp>
    </p:spTree>
    <p:extLst>
      <p:ext uri="{BB962C8B-B14F-4D97-AF65-F5344CB8AC3E}">
        <p14:creationId xmlns:p14="http://schemas.microsoft.com/office/powerpoint/2010/main" val="2804563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1981200" y="1771650"/>
            <a:ext cx="8229600" cy="4095750"/>
          </a:xfrm>
        </p:spPr>
        <p:txBody>
          <a:bodyPr>
            <a:normAutofit/>
          </a:bodyPr>
          <a:lstStyle/>
          <a:p>
            <a:endParaRPr lang="en-US" dirty="0"/>
          </a:p>
          <a:p>
            <a:r>
              <a:rPr lang="en-US" dirty="0"/>
              <a:t>Meetings with me 1 on 1</a:t>
            </a:r>
          </a:p>
          <a:p>
            <a:pPr lvl="1"/>
            <a:r>
              <a:rPr lang="en-US" b="1" dirty="0" err="1"/>
              <a:t>Calendly</a:t>
            </a:r>
            <a:r>
              <a:rPr lang="en-US" dirty="0"/>
              <a:t>: a service to schedule </a:t>
            </a:r>
          </a:p>
          <a:p>
            <a:pPr lvl="1"/>
            <a:r>
              <a:rPr lang="en-US" dirty="0"/>
              <a:t>appointments (in my email signature)</a:t>
            </a:r>
          </a:p>
          <a:p>
            <a:pPr lvl="1"/>
            <a:r>
              <a:rPr lang="en-US" dirty="0"/>
              <a:t>Helps me plan my time effectively</a:t>
            </a:r>
          </a:p>
          <a:p>
            <a:pPr lvl="1"/>
            <a:r>
              <a:rPr lang="en-US" dirty="0"/>
              <a:t>Email me if you can’t find a time and we can discuss options:</a:t>
            </a:r>
          </a:p>
          <a:p>
            <a:pPr lvl="2"/>
            <a:r>
              <a:rPr lang="en-US" dirty="0"/>
              <a:t>Wednesdays/Fridays: Teams</a:t>
            </a:r>
          </a:p>
        </p:txBody>
      </p:sp>
      <p:pic>
        <p:nvPicPr>
          <p:cNvPr id="4" name="Picture 3"/>
          <p:cNvPicPr>
            <a:picLocks noChangeAspect="1"/>
          </p:cNvPicPr>
          <p:nvPr/>
        </p:nvPicPr>
        <p:blipFill rotWithShape="1">
          <a:blip r:embed="rId3"/>
          <a:srcRect r="67347"/>
          <a:stretch/>
        </p:blipFill>
        <p:spPr>
          <a:xfrm>
            <a:off x="8153400" y="914401"/>
            <a:ext cx="2114550" cy="2631173"/>
          </a:xfrm>
          <a:prstGeom prst="rect">
            <a:avLst/>
          </a:prstGeom>
        </p:spPr>
      </p:pic>
    </p:spTree>
    <p:extLst>
      <p:ext uri="{BB962C8B-B14F-4D97-AF65-F5344CB8AC3E}">
        <p14:creationId xmlns:p14="http://schemas.microsoft.com/office/powerpoint/2010/main" val="2685179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1524000" y="1295400"/>
            <a:ext cx="9067800" cy="5470524"/>
          </a:xfrm>
        </p:spPr>
        <p:txBody>
          <a:bodyPr>
            <a:normAutofit/>
          </a:bodyPr>
          <a:lstStyle/>
          <a:p>
            <a:r>
              <a:rPr lang="en-US" dirty="0"/>
              <a:t>More about me</a:t>
            </a:r>
          </a:p>
          <a:p>
            <a:pPr lvl="1"/>
            <a:r>
              <a:rPr lang="en-US" dirty="0"/>
              <a:t>I live in Bloomington Fri-Sun</a:t>
            </a:r>
          </a:p>
          <a:p>
            <a:pPr lvl="1"/>
            <a:r>
              <a:rPr lang="en-US" dirty="0"/>
              <a:t>I like to </a:t>
            </a:r>
            <a:r>
              <a:rPr lang="en-US" b="1" dirty="0"/>
              <a:t>“work hard and play hard”</a:t>
            </a:r>
          </a:p>
          <a:p>
            <a:pPr lvl="1"/>
            <a:r>
              <a:rPr lang="en-US" dirty="0"/>
              <a:t>I am rejuvenated by sports/physical challenges:</a:t>
            </a:r>
          </a:p>
          <a:p>
            <a:pPr lvl="2"/>
            <a:r>
              <a:rPr lang="en-US" dirty="0"/>
              <a:t>Ultimate Frisbee, rock climbing, hockey,+</a:t>
            </a:r>
          </a:p>
          <a:p>
            <a:pPr lvl="1"/>
            <a:r>
              <a:rPr lang="en-US" dirty="0"/>
              <a:t>I think its important to have a hobby or activity that helps keep you “sane” </a:t>
            </a:r>
            <a:r>
              <a:rPr lang="en-US" dirty="0">
                <a:sym typeface="Wingdings" panose="05000000000000000000" pitchFamily="2" charset="2"/>
              </a:rPr>
              <a:t></a:t>
            </a:r>
            <a:endParaRPr lang="en-US" dirty="0"/>
          </a:p>
          <a:p>
            <a:pPr lvl="1"/>
            <a:r>
              <a:rPr lang="en-US" dirty="0"/>
              <a:t>Interested in working with students on research</a:t>
            </a:r>
          </a:p>
          <a:p>
            <a:pPr lvl="2"/>
            <a:r>
              <a:rPr lang="en-US" dirty="0"/>
              <a:t>Feel free to stop by or email if you have interest in research</a:t>
            </a:r>
          </a:p>
          <a:p>
            <a:pPr lvl="2"/>
            <a:r>
              <a:rPr lang="en-US" dirty="0"/>
              <a:t>I developed a project for this course in place of the Arcade Game Project to give students an early opportunity to develop some research skills</a:t>
            </a:r>
          </a:p>
          <a:p>
            <a:endParaRPr lang="en-US" dirty="0"/>
          </a:p>
        </p:txBody>
      </p:sp>
    </p:spTree>
    <p:extLst>
      <p:ext uri="{BB962C8B-B14F-4D97-AF65-F5344CB8AC3E}">
        <p14:creationId xmlns:p14="http://schemas.microsoft.com/office/powerpoint/2010/main" val="2647588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1485900" y="1538736"/>
            <a:ext cx="9220200" cy="4721225"/>
          </a:xfrm>
        </p:spPr>
        <p:txBody>
          <a:bodyPr>
            <a:normAutofit/>
          </a:bodyPr>
          <a:lstStyle/>
          <a:p>
            <a:pPr marL="0" indent="0">
              <a:buNone/>
            </a:pPr>
            <a:r>
              <a:rPr lang="en-US" dirty="0"/>
              <a:t>Ian Ludden</a:t>
            </a:r>
          </a:p>
          <a:p>
            <a:r>
              <a:rPr lang="en-US" dirty="0"/>
              <a:t>Feel free to call me:</a:t>
            </a:r>
          </a:p>
          <a:p>
            <a:pPr lvl="1"/>
            <a:r>
              <a:rPr lang="en-US" dirty="0"/>
              <a:t>Ian, Professor Ludden, or Professor Ian</a:t>
            </a:r>
          </a:p>
          <a:p>
            <a:pPr lvl="1"/>
            <a:r>
              <a:rPr lang="en-US" dirty="0"/>
              <a:t>If you call me just “professor”, I may call you just “student” </a:t>
            </a:r>
            <a:r>
              <a:rPr lang="en-US" dirty="0">
                <a:sym typeface="Wingdings" panose="05000000000000000000" pitchFamily="2" charset="2"/>
              </a:rPr>
              <a:t></a:t>
            </a:r>
            <a:endParaRPr lang="en-US" dirty="0"/>
          </a:p>
          <a:p>
            <a:r>
              <a:rPr lang="en-US" dirty="0"/>
              <a:t>B.S. in CPE/MA from Rose-Hulman, Fall 2016</a:t>
            </a:r>
          </a:p>
          <a:p>
            <a:r>
              <a:rPr lang="en-US" dirty="0"/>
              <a:t>Ph.D. in CS from the University of Illinois Urbana-Champaign</a:t>
            </a:r>
          </a:p>
          <a:p>
            <a:r>
              <a:rPr lang="en-US" dirty="0"/>
              <a:t>Originally from Tampa, Florida (the Midwest is better)</a:t>
            </a:r>
          </a:p>
          <a:p>
            <a:r>
              <a:rPr lang="en-US" dirty="0"/>
              <a:t>Industry experience: </a:t>
            </a:r>
            <a:r>
              <a:rPr lang="en-US" dirty="0" err="1"/>
              <a:t>FitzMark</a:t>
            </a:r>
            <a:r>
              <a:rPr lang="en-US" dirty="0"/>
              <a:t> (Indy), Garmin (KC), </a:t>
            </a:r>
            <a:br>
              <a:rPr lang="en-US" dirty="0"/>
            </a:br>
            <a:r>
              <a:rPr lang="en-US" dirty="0"/>
              <a:t>LGS (Tampa), </a:t>
            </a:r>
            <a:r>
              <a:rPr lang="en-US" dirty="0" err="1"/>
              <a:t>PilotFish</a:t>
            </a:r>
            <a:r>
              <a:rPr lang="en-US" dirty="0"/>
              <a:t> (Tampa)</a:t>
            </a:r>
          </a:p>
          <a:p>
            <a:pPr lvl="1"/>
            <a:r>
              <a:rPr lang="en-US" dirty="0"/>
              <a:t>Wrote lots of Java code at </a:t>
            </a:r>
            <a:r>
              <a:rPr lang="en-US" dirty="0" err="1"/>
              <a:t>PilotFish</a:t>
            </a:r>
            <a:r>
              <a:rPr lang="en-US" dirty="0"/>
              <a:t>! </a:t>
            </a:r>
          </a:p>
        </p:txBody>
      </p:sp>
    </p:spTree>
    <p:extLst>
      <p:ext uri="{BB962C8B-B14F-4D97-AF65-F5344CB8AC3E}">
        <p14:creationId xmlns:p14="http://schemas.microsoft.com/office/powerpoint/2010/main" val="302694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838199" y="1379621"/>
            <a:ext cx="10295021" cy="4764505"/>
          </a:xfrm>
        </p:spPr>
        <p:txBody>
          <a:bodyPr>
            <a:normAutofit/>
          </a:bodyPr>
          <a:lstStyle/>
          <a:p>
            <a:r>
              <a:rPr lang="en-US" sz="3200" dirty="0"/>
              <a:t>General questions (HW, course logistics): </a:t>
            </a:r>
          </a:p>
          <a:p>
            <a:pPr lvl="1"/>
            <a:r>
              <a:rPr lang="en-US" sz="2800" dirty="0"/>
              <a:t>Please use Piazza</a:t>
            </a:r>
          </a:p>
          <a:p>
            <a:pPr lvl="1"/>
            <a:r>
              <a:rPr lang="en-US" sz="2800" dirty="0"/>
              <a:t>TAs or other students may be able to respond faster</a:t>
            </a:r>
          </a:p>
          <a:p>
            <a:endParaRPr lang="en-US" sz="3200" dirty="0"/>
          </a:p>
          <a:p>
            <a:r>
              <a:rPr lang="en-US" sz="3200" dirty="0"/>
              <a:t>Personal questions: </a:t>
            </a:r>
          </a:p>
          <a:p>
            <a:pPr lvl="1"/>
            <a:r>
              <a:rPr lang="en-US" sz="2800" dirty="0"/>
              <a:t>Email</a:t>
            </a:r>
          </a:p>
          <a:p>
            <a:pPr lvl="1"/>
            <a:r>
              <a:rPr lang="en-US" sz="2800" dirty="0"/>
              <a:t>Office hours</a:t>
            </a:r>
          </a:p>
          <a:p>
            <a:pPr lvl="1"/>
            <a:r>
              <a:rPr lang="en-US" sz="2800" dirty="0"/>
              <a:t>1-1 meeting, scheduled via link in email signature</a:t>
            </a:r>
          </a:p>
          <a:p>
            <a:pPr lvl="2"/>
            <a:r>
              <a:rPr lang="en-US" sz="2400" dirty="0"/>
              <a:t>Helps me plan my time effectively</a:t>
            </a:r>
          </a:p>
          <a:p>
            <a:pPr lvl="2"/>
            <a:r>
              <a:rPr lang="en-US" sz="2400" dirty="0"/>
              <a:t>Email me if you can’t find a time</a:t>
            </a:r>
          </a:p>
        </p:txBody>
      </p:sp>
    </p:spTree>
    <p:extLst>
      <p:ext uri="{BB962C8B-B14F-4D97-AF65-F5344CB8AC3E}">
        <p14:creationId xmlns:p14="http://schemas.microsoft.com/office/powerpoint/2010/main" val="1848748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962890" y="1295400"/>
            <a:ext cx="10515600" cy="5470524"/>
          </a:xfrm>
        </p:spPr>
        <p:txBody>
          <a:bodyPr>
            <a:normAutofit/>
          </a:bodyPr>
          <a:lstStyle/>
          <a:p>
            <a:r>
              <a:rPr lang="en-US" sz="3200" dirty="0"/>
              <a:t>More about me</a:t>
            </a:r>
          </a:p>
          <a:p>
            <a:r>
              <a:rPr lang="en-US" sz="3200" dirty="0"/>
              <a:t>When I was a student here: </a:t>
            </a:r>
          </a:p>
          <a:p>
            <a:pPr lvl="1"/>
            <a:r>
              <a:rPr lang="en-US" sz="2800" dirty="0"/>
              <a:t>Cross Country, Engineers Without Borders, symphony orchestra, musicals, improv club, St. Joseph’s University Ministry</a:t>
            </a:r>
          </a:p>
          <a:p>
            <a:pPr lvl="1"/>
            <a:r>
              <a:rPr lang="en-US" sz="2800" dirty="0"/>
              <a:t>Friends &amp; activities helped me make it through Rose</a:t>
            </a:r>
          </a:p>
          <a:p>
            <a:pPr lvl="2"/>
            <a:r>
              <a:rPr lang="en-US" sz="2400" dirty="0"/>
              <a:t>Find your people! </a:t>
            </a:r>
          </a:p>
          <a:p>
            <a:pPr lvl="1"/>
            <a:endParaRPr lang="en-US" sz="2800" dirty="0"/>
          </a:p>
          <a:p>
            <a:r>
              <a:rPr lang="en-US" sz="3200" dirty="0"/>
              <a:t>Interested in working with students on research</a:t>
            </a:r>
          </a:p>
          <a:p>
            <a:pPr lvl="1"/>
            <a:r>
              <a:rPr lang="en-US" sz="2800" dirty="0"/>
              <a:t>Feel free to schedule appt. or email if you have interest in research</a:t>
            </a:r>
          </a:p>
          <a:p>
            <a:pPr lvl="1"/>
            <a:r>
              <a:rPr lang="en-US" sz="2800" dirty="0"/>
              <a:t>Graph theory, algorithmic game theory, operations research</a:t>
            </a:r>
          </a:p>
          <a:p>
            <a:pPr lvl="1"/>
            <a:r>
              <a:rPr lang="en-US" sz="2800" dirty="0"/>
              <a:t>Most projects require CSSE 473, but we can talk before then</a:t>
            </a:r>
            <a:endParaRPr lang="en-US" dirty="0"/>
          </a:p>
        </p:txBody>
      </p:sp>
    </p:spTree>
    <p:extLst>
      <p:ext uri="{BB962C8B-B14F-4D97-AF65-F5344CB8AC3E}">
        <p14:creationId xmlns:p14="http://schemas.microsoft.com/office/powerpoint/2010/main" val="1055126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1981200" y="1371600"/>
            <a:ext cx="8229600" cy="5486400"/>
          </a:xfrm>
        </p:spPr>
        <p:txBody>
          <a:bodyPr/>
          <a:lstStyle/>
          <a:p>
            <a:r>
              <a:rPr lang="en-US" dirty="0"/>
              <a:t>Amanda Stouder</a:t>
            </a:r>
          </a:p>
          <a:p>
            <a:pPr lvl="1"/>
            <a:r>
              <a:rPr lang="en-US" dirty="0"/>
              <a:t>Assistant Professor for the Practice of Computer Science and Software Engineering</a:t>
            </a:r>
          </a:p>
          <a:p>
            <a:pPr lvl="1"/>
            <a:r>
              <a:rPr lang="en-US" dirty="0"/>
              <a:t>You can call me:</a:t>
            </a:r>
          </a:p>
          <a:p>
            <a:pPr lvl="2"/>
            <a:r>
              <a:rPr lang="en-US" dirty="0"/>
              <a:t>Amanda</a:t>
            </a:r>
          </a:p>
          <a:p>
            <a:pPr lvl="2"/>
            <a:r>
              <a:rPr lang="en-US" dirty="0"/>
              <a:t>Professor Stouder</a:t>
            </a:r>
          </a:p>
          <a:p>
            <a:pPr lvl="1"/>
            <a:r>
              <a:rPr lang="en-US" dirty="0"/>
              <a:t>Don’t call me:</a:t>
            </a:r>
          </a:p>
          <a:p>
            <a:pPr lvl="2"/>
            <a:r>
              <a:rPr lang="en-US" strike="sngStrike" dirty="0"/>
              <a:t>Mrs. Stouder</a:t>
            </a:r>
            <a:r>
              <a:rPr lang="en-US" dirty="0"/>
              <a:t> (please not this)</a:t>
            </a:r>
          </a:p>
          <a:p>
            <a:pPr lvl="2"/>
            <a:r>
              <a:rPr lang="en-US" strike="sngStrike" dirty="0"/>
              <a:t>Dr. Stouder</a:t>
            </a:r>
            <a:r>
              <a:rPr lang="en-US" dirty="0"/>
              <a:t> (not this either, I’ll explain)</a:t>
            </a:r>
          </a:p>
          <a:p>
            <a:pPr marL="0" indent="0">
              <a:buNone/>
            </a:pPr>
            <a:endParaRPr lang="en-US" dirty="0"/>
          </a:p>
        </p:txBody>
      </p:sp>
    </p:spTree>
    <p:extLst>
      <p:ext uri="{BB962C8B-B14F-4D97-AF65-F5344CB8AC3E}">
        <p14:creationId xmlns:p14="http://schemas.microsoft.com/office/powerpoint/2010/main" val="4221316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1981200" y="1447800"/>
            <a:ext cx="8229600" cy="5257800"/>
          </a:xfrm>
        </p:spPr>
        <p:txBody>
          <a:bodyPr>
            <a:normAutofit/>
          </a:bodyPr>
          <a:lstStyle/>
          <a:p>
            <a:r>
              <a:rPr lang="en-US" dirty="0"/>
              <a:t>Education</a:t>
            </a:r>
          </a:p>
          <a:p>
            <a:pPr lvl="1"/>
            <a:r>
              <a:rPr lang="en-US" dirty="0"/>
              <a:t>Rose-</a:t>
            </a:r>
            <a:r>
              <a:rPr lang="en-US" dirty="0" err="1"/>
              <a:t>Hulman</a:t>
            </a:r>
            <a:r>
              <a:rPr lang="en-US" dirty="0"/>
              <a:t> Institute of Technology 2008</a:t>
            </a:r>
          </a:p>
          <a:p>
            <a:pPr lvl="2"/>
            <a:r>
              <a:rPr lang="en-US" dirty="0"/>
              <a:t>B.S. in Computer Science and Software Engineering</a:t>
            </a:r>
          </a:p>
          <a:p>
            <a:r>
              <a:rPr lang="en-US" dirty="0"/>
              <a:t>Experience:</a:t>
            </a:r>
          </a:p>
          <a:p>
            <a:pPr lvl="1"/>
            <a:r>
              <a:rPr lang="en-US" dirty="0"/>
              <a:t>Amadeus Consulting, 2008-2010</a:t>
            </a:r>
          </a:p>
          <a:p>
            <a:pPr lvl="1"/>
            <a:r>
              <a:rPr lang="en-US" dirty="0"/>
              <a:t>Software Engineering Professionals (SEP), 2010-2014</a:t>
            </a:r>
          </a:p>
          <a:p>
            <a:pPr lvl="1"/>
            <a:r>
              <a:rPr lang="en-US" dirty="0"/>
              <a:t>Stouder Software Consulting, LLC (2014-present)</a:t>
            </a:r>
          </a:p>
          <a:p>
            <a:pPr lvl="1"/>
            <a:r>
              <a:rPr lang="en-US" dirty="0"/>
              <a:t>RHIT: Visiting Professor CSSE (2013-2016)</a:t>
            </a:r>
          </a:p>
          <a:p>
            <a:pPr marL="0" indent="0">
              <a:buNone/>
            </a:pPr>
            <a:endParaRPr lang="en-US" dirty="0"/>
          </a:p>
        </p:txBody>
      </p:sp>
    </p:spTree>
    <p:extLst>
      <p:ext uri="{BB962C8B-B14F-4D97-AF65-F5344CB8AC3E}">
        <p14:creationId xmlns:p14="http://schemas.microsoft.com/office/powerpoint/2010/main" val="35318520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p:txBody>
          <a:bodyPr/>
          <a:lstStyle/>
          <a:p>
            <a:r>
              <a:rPr lang="en-US" dirty="0"/>
              <a:t>Office Hours:</a:t>
            </a:r>
          </a:p>
          <a:p>
            <a:pPr lvl="1"/>
            <a:r>
              <a:rPr lang="en-US" dirty="0"/>
              <a:t>MWF 7:30am – 8:30am, 1:30pm – 4:30pm</a:t>
            </a:r>
          </a:p>
          <a:p>
            <a:pPr lvl="1"/>
            <a:r>
              <a:rPr lang="en-US" dirty="0"/>
              <a:t>OFF CAMPUS: Tuesdays and Thursdays</a:t>
            </a:r>
          </a:p>
          <a:p>
            <a:pPr lvl="1"/>
            <a:r>
              <a:rPr lang="en-US" dirty="0"/>
              <a:t>Always by my email!</a:t>
            </a:r>
          </a:p>
          <a:p>
            <a:pPr lvl="1"/>
            <a:r>
              <a:rPr lang="en-US" dirty="0"/>
              <a:t>If you need a different time, email me and we’ll work something out</a:t>
            </a:r>
          </a:p>
        </p:txBody>
      </p:sp>
    </p:spTree>
    <p:extLst>
      <p:ext uri="{BB962C8B-B14F-4D97-AF65-F5344CB8AC3E}">
        <p14:creationId xmlns:p14="http://schemas.microsoft.com/office/powerpoint/2010/main" val="3029870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1969168" y="1295400"/>
            <a:ext cx="8229600" cy="5257800"/>
          </a:xfrm>
        </p:spPr>
        <p:txBody>
          <a:bodyPr>
            <a:normAutofit/>
          </a:bodyPr>
          <a:lstStyle/>
          <a:p>
            <a:r>
              <a:rPr lang="en-US" dirty="0"/>
              <a:t>Laptop Policy</a:t>
            </a:r>
          </a:p>
          <a:p>
            <a:pPr lvl="1"/>
            <a:r>
              <a:rPr lang="en-US" dirty="0"/>
              <a:t>I’m trying something new this quarter</a:t>
            </a:r>
          </a:p>
          <a:p>
            <a:pPr lvl="1"/>
            <a:r>
              <a:rPr lang="en-US" dirty="0"/>
              <a:t>Why?</a:t>
            </a:r>
          </a:p>
          <a:p>
            <a:pPr lvl="1"/>
            <a:r>
              <a:rPr lang="en-US" dirty="0"/>
              <a:t>I will ask you to close/open laptops as we move through the class</a:t>
            </a:r>
          </a:p>
          <a:p>
            <a:pPr lvl="1"/>
            <a:r>
              <a:rPr lang="en-US" dirty="0"/>
              <a:t>When closed, I need you to pay attention</a:t>
            </a:r>
          </a:p>
          <a:p>
            <a:pPr lvl="2"/>
            <a:r>
              <a:rPr lang="en-US" dirty="0"/>
              <a:t>This also means no phones/other devices</a:t>
            </a:r>
          </a:p>
          <a:p>
            <a:pPr lvl="1"/>
            <a:r>
              <a:rPr lang="en-US" dirty="0"/>
              <a:t>Closing far enough so you can’t see the screen is fine</a:t>
            </a:r>
          </a:p>
          <a:p>
            <a:pPr lvl="1"/>
            <a:r>
              <a:rPr lang="en-US" dirty="0"/>
              <a:t>What if I take notes on my laptop?</a:t>
            </a:r>
          </a:p>
        </p:txBody>
      </p:sp>
    </p:spTree>
    <p:extLst>
      <p:ext uri="{BB962C8B-B14F-4D97-AF65-F5344CB8AC3E}">
        <p14:creationId xmlns:p14="http://schemas.microsoft.com/office/powerpoint/2010/main" val="2875506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1981200" y="1219200"/>
            <a:ext cx="8229600" cy="5410200"/>
          </a:xfrm>
        </p:spPr>
        <p:txBody>
          <a:bodyPr vert="horz" lIns="45719" tIns="45720" rIns="45719" bIns="45720" rtlCol="0" anchor="t">
            <a:normAutofit/>
          </a:bodyPr>
          <a:lstStyle/>
          <a:p>
            <a:r>
              <a:rPr lang="en-US" dirty="0"/>
              <a:t>Mike Hewner</a:t>
            </a:r>
          </a:p>
          <a:p>
            <a:pPr marL="783590" lvl="1" indent="-326390"/>
            <a:r>
              <a:rPr lang="en-US" dirty="0"/>
              <a:t>Call me Buffalo</a:t>
            </a:r>
          </a:p>
          <a:p>
            <a:r>
              <a:rPr lang="en-US" dirty="0"/>
              <a:t>I love object oriented programming &amp; weird programming languages</a:t>
            </a:r>
          </a:p>
          <a:p>
            <a:r>
              <a:rPr lang="en-US" dirty="0"/>
              <a:t>I’ve worked at Amazon, </a:t>
            </a:r>
            <a:r>
              <a:rPr lang="en-US" dirty="0" err="1"/>
              <a:t>GroupOn</a:t>
            </a:r>
            <a:r>
              <a:rPr lang="en-US" dirty="0"/>
              <a:t>, Progressive Insurance, and many other places</a:t>
            </a:r>
          </a:p>
          <a:p>
            <a:r>
              <a:rPr lang="en-US" dirty="0"/>
              <a:t>Contact info on the course </a:t>
            </a:r>
            <a:r>
              <a:rPr lang="en-US" dirty="0" err="1"/>
              <a:t>polcies</a:t>
            </a:r>
            <a:r>
              <a:rPr lang="en-US" dirty="0"/>
              <a:t> document</a:t>
            </a:r>
          </a:p>
        </p:txBody>
      </p:sp>
    </p:spTree>
    <p:extLst>
      <p:ext uri="{BB962C8B-B14F-4D97-AF65-F5344CB8AC3E}">
        <p14:creationId xmlns:p14="http://schemas.microsoft.com/office/powerpoint/2010/main" val="166312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92077"/>
            <a:ext cx="9144000" cy="1508125"/>
          </a:xfrm>
        </p:spPr>
        <p:txBody>
          <a:bodyPr/>
          <a:lstStyle/>
          <a:p>
            <a:r>
              <a:rPr lang="en-US" dirty="0"/>
              <a:t>Should I really call my Professor Buffalo?</a:t>
            </a:r>
          </a:p>
        </p:txBody>
      </p:sp>
      <p:sp>
        <p:nvSpPr>
          <p:cNvPr id="3" name="Text Placeholder 2"/>
          <p:cNvSpPr>
            <a:spLocks noGrp="1"/>
          </p:cNvSpPr>
          <p:nvPr>
            <p:ph type="body" idx="1"/>
          </p:nvPr>
        </p:nvSpPr>
        <p:spPr>
          <a:xfrm>
            <a:off x="1981200" y="1561382"/>
            <a:ext cx="8229600" cy="648418"/>
          </a:xfrm>
        </p:spPr>
        <p:txBody>
          <a:bodyPr/>
          <a:lstStyle/>
          <a:p>
            <a:pPr marL="0" indent="0">
              <a:buNone/>
            </a:pPr>
            <a:r>
              <a:rPr lang="en-US" dirty="0"/>
              <a:t>Consult this handy chart…</a:t>
            </a:r>
          </a:p>
        </p:txBody>
      </p:sp>
      <p:graphicFrame>
        <p:nvGraphicFramePr>
          <p:cNvPr id="4" name="Table 3"/>
          <p:cNvGraphicFramePr>
            <a:graphicFrameLocks noGrp="1"/>
          </p:cNvGraphicFramePr>
          <p:nvPr/>
        </p:nvGraphicFramePr>
        <p:xfrm>
          <a:off x="1714500" y="2362200"/>
          <a:ext cx="8763000" cy="4328160"/>
        </p:xfrm>
        <a:graphic>
          <a:graphicData uri="http://schemas.openxmlformats.org/drawingml/2006/table">
            <a:tbl>
              <a:tblPr firstRow="1" bandRow="1">
                <a:tableStyleId>{69012ECD-51FC-41F1-AA8D-1B2483CD663E}</a:tableStyleId>
              </a:tblPr>
              <a:tblGrid>
                <a:gridCol w="2190750">
                  <a:extLst>
                    <a:ext uri="{9D8B030D-6E8A-4147-A177-3AD203B41FA5}">
                      <a16:colId xmlns:a16="http://schemas.microsoft.com/office/drawing/2014/main" val="2865295595"/>
                    </a:ext>
                  </a:extLst>
                </a:gridCol>
                <a:gridCol w="2190750">
                  <a:extLst>
                    <a:ext uri="{9D8B030D-6E8A-4147-A177-3AD203B41FA5}">
                      <a16:colId xmlns:a16="http://schemas.microsoft.com/office/drawing/2014/main" val="3716578391"/>
                    </a:ext>
                  </a:extLst>
                </a:gridCol>
                <a:gridCol w="2190750">
                  <a:extLst>
                    <a:ext uri="{9D8B030D-6E8A-4147-A177-3AD203B41FA5}">
                      <a16:colId xmlns:a16="http://schemas.microsoft.com/office/drawing/2014/main" val="2997334093"/>
                    </a:ext>
                  </a:extLst>
                </a:gridCol>
                <a:gridCol w="2190750">
                  <a:extLst>
                    <a:ext uri="{9D8B030D-6E8A-4147-A177-3AD203B41FA5}">
                      <a16:colId xmlns:a16="http://schemas.microsoft.com/office/drawing/2014/main" val="518729928"/>
                    </a:ext>
                  </a:extLst>
                </a:gridCol>
              </a:tblGrid>
              <a:tr h="694393">
                <a:tc>
                  <a:txBody>
                    <a:bodyPr/>
                    <a:lstStyle/>
                    <a:p>
                      <a:pPr algn="ctr"/>
                      <a:r>
                        <a:rPr lang="en-US" sz="2000" dirty="0">
                          <a:latin typeface="Calibri" panose="020F0502020204030204" pitchFamily="34" charset="0"/>
                          <a:cs typeface="Calibri" panose="020F0502020204030204" pitchFamily="34" charset="0"/>
                        </a:rPr>
                        <a:t>Situation</a:t>
                      </a:r>
                      <a:r>
                        <a:rPr lang="en-US" sz="2000" baseline="0" dirty="0">
                          <a:latin typeface="Calibri" panose="020F0502020204030204" pitchFamily="34" charset="0"/>
                          <a:cs typeface="Calibri" panose="020F0502020204030204" pitchFamily="34" charset="0"/>
                        </a:rPr>
                        <a:t> Type</a:t>
                      </a:r>
                      <a:endParaRPr lang="en-US" sz="2000" dirty="0">
                        <a:latin typeface="Calibri" panose="020F0502020204030204" pitchFamily="34" charset="0"/>
                        <a:cs typeface="Calibri" panose="020F0502020204030204" pitchFamily="34" charset="0"/>
                      </a:endParaRPr>
                    </a:p>
                  </a:txBody>
                  <a:tcPr anchor="ctr">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Informal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Semi-Formal/Kissing</a:t>
                      </a:r>
                      <a:r>
                        <a:rPr lang="en-US" sz="2000" baseline="0" dirty="0">
                          <a:latin typeface="Calibri" panose="020F0502020204030204" pitchFamily="34" charset="0"/>
                          <a:cs typeface="Calibri" panose="020F0502020204030204" pitchFamily="34" charset="0"/>
                        </a:rPr>
                        <a:t> up</a:t>
                      </a:r>
                      <a:endParaRPr lang="en-US" sz="20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Highly</a:t>
                      </a:r>
                      <a:r>
                        <a:rPr lang="en-US" sz="2000" baseline="0" dirty="0">
                          <a:latin typeface="Calibri" panose="020F0502020204030204" pitchFamily="34" charset="0"/>
                          <a:cs typeface="Calibri" panose="020F0502020204030204" pitchFamily="34" charset="0"/>
                        </a:rPr>
                        <a:t> Formal</a:t>
                      </a:r>
                      <a:endParaRPr lang="en-US" sz="20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2967387"/>
                  </a:ext>
                </a:extLst>
              </a:tr>
              <a:tr h="694393">
                <a:tc>
                  <a:txBody>
                    <a:bodyPr/>
                    <a:lstStyle/>
                    <a:p>
                      <a:pPr algn="ctr"/>
                      <a:r>
                        <a:rPr lang="en-US" sz="2000" dirty="0">
                          <a:latin typeface="Calibri" panose="020F0502020204030204" pitchFamily="34" charset="0"/>
                          <a:cs typeface="Calibri" panose="020F0502020204030204" pitchFamily="34" charset="0"/>
                        </a:rPr>
                        <a:t>Example</a:t>
                      </a:r>
                      <a:r>
                        <a:rPr lang="en-US" sz="2000" baseline="0" dirty="0">
                          <a:latin typeface="Calibri" panose="020F0502020204030204" pitchFamily="34" charset="0"/>
                          <a:cs typeface="Calibri" panose="020F0502020204030204" pitchFamily="34" charset="0"/>
                        </a:rPr>
                        <a:t> Situation</a:t>
                      </a:r>
                      <a:endParaRPr lang="en-US" sz="2000" dirty="0">
                        <a:latin typeface="Calibri" panose="020F0502020204030204" pitchFamily="34" charset="0"/>
                        <a:cs typeface="Calibri" panose="020F0502020204030204" pitchFamily="34" charset="0"/>
                      </a:endParaRPr>
                    </a:p>
                  </a:txBody>
                  <a:tcPr anchor="ctr">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asking</a:t>
                      </a:r>
                      <a:r>
                        <a:rPr lang="en-US" sz="2000" baseline="0" dirty="0">
                          <a:latin typeface="Calibri" panose="020F0502020204030204" pitchFamily="34" charset="0"/>
                          <a:cs typeface="Calibri" panose="020F0502020204030204" pitchFamily="34" charset="0"/>
                        </a:rPr>
                        <a:t> questions in class, saying hi in the hallway</a:t>
                      </a:r>
                      <a:endParaRPr lang="en-US" sz="20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requesting things like re-grades</a:t>
                      </a:r>
                      <a:r>
                        <a:rPr lang="en-US" sz="2000" baseline="0" dirty="0">
                          <a:latin typeface="Calibri" panose="020F0502020204030204" pitchFamily="34" charset="0"/>
                          <a:cs typeface="Calibri" panose="020F0502020204030204" pitchFamily="34" charset="0"/>
                        </a:rPr>
                        <a:t> or recommendation letters</a:t>
                      </a:r>
                      <a:endParaRPr lang="en-US" sz="20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2000" baseline="0" dirty="0">
                          <a:latin typeface="Calibri" panose="020F0502020204030204" pitchFamily="34" charset="0"/>
                          <a:cs typeface="Calibri" panose="020F0502020204030204" pitchFamily="34" charset="0"/>
                        </a:rPr>
                        <a:t>funerals, addressing heads of state</a:t>
                      </a:r>
                      <a:endParaRPr lang="en-US" sz="20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41930656"/>
                  </a:ext>
                </a:extLst>
              </a:tr>
              <a:tr h="694393">
                <a:tc>
                  <a:txBody>
                    <a:bodyPr/>
                    <a:lstStyle/>
                    <a:p>
                      <a:pPr algn="ctr"/>
                      <a:r>
                        <a:rPr lang="en-US" sz="2000" dirty="0">
                          <a:latin typeface="Calibri" panose="020F0502020204030204" pitchFamily="34" charset="0"/>
                          <a:cs typeface="Calibri" panose="020F0502020204030204" pitchFamily="34" charset="0"/>
                        </a:rPr>
                        <a:t>Correct form of address</a:t>
                      </a:r>
                    </a:p>
                  </a:txBody>
                  <a:tcPr anchor="ctr">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Buffalo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Dr. Buffalo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Dr. Hewner</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47763031"/>
                  </a:ext>
                </a:extLst>
              </a:tr>
              <a:tr h="694393">
                <a:tc>
                  <a:txBody>
                    <a:bodyPr/>
                    <a:lstStyle/>
                    <a:p>
                      <a:pPr algn="ctr"/>
                      <a:r>
                        <a:rPr lang="en-US" sz="2000" dirty="0">
                          <a:latin typeface="Calibri" panose="020F0502020204030204" pitchFamily="34" charset="0"/>
                          <a:cs typeface="Calibri" panose="020F0502020204030204" pitchFamily="34" charset="0"/>
                        </a:rPr>
                        <a:t>Example</a:t>
                      </a:r>
                    </a:p>
                  </a:txBody>
                  <a:tcPr anchor="ctr">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a:t>
                      </a:r>
                      <a:r>
                        <a:rPr lang="en-US" sz="2000" dirty="0" err="1">
                          <a:latin typeface="Calibri" panose="020F0502020204030204" pitchFamily="34" charset="0"/>
                          <a:cs typeface="Calibri" panose="020F0502020204030204" pitchFamily="34" charset="0"/>
                        </a:rPr>
                        <a:t>Yo</a:t>
                      </a:r>
                      <a:r>
                        <a:rPr lang="en-US" sz="2000" dirty="0">
                          <a:latin typeface="Calibri" panose="020F0502020204030204" pitchFamily="34" charset="0"/>
                          <a:cs typeface="Calibri" panose="020F0502020204030204" pitchFamily="34" charset="0"/>
                        </a:rPr>
                        <a:t> Buffalo, when is that assignment due?”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“So</a:t>
                      </a:r>
                      <a:r>
                        <a:rPr lang="en-US" sz="2000" baseline="0" dirty="0">
                          <a:latin typeface="Calibri" panose="020F0502020204030204" pitchFamily="34" charset="0"/>
                          <a:cs typeface="Calibri" panose="020F0502020204030204" pitchFamily="34" charset="0"/>
                        </a:rPr>
                        <a:t> I think you’ll agree, Dr. Buffalo, that I deserve an extension…”</a:t>
                      </a:r>
                      <a:endParaRPr lang="en-US" sz="20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2000" dirty="0">
                          <a:latin typeface="Calibri" panose="020F0502020204030204" pitchFamily="34" charset="0"/>
                          <a:cs typeface="Calibri" panose="020F0502020204030204" pitchFamily="34" charset="0"/>
                        </a:rPr>
                        <a:t>“In accepting this Turing Award,</a:t>
                      </a:r>
                      <a:r>
                        <a:rPr lang="en-US" sz="2000" baseline="0" dirty="0">
                          <a:latin typeface="Calibri" panose="020F0502020204030204" pitchFamily="34" charset="0"/>
                          <a:cs typeface="Calibri" panose="020F0502020204030204" pitchFamily="34" charset="0"/>
                        </a:rPr>
                        <a:t> I’d like to first and foremost thank Dr. Hewner…”</a:t>
                      </a:r>
                      <a:endParaRPr lang="en-US" sz="200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82947900"/>
                  </a:ext>
                </a:extLst>
              </a:tr>
            </a:tbl>
          </a:graphicData>
        </a:graphic>
      </p:graphicFrame>
    </p:spTree>
    <p:extLst>
      <p:ext uri="{BB962C8B-B14F-4D97-AF65-F5344CB8AC3E}">
        <p14:creationId xmlns:p14="http://schemas.microsoft.com/office/powerpoint/2010/main" val="798969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a:t>
            </a:r>
          </a:p>
        </p:txBody>
      </p:sp>
      <p:sp>
        <p:nvSpPr>
          <p:cNvPr id="3" name="Text Placeholder 2"/>
          <p:cNvSpPr>
            <a:spLocks noGrp="1"/>
          </p:cNvSpPr>
          <p:nvPr>
            <p:ph type="body" idx="1"/>
          </p:nvPr>
        </p:nvSpPr>
        <p:spPr>
          <a:xfrm>
            <a:off x="1981200" y="1219200"/>
            <a:ext cx="8229600" cy="5410200"/>
          </a:xfrm>
        </p:spPr>
        <p:txBody>
          <a:bodyPr>
            <a:normAutofit/>
          </a:bodyPr>
          <a:lstStyle/>
          <a:p>
            <a:r>
              <a:rPr lang="en-US" dirty="0"/>
              <a:t>Aaron Wilkin</a:t>
            </a:r>
          </a:p>
        </p:txBody>
      </p:sp>
    </p:spTree>
    <p:extLst>
      <p:ext uri="{BB962C8B-B14F-4D97-AF65-F5344CB8AC3E}">
        <p14:creationId xmlns:p14="http://schemas.microsoft.com/office/powerpoint/2010/main" val="3305675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descr="jason25.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762000"/>
            <a:ext cx="9144000" cy="6096000"/>
          </a:xfrm>
          <a:prstGeom prst="rect">
            <a:avLst/>
          </a:prstGeom>
        </p:spPr>
      </p:pic>
    </p:spTree>
    <p:extLst>
      <p:ext uri="{BB962C8B-B14F-4D97-AF65-F5344CB8AC3E}">
        <p14:creationId xmlns:p14="http://schemas.microsoft.com/office/powerpoint/2010/main" val="296289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descr="IMG_0020_1024.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340061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pPr marL="0" indent="0">
              <a:buNone/>
            </a:pPr>
            <a:endParaRPr lang="en-US" dirty="0"/>
          </a:p>
        </p:txBody>
      </p:sp>
      <p:pic>
        <p:nvPicPr>
          <p:cNvPr id="4" name="Picture 3"/>
          <p:cNvPicPr>
            <a:picLocks noChangeAspect="1"/>
          </p:cNvPicPr>
          <p:nvPr/>
        </p:nvPicPr>
        <p:blipFill>
          <a:blip r:embed="rId2"/>
          <a:stretch>
            <a:fillRect/>
          </a:stretch>
        </p:blipFill>
        <p:spPr>
          <a:xfrm>
            <a:off x="3708400" y="254000"/>
            <a:ext cx="4762500" cy="6350000"/>
          </a:xfrm>
          <a:prstGeom prst="rect">
            <a:avLst/>
          </a:prstGeom>
        </p:spPr>
      </p:pic>
    </p:spTree>
    <p:extLst>
      <p:ext uri="{BB962C8B-B14F-4D97-AF65-F5344CB8AC3E}">
        <p14:creationId xmlns:p14="http://schemas.microsoft.com/office/powerpoint/2010/main" val="349253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Instructor Info (continued)</a:t>
            </a:r>
          </a:p>
        </p:txBody>
      </p:sp>
      <p:sp>
        <p:nvSpPr>
          <p:cNvPr id="3" name="Text Placeholder 2"/>
          <p:cNvSpPr>
            <a:spLocks noGrp="1"/>
          </p:cNvSpPr>
          <p:nvPr>
            <p:ph type="body" idx="1"/>
          </p:nvPr>
        </p:nvSpPr>
        <p:spPr>
          <a:xfrm>
            <a:off x="1981200" y="1371600"/>
            <a:ext cx="8229600" cy="5486400"/>
          </a:xfrm>
        </p:spPr>
        <p:txBody>
          <a:bodyPr/>
          <a:lstStyle/>
          <a:p>
            <a:r>
              <a:rPr lang="en-US" dirty="0"/>
              <a:t>On Campus every day</a:t>
            </a:r>
          </a:p>
          <a:p>
            <a:pPr lvl="1"/>
            <a:r>
              <a:rPr lang="en-US" dirty="0"/>
              <a:t>Office Hours (F203)</a:t>
            </a:r>
          </a:p>
          <a:p>
            <a:pPr lvl="2"/>
            <a:r>
              <a:rPr lang="is-IS" dirty="0"/>
              <a:t>…</a:t>
            </a:r>
            <a:endParaRPr lang="en-US" dirty="0"/>
          </a:p>
          <a:p>
            <a:pPr lvl="1"/>
            <a:r>
              <a:rPr lang="en-US" dirty="0"/>
              <a:t>Email – </a:t>
            </a:r>
            <a:r>
              <a:rPr lang="en-US" dirty="0" err="1"/>
              <a:t>wilkin@rose-hulman.edu</a:t>
            </a:r>
            <a:endParaRPr lang="en-US" dirty="0"/>
          </a:p>
          <a:p>
            <a:pPr lvl="1"/>
            <a:r>
              <a:rPr lang="en-US" dirty="0"/>
              <a:t>If you need another time, let me know and I’ll do my best</a:t>
            </a:r>
          </a:p>
          <a:p>
            <a:endParaRPr lang="en-US" dirty="0"/>
          </a:p>
        </p:txBody>
      </p:sp>
    </p:spTree>
    <p:extLst>
      <p:ext uri="{BB962C8B-B14F-4D97-AF65-F5344CB8AC3E}">
        <p14:creationId xmlns:p14="http://schemas.microsoft.com/office/powerpoint/2010/main" val="4028542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3218</TotalTime>
  <Words>2017</Words>
  <Application>Microsoft Office PowerPoint</Application>
  <PresentationFormat>Widescreen</PresentationFormat>
  <Paragraphs>253</Paragraphs>
  <Slides>33</Slides>
  <Notes>19</Notes>
  <HiddenSlides>23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Calibri Light</vt:lpstr>
      <vt:lpstr>Courier New</vt:lpstr>
      <vt:lpstr>Grandview</vt:lpstr>
      <vt:lpstr>Montserrat</vt:lpstr>
      <vt:lpstr>Wingdings</vt:lpstr>
      <vt:lpstr>Office Theme</vt:lpstr>
      <vt:lpstr>Welcome to CSSE 220</vt:lpstr>
      <vt:lpstr>System.out.println("Welcome to CSSE 220!");</vt:lpstr>
      <vt:lpstr>Course Introduction, Starting with Java</vt:lpstr>
      <vt:lpstr>Agenda</vt:lpstr>
      <vt:lpstr>Goals for this course</vt:lpstr>
      <vt:lpstr>If you didn’t follow emailed instructions yet,  see the “Getting Started” section on the Moodle page or view the “SettingUpEnvironment” slides:  https://github.com/RHIT-CSSE/csse220/tree/master/ClassMaterials/JavaIntro/Slides  </vt:lpstr>
      <vt:lpstr>A note on our backgrounds</vt:lpstr>
      <vt:lpstr>PowerPoint Presentation</vt:lpstr>
      <vt:lpstr>Instructor Info</vt:lpstr>
      <vt:lpstr>PowerPoint Presentation</vt:lpstr>
      <vt:lpstr>Instructor Info</vt:lpstr>
      <vt:lpstr>Introductions</vt:lpstr>
      <vt:lpstr>How to get help</vt:lpstr>
      <vt:lpstr>Quick Moodle tour</vt:lpstr>
      <vt:lpstr>Can we just Java already?</vt:lpstr>
      <vt:lpstr>Let’s get to know each other</vt:lpstr>
      <vt:lpstr>Instructor Info</vt:lpstr>
      <vt:lpstr>Instructor Info</vt:lpstr>
      <vt:lpstr>Instructor Info</vt:lpstr>
      <vt:lpstr>Instructor Info</vt:lpstr>
      <vt:lpstr>Instructor Info</vt:lpstr>
      <vt:lpstr>Instructor Info</vt:lpstr>
      <vt:lpstr>Instructor Info</vt:lpstr>
      <vt:lpstr>Instructor Info</vt:lpstr>
      <vt:lpstr>Instructor Info</vt:lpstr>
      <vt:lpstr>Instructor Info</vt:lpstr>
      <vt:lpstr>Instructor Info</vt:lpstr>
      <vt:lpstr>Should I really call my Professor Buffalo?</vt:lpstr>
      <vt:lpstr>Instructor Info</vt:lpstr>
      <vt:lpstr>PowerPoint Presentation</vt:lpstr>
      <vt:lpstr>PowerPoint Presentation</vt:lpstr>
      <vt:lpstr>PowerPoint Presentation</vt:lpstr>
      <vt:lpstr>Instructor Info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CSSE 220</dc:title>
  <dc:creator>Microsoft Office User</dc:creator>
  <cp:lastModifiedBy>Ludden, Ian</cp:lastModifiedBy>
  <cp:revision>22</cp:revision>
  <dcterms:created xsi:type="dcterms:W3CDTF">2020-09-01T22:38:51Z</dcterms:created>
  <dcterms:modified xsi:type="dcterms:W3CDTF">2026-08-26T20:57:20Z</dcterms:modified>
</cp:coreProperties>
</file>