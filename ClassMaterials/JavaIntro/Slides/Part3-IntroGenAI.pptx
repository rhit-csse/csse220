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53" r:id="rId2"/>
    <p:sldId id="308" r:id="rId3"/>
    <p:sldId id="309" r:id="rId4"/>
    <p:sldId id="327" r:id="rId5"/>
    <p:sldId id="328" r:id="rId6"/>
    <p:sldId id="325" r:id="rId7"/>
    <p:sldId id="326" r:id="rId8"/>
    <p:sldId id="329" r:id="rId9"/>
    <p:sldId id="330" r:id="rId10"/>
    <p:sldId id="256" r:id="rId11"/>
    <p:sldId id="351" r:id="rId12"/>
    <p:sldId id="35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0CD9E7-4D7B-46B1-BA25-97D00ACF8C0E}" type="datetimeFigureOut">
              <a:rPr lang="en-US" smtClean="0"/>
              <a:t>8/26/2026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6EB09F-36C4-4964-83B8-FC398C05559C}" type="slidenum">
              <a:rPr lang="en-US" smtClean="0"/>
              <a:t>‹#›</a:t>
            </a:fld>
            <a:endParaRPr lang="en-US"/>
          </a:p>
        </p:txBody>
      </p:sp>
    </p:spTree>
    <p:extLst>
      <p:ext uri="{BB962C8B-B14F-4D97-AF65-F5344CB8AC3E}">
        <p14:creationId xmlns:p14="http://schemas.microsoft.com/office/powerpoint/2010/main" val="1916797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actual output from ChatGPT 5.1 retrieved in August 2025. At the time this was the latest, most powerful model from OpenAI. The longer you look, the more you see. </a:t>
            </a:r>
            <a:br>
              <a:rPr lang="en-US" dirty="0"/>
            </a:br>
            <a:r>
              <a:rPr lang="en-US" dirty="0"/>
              <a:t>Point out the in-your-face parallel: we only spot these things because we know stuff about elephants. Students who don’t know anything about code will be like people who don’t know anything about elephants looking at this slide.</a:t>
            </a:r>
          </a:p>
        </p:txBody>
      </p:sp>
    </p:spTree>
    <p:extLst>
      <p:ext uri="{BB962C8B-B14F-4D97-AF65-F5344CB8AC3E}">
        <p14:creationId xmlns:p14="http://schemas.microsoft.com/office/powerpoint/2010/main" val="2422822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no-AI course. The reason is simple: you don’t learn nearly as much. </a:t>
            </a:r>
          </a:p>
        </p:txBody>
      </p:sp>
    </p:spTree>
    <p:extLst>
      <p:ext uri="{BB962C8B-B14F-4D97-AF65-F5344CB8AC3E}">
        <p14:creationId xmlns:p14="http://schemas.microsoft.com/office/powerpoint/2010/main" val="1858652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paper from Anthropic, the makers of Claude. It shows that many (most?) people, when they use AI, use it in a way that compromises skill acquisition. </a:t>
            </a:r>
            <a:br>
              <a:rPr lang="en-US" dirty="0"/>
            </a:br>
            <a:endParaRPr lang="en-US" dirty="0"/>
          </a:p>
          <a:p>
            <a:r>
              <a:rPr lang="en-US" dirty="0"/>
              <a:t>If you read the abstract more closely, there were some participants who used AI differently and “preserved cognitive engagement”, but this doesn’t seem to be most people’s default.</a:t>
            </a:r>
          </a:p>
        </p:txBody>
      </p:sp>
    </p:spTree>
    <p:extLst>
      <p:ext uri="{BB962C8B-B14F-4D97-AF65-F5344CB8AC3E}">
        <p14:creationId xmlns:p14="http://schemas.microsoft.com/office/powerpoint/2010/main" val="2083555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this study, MIT researchers had college students write essays while hooked up to brain scanners (fMRI). Some students wrote “Brain-only”, others were allowed to use web search, and others were instructed to use an LLM as much as they wanted. </a:t>
            </a:r>
          </a:p>
          <a:p>
            <a:endParaRPr lang="en-US" dirty="0"/>
          </a:p>
          <a:p>
            <a:r>
              <a:rPr lang="en-US" dirty="0"/>
              <a:t>It turns out you can see the difference. LLM users’ brains showed lower levels of cognitive activity, and the patterns they did show were less connected across the brain. Most concerningly, when the study was continued for a longer period of time, the LLM users consistently underperformed.</a:t>
            </a:r>
          </a:p>
        </p:txBody>
      </p:sp>
    </p:spTree>
    <p:extLst>
      <p:ext uri="{BB962C8B-B14F-4D97-AF65-F5344CB8AC3E}">
        <p14:creationId xmlns:p14="http://schemas.microsoft.com/office/powerpoint/2010/main" val="2791924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D5F2-51DD-777E-A157-8A62AF57D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E5243-331E-CF95-BC7E-38ABE4E78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72D49B-03E7-0B13-BEB1-1C7375BDD297}"/>
              </a:ext>
            </a:extLst>
          </p:cNvPr>
          <p:cNvSpPr>
            <a:spLocks noGrp="1"/>
          </p:cNvSpPr>
          <p:nvPr>
            <p:ph type="body" idx="1"/>
          </p:nvPr>
        </p:nvSpPr>
        <p:spPr/>
        <p:txBody>
          <a:bodyPr/>
          <a:lstStyle/>
          <a:p>
            <a:r>
              <a:rPr lang="en-US"/>
              <a:t>But there’s another layer to this. Someone without any coding skills can muddle through an AI session and get something that sort of works. But someone else with real skills, using the same AI system, will be able to create a much better solution, or solve a much harder problem. AI doesn’t replace skills. It augments them. The more skilled you are, the more benefit you’ll see.</a:t>
            </a:r>
          </a:p>
        </p:txBody>
      </p:sp>
    </p:spTree>
    <p:extLst>
      <p:ext uri="{BB962C8B-B14F-4D97-AF65-F5344CB8AC3E}">
        <p14:creationId xmlns:p14="http://schemas.microsoft.com/office/powerpoint/2010/main" val="632895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78301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E93AF-3434-63AC-5982-0966D222C4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B1650B-66E2-119A-9AF2-FA1734C68B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006929-F2E8-BA28-C055-0D8B2C69D3AE}"/>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5" name="Footer Placeholder 4">
            <a:extLst>
              <a:ext uri="{FF2B5EF4-FFF2-40B4-BE49-F238E27FC236}">
                <a16:creationId xmlns:a16="http://schemas.microsoft.com/office/drawing/2014/main" id="{B76557E6-A558-13D2-CDB9-B4DF76F906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BBC36-F1E7-BCDA-4269-5D2E19F00AF3}"/>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3063066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467E-F8F6-B159-7BEC-310F498255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1F7FB9-79DA-9330-8FEF-B338E689B9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96B365-67D5-CF29-863A-571BD3151173}"/>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5" name="Footer Placeholder 4">
            <a:extLst>
              <a:ext uri="{FF2B5EF4-FFF2-40B4-BE49-F238E27FC236}">
                <a16:creationId xmlns:a16="http://schemas.microsoft.com/office/drawing/2014/main" id="{31B90E99-8AA7-4C10-A7B1-EF82F68DF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91CEF8-22CA-4293-E195-5100FAE6ECF2}"/>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2029472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41539-52BE-1C64-D9A6-CEE6653C99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E9449-327D-9C44-04AE-D644EF3ADF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DF089A-3B35-880A-B32E-F116E1370985}"/>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5" name="Footer Placeholder 4">
            <a:extLst>
              <a:ext uri="{FF2B5EF4-FFF2-40B4-BE49-F238E27FC236}">
                <a16:creationId xmlns:a16="http://schemas.microsoft.com/office/drawing/2014/main" id="{1F746F19-5AF9-FA26-08BC-72563F7D98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34384-AEDE-9F9F-C76D-B44DDF1A16E0}"/>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2064291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88FD1-B3DD-DE68-D765-A80FB10FAE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7C9D45-E971-057D-F06A-AF8A8C7D44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55DEDD-A1C1-DA5B-8EC2-D4869561C3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2F34B8-31EC-7EA5-E58C-106EA755E220}"/>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6" name="Footer Placeholder 5">
            <a:extLst>
              <a:ext uri="{FF2B5EF4-FFF2-40B4-BE49-F238E27FC236}">
                <a16:creationId xmlns:a16="http://schemas.microsoft.com/office/drawing/2014/main" id="{C044DAC2-4AA0-D738-5598-8D85D167B2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415975-1B45-880F-8080-2F61CC8156C2}"/>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2503520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DA827-7D28-E3BF-850E-E3C9094E74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1369E1-BC51-FD65-2763-13901BCDD6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F9F148-0B25-C010-CC2F-AB84CDC643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EF9CBA-AB2A-3439-4902-A076ABCBA2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AA5913-1025-AB2D-D1C1-1EF5E83D56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C26993-5BE3-1DD3-ABF7-47880F78DB6B}"/>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8" name="Footer Placeholder 7">
            <a:extLst>
              <a:ext uri="{FF2B5EF4-FFF2-40B4-BE49-F238E27FC236}">
                <a16:creationId xmlns:a16="http://schemas.microsoft.com/office/drawing/2014/main" id="{9C8C6AAD-95AA-1208-EE88-26AF6DEACA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B5AB9B-0ACA-609B-5A9D-6A930C20647D}"/>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15358013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2FEFE-1603-A82A-B8B7-F591CA4F58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2BCB2C-7F1E-74C6-3774-5CF031947CF8}"/>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4" name="Footer Placeholder 3">
            <a:extLst>
              <a:ext uri="{FF2B5EF4-FFF2-40B4-BE49-F238E27FC236}">
                <a16:creationId xmlns:a16="http://schemas.microsoft.com/office/drawing/2014/main" id="{9EC2428B-6F2D-0759-2942-C045576CD7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50C3F6-E02C-6D75-5FCC-010FE1BC0CDD}"/>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753797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5E4357-60E1-AE69-C30E-69BDDECA8A04}"/>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3" name="Footer Placeholder 2">
            <a:extLst>
              <a:ext uri="{FF2B5EF4-FFF2-40B4-BE49-F238E27FC236}">
                <a16:creationId xmlns:a16="http://schemas.microsoft.com/office/drawing/2014/main" id="{25E2F262-106F-889B-4E71-059354B57B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5329B2-CAC9-E55A-F02D-54047FAB6BDD}"/>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345718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238FF-5DF7-A770-D975-80CC5FBB57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EE944E-BC9F-5877-1528-CD0B983D4A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E886BA-5C6A-B8FF-2996-5841630F40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D49901-7A60-6D05-7B48-E604AAB6BA82}"/>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6" name="Footer Placeholder 5">
            <a:extLst>
              <a:ext uri="{FF2B5EF4-FFF2-40B4-BE49-F238E27FC236}">
                <a16:creationId xmlns:a16="http://schemas.microsoft.com/office/drawing/2014/main" id="{F25A5273-7D19-AEE7-2C19-6125A42399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99414B-38F4-3DFD-8FDA-08DF12881DE8}"/>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363731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B0613-DC55-81AA-8EFF-54DBFB8D86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87C706-56B6-6A9B-A2B5-500B8D6475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2889DE-05A2-BCBE-534E-0D4D86EB58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F14735-E221-FA20-A564-85B093B32D14}"/>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6" name="Footer Placeholder 5">
            <a:extLst>
              <a:ext uri="{FF2B5EF4-FFF2-40B4-BE49-F238E27FC236}">
                <a16:creationId xmlns:a16="http://schemas.microsoft.com/office/drawing/2014/main" id="{3481D5AE-397E-A502-A6FE-1FE0AB13AF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C5F27-E767-ECE2-7DEC-66180BD0B390}"/>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4225094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B5393-CDE7-AA41-20AF-82A55378CB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63DD5E-E0E3-7824-B3C1-1AB4D58B0F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71423E-45A7-0CA9-8ADA-0B34E1E66CE7}"/>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5" name="Footer Placeholder 4">
            <a:extLst>
              <a:ext uri="{FF2B5EF4-FFF2-40B4-BE49-F238E27FC236}">
                <a16:creationId xmlns:a16="http://schemas.microsoft.com/office/drawing/2014/main" id="{DBB7694E-C431-3EB8-C018-D3F0B14C5A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EC694-CACF-4F48-B059-6EF290B2EB21}"/>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3953845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C85893-3F49-4343-53A0-B8BCAB3573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C8D7AE-13CC-BD8D-033A-64EF9142AC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9572A1-4017-E70E-3850-1223F6FFBCFE}"/>
              </a:ext>
            </a:extLst>
          </p:cNvPr>
          <p:cNvSpPr>
            <a:spLocks noGrp="1"/>
          </p:cNvSpPr>
          <p:nvPr>
            <p:ph type="dt" sz="half" idx="10"/>
          </p:nvPr>
        </p:nvSpPr>
        <p:spPr/>
        <p:txBody>
          <a:bodyPr/>
          <a:lstStyle/>
          <a:p>
            <a:fld id="{F780F4D6-6702-4D87-B94D-8397A2559F4B}" type="datetimeFigureOut">
              <a:rPr lang="en-US" smtClean="0"/>
              <a:t>8/26/2026</a:t>
            </a:fld>
            <a:endParaRPr lang="en-US"/>
          </a:p>
        </p:txBody>
      </p:sp>
      <p:sp>
        <p:nvSpPr>
          <p:cNvPr id="5" name="Footer Placeholder 4">
            <a:extLst>
              <a:ext uri="{FF2B5EF4-FFF2-40B4-BE49-F238E27FC236}">
                <a16:creationId xmlns:a16="http://schemas.microsoft.com/office/drawing/2014/main" id="{973A6494-5FB9-124B-2EA9-D0DB36EAB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CDB89A-1942-47C3-4490-E04AB9084F22}"/>
              </a:ext>
            </a:extLst>
          </p:cNvPr>
          <p:cNvSpPr>
            <a:spLocks noGrp="1"/>
          </p:cNvSpPr>
          <p:nvPr>
            <p:ph type="sldNum" sz="quarter" idx="12"/>
          </p:nvPr>
        </p:nvSpPr>
        <p:spPr/>
        <p:txBody>
          <a:bodyPr/>
          <a:lstStyle/>
          <a:p>
            <a:fld id="{30533AFE-BCBE-43B7-B176-5CB93DDCF9A6}" type="slidenum">
              <a:rPr lang="en-US" smtClean="0"/>
              <a:t>‹#›</a:t>
            </a:fld>
            <a:endParaRPr lang="en-US"/>
          </a:p>
        </p:txBody>
      </p:sp>
    </p:spTree>
    <p:extLst>
      <p:ext uri="{BB962C8B-B14F-4D97-AF65-F5344CB8AC3E}">
        <p14:creationId xmlns:p14="http://schemas.microsoft.com/office/powerpoint/2010/main" val="13490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283A7-C4D1-FD71-9B77-2AD13DD103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02D7C0-1AEC-3E44-F04A-4939C915DB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720D61-AEED-26AA-7908-C3711B404E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80F4D6-6702-4D87-B94D-8397A2559F4B}" type="datetimeFigureOut">
              <a:rPr lang="en-US" smtClean="0"/>
              <a:t>8/26/2026</a:t>
            </a:fld>
            <a:endParaRPr lang="en-US"/>
          </a:p>
        </p:txBody>
      </p:sp>
      <p:sp>
        <p:nvSpPr>
          <p:cNvPr id="5" name="Footer Placeholder 4">
            <a:extLst>
              <a:ext uri="{FF2B5EF4-FFF2-40B4-BE49-F238E27FC236}">
                <a16:creationId xmlns:a16="http://schemas.microsoft.com/office/drawing/2014/main" id="{A3E33D54-5707-1306-B9D0-3372B820C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39459E3-84CD-07F7-1BE6-2CED884804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533AFE-BCBE-43B7-B176-5CB93DDCF9A6}" type="slidenum">
              <a:rPr lang="en-US" smtClean="0"/>
              <a:t>‹#›</a:t>
            </a:fld>
            <a:endParaRPr lang="en-US"/>
          </a:p>
        </p:txBody>
      </p:sp>
    </p:spTree>
    <p:extLst>
      <p:ext uri="{BB962C8B-B14F-4D97-AF65-F5344CB8AC3E}">
        <p14:creationId xmlns:p14="http://schemas.microsoft.com/office/powerpoint/2010/main" val="3989786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arxiv.org/html/2601.20245v1"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icons8.com/icons/set/robot-face" TargetMode="External"/><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ianludden.com/csse220-genai-guid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D6671-7C73-5244-50B0-3AAD3055582A}"/>
              </a:ext>
            </a:extLst>
          </p:cNvPr>
          <p:cNvSpPr>
            <a:spLocks noGrp="1"/>
          </p:cNvSpPr>
          <p:nvPr>
            <p:ph type="ctrTitle"/>
          </p:nvPr>
        </p:nvSpPr>
        <p:spPr>
          <a:xfrm>
            <a:off x="1524000" y="674307"/>
            <a:ext cx="9144000" cy="2387600"/>
          </a:xfrm>
        </p:spPr>
        <p:txBody>
          <a:bodyPr>
            <a:normAutofit fontScale="90000"/>
          </a:bodyPr>
          <a:lstStyle/>
          <a:p>
            <a:r>
              <a:rPr lang="en-US" dirty="0"/>
              <a:t>Introduction to generative artificial intelligence (genAI) </a:t>
            </a:r>
            <a:br>
              <a:rPr lang="en-US" dirty="0"/>
            </a:br>
            <a:r>
              <a:rPr lang="en-US" dirty="0"/>
              <a:t>for CSSE 220</a:t>
            </a:r>
          </a:p>
        </p:txBody>
      </p:sp>
      <p:sp>
        <p:nvSpPr>
          <p:cNvPr id="3" name="Subtitle 2">
            <a:extLst>
              <a:ext uri="{FF2B5EF4-FFF2-40B4-BE49-F238E27FC236}">
                <a16:creationId xmlns:a16="http://schemas.microsoft.com/office/drawing/2014/main" id="{1952C22C-77B2-9597-D33A-B2A0F6DFFC98}"/>
              </a:ext>
            </a:extLst>
          </p:cNvPr>
          <p:cNvSpPr>
            <a:spLocks noGrp="1"/>
          </p:cNvSpPr>
          <p:nvPr>
            <p:ph type="subTitle" idx="1"/>
          </p:nvPr>
        </p:nvSpPr>
        <p:spPr>
          <a:xfrm>
            <a:off x="1524000" y="5735637"/>
            <a:ext cx="9144000" cy="375602"/>
          </a:xfrm>
        </p:spPr>
        <p:txBody>
          <a:bodyPr>
            <a:normAutofit/>
          </a:bodyPr>
          <a:lstStyle/>
          <a:p>
            <a:r>
              <a:rPr lang="en-US" sz="1800" i="1" dirty="0"/>
              <a:t>Several of these slides are adapted from a presentation by Dr. Kyle Wilson for ME 123. </a:t>
            </a:r>
          </a:p>
        </p:txBody>
      </p:sp>
    </p:spTree>
    <p:extLst>
      <p:ext uri="{BB962C8B-B14F-4D97-AF65-F5344CB8AC3E}">
        <p14:creationId xmlns:p14="http://schemas.microsoft.com/office/powerpoint/2010/main" val="327105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E244D6-B406-AAA8-B7C8-C1073214B451}"/>
              </a:ext>
            </a:extLst>
          </p:cNvPr>
          <p:cNvSpPr>
            <a:spLocks noGrp="1"/>
          </p:cNvSpPr>
          <p:nvPr>
            <p:ph type="sldNum" sz="quarter" idx="12"/>
          </p:nvPr>
        </p:nvSpPr>
        <p:spPr/>
        <p:txBody>
          <a:bodyPr/>
          <a:lstStyle/>
          <a:p>
            <a:fld id="{3E7D4C38-E5ED-4E8B-8970-7FB63084B71C}" type="slidenum">
              <a:rPr lang="en-US" smtClean="0"/>
              <a:pPr/>
              <a:t>2</a:t>
            </a:fld>
            <a:endParaRPr lang="en-US"/>
          </a:p>
        </p:txBody>
      </p:sp>
      <p:pic>
        <p:nvPicPr>
          <p:cNvPr id="8" name="Content Placeholder 7">
            <a:extLst>
              <a:ext uri="{FF2B5EF4-FFF2-40B4-BE49-F238E27FC236}">
                <a16:creationId xmlns:a16="http://schemas.microsoft.com/office/drawing/2014/main" id="{C83F6FB4-DDC9-792C-D7A2-43F526D5006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2386203" y="1259570"/>
            <a:ext cx="7419594" cy="5461905"/>
          </a:xfrm>
          <a:prstGeom prst="rect">
            <a:avLst/>
          </a:prstGeom>
          <a:noFill/>
          <a:ln w="9525">
            <a:noFill/>
            <a:miter lim="800000"/>
            <a:headEnd/>
            <a:tailEnd/>
          </a:ln>
          <a:effectLst/>
        </p:spPr>
      </p:pic>
      <p:sp>
        <p:nvSpPr>
          <p:cNvPr id="5" name="Title 4">
            <a:extLst>
              <a:ext uri="{FF2B5EF4-FFF2-40B4-BE49-F238E27FC236}">
                <a16:creationId xmlns:a16="http://schemas.microsoft.com/office/drawing/2014/main" id="{5E79D678-992A-DD90-8FD3-D993856F2C33}"/>
              </a:ext>
            </a:extLst>
          </p:cNvPr>
          <p:cNvSpPr>
            <a:spLocks noGrp="1"/>
          </p:cNvSpPr>
          <p:nvPr>
            <p:ph type="title"/>
          </p:nvPr>
        </p:nvSpPr>
        <p:spPr/>
        <p:txBody>
          <a:bodyPr/>
          <a:lstStyle/>
          <a:p>
            <a:r>
              <a:rPr lang="en-US" dirty="0"/>
              <a:t>Rosie’s anatomy?</a:t>
            </a:r>
          </a:p>
        </p:txBody>
      </p:sp>
    </p:spTree>
    <p:extLst>
      <p:ext uri="{BB962C8B-B14F-4D97-AF65-F5344CB8AC3E}">
        <p14:creationId xmlns:p14="http://schemas.microsoft.com/office/powerpoint/2010/main" val="1847062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Connector 36">
            <a:extLst>
              <a:ext uri="{FF2B5EF4-FFF2-40B4-BE49-F238E27FC236}">
                <a16:creationId xmlns:a16="http://schemas.microsoft.com/office/drawing/2014/main" id="{6F9FCF53-9EEA-77BA-AE64-6DB1F1697685}"/>
              </a:ext>
            </a:extLst>
          </p:cNvPr>
          <p:cNvCxnSpPr>
            <a:cxnSpLocks/>
          </p:cNvCxnSpPr>
          <p:nvPr/>
        </p:nvCxnSpPr>
        <p:spPr>
          <a:xfrm flipV="1">
            <a:off x="3558540" y="4776628"/>
            <a:ext cx="4044791" cy="296606"/>
          </a:xfrm>
          <a:prstGeom prst="line">
            <a:avLst/>
          </a:prstGeom>
          <a:ln w="254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766C58A2-AA9A-48C3-C740-BEABF733E066}"/>
              </a:ext>
            </a:extLst>
          </p:cNvPr>
          <p:cNvSpPr>
            <a:spLocks noGrp="1"/>
          </p:cNvSpPr>
          <p:nvPr>
            <p:ph type="sldNum" sz="quarter" idx="12"/>
          </p:nvPr>
        </p:nvSpPr>
        <p:spPr/>
        <p:txBody>
          <a:bodyPr/>
          <a:lstStyle/>
          <a:p>
            <a:fld id="{3E7D4C38-E5ED-4E8B-8970-7FB63084B71C}" type="slidenum">
              <a:rPr lang="en-US" smtClean="0"/>
              <a:pPr/>
              <a:t>3</a:t>
            </a:fld>
            <a:endParaRPr lang="en-US"/>
          </a:p>
        </p:txBody>
      </p:sp>
      <p:sp>
        <p:nvSpPr>
          <p:cNvPr id="6" name="Title 5">
            <a:extLst>
              <a:ext uri="{FF2B5EF4-FFF2-40B4-BE49-F238E27FC236}">
                <a16:creationId xmlns:a16="http://schemas.microsoft.com/office/drawing/2014/main" id="{E45165C0-B445-3D65-D516-0463C14127FC}"/>
              </a:ext>
            </a:extLst>
          </p:cNvPr>
          <p:cNvSpPr>
            <a:spLocks noGrp="1"/>
          </p:cNvSpPr>
          <p:nvPr>
            <p:ph type="title"/>
          </p:nvPr>
        </p:nvSpPr>
        <p:spPr/>
        <p:txBody>
          <a:bodyPr/>
          <a:lstStyle/>
          <a:p>
            <a:r>
              <a:rPr lang="en-US"/>
              <a:t>When you use AI in this course:</a:t>
            </a:r>
          </a:p>
        </p:txBody>
      </p:sp>
      <p:cxnSp>
        <p:nvCxnSpPr>
          <p:cNvPr id="10" name="Straight Connector 9">
            <a:extLst>
              <a:ext uri="{FF2B5EF4-FFF2-40B4-BE49-F238E27FC236}">
                <a16:creationId xmlns:a16="http://schemas.microsoft.com/office/drawing/2014/main" id="{CDCB76EC-A67F-4F3B-B832-4051018D1B3F}"/>
              </a:ext>
            </a:extLst>
          </p:cNvPr>
          <p:cNvCxnSpPr>
            <a:cxnSpLocks/>
          </p:cNvCxnSpPr>
          <p:nvPr/>
        </p:nvCxnSpPr>
        <p:spPr>
          <a:xfrm>
            <a:off x="3078480" y="5280660"/>
            <a:ext cx="6387622" cy="0"/>
          </a:xfrm>
          <a:prstGeom prst="line">
            <a:avLst/>
          </a:prstGeom>
          <a:ln w="57150">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F60F024-8F21-D71F-25FC-628564A97C75}"/>
              </a:ext>
            </a:extLst>
          </p:cNvPr>
          <p:cNvCxnSpPr>
            <a:cxnSpLocks/>
          </p:cNvCxnSpPr>
          <p:nvPr/>
        </p:nvCxnSpPr>
        <p:spPr>
          <a:xfrm flipV="1">
            <a:off x="3088162" y="1577340"/>
            <a:ext cx="0" cy="3723089"/>
          </a:xfrm>
          <a:prstGeom prst="line">
            <a:avLst/>
          </a:prstGeom>
          <a:ln w="57150">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ABB6D084-239F-9F69-BAE5-F63107A5D80E}"/>
              </a:ext>
            </a:extLst>
          </p:cNvPr>
          <p:cNvSpPr txBox="1"/>
          <p:nvPr/>
        </p:nvSpPr>
        <p:spPr>
          <a:xfrm>
            <a:off x="8907781" y="5256440"/>
            <a:ext cx="754377" cy="341632"/>
          </a:xfrm>
          <a:prstGeom prst="rect">
            <a:avLst/>
          </a:prstGeom>
          <a:noFill/>
        </p:spPr>
        <p:txBody>
          <a:bodyPr wrap="square" rtlCol="0">
            <a:spAutoFit/>
          </a:bodyPr>
          <a:lstStyle/>
          <a:p>
            <a:r>
              <a:rPr lang="en-US" sz="1620">
                <a:latin typeface="Aptos" panose="020B0004020202020204" pitchFamily="34" charset="0"/>
              </a:rPr>
              <a:t>time</a:t>
            </a:r>
          </a:p>
        </p:txBody>
      </p:sp>
      <p:sp>
        <p:nvSpPr>
          <p:cNvPr id="18" name="TextBox 17">
            <a:extLst>
              <a:ext uri="{FF2B5EF4-FFF2-40B4-BE49-F238E27FC236}">
                <a16:creationId xmlns:a16="http://schemas.microsoft.com/office/drawing/2014/main" id="{A04C0658-FF76-4D4C-E7CF-8E23E3611DC9}"/>
              </a:ext>
            </a:extLst>
          </p:cNvPr>
          <p:cNvSpPr txBox="1"/>
          <p:nvPr/>
        </p:nvSpPr>
        <p:spPr>
          <a:xfrm rot="16200000">
            <a:off x="1944903" y="2994706"/>
            <a:ext cx="1851657" cy="341632"/>
          </a:xfrm>
          <a:prstGeom prst="rect">
            <a:avLst/>
          </a:prstGeom>
          <a:noFill/>
        </p:spPr>
        <p:txBody>
          <a:bodyPr wrap="square" rtlCol="0">
            <a:spAutoFit/>
          </a:bodyPr>
          <a:lstStyle/>
          <a:p>
            <a:r>
              <a:rPr lang="en-US" sz="1620">
                <a:latin typeface="Aptos" panose="020B0004020202020204" pitchFamily="34" charset="0"/>
              </a:rPr>
              <a:t>Coding ability</a:t>
            </a:r>
          </a:p>
        </p:txBody>
      </p:sp>
      <p:cxnSp>
        <p:nvCxnSpPr>
          <p:cNvPr id="19" name="Straight Connector 18">
            <a:extLst>
              <a:ext uri="{FF2B5EF4-FFF2-40B4-BE49-F238E27FC236}">
                <a16:creationId xmlns:a16="http://schemas.microsoft.com/office/drawing/2014/main" id="{1F48F3F1-9E96-B204-C1BC-94A052CB55D6}"/>
              </a:ext>
            </a:extLst>
          </p:cNvPr>
          <p:cNvCxnSpPr>
            <a:cxnSpLocks/>
          </p:cNvCxnSpPr>
          <p:nvPr/>
        </p:nvCxnSpPr>
        <p:spPr>
          <a:xfrm flipV="1">
            <a:off x="3558540" y="5167906"/>
            <a:ext cx="0" cy="225509"/>
          </a:xfrm>
          <a:prstGeom prst="line">
            <a:avLst/>
          </a:prstGeom>
          <a:ln w="381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6CA15218-3C62-59F9-A9DB-1024D5B389EC}"/>
              </a:ext>
            </a:extLst>
          </p:cNvPr>
          <p:cNvCxnSpPr>
            <a:cxnSpLocks/>
          </p:cNvCxnSpPr>
          <p:nvPr/>
        </p:nvCxnSpPr>
        <p:spPr>
          <a:xfrm flipV="1">
            <a:off x="7604760" y="5154190"/>
            <a:ext cx="0" cy="225509"/>
          </a:xfrm>
          <a:prstGeom prst="line">
            <a:avLst/>
          </a:prstGeom>
          <a:ln w="381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0346333-47BD-D401-F128-D54D76862531}"/>
              </a:ext>
            </a:extLst>
          </p:cNvPr>
          <p:cNvSpPr txBox="1"/>
          <p:nvPr/>
        </p:nvSpPr>
        <p:spPr>
          <a:xfrm>
            <a:off x="3288219" y="5378455"/>
            <a:ext cx="677799" cy="341632"/>
          </a:xfrm>
          <a:prstGeom prst="rect">
            <a:avLst/>
          </a:prstGeom>
          <a:noFill/>
        </p:spPr>
        <p:txBody>
          <a:bodyPr wrap="square" rtlCol="0">
            <a:spAutoFit/>
          </a:bodyPr>
          <a:lstStyle/>
          <a:p>
            <a:r>
              <a:rPr lang="en-US" sz="1620">
                <a:latin typeface="Aptos" panose="020B0004020202020204" pitchFamily="34" charset="0"/>
              </a:rPr>
              <a:t>now</a:t>
            </a:r>
          </a:p>
        </p:txBody>
      </p:sp>
      <p:sp>
        <p:nvSpPr>
          <p:cNvPr id="23" name="TextBox 22">
            <a:extLst>
              <a:ext uri="{FF2B5EF4-FFF2-40B4-BE49-F238E27FC236}">
                <a16:creationId xmlns:a16="http://schemas.microsoft.com/office/drawing/2014/main" id="{FD369EFC-2C89-D1B6-16C1-3332D38CC32A}"/>
              </a:ext>
            </a:extLst>
          </p:cNvPr>
          <p:cNvSpPr txBox="1"/>
          <p:nvPr/>
        </p:nvSpPr>
        <p:spPr>
          <a:xfrm>
            <a:off x="6987540" y="5349240"/>
            <a:ext cx="1440180" cy="341632"/>
          </a:xfrm>
          <a:prstGeom prst="rect">
            <a:avLst/>
          </a:prstGeom>
          <a:noFill/>
        </p:spPr>
        <p:txBody>
          <a:bodyPr wrap="square" rtlCol="0">
            <a:spAutoFit/>
          </a:bodyPr>
          <a:lstStyle/>
          <a:p>
            <a:r>
              <a:rPr lang="en-US" sz="1620">
                <a:latin typeface="Aptos" panose="020B0004020202020204" pitchFamily="34" charset="0"/>
              </a:rPr>
              <a:t>end of course</a:t>
            </a:r>
          </a:p>
        </p:txBody>
      </p:sp>
      <p:grpSp>
        <p:nvGrpSpPr>
          <p:cNvPr id="34" name="Group 33">
            <a:extLst>
              <a:ext uri="{FF2B5EF4-FFF2-40B4-BE49-F238E27FC236}">
                <a16:creationId xmlns:a16="http://schemas.microsoft.com/office/drawing/2014/main" id="{0F313A7E-CF92-FF36-B8D5-24014A6BCE40}"/>
              </a:ext>
            </a:extLst>
          </p:cNvPr>
          <p:cNvGrpSpPr/>
          <p:nvPr/>
        </p:nvGrpSpPr>
        <p:grpSpPr>
          <a:xfrm>
            <a:off x="3489962" y="3406631"/>
            <a:ext cx="4181947" cy="1736870"/>
            <a:chOff x="2184402" y="3647570"/>
            <a:chExt cx="4646608" cy="1929855"/>
          </a:xfrm>
        </p:grpSpPr>
        <p:cxnSp>
          <p:nvCxnSpPr>
            <p:cNvPr id="27" name="Straight Connector 26">
              <a:extLst>
                <a:ext uri="{FF2B5EF4-FFF2-40B4-BE49-F238E27FC236}">
                  <a16:creationId xmlns:a16="http://schemas.microsoft.com/office/drawing/2014/main" id="{B5EE6086-F997-1986-B480-CCE31C716E99}"/>
                </a:ext>
              </a:extLst>
            </p:cNvPr>
            <p:cNvCxnSpPr>
              <a:cxnSpLocks/>
            </p:cNvCxnSpPr>
            <p:nvPr/>
          </p:nvCxnSpPr>
          <p:spPr>
            <a:xfrm flipV="1">
              <a:off x="2260600" y="3733800"/>
              <a:ext cx="4495800" cy="1767426"/>
            </a:xfrm>
            <a:prstGeom prst="line">
              <a:avLst/>
            </a:prstGeom>
            <a:ln w="254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9A142A7E-C6D9-6CB6-9F65-ABC3FF2714A9}"/>
                </a:ext>
              </a:extLst>
            </p:cNvPr>
            <p:cNvSpPr/>
            <p:nvPr/>
          </p:nvSpPr>
          <p:spPr>
            <a:xfrm>
              <a:off x="2184402" y="5425027"/>
              <a:ext cx="152396" cy="1523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p>
          </p:txBody>
        </p:sp>
        <p:sp>
          <p:nvSpPr>
            <p:cNvPr id="25" name="Oval 24">
              <a:extLst>
                <a:ext uri="{FF2B5EF4-FFF2-40B4-BE49-F238E27FC236}">
                  <a16:creationId xmlns:a16="http://schemas.microsoft.com/office/drawing/2014/main" id="{02ABAA57-C6E2-B4C9-2A5B-338537C92B79}"/>
                </a:ext>
              </a:extLst>
            </p:cNvPr>
            <p:cNvSpPr/>
            <p:nvPr/>
          </p:nvSpPr>
          <p:spPr>
            <a:xfrm>
              <a:off x="6678614" y="3647570"/>
              <a:ext cx="152396" cy="15239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p>
          </p:txBody>
        </p:sp>
      </p:grpSp>
      <p:sp>
        <p:nvSpPr>
          <p:cNvPr id="35" name="TextBox 34">
            <a:extLst>
              <a:ext uri="{FF2B5EF4-FFF2-40B4-BE49-F238E27FC236}">
                <a16:creationId xmlns:a16="http://schemas.microsoft.com/office/drawing/2014/main" id="{0F41A27F-7F79-CD71-0D74-2F4B675077FA}"/>
              </a:ext>
            </a:extLst>
          </p:cNvPr>
          <p:cNvSpPr txBox="1"/>
          <p:nvPr/>
        </p:nvSpPr>
        <p:spPr>
          <a:xfrm rot="20325405">
            <a:off x="4199920" y="3766598"/>
            <a:ext cx="3079911" cy="590931"/>
          </a:xfrm>
          <a:prstGeom prst="rect">
            <a:avLst/>
          </a:prstGeom>
          <a:noFill/>
        </p:spPr>
        <p:txBody>
          <a:bodyPr wrap="square" rtlCol="0">
            <a:spAutoFit/>
          </a:bodyPr>
          <a:lstStyle/>
          <a:p>
            <a:r>
              <a:rPr lang="en-US" sz="1620">
                <a:solidFill>
                  <a:schemeClr val="accent1"/>
                </a:solidFill>
                <a:latin typeface="Aptos" panose="020B0004020202020204" pitchFamily="34" charset="0"/>
              </a:rPr>
              <a:t>If you DON’T use AI in this course</a:t>
            </a:r>
          </a:p>
        </p:txBody>
      </p:sp>
      <p:sp>
        <p:nvSpPr>
          <p:cNvPr id="39" name="Oval 38">
            <a:extLst>
              <a:ext uri="{FF2B5EF4-FFF2-40B4-BE49-F238E27FC236}">
                <a16:creationId xmlns:a16="http://schemas.microsoft.com/office/drawing/2014/main" id="{9BA80D83-0C93-C9D8-1B69-FA3132781747}"/>
              </a:ext>
            </a:extLst>
          </p:cNvPr>
          <p:cNvSpPr/>
          <p:nvPr/>
        </p:nvSpPr>
        <p:spPr>
          <a:xfrm>
            <a:off x="7534753" y="4708049"/>
            <a:ext cx="137156" cy="137158"/>
          </a:xfrm>
          <a:prstGeom prst="ellipse">
            <a:avLst/>
          </a:prstGeom>
          <a:solidFill>
            <a:srgbClr val="FF0000"/>
          </a:solidFill>
          <a:ln>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solidFill>
                <a:srgbClr val="7030A0"/>
              </a:solidFill>
            </a:endParaRPr>
          </a:p>
        </p:txBody>
      </p:sp>
      <p:sp>
        <p:nvSpPr>
          <p:cNvPr id="43" name="TextBox 42">
            <a:extLst>
              <a:ext uri="{FF2B5EF4-FFF2-40B4-BE49-F238E27FC236}">
                <a16:creationId xmlns:a16="http://schemas.microsoft.com/office/drawing/2014/main" id="{89188DDE-9240-01A7-50E8-A0F421C930F2}"/>
              </a:ext>
            </a:extLst>
          </p:cNvPr>
          <p:cNvSpPr txBox="1"/>
          <p:nvPr/>
        </p:nvSpPr>
        <p:spPr>
          <a:xfrm rot="21324707">
            <a:off x="4791655" y="4551679"/>
            <a:ext cx="3079911" cy="341632"/>
          </a:xfrm>
          <a:prstGeom prst="rect">
            <a:avLst/>
          </a:prstGeom>
          <a:noFill/>
        </p:spPr>
        <p:txBody>
          <a:bodyPr wrap="square" rtlCol="0">
            <a:spAutoFit/>
          </a:bodyPr>
          <a:lstStyle/>
          <a:p>
            <a:r>
              <a:rPr lang="en-US" sz="1620">
                <a:solidFill>
                  <a:srgbClr val="FF0000"/>
                </a:solidFill>
                <a:latin typeface="Aptos" panose="020B0004020202020204" pitchFamily="34" charset="0"/>
              </a:rPr>
              <a:t>If you DO use AI in this course</a:t>
            </a:r>
          </a:p>
        </p:txBody>
      </p:sp>
    </p:spTree>
    <p:extLst>
      <p:ext uri="{BB962C8B-B14F-4D97-AF65-F5344CB8AC3E}">
        <p14:creationId xmlns:p14="http://schemas.microsoft.com/office/powerpoint/2010/main" val="446823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53D4E-9981-3BCA-A42C-22BCD71266B6}"/>
              </a:ext>
            </a:extLst>
          </p:cNvPr>
          <p:cNvSpPr>
            <a:spLocks noGrp="1"/>
          </p:cNvSpPr>
          <p:nvPr>
            <p:ph type="title"/>
          </p:nvPr>
        </p:nvSpPr>
        <p:spPr/>
        <p:txBody>
          <a:bodyPr/>
          <a:lstStyle/>
          <a:p>
            <a:r>
              <a:rPr lang="en-US"/>
              <a:t>What does the research say?</a:t>
            </a:r>
          </a:p>
        </p:txBody>
      </p:sp>
      <p:sp>
        <p:nvSpPr>
          <p:cNvPr id="3" name="Content Placeholder 2">
            <a:extLst>
              <a:ext uri="{FF2B5EF4-FFF2-40B4-BE49-F238E27FC236}">
                <a16:creationId xmlns:a16="http://schemas.microsoft.com/office/drawing/2014/main" id="{CB17E493-F78D-AFE1-EC4E-6D03BD423058}"/>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2F1248A-20EF-B24D-E0FD-4BF89AFC54C8}"/>
              </a:ext>
            </a:extLst>
          </p:cNvPr>
          <p:cNvSpPr>
            <a:spLocks noGrp="1"/>
          </p:cNvSpPr>
          <p:nvPr>
            <p:ph type="sldNum" sz="quarter" idx="12"/>
          </p:nvPr>
        </p:nvSpPr>
        <p:spPr/>
        <p:txBody>
          <a:bodyPr/>
          <a:lstStyle/>
          <a:p>
            <a:fld id="{3E7D4C38-E5ED-4E8B-8970-7FB63084B71C}" type="slidenum">
              <a:rPr lang="en-US" smtClean="0"/>
              <a:pPr/>
              <a:t>4</a:t>
            </a:fld>
            <a:endParaRPr lang="en-US"/>
          </a:p>
        </p:txBody>
      </p:sp>
      <p:pic>
        <p:nvPicPr>
          <p:cNvPr id="6" name="Picture 5">
            <a:extLst>
              <a:ext uri="{FF2B5EF4-FFF2-40B4-BE49-F238E27FC236}">
                <a16:creationId xmlns:a16="http://schemas.microsoft.com/office/drawing/2014/main" id="{50CC6DE0-9586-867D-5B0D-2921BE1B5C22}"/>
              </a:ext>
            </a:extLst>
          </p:cNvPr>
          <p:cNvPicPr>
            <a:picLocks noChangeAspect="1"/>
          </p:cNvPicPr>
          <p:nvPr/>
        </p:nvPicPr>
        <p:blipFill>
          <a:blip r:embed="rId3"/>
          <a:stretch>
            <a:fillRect/>
          </a:stretch>
        </p:blipFill>
        <p:spPr>
          <a:xfrm>
            <a:off x="2129790" y="1333937"/>
            <a:ext cx="7932420" cy="4563943"/>
          </a:xfrm>
          <a:prstGeom prst="rect">
            <a:avLst/>
          </a:prstGeom>
        </p:spPr>
      </p:pic>
      <p:sp>
        <p:nvSpPr>
          <p:cNvPr id="7" name="TextBox 6">
            <a:extLst>
              <a:ext uri="{FF2B5EF4-FFF2-40B4-BE49-F238E27FC236}">
                <a16:creationId xmlns:a16="http://schemas.microsoft.com/office/drawing/2014/main" id="{87607334-99D8-73ED-DA4E-312D593D3FC2}"/>
              </a:ext>
            </a:extLst>
          </p:cNvPr>
          <p:cNvSpPr txBox="1"/>
          <p:nvPr/>
        </p:nvSpPr>
        <p:spPr>
          <a:xfrm>
            <a:off x="9742315" y="6314493"/>
            <a:ext cx="891540" cy="341632"/>
          </a:xfrm>
          <a:prstGeom prst="rect">
            <a:avLst/>
          </a:prstGeom>
          <a:noFill/>
        </p:spPr>
        <p:txBody>
          <a:bodyPr wrap="square" rtlCol="0">
            <a:spAutoFit/>
          </a:bodyPr>
          <a:lstStyle/>
          <a:p>
            <a:r>
              <a:rPr lang="en-US" sz="1620">
                <a:latin typeface="Aptos" panose="020B0004020202020204" pitchFamily="34" charset="0"/>
              </a:rPr>
              <a:t>[</a:t>
            </a:r>
            <a:r>
              <a:rPr lang="en-US" sz="1620">
                <a:latin typeface="Aptos" panose="020B0004020202020204" pitchFamily="34" charset="0"/>
                <a:hlinkClick r:id="rId4"/>
              </a:rPr>
              <a:t>link</a:t>
            </a:r>
            <a:r>
              <a:rPr lang="en-US" sz="1620">
                <a:latin typeface="Aptos" panose="020B0004020202020204" pitchFamily="34" charset="0"/>
              </a:rPr>
              <a:t>]</a:t>
            </a:r>
          </a:p>
        </p:txBody>
      </p:sp>
    </p:spTree>
    <p:extLst>
      <p:ext uri="{BB962C8B-B14F-4D97-AF65-F5344CB8AC3E}">
        <p14:creationId xmlns:p14="http://schemas.microsoft.com/office/powerpoint/2010/main" val="384902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4281C-CB5B-991B-C9AB-5E260DB90839}"/>
              </a:ext>
            </a:extLst>
          </p:cNvPr>
          <p:cNvSpPr>
            <a:spLocks noGrp="1"/>
          </p:cNvSpPr>
          <p:nvPr>
            <p:ph type="title"/>
          </p:nvPr>
        </p:nvSpPr>
        <p:spPr/>
        <p:txBody>
          <a:bodyPr/>
          <a:lstStyle/>
          <a:p>
            <a:r>
              <a:rPr lang="en-US"/>
              <a:t>What does the research say?</a:t>
            </a:r>
          </a:p>
        </p:txBody>
      </p:sp>
      <p:sp>
        <p:nvSpPr>
          <p:cNvPr id="4" name="Slide Number Placeholder 3">
            <a:extLst>
              <a:ext uri="{FF2B5EF4-FFF2-40B4-BE49-F238E27FC236}">
                <a16:creationId xmlns:a16="http://schemas.microsoft.com/office/drawing/2014/main" id="{625D782E-63A3-82D9-9292-54B595FD3272}"/>
              </a:ext>
            </a:extLst>
          </p:cNvPr>
          <p:cNvSpPr>
            <a:spLocks noGrp="1"/>
          </p:cNvSpPr>
          <p:nvPr>
            <p:ph type="sldNum" sz="quarter" idx="12"/>
          </p:nvPr>
        </p:nvSpPr>
        <p:spPr/>
        <p:txBody>
          <a:bodyPr/>
          <a:lstStyle/>
          <a:p>
            <a:fld id="{3E7D4C38-E5ED-4E8B-8970-7FB63084B71C}" type="slidenum">
              <a:rPr lang="en-US" smtClean="0"/>
              <a:pPr/>
              <a:t>5</a:t>
            </a:fld>
            <a:endParaRPr lang="en-US"/>
          </a:p>
        </p:txBody>
      </p:sp>
      <p:pic>
        <p:nvPicPr>
          <p:cNvPr id="6" name="Picture 5">
            <a:extLst>
              <a:ext uri="{FF2B5EF4-FFF2-40B4-BE49-F238E27FC236}">
                <a16:creationId xmlns:a16="http://schemas.microsoft.com/office/drawing/2014/main" id="{CEFE98C1-D768-A535-875C-7433F41EBEA8}"/>
              </a:ext>
            </a:extLst>
          </p:cNvPr>
          <p:cNvPicPr>
            <a:picLocks noChangeAspect="1"/>
          </p:cNvPicPr>
          <p:nvPr/>
        </p:nvPicPr>
        <p:blipFill>
          <a:blip r:embed="rId3"/>
          <a:stretch>
            <a:fillRect/>
          </a:stretch>
        </p:blipFill>
        <p:spPr>
          <a:xfrm>
            <a:off x="1706880" y="1303020"/>
            <a:ext cx="3517560" cy="4334828"/>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59F455A5-07D5-575D-5206-383E6246699C}"/>
              </a:ext>
            </a:extLst>
          </p:cNvPr>
          <p:cNvSpPr txBox="1"/>
          <p:nvPr/>
        </p:nvSpPr>
        <p:spPr>
          <a:xfrm>
            <a:off x="5548807" y="1151823"/>
            <a:ext cx="4937760" cy="5715411"/>
          </a:xfrm>
          <a:prstGeom prst="rect">
            <a:avLst/>
          </a:prstGeom>
          <a:solidFill>
            <a:schemeClr val="bg1"/>
          </a:solidFill>
          <a:ln>
            <a:solidFill>
              <a:schemeClr val="tx1"/>
            </a:solidFill>
          </a:ln>
        </p:spPr>
        <p:txBody>
          <a:bodyPr wrap="square" rtlCol="0">
            <a:spAutoFit/>
          </a:bodyPr>
          <a:lstStyle/>
          <a:p>
            <a:pPr algn="just"/>
            <a:r>
              <a:rPr lang="en-US" sz="1260" b="1"/>
              <a:t>Abstract</a:t>
            </a:r>
          </a:p>
          <a:p>
            <a:pPr algn="just"/>
            <a:r>
              <a:rPr lang="en-US" sz="1260"/>
              <a:t>This study explores the neural and behavioral consequences of LLM-assisted essay writing. Participants were divided into three groups: LLM, Search Engine, and Brain-only (no tools). Each completed three sessions under the same condition. In a fourth session, LLM users were reassigned to Brain-only group (LLM-to-Brain), and Brain-only users were reassigned to LLM condition (Brain-to-LLM). A total of 54 participants took part in Sessions 1-3, with 18 completing session 4. We used electroencephalography (EEG) to assess cognitive load during essay writing, and analyzed essays using NLP, as well as scoring essays with the help from human teachers and an AI judge. Across groups, NERs, n-gram patterns, and topic ontology showed within-group homogeneity. </a:t>
            </a:r>
            <a:r>
              <a:rPr lang="en-US" sz="1260">
                <a:highlight>
                  <a:srgbClr val="FFFF00"/>
                </a:highlight>
              </a:rPr>
              <a:t>EEG revealed significant differences in brain connectivity: Brain-only participants exhibited the strongest, most distributed networks; Search Engine users showed moderate engagement; and LLM users displayed the weakest connectivity</a:t>
            </a:r>
            <a:r>
              <a:rPr lang="en-US" sz="1260"/>
              <a:t>. </a:t>
            </a:r>
            <a:r>
              <a:rPr lang="en-US" sz="1260">
                <a:highlight>
                  <a:srgbClr val="00FF00"/>
                </a:highlight>
              </a:rPr>
              <a:t>Cognitive activity scaled down in relation to external tool use</a:t>
            </a:r>
            <a:r>
              <a:rPr lang="en-US" sz="1260"/>
              <a:t>. In session 4, LLM-to-Brain participants showed reduced alpha and beta connectivity, indicating under-engagement. Brain-to-LLM users exhibited higher memory recall and activation of </a:t>
            </a:r>
            <a:r>
              <a:rPr lang="en-US" sz="1260" err="1"/>
              <a:t>occipito</a:t>
            </a:r>
            <a:r>
              <a:rPr lang="en-US" sz="1260"/>
              <a:t>-parietal and prefrontal areas, similar to Search Engine users. Self-reported ownership of essays was the lowest in the LLM group and the highest in the Brain-only group. LLM users also struggled to accurately quote their own work. While LLMs offer immediate convenience, our findings highlight potential cognitive costs. </a:t>
            </a:r>
            <a:r>
              <a:rPr lang="en-US" sz="1260">
                <a:highlight>
                  <a:srgbClr val="FFFF00"/>
                </a:highlight>
              </a:rPr>
              <a:t>Over four months, LLM users consistently underperformed at neural, linguistic, and behavioral levels. These results raise concerns about the long-term educational implications of LLM reliance and underscore the need for deeper inquiry into AI's role in learning.</a:t>
            </a:r>
          </a:p>
        </p:txBody>
      </p:sp>
    </p:spTree>
    <p:extLst>
      <p:ext uri="{BB962C8B-B14F-4D97-AF65-F5344CB8AC3E}">
        <p14:creationId xmlns:p14="http://schemas.microsoft.com/office/powerpoint/2010/main" val="1578227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021EA-5688-72EA-2A6F-E08450C12B90}"/>
            </a:ext>
          </a:extLst>
        </p:cNvPr>
        <p:cNvGrpSpPr/>
        <p:nvPr/>
      </p:nvGrpSpPr>
      <p:grpSpPr>
        <a:xfrm>
          <a:off x="0" y="0"/>
          <a:ext cx="0" cy="0"/>
          <a:chOff x="0" y="0"/>
          <a:chExt cx="0" cy="0"/>
        </a:xfrm>
      </p:grpSpPr>
      <p:cxnSp>
        <p:nvCxnSpPr>
          <p:cNvPr id="44" name="Straight Connector 43">
            <a:extLst>
              <a:ext uri="{FF2B5EF4-FFF2-40B4-BE49-F238E27FC236}">
                <a16:creationId xmlns:a16="http://schemas.microsoft.com/office/drawing/2014/main" id="{C129E7D1-0786-18EE-08CD-BA8732AB236A}"/>
              </a:ext>
            </a:extLst>
          </p:cNvPr>
          <p:cNvCxnSpPr>
            <a:cxnSpLocks/>
          </p:cNvCxnSpPr>
          <p:nvPr/>
        </p:nvCxnSpPr>
        <p:spPr>
          <a:xfrm>
            <a:off x="3035653" y="1303020"/>
            <a:ext cx="6358259" cy="0"/>
          </a:xfrm>
          <a:prstGeom prst="line">
            <a:avLst/>
          </a:prstGeom>
          <a:ln w="25400">
            <a:solidFill>
              <a:schemeClr val="tx1"/>
            </a:solidFill>
            <a:prstDash val="sysDot"/>
            <a:tailEnd type="non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954FAF5-7037-271A-0B89-3BA1266AD63C}"/>
              </a:ext>
            </a:extLst>
          </p:cNvPr>
          <p:cNvCxnSpPr>
            <a:cxnSpLocks/>
          </p:cNvCxnSpPr>
          <p:nvPr/>
        </p:nvCxnSpPr>
        <p:spPr>
          <a:xfrm>
            <a:off x="3107843" y="3511897"/>
            <a:ext cx="6358259" cy="0"/>
          </a:xfrm>
          <a:prstGeom prst="line">
            <a:avLst/>
          </a:prstGeom>
          <a:ln w="25400">
            <a:solidFill>
              <a:schemeClr val="tx1"/>
            </a:solidFill>
            <a:prstDash val="sysDot"/>
            <a:tailEnd type="none" w="lg" len="lg"/>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0630649-82CA-AD6C-1064-420B08A6F07E}"/>
              </a:ext>
            </a:extLst>
          </p:cNvPr>
          <p:cNvCxnSpPr>
            <a:cxnSpLocks/>
          </p:cNvCxnSpPr>
          <p:nvPr/>
        </p:nvCxnSpPr>
        <p:spPr>
          <a:xfrm>
            <a:off x="3113628" y="3692903"/>
            <a:ext cx="6358259" cy="0"/>
          </a:xfrm>
          <a:prstGeom prst="line">
            <a:avLst/>
          </a:prstGeom>
          <a:ln w="25400">
            <a:solidFill>
              <a:schemeClr val="tx1"/>
            </a:solidFill>
            <a:prstDash val="sysDot"/>
            <a:tailEnd type="none" w="lg" len="lg"/>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B5BA41A-DBCD-4881-6E5F-A45A3EB3A2C6}"/>
              </a:ext>
            </a:extLst>
          </p:cNvPr>
          <p:cNvSpPr>
            <a:spLocks noGrp="1"/>
          </p:cNvSpPr>
          <p:nvPr>
            <p:ph type="sldNum" sz="quarter" idx="12"/>
          </p:nvPr>
        </p:nvSpPr>
        <p:spPr/>
        <p:txBody>
          <a:bodyPr/>
          <a:lstStyle/>
          <a:p>
            <a:fld id="{3E7D4C38-E5ED-4E8B-8970-7FB63084B71C}" type="slidenum">
              <a:rPr lang="en-US" smtClean="0"/>
              <a:pPr/>
              <a:t>6</a:t>
            </a:fld>
            <a:endParaRPr lang="en-US"/>
          </a:p>
        </p:txBody>
      </p:sp>
      <p:sp>
        <p:nvSpPr>
          <p:cNvPr id="6" name="Title 5">
            <a:extLst>
              <a:ext uri="{FF2B5EF4-FFF2-40B4-BE49-F238E27FC236}">
                <a16:creationId xmlns:a16="http://schemas.microsoft.com/office/drawing/2014/main" id="{68FEA2C7-BD88-8C57-A6E2-594C3BA0F932}"/>
              </a:ext>
            </a:extLst>
          </p:cNvPr>
          <p:cNvSpPr>
            <a:spLocks noGrp="1"/>
          </p:cNvSpPr>
          <p:nvPr>
            <p:ph type="title"/>
          </p:nvPr>
        </p:nvSpPr>
        <p:spPr/>
        <p:txBody>
          <a:bodyPr/>
          <a:lstStyle/>
          <a:p>
            <a:r>
              <a:rPr lang="en-US"/>
              <a:t>When you use AI for coding:</a:t>
            </a:r>
          </a:p>
        </p:txBody>
      </p:sp>
      <p:cxnSp>
        <p:nvCxnSpPr>
          <p:cNvPr id="10" name="Straight Connector 9">
            <a:extLst>
              <a:ext uri="{FF2B5EF4-FFF2-40B4-BE49-F238E27FC236}">
                <a16:creationId xmlns:a16="http://schemas.microsoft.com/office/drawing/2014/main" id="{030F9ACD-74F7-6421-D7CB-82AC58572F6A}"/>
              </a:ext>
            </a:extLst>
          </p:cNvPr>
          <p:cNvCxnSpPr>
            <a:cxnSpLocks/>
          </p:cNvCxnSpPr>
          <p:nvPr/>
        </p:nvCxnSpPr>
        <p:spPr>
          <a:xfrm>
            <a:off x="3078480" y="5280660"/>
            <a:ext cx="6387622" cy="0"/>
          </a:xfrm>
          <a:prstGeom prst="line">
            <a:avLst/>
          </a:prstGeom>
          <a:ln w="5715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DF0846A-9D3A-4434-0F01-7A32F36763FF}"/>
              </a:ext>
            </a:extLst>
          </p:cNvPr>
          <p:cNvCxnSpPr>
            <a:cxnSpLocks/>
          </p:cNvCxnSpPr>
          <p:nvPr/>
        </p:nvCxnSpPr>
        <p:spPr>
          <a:xfrm flipH="1" flipV="1">
            <a:off x="3078480" y="1165860"/>
            <a:ext cx="9682" cy="4134569"/>
          </a:xfrm>
          <a:prstGeom prst="line">
            <a:avLst/>
          </a:prstGeom>
          <a:ln w="57150">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2E2785BA-D14E-8E46-6656-381CBC1D1894}"/>
              </a:ext>
            </a:extLst>
          </p:cNvPr>
          <p:cNvSpPr txBox="1"/>
          <p:nvPr/>
        </p:nvSpPr>
        <p:spPr>
          <a:xfrm rot="16200000">
            <a:off x="1354268" y="2995586"/>
            <a:ext cx="2903804" cy="341632"/>
          </a:xfrm>
          <a:prstGeom prst="rect">
            <a:avLst/>
          </a:prstGeom>
          <a:noFill/>
        </p:spPr>
        <p:txBody>
          <a:bodyPr wrap="square" rtlCol="0">
            <a:spAutoFit/>
          </a:bodyPr>
          <a:lstStyle/>
          <a:p>
            <a:r>
              <a:rPr lang="en-US" sz="1620">
                <a:latin typeface="Aptos" panose="020B0004020202020204" pitchFamily="34" charset="0"/>
              </a:rPr>
              <a:t>Problem solving ability</a:t>
            </a:r>
          </a:p>
        </p:txBody>
      </p:sp>
      <p:cxnSp>
        <p:nvCxnSpPr>
          <p:cNvPr id="19" name="Straight Connector 18">
            <a:extLst>
              <a:ext uri="{FF2B5EF4-FFF2-40B4-BE49-F238E27FC236}">
                <a16:creationId xmlns:a16="http://schemas.microsoft.com/office/drawing/2014/main" id="{F8BB6B14-3104-F5ED-361C-F14250FBCD3F}"/>
              </a:ext>
            </a:extLst>
          </p:cNvPr>
          <p:cNvCxnSpPr>
            <a:cxnSpLocks/>
          </p:cNvCxnSpPr>
          <p:nvPr/>
        </p:nvCxnSpPr>
        <p:spPr>
          <a:xfrm flipV="1">
            <a:off x="3558540" y="5167906"/>
            <a:ext cx="0" cy="225509"/>
          </a:xfrm>
          <a:prstGeom prst="line">
            <a:avLst/>
          </a:prstGeom>
          <a:ln w="381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7278DEE7-83AB-FE76-3481-52B4E9869927}"/>
              </a:ext>
            </a:extLst>
          </p:cNvPr>
          <p:cNvCxnSpPr>
            <a:cxnSpLocks/>
          </p:cNvCxnSpPr>
          <p:nvPr/>
        </p:nvCxnSpPr>
        <p:spPr>
          <a:xfrm flipV="1">
            <a:off x="5741952" y="5167906"/>
            <a:ext cx="0" cy="225509"/>
          </a:xfrm>
          <a:prstGeom prst="line">
            <a:avLst/>
          </a:prstGeom>
          <a:ln w="381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C4A4DAEF-8A18-C277-DEAE-646F0D63FF24}"/>
              </a:ext>
            </a:extLst>
          </p:cNvPr>
          <p:cNvSpPr txBox="1"/>
          <p:nvPr/>
        </p:nvSpPr>
        <p:spPr>
          <a:xfrm>
            <a:off x="3288219" y="5378455"/>
            <a:ext cx="677799" cy="341632"/>
          </a:xfrm>
          <a:prstGeom prst="rect">
            <a:avLst/>
          </a:prstGeom>
          <a:noFill/>
        </p:spPr>
        <p:txBody>
          <a:bodyPr wrap="square" rtlCol="0">
            <a:spAutoFit/>
          </a:bodyPr>
          <a:lstStyle/>
          <a:p>
            <a:r>
              <a:rPr lang="en-US" sz="1620">
                <a:latin typeface="Aptos" panose="020B0004020202020204" pitchFamily="34" charset="0"/>
              </a:rPr>
              <a:t>now</a:t>
            </a:r>
          </a:p>
        </p:txBody>
      </p:sp>
      <p:sp>
        <p:nvSpPr>
          <p:cNvPr id="23" name="TextBox 22">
            <a:extLst>
              <a:ext uri="{FF2B5EF4-FFF2-40B4-BE49-F238E27FC236}">
                <a16:creationId xmlns:a16="http://schemas.microsoft.com/office/drawing/2014/main" id="{81123415-EC07-A652-E212-D5F4C771C5DA}"/>
              </a:ext>
            </a:extLst>
          </p:cNvPr>
          <p:cNvSpPr txBox="1"/>
          <p:nvPr/>
        </p:nvSpPr>
        <p:spPr>
          <a:xfrm>
            <a:off x="5135881" y="5391943"/>
            <a:ext cx="1508757" cy="341632"/>
          </a:xfrm>
          <a:prstGeom prst="rect">
            <a:avLst/>
          </a:prstGeom>
          <a:noFill/>
        </p:spPr>
        <p:txBody>
          <a:bodyPr wrap="square" rtlCol="0">
            <a:spAutoFit/>
          </a:bodyPr>
          <a:lstStyle/>
          <a:p>
            <a:r>
              <a:rPr lang="en-US" sz="1620">
                <a:latin typeface="Aptos" panose="020B0004020202020204" pitchFamily="34" charset="0"/>
              </a:rPr>
              <a:t>end of course</a:t>
            </a:r>
          </a:p>
        </p:txBody>
      </p:sp>
      <p:cxnSp>
        <p:nvCxnSpPr>
          <p:cNvPr id="2" name="Straight Connector 1">
            <a:extLst>
              <a:ext uri="{FF2B5EF4-FFF2-40B4-BE49-F238E27FC236}">
                <a16:creationId xmlns:a16="http://schemas.microsoft.com/office/drawing/2014/main" id="{1558E463-6EE5-97FC-9E58-F1176B131A1D}"/>
              </a:ext>
            </a:extLst>
          </p:cNvPr>
          <p:cNvCxnSpPr>
            <a:cxnSpLocks/>
          </p:cNvCxnSpPr>
          <p:nvPr/>
        </p:nvCxnSpPr>
        <p:spPr>
          <a:xfrm flipV="1">
            <a:off x="8153400" y="5152946"/>
            <a:ext cx="0" cy="225509"/>
          </a:xfrm>
          <a:prstGeom prst="line">
            <a:avLst/>
          </a:prstGeom>
          <a:ln w="38100">
            <a:solidFill>
              <a:schemeClr val="tx1"/>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91FBE1E3-223C-98C6-0F30-AA81E7624705}"/>
              </a:ext>
            </a:extLst>
          </p:cNvPr>
          <p:cNvSpPr txBox="1"/>
          <p:nvPr/>
        </p:nvSpPr>
        <p:spPr>
          <a:xfrm>
            <a:off x="7399022" y="5361249"/>
            <a:ext cx="1508757" cy="590931"/>
          </a:xfrm>
          <a:prstGeom prst="rect">
            <a:avLst/>
          </a:prstGeom>
          <a:noFill/>
        </p:spPr>
        <p:txBody>
          <a:bodyPr wrap="square" rtlCol="0">
            <a:spAutoFit/>
          </a:bodyPr>
          <a:lstStyle/>
          <a:p>
            <a:r>
              <a:rPr lang="en-US" sz="1620">
                <a:latin typeface="Aptos" panose="020B0004020202020204" pitchFamily="34" charset="0"/>
              </a:rPr>
              <a:t>end of course</a:t>
            </a:r>
            <a:br>
              <a:rPr lang="en-US" sz="1620">
                <a:latin typeface="Aptos" panose="020B0004020202020204" pitchFamily="34" charset="0"/>
              </a:rPr>
            </a:br>
            <a:r>
              <a:rPr lang="en-US" sz="1620">
                <a:latin typeface="Aptos" panose="020B0004020202020204" pitchFamily="34" charset="0"/>
              </a:rPr>
              <a:t>(if you used AI)</a:t>
            </a:r>
          </a:p>
        </p:txBody>
      </p:sp>
      <p:cxnSp>
        <p:nvCxnSpPr>
          <p:cNvPr id="7" name="Straight Connector 6">
            <a:extLst>
              <a:ext uri="{FF2B5EF4-FFF2-40B4-BE49-F238E27FC236}">
                <a16:creationId xmlns:a16="http://schemas.microsoft.com/office/drawing/2014/main" id="{3C134A66-A59A-89B0-2C4D-E3996B0E9018}"/>
              </a:ext>
            </a:extLst>
          </p:cNvPr>
          <p:cNvCxnSpPr>
            <a:cxnSpLocks/>
          </p:cNvCxnSpPr>
          <p:nvPr/>
        </p:nvCxnSpPr>
        <p:spPr>
          <a:xfrm flipV="1">
            <a:off x="3489960" y="5074920"/>
            <a:ext cx="0" cy="190780"/>
          </a:xfrm>
          <a:prstGeom prst="line">
            <a:avLst/>
          </a:prstGeom>
          <a:ln w="34925" cap="rnd">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93B4991-4496-23A9-CC81-33A0BF9CF1E3}"/>
              </a:ext>
            </a:extLst>
          </p:cNvPr>
          <p:cNvCxnSpPr>
            <a:cxnSpLocks/>
          </p:cNvCxnSpPr>
          <p:nvPr/>
        </p:nvCxnSpPr>
        <p:spPr>
          <a:xfrm flipV="1">
            <a:off x="5684520" y="4114800"/>
            <a:ext cx="0" cy="1150900"/>
          </a:xfrm>
          <a:prstGeom prst="line">
            <a:avLst/>
          </a:prstGeom>
          <a:ln w="34925" cap="rnd">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7267800-FA8D-2B9B-D4E5-CF96F837BB26}"/>
              </a:ext>
            </a:extLst>
          </p:cNvPr>
          <p:cNvCxnSpPr>
            <a:cxnSpLocks/>
          </p:cNvCxnSpPr>
          <p:nvPr/>
        </p:nvCxnSpPr>
        <p:spPr>
          <a:xfrm flipV="1">
            <a:off x="8084820" y="4937760"/>
            <a:ext cx="0" cy="362669"/>
          </a:xfrm>
          <a:prstGeom prst="line">
            <a:avLst/>
          </a:prstGeom>
          <a:ln w="34925" cap="rnd">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3D6CFC5-F413-52BB-B02C-7EF703C58BE1}"/>
              </a:ext>
            </a:extLst>
          </p:cNvPr>
          <p:cNvCxnSpPr>
            <a:cxnSpLocks/>
          </p:cNvCxnSpPr>
          <p:nvPr/>
        </p:nvCxnSpPr>
        <p:spPr>
          <a:xfrm flipV="1">
            <a:off x="3627118" y="3691595"/>
            <a:ext cx="0" cy="1574106"/>
          </a:xfrm>
          <a:prstGeom prst="line">
            <a:avLst/>
          </a:prstGeom>
          <a:ln w="34925" cap="rnd">
            <a:solidFill>
              <a:srgbClr val="C00000"/>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2B1ED11-FD66-C90D-771C-5841177503C1}"/>
              </a:ext>
            </a:extLst>
          </p:cNvPr>
          <p:cNvCxnSpPr>
            <a:cxnSpLocks/>
          </p:cNvCxnSpPr>
          <p:nvPr/>
        </p:nvCxnSpPr>
        <p:spPr>
          <a:xfrm flipV="1">
            <a:off x="8221980" y="3497580"/>
            <a:ext cx="0" cy="1802849"/>
          </a:xfrm>
          <a:prstGeom prst="line">
            <a:avLst/>
          </a:prstGeom>
          <a:ln w="34925" cap="rnd">
            <a:solidFill>
              <a:srgbClr val="C00000"/>
            </a:solidFill>
            <a:headEnd type="none"/>
            <a:tailEnd type="oval" w="lg" len="lg"/>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F48FB07-1ED4-79E1-1B82-D1A11E007189}"/>
              </a:ext>
            </a:extLst>
          </p:cNvPr>
          <p:cNvCxnSpPr>
            <a:cxnSpLocks/>
          </p:cNvCxnSpPr>
          <p:nvPr/>
        </p:nvCxnSpPr>
        <p:spPr>
          <a:xfrm flipV="1">
            <a:off x="5802977" y="1303021"/>
            <a:ext cx="0" cy="3962679"/>
          </a:xfrm>
          <a:prstGeom prst="line">
            <a:avLst/>
          </a:prstGeom>
          <a:ln w="34925" cap="rnd">
            <a:solidFill>
              <a:srgbClr val="C00000"/>
            </a:solidFill>
            <a:headEnd type="none"/>
            <a:tailEnd type="oval" w="lg" len="lg"/>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9B105D5E-6ADE-4EFA-77E9-BEE52651CF4F}"/>
              </a:ext>
            </a:extLst>
          </p:cNvPr>
          <p:cNvGrpSpPr/>
          <p:nvPr/>
        </p:nvGrpSpPr>
        <p:grpSpPr>
          <a:xfrm>
            <a:off x="7968915" y="1208972"/>
            <a:ext cx="1508758" cy="1080296"/>
            <a:chOff x="7183338" y="1818421"/>
            <a:chExt cx="1676398" cy="1200329"/>
          </a:xfrm>
        </p:grpSpPr>
        <p:sp>
          <p:nvSpPr>
            <p:cNvPr id="45" name="Rectangle 44">
              <a:extLst>
                <a:ext uri="{FF2B5EF4-FFF2-40B4-BE49-F238E27FC236}">
                  <a16:creationId xmlns:a16="http://schemas.microsoft.com/office/drawing/2014/main" id="{91C55C26-A808-F297-51B8-180DB2AEED65}"/>
                </a:ext>
              </a:extLst>
            </p:cNvPr>
            <p:cNvSpPr/>
            <p:nvPr/>
          </p:nvSpPr>
          <p:spPr>
            <a:xfrm>
              <a:off x="7183338" y="1818421"/>
              <a:ext cx="1676397" cy="120032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p>
          </p:txBody>
        </p:sp>
        <p:sp>
          <p:nvSpPr>
            <p:cNvPr id="46" name="TextBox 45">
              <a:extLst>
                <a:ext uri="{FF2B5EF4-FFF2-40B4-BE49-F238E27FC236}">
                  <a16:creationId xmlns:a16="http://schemas.microsoft.com/office/drawing/2014/main" id="{9643C850-CCF7-E7E7-8785-DAE02A08C06B}"/>
                </a:ext>
              </a:extLst>
            </p:cNvPr>
            <p:cNvSpPr txBox="1"/>
            <p:nvPr/>
          </p:nvSpPr>
          <p:spPr>
            <a:xfrm>
              <a:off x="7183339" y="1818428"/>
              <a:ext cx="1676397" cy="933589"/>
            </a:xfrm>
            <a:prstGeom prst="rect">
              <a:avLst/>
            </a:prstGeom>
            <a:noFill/>
          </p:spPr>
          <p:txBody>
            <a:bodyPr wrap="square" rtlCol="0">
              <a:spAutoFit/>
            </a:bodyPr>
            <a:lstStyle/>
            <a:p>
              <a:r>
                <a:rPr lang="en-US" sz="1620">
                  <a:latin typeface="Aptos" panose="020B0004020202020204" pitchFamily="34" charset="0"/>
                </a:rPr>
                <a:t>Legend:</a:t>
              </a:r>
            </a:p>
            <a:p>
              <a:r>
                <a:rPr lang="en-US" sz="1620">
                  <a:latin typeface="Aptos" panose="020B0004020202020204" pitchFamily="34" charset="0"/>
                </a:rPr>
                <a:t>       You</a:t>
              </a:r>
            </a:p>
            <a:p>
              <a:r>
                <a:rPr lang="en-US" sz="1620">
                  <a:latin typeface="Aptos" panose="020B0004020202020204" pitchFamily="34" charset="0"/>
                </a:rPr>
                <a:t>       You + AI</a:t>
              </a:r>
            </a:p>
          </p:txBody>
        </p:sp>
        <p:sp>
          <p:nvSpPr>
            <p:cNvPr id="47" name="Oval 46">
              <a:extLst>
                <a:ext uri="{FF2B5EF4-FFF2-40B4-BE49-F238E27FC236}">
                  <a16:creationId xmlns:a16="http://schemas.microsoft.com/office/drawing/2014/main" id="{0425480D-F7C4-CE69-B66E-C7867AF9B84A}"/>
                </a:ext>
              </a:extLst>
            </p:cNvPr>
            <p:cNvSpPr/>
            <p:nvPr/>
          </p:nvSpPr>
          <p:spPr>
            <a:xfrm>
              <a:off x="7366002" y="2306102"/>
              <a:ext cx="152396" cy="152398"/>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p>
          </p:txBody>
        </p:sp>
        <p:sp>
          <p:nvSpPr>
            <p:cNvPr id="48" name="Oval 47">
              <a:extLst>
                <a:ext uri="{FF2B5EF4-FFF2-40B4-BE49-F238E27FC236}">
                  <a16:creationId xmlns:a16="http://schemas.microsoft.com/office/drawing/2014/main" id="{DADC908A-4CBA-E274-076C-435AC6FC3176}"/>
                </a:ext>
              </a:extLst>
            </p:cNvPr>
            <p:cNvSpPr/>
            <p:nvPr/>
          </p:nvSpPr>
          <p:spPr>
            <a:xfrm>
              <a:off x="7366002" y="2680031"/>
              <a:ext cx="152396" cy="152398"/>
            </a:xfrm>
            <a:prstGeom prst="ellipse">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p>
          </p:txBody>
        </p:sp>
      </p:grpSp>
    </p:spTree>
    <p:extLst>
      <p:ext uri="{BB962C8B-B14F-4D97-AF65-F5344CB8AC3E}">
        <p14:creationId xmlns:p14="http://schemas.microsoft.com/office/powerpoint/2010/main" val="3318488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B6EB5-FD3C-4CF6-0E39-BF997520C50F}"/>
              </a:ext>
            </a:extLst>
          </p:cNvPr>
          <p:cNvSpPr>
            <a:spLocks noGrp="1"/>
          </p:cNvSpPr>
          <p:nvPr>
            <p:ph type="title"/>
          </p:nvPr>
        </p:nvSpPr>
        <p:spPr/>
        <p:txBody>
          <a:bodyPr/>
          <a:lstStyle/>
          <a:p>
            <a:r>
              <a:rPr lang="en-US" dirty="0"/>
              <a:t>Course Policy</a:t>
            </a:r>
          </a:p>
        </p:txBody>
      </p:sp>
      <p:sp>
        <p:nvSpPr>
          <p:cNvPr id="4" name="Slide Number Placeholder 3">
            <a:extLst>
              <a:ext uri="{FF2B5EF4-FFF2-40B4-BE49-F238E27FC236}">
                <a16:creationId xmlns:a16="http://schemas.microsoft.com/office/drawing/2014/main" id="{C7FD8C15-36BE-15C5-8A8B-FB01A117E371}"/>
              </a:ext>
            </a:extLst>
          </p:cNvPr>
          <p:cNvSpPr>
            <a:spLocks noGrp="1"/>
          </p:cNvSpPr>
          <p:nvPr>
            <p:ph type="sldNum" sz="quarter" idx="12"/>
          </p:nvPr>
        </p:nvSpPr>
        <p:spPr/>
        <p:txBody>
          <a:bodyPr/>
          <a:lstStyle/>
          <a:p>
            <a:fld id="{3E7D4C38-E5ED-4E8B-8970-7FB63084B71C}" type="slidenum">
              <a:rPr lang="en-US" smtClean="0"/>
              <a:pPr/>
              <a:t>7</a:t>
            </a:fld>
            <a:endParaRPr lang="en-US"/>
          </a:p>
        </p:txBody>
      </p:sp>
      <p:sp>
        <p:nvSpPr>
          <p:cNvPr id="6" name="Content Placeholder 5">
            <a:extLst>
              <a:ext uri="{FF2B5EF4-FFF2-40B4-BE49-F238E27FC236}">
                <a16:creationId xmlns:a16="http://schemas.microsoft.com/office/drawing/2014/main" id="{85B4FC6D-99E3-131F-A99F-27848F51B8DC}"/>
              </a:ext>
            </a:extLst>
          </p:cNvPr>
          <p:cNvSpPr>
            <a:spLocks noGrp="1"/>
          </p:cNvSpPr>
          <p:nvPr>
            <p:ph idx="1"/>
          </p:nvPr>
        </p:nvSpPr>
        <p:spPr/>
        <p:txBody>
          <a:bodyPr/>
          <a:lstStyle/>
          <a:p>
            <a:r>
              <a:rPr lang="en-US" dirty="0"/>
              <a:t>Jump to syllabus</a:t>
            </a:r>
          </a:p>
          <a:p>
            <a:r>
              <a:rPr lang="en-US" dirty="0"/>
              <a:t>Highlight relevant section(s)</a:t>
            </a:r>
          </a:p>
        </p:txBody>
      </p:sp>
    </p:spTree>
    <p:extLst>
      <p:ext uri="{BB962C8B-B14F-4D97-AF65-F5344CB8AC3E}">
        <p14:creationId xmlns:p14="http://schemas.microsoft.com/office/powerpoint/2010/main" val="2615685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F7A56-7A7D-A4B9-08BC-00F91F2D595A}"/>
              </a:ext>
            </a:extLst>
          </p:cNvPr>
          <p:cNvSpPr>
            <a:spLocks noGrp="1"/>
          </p:cNvSpPr>
          <p:nvPr>
            <p:ph type="title"/>
          </p:nvPr>
        </p:nvSpPr>
        <p:spPr/>
        <p:txBody>
          <a:bodyPr/>
          <a:lstStyle/>
          <a:p>
            <a:r>
              <a:rPr lang="en-US"/>
              <a:t>Takeaways</a:t>
            </a:r>
          </a:p>
        </p:txBody>
      </p:sp>
      <p:sp>
        <p:nvSpPr>
          <p:cNvPr id="3" name="Content Placeholder 2">
            <a:extLst>
              <a:ext uri="{FF2B5EF4-FFF2-40B4-BE49-F238E27FC236}">
                <a16:creationId xmlns:a16="http://schemas.microsoft.com/office/drawing/2014/main" id="{9CAC413F-FF57-56C7-80C2-F93A46AD4C37}"/>
              </a:ext>
            </a:extLst>
          </p:cNvPr>
          <p:cNvSpPr>
            <a:spLocks noGrp="1"/>
          </p:cNvSpPr>
          <p:nvPr>
            <p:ph idx="1"/>
          </p:nvPr>
        </p:nvSpPr>
        <p:spPr>
          <a:xfrm>
            <a:off x="2209800" y="1371600"/>
            <a:ext cx="8069580" cy="4724877"/>
          </a:xfrm>
        </p:spPr>
        <p:txBody>
          <a:bodyPr/>
          <a:lstStyle/>
          <a:p>
            <a:pPr>
              <a:spcAft>
                <a:spcPts val="1080"/>
              </a:spcAft>
            </a:pPr>
            <a:r>
              <a:rPr lang="en-US" dirty="0">
                <a:latin typeface="Aptos" panose="020B0004020202020204" pitchFamily="34" charset="0"/>
              </a:rPr>
              <a:t>AI is useful for many technical tasks. It will probably be part of your job one day.</a:t>
            </a:r>
          </a:p>
          <a:p>
            <a:pPr>
              <a:spcAft>
                <a:spcPts val="1080"/>
              </a:spcAft>
            </a:pPr>
            <a:r>
              <a:rPr lang="en-US" dirty="0">
                <a:latin typeface="Aptos" panose="020B0004020202020204" pitchFamily="34" charset="0"/>
              </a:rPr>
              <a:t>AI + skills is much better than AI without skills.</a:t>
            </a:r>
          </a:p>
          <a:p>
            <a:pPr>
              <a:spcAft>
                <a:spcPts val="1080"/>
              </a:spcAft>
            </a:pPr>
            <a:r>
              <a:rPr lang="en-US" dirty="0">
                <a:latin typeface="Aptos" panose="020B0004020202020204" pitchFamily="34" charset="0"/>
              </a:rPr>
              <a:t>This course is about teaching you useful skills.</a:t>
            </a:r>
          </a:p>
          <a:p>
            <a:pPr>
              <a:spcAft>
                <a:spcPts val="1080"/>
              </a:spcAft>
            </a:pPr>
            <a:r>
              <a:rPr lang="en-US" dirty="0">
                <a:latin typeface="Aptos" panose="020B0004020202020204" pitchFamily="34" charset="0"/>
              </a:rPr>
              <a:t>But AI will keep you from learning those skills.</a:t>
            </a:r>
          </a:p>
          <a:p>
            <a:pPr lvl="1">
              <a:spcAft>
                <a:spcPts val="1080"/>
              </a:spcAft>
            </a:pPr>
            <a:r>
              <a:rPr lang="en-US" dirty="0">
                <a:latin typeface="Aptos" panose="020B0004020202020204" pitchFamily="34" charset="0"/>
              </a:rPr>
              <a:t>So don’t use it in this course when you’re not supposed to!</a:t>
            </a:r>
          </a:p>
        </p:txBody>
      </p:sp>
      <p:sp>
        <p:nvSpPr>
          <p:cNvPr id="4" name="Slide Number Placeholder 3">
            <a:extLst>
              <a:ext uri="{FF2B5EF4-FFF2-40B4-BE49-F238E27FC236}">
                <a16:creationId xmlns:a16="http://schemas.microsoft.com/office/drawing/2014/main" id="{F4E10EE8-0293-4A2C-804F-8A72E1CF241C}"/>
              </a:ext>
            </a:extLst>
          </p:cNvPr>
          <p:cNvSpPr>
            <a:spLocks noGrp="1"/>
          </p:cNvSpPr>
          <p:nvPr>
            <p:ph type="sldNum" sz="quarter" idx="12"/>
          </p:nvPr>
        </p:nvSpPr>
        <p:spPr/>
        <p:txBody>
          <a:bodyPr/>
          <a:lstStyle/>
          <a:p>
            <a:fld id="{3E7D4C38-E5ED-4E8B-8970-7FB63084B71C}" type="slidenum">
              <a:rPr lang="en-US" smtClean="0"/>
              <a:pPr/>
              <a:t>8</a:t>
            </a:fld>
            <a:endParaRPr lang="en-US"/>
          </a:p>
        </p:txBody>
      </p:sp>
    </p:spTree>
    <p:extLst>
      <p:ext uri="{BB962C8B-B14F-4D97-AF65-F5344CB8AC3E}">
        <p14:creationId xmlns:p14="http://schemas.microsoft.com/office/powerpoint/2010/main" val="2124776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9DD1-FF38-B917-89B9-DBE2E7BD5A42}"/>
              </a:ext>
            </a:extLst>
          </p:cNvPr>
          <p:cNvSpPr>
            <a:spLocks noGrp="1"/>
          </p:cNvSpPr>
          <p:nvPr>
            <p:ph type="title"/>
          </p:nvPr>
        </p:nvSpPr>
        <p:spPr/>
        <p:txBody>
          <a:bodyPr/>
          <a:lstStyle/>
          <a:p>
            <a:r>
              <a:rPr lang="en-US"/>
              <a:t>Want to learn how to use AI well?</a:t>
            </a:r>
          </a:p>
        </p:txBody>
      </p:sp>
      <p:sp>
        <p:nvSpPr>
          <p:cNvPr id="3" name="Content Placeholder 2">
            <a:extLst>
              <a:ext uri="{FF2B5EF4-FFF2-40B4-BE49-F238E27FC236}">
                <a16:creationId xmlns:a16="http://schemas.microsoft.com/office/drawing/2014/main" id="{60D91CF8-5A01-E660-6AA6-D7340B213691}"/>
              </a:ext>
            </a:extLst>
          </p:cNvPr>
          <p:cNvSpPr>
            <a:spLocks noGrp="1"/>
          </p:cNvSpPr>
          <p:nvPr>
            <p:ph idx="1"/>
          </p:nvPr>
        </p:nvSpPr>
        <p:spPr>
          <a:xfrm>
            <a:off x="2209800" y="2125981"/>
            <a:ext cx="7772400" cy="3332042"/>
          </a:xfrm>
          <a:ln>
            <a:solidFill>
              <a:schemeClr val="tx1"/>
            </a:solidFill>
          </a:ln>
        </p:spPr>
        <p:txBody>
          <a:bodyPr/>
          <a:lstStyle/>
          <a:p>
            <a:pPr marL="0" indent="0" algn="just">
              <a:buNone/>
            </a:pPr>
            <a:r>
              <a:rPr lang="en-US" sz="1800" dirty="0">
                <a:latin typeface="Aptos" panose="020B0004020202020204" pitchFamily="34" charset="0"/>
              </a:rPr>
              <a:t>In </a:t>
            </a:r>
            <a:r>
              <a:rPr lang="en-US" sz="1800" b="1" dirty="0">
                <a:latin typeface="Aptos" panose="020B0004020202020204" pitchFamily="34" charset="0"/>
              </a:rPr>
              <a:t>MDS211 AI Fundamentals for STEM Professionals</a:t>
            </a:r>
            <a:r>
              <a:rPr lang="en-US" sz="1800" dirty="0">
                <a:latin typeface="Aptos" panose="020B0004020202020204" pitchFamily="34" charset="0"/>
              </a:rPr>
              <a:t>, we’ll do a series of mini-units on these topics to introduce you to key terms and math concepts underlying AI and Data Science. Weekly homework will include problems, videos, and some python code to write or experiment with. You’ll learn how to train small AI models on standard datasets. We also plan to introduce limitations of AI related to correctness, ethics of data copyright violations, and sustainability, and have guest lectures from various faculty across the Institute. The class will culminate with a short presentation you’ll do in week 10. </a:t>
            </a:r>
          </a:p>
          <a:p>
            <a:pPr marL="0" indent="0" algn="just">
              <a:buNone/>
            </a:pPr>
            <a:endParaRPr lang="en-US" sz="1800" dirty="0">
              <a:latin typeface="Aptos" panose="020B0004020202020204" pitchFamily="34" charset="0"/>
            </a:endParaRPr>
          </a:p>
          <a:p>
            <a:pPr marL="0" indent="0" algn="just">
              <a:buNone/>
            </a:pPr>
            <a:r>
              <a:rPr lang="en-US" sz="1800" dirty="0">
                <a:latin typeface="Aptos" panose="020B0004020202020204" pitchFamily="34" charset="0"/>
              </a:rPr>
              <a:t>This 2-credit course runs in </a:t>
            </a:r>
            <a:r>
              <a:rPr lang="en-US" sz="1800" i="1" dirty="0">
                <a:latin typeface="Aptos" panose="020B0004020202020204" pitchFamily="34" charset="0"/>
              </a:rPr>
              <a:t>Spring quarter</a:t>
            </a:r>
            <a:r>
              <a:rPr lang="en-US" sz="1800" dirty="0">
                <a:latin typeface="Aptos" panose="020B0004020202020204" pitchFamily="34" charset="0"/>
              </a:rPr>
              <a:t>.</a:t>
            </a:r>
          </a:p>
        </p:txBody>
      </p:sp>
      <p:sp>
        <p:nvSpPr>
          <p:cNvPr id="4" name="Slide Number Placeholder 3">
            <a:extLst>
              <a:ext uri="{FF2B5EF4-FFF2-40B4-BE49-F238E27FC236}">
                <a16:creationId xmlns:a16="http://schemas.microsoft.com/office/drawing/2014/main" id="{5498672E-1428-92C7-E941-2347F78F3F55}"/>
              </a:ext>
            </a:extLst>
          </p:cNvPr>
          <p:cNvSpPr>
            <a:spLocks noGrp="1"/>
          </p:cNvSpPr>
          <p:nvPr>
            <p:ph type="sldNum" sz="quarter" idx="12"/>
          </p:nvPr>
        </p:nvSpPr>
        <p:spPr/>
        <p:txBody>
          <a:bodyPr/>
          <a:lstStyle/>
          <a:p>
            <a:fld id="{3E7D4C38-E5ED-4E8B-8970-7FB63084B71C}" type="slidenum">
              <a:rPr lang="en-US" smtClean="0"/>
              <a:pPr/>
              <a:t>9</a:t>
            </a:fld>
            <a:endParaRPr lang="en-US"/>
          </a:p>
        </p:txBody>
      </p:sp>
      <p:sp>
        <p:nvSpPr>
          <p:cNvPr id="5" name="TextBox 4">
            <a:extLst>
              <a:ext uri="{FF2B5EF4-FFF2-40B4-BE49-F238E27FC236}">
                <a16:creationId xmlns:a16="http://schemas.microsoft.com/office/drawing/2014/main" id="{D878E0AB-D3BC-DDF4-7D1F-5770BA3B7A2C}"/>
              </a:ext>
            </a:extLst>
          </p:cNvPr>
          <p:cNvSpPr txBox="1"/>
          <p:nvPr/>
        </p:nvSpPr>
        <p:spPr>
          <a:xfrm>
            <a:off x="2000479" y="1568186"/>
            <a:ext cx="4114075" cy="369332"/>
          </a:xfrm>
          <a:prstGeom prst="rect">
            <a:avLst/>
          </a:prstGeom>
          <a:noFill/>
        </p:spPr>
        <p:txBody>
          <a:bodyPr wrap="none" rtlCol="0">
            <a:spAutoFit/>
          </a:bodyPr>
          <a:lstStyle/>
          <a:p>
            <a:r>
              <a:rPr lang="en-US" dirty="0">
                <a:latin typeface="Aptos" panose="020B0004020202020204" pitchFamily="34" charset="0"/>
              </a:rPr>
              <a:t>Check out MDS 211 this Spring Quarter!</a:t>
            </a:r>
          </a:p>
        </p:txBody>
      </p:sp>
    </p:spTree>
    <p:extLst>
      <p:ext uri="{BB962C8B-B14F-4D97-AF65-F5344CB8AC3E}">
        <p14:creationId xmlns:p14="http://schemas.microsoft.com/office/powerpoint/2010/main" val="848574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D1880-9F02-5238-7946-7A96C541DAFE}"/>
              </a:ext>
            </a:extLst>
          </p:cNvPr>
          <p:cNvSpPr>
            <a:spLocks noGrp="1"/>
          </p:cNvSpPr>
          <p:nvPr>
            <p:ph type="ctrTitle"/>
          </p:nvPr>
        </p:nvSpPr>
        <p:spPr>
          <a:xfrm>
            <a:off x="1524000" y="281115"/>
            <a:ext cx="9144000" cy="1044765"/>
          </a:xfrm>
        </p:spPr>
        <p:txBody>
          <a:bodyPr/>
          <a:lstStyle/>
          <a:p>
            <a:r>
              <a:rPr lang="en-US" dirty="0"/>
              <a:t>CSSE 220 genAI icons</a:t>
            </a:r>
          </a:p>
        </p:txBody>
      </p:sp>
      <p:sp>
        <p:nvSpPr>
          <p:cNvPr id="3" name="Subtitle 2">
            <a:extLst>
              <a:ext uri="{FF2B5EF4-FFF2-40B4-BE49-F238E27FC236}">
                <a16:creationId xmlns:a16="http://schemas.microsoft.com/office/drawing/2014/main" id="{6FF3A65D-19E5-05BC-BF3F-C49124E5A82D}"/>
              </a:ext>
            </a:extLst>
          </p:cNvPr>
          <p:cNvSpPr>
            <a:spLocks noGrp="1"/>
          </p:cNvSpPr>
          <p:nvPr>
            <p:ph type="subTitle" idx="1"/>
          </p:nvPr>
        </p:nvSpPr>
        <p:spPr>
          <a:xfrm>
            <a:off x="1185672" y="1545844"/>
            <a:ext cx="9168328" cy="769050"/>
          </a:xfrm>
        </p:spPr>
        <p:txBody>
          <a:bodyPr>
            <a:normAutofit/>
          </a:bodyPr>
          <a:lstStyle/>
          <a:p>
            <a:pPr algn="l"/>
            <a:r>
              <a:rPr lang="en-US" dirty="0"/>
              <a:t>These will be used throughout the course to help you know </a:t>
            </a:r>
            <a:br>
              <a:rPr lang="en-US" dirty="0"/>
            </a:br>
            <a:r>
              <a:rPr lang="en-US" dirty="0"/>
              <a:t>when and where genAI tool use is allowed.</a:t>
            </a:r>
          </a:p>
        </p:txBody>
      </p:sp>
      <p:sp>
        <p:nvSpPr>
          <p:cNvPr id="4" name="Title 1">
            <a:extLst>
              <a:ext uri="{FF2B5EF4-FFF2-40B4-BE49-F238E27FC236}">
                <a16:creationId xmlns:a16="http://schemas.microsoft.com/office/drawing/2014/main" id="{63D57552-C614-56FE-8478-2BC52D951D92}"/>
              </a:ext>
            </a:extLst>
          </p:cNvPr>
          <p:cNvSpPr txBox="1">
            <a:spLocks/>
          </p:cNvSpPr>
          <p:nvPr/>
        </p:nvSpPr>
        <p:spPr>
          <a:xfrm>
            <a:off x="231648" y="2178086"/>
            <a:ext cx="5864352"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latin typeface="+mn-lt"/>
              </a:rPr>
              <a:t>No AI use (for design problems, most programming assignments, etc.)</a:t>
            </a:r>
          </a:p>
        </p:txBody>
      </p:sp>
      <p:sp>
        <p:nvSpPr>
          <p:cNvPr id="5" name="Oval 4">
            <a:extLst>
              <a:ext uri="{FF2B5EF4-FFF2-40B4-BE49-F238E27FC236}">
                <a16:creationId xmlns:a16="http://schemas.microsoft.com/office/drawing/2014/main" id="{B293F305-6AAE-D4F0-CA9D-28F6E7C50BB7}"/>
              </a:ext>
            </a:extLst>
          </p:cNvPr>
          <p:cNvSpPr/>
          <p:nvPr/>
        </p:nvSpPr>
        <p:spPr>
          <a:xfrm>
            <a:off x="2092351" y="3723613"/>
            <a:ext cx="1828800" cy="1828800"/>
          </a:xfrm>
          <a:prstGeom prst="ellipse">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B2E9CD6-944C-E4EA-9BB2-C20EA3C0F1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1830" y="4003092"/>
            <a:ext cx="1269841" cy="1269841"/>
          </a:xfrm>
          <a:prstGeom prst="rect">
            <a:avLst/>
          </a:prstGeom>
        </p:spPr>
      </p:pic>
      <p:cxnSp>
        <p:nvCxnSpPr>
          <p:cNvPr id="7" name="Straight Connector 6">
            <a:extLst>
              <a:ext uri="{FF2B5EF4-FFF2-40B4-BE49-F238E27FC236}">
                <a16:creationId xmlns:a16="http://schemas.microsoft.com/office/drawing/2014/main" id="{6A758551-2C14-84EF-5DB9-0A8262A98EAA}"/>
              </a:ext>
            </a:extLst>
          </p:cNvPr>
          <p:cNvCxnSpPr>
            <a:cxnSpLocks/>
            <a:stCxn id="5" idx="7"/>
            <a:endCxn id="5" idx="3"/>
          </p:cNvCxnSpPr>
          <p:nvPr/>
        </p:nvCxnSpPr>
        <p:spPr>
          <a:xfrm flipH="1">
            <a:off x="2360173" y="3991435"/>
            <a:ext cx="1293156" cy="1293156"/>
          </a:xfrm>
          <a:prstGeom prst="line">
            <a:avLst/>
          </a:prstGeom>
          <a:ln w="76200">
            <a:solidFill>
              <a:srgbClr val="C0000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2145855-52DB-B4B0-7C72-D438CC8809C4}"/>
              </a:ext>
            </a:extLst>
          </p:cNvPr>
          <p:cNvSpPr txBox="1"/>
          <p:nvPr/>
        </p:nvSpPr>
        <p:spPr>
          <a:xfrm>
            <a:off x="1838000" y="5635569"/>
            <a:ext cx="2337499" cy="369332"/>
          </a:xfrm>
          <a:prstGeom prst="rect">
            <a:avLst/>
          </a:prstGeom>
          <a:noFill/>
        </p:spPr>
        <p:txBody>
          <a:bodyPr wrap="none" rtlCol="0">
            <a:spAutoFit/>
          </a:bodyPr>
          <a:lstStyle/>
          <a:p>
            <a:r>
              <a:rPr lang="en-US" dirty="0">
                <a:latin typeface="Consolas" panose="020B0609020204030204" pitchFamily="49" charset="0"/>
              </a:rPr>
              <a:t>clanker-free zone</a:t>
            </a:r>
          </a:p>
        </p:txBody>
      </p:sp>
      <p:sp>
        <p:nvSpPr>
          <p:cNvPr id="10" name="TextBox 9">
            <a:extLst>
              <a:ext uri="{FF2B5EF4-FFF2-40B4-BE49-F238E27FC236}">
                <a16:creationId xmlns:a16="http://schemas.microsoft.com/office/drawing/2014/main" id="{2C768AB7-8D08-55CE-CA87-ADB3016BF47C}"/>
              </a:ext>
            </a:extLst>
          </p:cNvPr>
          <p:cNvSpPr txBox="1"/>
          <p:nvPr/>
        </p:nvSpPr>
        <p:spPr>
          <a:xfrm>
            <a:off x="4100293" y="6550223"/>
            <a:ext cx="3991414" cy="307777"/>
          </a:xfrm>
          <a:prstGeom prst="rect">
            <a:avLst/>
          </a:prstGeom>
          <a:noFill/>
        </p:spPr>
        <p:txBody>
          <a:bodyPr wrap="none" rtlCol="0">
            <a:spAutoFit/>
          </a:bodyPr>
          <a:lstStyle/>
          <a:p>
            <a:r>
              <a:rPr lang="en-US" sz="1400" dirty="0"/>
              <a:t>Source: </a:t>
            </a:r>
            <a:r>
              <a:rPr lang="en-US" sz="1400" dirty="0">
                <a:hlinkClick r:id="rId3"/>
              </a:rPr>
              <a:t>https://icons8.com/icons/set/robot-face</a:t>
            </a:r>
            <a:r>
              <a:rPr lang="en-US" sz="1400" dirty="0"/>
              <a:t> </a:t>
            </a:r>
          </a:p>
        </p:txBody>
      </p:sp>
      <p:sp>
        <p:nvSpPr>
          <p:cNvPr id="12" name="Oval 11">
            <a:extLst>
              <a:ext uri="{FF2B5EF4-FFF2-40B4-BE49-F238E27FC236}">
                <a16:creationId xmlns:a16="http://schemas.microsoft.com/office/drawing/2014/main" id="{C5F7336D-5DEF-AEBC-5531-0FE98F448ADB}"/>
              </a:ext>
            </a:extLst>
          </p:cNvPr>
          <p:cNvSpPr/>
          <p:nvPr/>
        </p:nvSpPr>
        <p:spPr>
          <a:xfrm>
            <a:off x="8334169" y="3735271"/>
            <a:ext cx="1828800" cy="1828800"/>
          </a:xfrm>
          <a:prstGeom prst="ellipse">
            <a:avLst/>
          </a:prstGeom>
          <a:noFill/>
          <a:ln w="76200" cmpd="thickThi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924038C3-4E27-C1B1-D65D-2CE800BF40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3648" y="4014750"/>
            <a:ext cx="1269841" cy="1269841"/>
          </a:xfrm>
          <a:prstGeom prst="rect">
            <a:avLst/>
          </a:prstGeom>
        </p:spPr>
      </p:pic>
      <p:sp>
        <p:nvSpPr>
          <p:cNvPr id="16" name="TextBox 15">
            <a:extLst>
              <a:ext uri="{FF2B5EF4-FFF2-40B4-BE49-F238E27FC236}">
                <a16:creationId xmlns:a16="http://schemas.microsoft.com/office/drawing/2014/main" id="{59085F58-D2C4-803E-1D22-255ACDA1BF67}"/>
              </a:ext>
            </a:extLst>
          </p:cNvPr>
          <p:cNvSpPr txBox="1"/>
          <p:nvPr/>
        </p:nvSpPr>
        <p:spPr>
          <a:xfrm>
            <a:off x="8143138" y="5647227"/>
            <a:ext cx="2210862" cy="369332"/>
          </a:xfrm>
          <a:prstGeom prst="rect">
            <a:avLst/>
          </a:prstGeom>
          <a:noFill/>
        </p:spPr>
        <p:txBody>
          <a:bodyPr wrap="none" rtlCol="0">
            <a:spAutoFit/>
          </a:bodyPr>
          <a:lstStyle/>
          <a:p>
            <a:r>
              <a:rPr lang="en-US" dirty="0">
                <a:latin typeface="Consolas" panose="020B0609020204030204" pitchFamily="49" charset="0"/>
              </a:rPr>
              <a:t>cite your AI use</a:t>
            </a:r>
          </a:p>
        </p:txBody>
      </p:sp>
      <p:sp>
        <p:nvSpPr>
          <p:cNvPr id="17" name="Title 1">
            <a:extLst>
              <a:ext uri="{FF2B5EF4-FFF2-40B4-BE49-F238E27FC236}">
                <a16:creationId xmlns:a16="http://schemas.microsoft.com/office/drawing/2014/main" id="{351FC076-071D-569F-F032-088B3E882D32}"/>
              </a:ext>
            </a:extLst>
          </p:cNvPr>
          <p:cNvSpPr txBox="1">
            <a:spLocks/>
          </p:cNvSpPr>
          <p:nvPr/>
        </p:nvSpPr>
        <p:spPr>
          <a:xfrm>
            <a:off x="7050024" y="2178085"/>
            <a:ext cx="4477733" cy="132556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dirty="0"/>
              <a:t>Limited genAI use allowed (for parts of some assignments)</a:t>
            </a:r>
          </a:p>
        </p:txBody>
      </p:sp>
    </p:spTree>
    <p:extLst>
      <p:ext uri="{BB962C8B-B14F-4D97-AF65-F5344CB8AC3E}">
        <p14:creationId xmlns:p14="http://schemas.microsoft.com/office/powerpoint/2010/main" val="2371807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3A59B-43B9-1F81-D249-34F8C3F3DE22}"/>
              </a:ext>
            </a:extLst>
          </p:cNvPr>
          <p:cNvSpPr>
            <a:spLocks noGrp="1"/>
          </p:cNvSpPr>
          <p:nvPr>
            <p:ph type="title"/>
          </p:nvPr>
        </p:nvSpPr>
        <p:spPr/>
        <p:txBody>
          <a:bodyPr/>
          <a:lstStyle/>
          <a:p>
            <a:r>
              <a:rPr lang="en-US" dirty="0">
                <a:latin typeface="Grandview" panose="020B0502040204020203" pitchFamily="34" charset="0"/>
              </a:rPr>
              <a:t>LLMs/</a:t>
            </a:r>
            <a:r>
              <a:rPr lang="en-US" dirty="0" err="1">
                <a:latin typeface="Grandview" panose="020B0502040204020203" pitchFamily="34" charset="0"/>
              </a:rPr>
              <a:t>genAI</a:t>
            </a:r>
            <a:r>
              <a:rPr lang="en-US" dirty="0">
                <a:latin typeface="Grandview" panose="020B0502040204020203" pitchFamily="34" charset="0"/>
              </a:rPr>
              <a:t> in CSSE 220</a:t>
            </a:r>
          </a:p>
        </p:txBody>
      </p:sp>
      <p:sp>
        <p:nvSpPr>
          <p:cNvPr id="3" name="Content Placeholder 2">
            <a:extLst>
              <a:ext uri="{FF2B5EF4-FFF2-40B4-BE49-F238E27FC236}">
                <a16:creationId xmlns:a16="http://schemas.microsoft.com/office/drawing/2014/main" id="{2958C5DF-EAB2-D085-1F65-6A430DF75B4B}"/>
              </a:ext>
            </a:extLst>
          </p:cNvPr>
          <p:cNvSpPr>
            <a:spLocks noGrp="1"/>
          </p:cNvSpPr>
          <p:nvPr>
            <p:ph idx="1"/>
          </p:nvPr>
        </p:nvSpPr>
        <p:spPr>
          <a:xfrm>
            <a:off x="838200" y="1825624"/>
            <a:ext cx="10767646" cy="4828393"/>
          </a:xfrm>
        </p:spPr>
        <p:txBody>
          <a:bodyPr>
            <a:normAutofit/>
          </a:bodyPr>
          <a:lstStyle/>
          <a:p>
            <a:r>
              <a:rPr lang="en-US" dirty="0">
                <a:latin typeface="Grandview" panose="020B0502040204020203" pitchFamily="34" charset="0"/>
                <a:hlinkClick r:id="rId2"/>
              </a:rPr>
              <a:t>https://ianludden.com/csse220-genai-guide/</a:t>
            </a:r>
            <a:r>
              <a:rPr lang="en-US" dirty="0">
                <a:latin typeface="Grandview" panose="020B0502040204020203" pitchFamily="34" charset="0"/>
              </a:rPr>
              <a:t> </a:t>
            </a:r>
          </a:p>
          <a:p>
            <a:r>
              <a:rPr lang="en-US" dirty="0">
                <a:latin typeface="Grandview" panose="020B0502040204020203" pitchFamily="34" charset="0"/>
              </a:rPr>
              <a:t>Foundational skills </a:t>
            </a:r>
            <a:r>
              <a:rPr lang="en-US" b="1" i="1" dirty="0">
                <a:latin typeface="Grandview" panose="020B0502040204020203" pitchFamily="34" charset="0"/>
              </a:rPr>
              <a:t>and </a:t>
            </a:r>
            <a:r>
              <a:rPr lang="en-US" dirty="0">
                <a:latin typeface="Grandview" panose="020B0502040204020203" pitchFamily="34" charset="0"/>
              </a:rPr>
              <a:t>understanding when LLMs can/can’t help</a:t>
            </a:r>
          </a:p>
          <a:p>
            <a:r>
              <a:rPr lang="en-US" dirty="0">
                <a:latin typeface="Grandview" panose="020B0502040204020203" pitchFamily="34" charset="0"/>
              </a:rPr>
              <a:t>Healthy skepticism</a:t>
            </a:r>
          </a:p>
          <a:p>
            <a:endParaRPr lang="en-US" dirty="0">
              <a:latin typeface="Grandview" panose="020B0502040204020203" pitchFamily="34" charset="0"/>
            </a:endParaRPr>
          </a:p>
          <a:p>
            <a:endParaRPr lang="en-US" dirty="0">
              <a:latin typeface="Grandview" panose="020B0502040204020203" pitchFamily="34" charset="0"/>
            </a:endParaRPr>
          </a:p>
          <a:p>
            <a:endParaRPr lang="en-US" dirty="0">
              <a:latin typeface="Grandview" panose="020B0502040204020203" pitchFamily="34" charset="0"/>
            </a:endParaRPr>
          </a:p>
          <a:p>
            <a:endParaRPr lang="en-US" dirty="0">
              <a:latin typeface="Grandview" panose="020B0502040204020203" pitchFamily="34" charset="0"/>
            </a:endParaRPr>
          </a:p>
          <a:p>
            <a:r>
              <a:rPr lang="en-US" dirty="0">
                <a:latin typeface="Grandview" panose="020B0502040204020203" pitchFamily="34" charset="0"/>
              </a:rPr>
              <a:t>If the design is bad, then it doesn’t matter </a:t>
            </a:r>
            <a:br>
              <a:rPr lang="en-US" dirty="0">
                <a:latin typeface="Grandview" panose="020B0502040204020203" pitchFamily="34" charset="0"/>
              </a:rPr>
            </a:br>
            <a:r>
              <a:rPr lang="en-US" dirty="0">
                <a:latin typeface="Grandview" panose="020B0502040204020203" pitchFamily="34" charset="0"/>
              </a:rPr>
              <a:t>how quickly genAI can fill in the code!</a:t>
            </a:r>
          </a:p>
        </p:txBody>
      </p:sp>
      <p:sp>
        <p:nvSpPr>
          <p:cNvPr id="4" name="Rectangle: Rounded Corners 3">
            <a:extLst>
              <a:ext uri="{FF2B5EF4-FFF2-40B4-BE49-F238E27FC236}">
                <a16:creationId xmlns:a16="http://schemas.microsoft.com/office/drawing/2014/main" id="{C9E43BDE-1A42-0C4D-3CFD-EA3F488B3DDD}"/>
              </a:ext>
            </a:extLst>
          </p:cNvPr>
          <p:cNvSpPr/>
          <p:nvPr/>
        </p:nvSpPr>
        <p:spPr>
          <a:xfrm>
            <a:off x="1404424" y="3429000"/>
            <a:ext cx="9383151" cy="167405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ysClr val="windowText" lastClr="000000"/>
                </a:solidFill>
                <a:latin typeface="Grandview" panose="020B0502040204020203" pitchFamily="34" charset="0"/>
              </a:rPr>
              <a:t>There is nothing so useless as doing efficiently </a:t>
            </a:r>
            <a:br>
              <a:rPr lang="en-US" sz="3200" dirty="0">
                <a:solidFill>
                  <a:sysClr val="windowText" lastClr="000000"/>
                </a:solidFill>
                <a:latin typeface="Grandview" panose="020B0502040204020203" pitchFamily="34" charset="0"/>
              </a:rPr>
            </a:br>
            <a:r>
              <a:rPr lang="en-US" sz="3200" dirty="0">
                <a:solidFill>
                  <a:sysClr val="windowText" lastClr="000000"/>
                </a:solidFill>
                <a:latin typeface="Grandview" panose="020B0502040204020203" pitchFamily="34" charset="0"/>
              </a:rPr>
              <a:t>that which should not be done at all.</a:t>
            </a:r>
          </a:p>
          <a:p>
            <a:pPr algn="ctr"/>
            <a:r>
              <a:rPr lang="en-US" sz="2800" i="1" dirty="0">
                <a:solidFill>
                  <a:sysClr val="windowText" lastClr="000000"/>
                </a:solidFill>
                <a:latin typeface="Grandview" panose="020B0502040204020203" pitchFamily="34" charset="0"/>
              </a:rPr>
              <a:t>Peter Drucker</a:t>
            </a:r>
          </a:p>
        </p:txBody>
      </p:sp>
    </p:spTree>
    <p:extLst>
      <p:ext uri="{BB962C8B-B14F-4D97-AF65-F5344CB8AC3E}">
        <p14:creationId xmlns:p14="http://schemas.microsoft.com/office/powerpoint/2010/main" val="2379673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64D94-274A-DDA7-5E67-A43F289385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E15E2-BA37-5012-06E5-4C5547604725}"/>
              </a:ext>
            </a:extLst>
          </p:cNvPr>
          <p:cNvSpPr>
            <a:spLocks noGrp="1"/>
          </p:cNvSpPr>
          <p:nvPr>
            <p:ph type="title"/>
          </p:nvPr>
        </p:nvSpPr>
        <p:spPr/>
        <p:txBody>
          <a:bodyPr/>
          <a:lstStyle/>
          <a:p>
            <a:r>
              <a:rPr lang="en-US" dirty="0">
                <a:latin typeface="Grandview" panose="020B0502040204020203" pitchFamily="34" charset="0"/>
              </a:rPr>
              <a:t>How </a:t>
            </a:r>
            <a:r>
              <a:rPr lang="en-US" b="1" i="1" dirty="0">
                <a:latin typeface="Grandview" panose="020B0502040204020203" pitchFamily="34" charset="0"/>
              </a:rPr>
              <a:t>not</a:t>
            </a:r>
            <a:r>
              <a:rPr lang="en-US" dirty="0">
                <a:latin typeface="Grandview" panose="020B0502040204020203" pitchFamily="34" charset="0"/>
              </a:rPr>
              <a:t> to use LLMs</a:t>
            </a:r>
          </a:p>
        </p:txBody>
      </p:sp>
      <p:sp>
        <p:nvSpPr>
          <p:cNvPr id="3" name="Content Placeholder 2">
            <a:extLst>
              <a:ext uri="{FF2B5EF4-FFF2-40B4-BE49-F238E27FC236}">
                <a16:creationId xmlns:a16="http://schemas.microsoft.com/office/drawing/2014/main" id="{2843DEED-073A-C3F6-363B-67D1F052596A}"/>
              </a:ext>
            </a:extLst>
          </p:cNvPr>
          <p:cNvSpPr>
            <a:spLocks noGrp="1"/>
          </p:cNvSpPr>
          <p:nvPr>
            <p:ph idx="1"/>
          </p:nvPr>
        </p:nvSpPr>
        <p:spPr/>
        <p:txBody>
          <a:bodyPr/>
          <a:lstStyle/>
          <a:p>
            <a:r>
              <a:rPr lang="en-US" dirty="0">
                <a:latin typeface="Grandview" panose="020B0502040204020203" pitchFamily="34" charset="0"/>
              </a:rPr>
              <a:t>“Cognitive offload”: delegating your thinking/learning</a:t>
            </a:r>
          </a:p>
          <a:p>
            <a:endParaRPr lang="en-US" dirty="0">
              <a:latin typeface="Grandview" panose="020B0502040204020203" pitchFamily="34" charset="0"/>
            </a:endParaRPr>
          </a:p>
          <a:p>
            <a:r>
              <a:rPr lang="en-US" dirty="0">
                <a:latin typeface="Grandview" panose="020B0502040204020203" pitchFamily="34" charset="0"/>
              </a:rPr>
              <a:t>Finishing homework assignments when you run out of time</a:t>
            </a:r>
          </a:p>
          <a:p>
            <a:pPr lvl="1"/>
            <a:r>
              <a:rPr lang="en-US" dirty="0">
                <a:latin typeface="Grandview" panose="020B0502040204020203" pitchFamily="34" charset="0"/>
              </a:rPr>
              <a:t>Just ask for an extension, and prioritize your learning</a:t>
            </a:r>
          </a:p>
          <a:p>
            <a:endParaRPr lang="en-US" dirty="0">
              <a:latin typeface="Grandview" panose="020B0502040204020203" pitchFamily="34" charset="0"/>
            </a:endParaRPr>
          </a:p>
          <a:p>
            <a:r>
              <a:rPr lang="en-US" dirty="0">
                <a:latin typeface="Grandview" panose="020B0502040204020203" pitchFamily="34" charset="0"/>
              </a:rPr>
              <a:t>Solving timed assessment problems</a:t>
            </a:r>
          </a:p>
          <a:p>
            <a:pPr lvl="1"/>
            <a:r>
              <a:rPr lang="en-US" dirty="0">
                <a:latin typeface="Grandview" panose="020B0502040204020203" pitchFamily="34" charset="0"/>
              </a:rPr>
              <a:t>I can’t give feedback on </a:t>
            </a:r>
            <a:r>
              <a:rPr lang="en-US" b="1" i="1" dirty="0">
                <a:latin typeface="Grandview" panose="020B0502040204020203" pitchFamily="34" charset="0"/>
              </a:rPr>
              <a:t>your </a:t>
            </a:r>
            <a:r>
              <a:rPr lang="en-US" dirty="0">
                <a:latin typeface="Grandview" panose="020B0502040204020203" pitchFamily="34" charset="0"/>
              </a:rPr>
              <a:t>learning progress if an LLM did the work</a:t>
            </a:r>
          </a:p>
          <a:p>
            <a:pPr lvl="1"/>
            <a:endParaRPr lang="en-US" dirty="0">
              <a:latin typeface="Grandview" panose="020B0502040204020203" pitchFamily="34" charset="0"/>
            </a:endParaRPr>
          </a:p>
        </p:txBody>
      </p:sp>
    </p:spTree>
    <p:extLst>
      <p:ext uri="{BB962C8B-B14F-4D97-AF65-F5344CB8AC3E}">
        <p14:creationId xmlns:p14="http://schemas.microsoft.com/office/powerpoint/2010/main" val="1953473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1155</Words>
  <Application>Microsoft Office PowerPoint</Application>
  <PresentationFormat>Widescreen</PresentationFormat>
  <Paragraphs>79</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Consolas</vt:lpstr>
      <vt:lpstr>Grandview</vt:lpstr>
      <vt:lpstr>Office Theme</vt:lpstr>
      <vt:lpstr>Introduction to generative artificial intelligence (genAI)  for CSSE 220</vt:lpstr>
      <vt:lpstr>Rosie’s anatomy?</vt:lpstr>
      <vt:lpstr>When you use AI in this course:</vt:lpstr>
      <vt:lpstr>What does the research say?</vt:lpstr>
      <vt:lpstr>What does the research say?</vt:lpstr>
      <vt:lpstr>When you use AI for coding:</vt:lpstr>
      <vt:lpstr>Course Policy</vt:lpstr>
      <vt:lpstr>Takeaways</vt:lpstr>
      <vt:lpstr>Want to learn how to use AI well?</vt:lpstr>
      <vt:lpstr>CSSE 220 genAI icons</vt:lpstr>
      <vt:lpstr>LLMs/genAI in CSSE 220</vt:lpstr>
      <vt:lpstr>How not to use LLMs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Ludden, Ian</dc:creator>
  <cp:lastModifiedBy>Ludden, Ian</cp:lastModifiedBy>
  <cp:revision>12</cp:revision>
  <dcterms:created xsi:type="dcterms:W3CDTF">2026-08-26T21:11:46Z</dcterms:created>
  <dcterms:modified xsi:type="dcterms:W3CDTF">2026-08-26T21:24:43Z</dcterms:modified>
</cp:coreProperties>
</file>