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7" r:id="rId4"/>
  </p:sldMasterIdLst>
  <p:notesMasterIdLst>
    <p:notesMasterId r:id="rId14"/>
  </p:notesMasterIdLst>
  <p:handoutMasterIdLst>
    <p:handoutMasterId r:id="rId15"/>
  </p:handoutMasterIdLst>
  <p:sldIdLst>
    <p:sldId id="300" r:id="rId5"/>
    <p:sldId id="259" r:id="rId6"/>
    <p:sldId id="346" r:id="rId7"/>
    <p:sldId id="261" r:id="rId8"/>
    <p:sldId id="347" r:id="rId9"/>
    <p:sldId id="343" r:id="rId10"/>
    <p:sldId id="344" r:id="rId11"/>
    <p:sldId id="342" r:id="rId12"/>
    <p:sldId id="345" r:id="rId13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der, Jason" initials="YJ" lastIdx="1" clrIdx="0">
    <p:extLst>
      <p:ext uri="{19B8F6BF-5375-455C-9EA6-DF929625EA0E}">
        <p15:presenceInfo xmlns:p15="http://schemas.microsoft.com/office/powerpoint/2012/main" userId="S-1-5-21-1965730717-1486086910-2027319071-7454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7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7959" autoAdjust="0"/>
  </p:normalViewPr>
  <p:slideViewPr>
    <p:cSldViewPr snapToGrid="0">
      <p:cViewPr varScale="1">
        <p:scale>
          <a:sx n="97" d="100"/>
          <a:sy n="97" d="100"/>
        </p:scale>
        <p:origin x="200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>
            <a:lvl1pPr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972256" y="0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>
            <a:lvl1pPr algn="r"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E7563301-559A-4ABC-AA2B-6FE6708B755E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1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b" anchorCtr="0" compatLnSpc="1">
            <a:prstTxWarp prst="textNoShape">
              <a:avLst/>
            </a:prstTxWarp>
          </a:bodyPr>
          <a:lstStyle>
            <a:lvl1pPr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972256" y="8829122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b" anchorCtr="0" compatLnSpc="1">
            <a:prstTxWarp prst="textNoShape">
              <a:avLst/>
            </a:prstTxWarp>
          </a:bodyPr>
          <a:lstStyle>
            <a:lvl1pPr algn="r"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69FA71DF-C021-41F0-8072-9DABD6C95C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421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>
            <a:lvl1pPr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970735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>
            <a:lvl1pPr algn="r"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0A2CEEB4-0792-4477-89F5-C9EB695061F7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803" tIns="44902" rIns="89803" bIns="44902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1345" y="4416099"/>
            <a:ext cx="5607711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1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b" anchorCtr="0" compatLnSpc="1">
            <a:prstTxWarp prst="textNoShape">
              <a:avLst/>
            </a:prstTxWarp>
          </a:bodyPr>
          <a:lstStyle>
            <a:lvl1pPr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970735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b" anchorCtr="0" compatLnSpc="1">
            <a:prstTxWarp prst="textNoShape">
              <a:avLst/>
            </a:prstTxWarp>
          </a:bodyPr>
          <a:lstStyle>
            <a:lvl1pPr algn="r"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41BB943A-C3B9-42AE-8B54-C233581231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195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JAY: Introduce SECOND row today (Identity Pie)</a:t>
            </a:r>
          </a:p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2D2F29-D266-4A73-9105-1080FD86BA4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090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1BB943A-C3B9-42AE-8B54-C2335812312E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278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https://www.pinterest.com/pin/beads-kit-and-300pcs-alphabet-letter-beads-for-name-bracelets-etsy-in-2022--1121818588404789699/</a:t>
            </a:r>
          </a:p>
          <a:p>
            <a:endParaRPr lang="en-US" dirty="0"/>
          </a:p>
          <a:p>
            <a:r>
              <a:rPr lang="en-US" dirty="0"/>
              <a:t>For the real etymology, see https://en.wikipedia.org/wiki/String_(computer_science)#History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B943A-C3B9-42AE-8B54-C2335812312E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251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B943A-C3B9-42AE-8B54-C2335812312E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550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25803-1595-C759-FC15-E1EC806AE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DE741C-59A0-57B7-F981-209548CC1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A8749-32B3-0511-3223-33F54DD42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https://www.etymonline.com/word/concatenation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95A94-63AE-06BA-1B75-4AB5126D1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B943A-C3B9-42AE-8B54-C2335812312E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559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78" name="Shape 7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 defTabSz="914400">
              <a:lnSpc>
                <a:spcPct val="100000"/>
              </a:lnSpc>
              <a:spcBef>
                <a:spcPts val="800"/>
              </a:spcBef>
              <a:defRPr sz="1800"/>
            </a:pPr>
            <a:r>
              <a:rPr sz="2300">
                <a:latin typeface="Calibri"/>
                <a:ea typeface="Calibri"/>
                <a:cs typeface="Calibri"/>
                <a:sym typeface="Calibri"/>
              </a:rPr>
              <a:t>Find the documentation for the </a:t>
            </a:r>
            <a:r>
              <a:rPr sz="2300" b="1">
                <a:latin typeface="Calibri"/>
                <a:ea typeface="Calibri"/>
                <a:cs typeface="Calibri"/>
                <a:sym typeface="Calibri"/>
              </a:rPr>
              <a:t>String</a:t>
            </a:r>
            <a:r>
              <a:rPr sz="2300">
                <a:latin typeface="Calibri"/>
                <a:ea typeface="Calibri"/>
                <a:cs typeface="Calibri"/>
                <a:sym typeface="Calibri"/>
              </a:rPr>
              <a:t> class from one of the above links, as follows: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lvl="0" defTabSz="914400">
              <a:lnSpc>
                <a:spcPct val="100000"/>
              </a:lnSpc>
              <a:spcBef>
                <a:spcPts val="600"/>
              </a:spcBef>
              <a:buSzPct val="100000"/>
              <a:buChar char="-"/>
              <a:defRPr sz="1800"/>
            </a:pPr>
            <a:r>
              <a:rPr sz="1900">
                <a:latin typeface="Calibri"/>
                <a:ea typeface="Calibri"/>
                <a:cs typeface="Calibri"/>
                <a:sym typeface="Calibri"/>
              </a:rPr>
              <a:t> Click </a:t>
            </a:r>
            <a:r>
              <a:rPr sz="1900">
                <a:solidFill>
                  <a:srgbClr val="9BBB59"/>
                </a:solidFill>
                <a:latin typeface="Calibri"/>
                <a:ea typeface="Calibri"/>
                <a:cs typeface="Calibri"/>
                <a:sym typeface="Calibri"/>
              </a:rPr>
              <a:t>java.lang</a:t>
            </a:r>
            <a:r>
              <a:rPr sz="1900">
                <a:latin typeface="Calibri"/>
                <a:ea typeface="Calibri"/>
                <a:cs typeface="Calibri"/>
                <a:sym typeface="Calibri"/>
              </a:rPr>
              <a:t> in the top-left pane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lvl="0" defTabSz="914400">
              <a:lnSpc>
                <a:spcPct val="100000"/>
              </a:lnSpc>
              <a:spcBef>
                <a:spcPts val="600"/>
              </a:spcBef>
              <a:buSzPct val="100000"/>
              <a:buChar char="-"/>
              <a:defRPr sz="1800"/>
            </a:pPr>
            <a:r>
              <a:rPr sz="1900">
                <a:latin typeface="Calibri"/>
                <a:ea typeface="Calibri"/>
                <a:cs typeface="Calibri"/>
                <a:sym typeface="Calibri"/>
              </a:rPr>
              <a:t> Then click </a:t>
            </a:r>
            <a:r>
              <a:rPr sz="1900">
                <a:solidFill>
                  <a:srgbClr val="9BBB59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r>
              <a:rPr sz="1900">
                <a:latin typeface="Calibri"/>
                <a:ea typeface="Calibri"/>
                <a:cs typeface="Calibri"/>
                <a:sym typeface="Calibri"/>
              </a:rPr>
              <a:t> in the bottom-left pane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sz="1200">
                <a:latin typeface="Calibri"/>
                <a:ea typeface="Calibri"/>
                <a:cs typeface="Calibri"/>
                <a:sym typeface="Calibri"/>
              </a:rPr>
              <a:t>Describe the parts of the String API documentation:</a:t>
            </a:r>
          </a:p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sz="1200">
                <a:latin typeface="Calibri"/>
                <a:ea typeface="Calibri"/>
                <a:cs typeface="Calibri"/>
                <a:sym typeface="Calibri"/>
              </a:rPr>
              <a:t>- description of the class</a:t>
            </a:r>
          </a:p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sz="1200">
                <a:latin typeface="Calibri"/>
                <a:ea typeface="Calibri"/>
                <a:cs typeface="Calibri"/>
                <a:sym typeface="Calibri"/>
              </a:rPr>
              <a:t>- summaries of all the fields, constructors, and method</a:t>
            </a:r>
          </a:p>
          <a:p>
            <a:pPr marL="162130" lvl="0" indent="-162130" defTabSz="914400">
              <a:lnSpc>
                <a:spcPct val="100000"/>
              </a:lnSpc>
              <a:spcBef>
                <a:spcPts val="400"/>
              </a:spcBef>
              <a:buSzPct val="100000"/>
              <a:buChar char="-"/>
              <a:defRPr sz="1800"/>
            </a:pPr>
            <a:r>
              <a:rPr sz="1200">
                <a:latin typeface="Calibri"/>
                <a:ea typeface="Calibri"/>
                <a:cs typeface="Calibri"/>
                <a:sym typeface="Calibri"/>
              </a:rPr>
              <a:t>detailed descriptions of everything</a:t>
            </a:r>
          </a:p>
        </p:txBody>
      </p:sp>
    </p:spTree>
    <p:extLst>
      <p:ext uri="{BB962C8B-B14F-4D97-AF65-F5344CB8AC3E}">
        <p14:creationId xmlns:p14="http://schemas.microsoft.com/office/powerpoint/2010/main" val="1218477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sz="1200">
                <a:latin typeface="Calibri"/>
                <a:ea typeface="Calibri"/>
                <a:cs typeface="Calibri"/>
                <a:sym typeface="Calibri"/>
              </a:rPr>
              <a:t>Point students to the link in the homework if everyone does not have the docs setup.</a:t>
            </a:r>
          </a:p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sz="1200">
                <a:latin typeface="Calibri"/>
                <a:ea typeface="Calibri"/>
                <a:cs typeface="Calibri"/>
                <a:sym typeface="Calibri"/>
              </a:rPr>
              <a:t>Demo hover text, F2 to focus on hover text, icon to open in web browser.</a:t>
            </a:r>
          </a:p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sz="1200">
                <a:latin typeface="Calibri"/>
                <a:ea typeface="Calibri"/>
                <a:cs typeface="Calibri"/>
                <a:sym typeface="Calibri"/>
              </a:rPr>
              <a:t>Shift-F2 to open external browser immediately.</a:t>
            </a:r>
          </a:p>
        </p:txBody>
      </p:sp>
    </p:spTree>
    <p:extLst>
      <p:ext uri="{BB962C8B-B14F-4D97-AF65-F5344CB8AC3E}">
        <p14:creationId xmlns:p14="http://schemas.microsoft.com/office/powerpoint/2010/main" val="23529951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decide to say this for next class</a:t>
            </a:r>
            <a:r>
              <a:rPr lang="en-US" baseline="0" dirty="0"/>
              <a:t> or mention it now at least…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906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1852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9D63304-4803-46E9-8053-E8AD2B380643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242930-7B11-4C91-93D9-A54E2CD74A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5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450AFD-1AD4-40A7-ADB3-7F87D0F8D819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719A2B-6AB5-4698-BD1C-B24CF46110B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15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E205AC-0D9D-49E5-90F5-84A523F53AD4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4BE59B-51DA-440B-8545-A062048D7B9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20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E96CC7-A4B9-4483-A454-FAC873D5CC60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32177C-87C6-43B9-A935-6328F9639B7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953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36B0ADB-9602-482B-85CF-ADC1BAEB4D83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939F39-A2B5-4674-BBDC-FB0FC7799A0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4EB50F-1288-4DFE-A2B7-2FC74B6FF41B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0A32C-847A-4008-98DF-1431C4BD4B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0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81446E-4544-488E-A5FE-1BC8CCF1495A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320C44-97C4-4C75-8F69-EA40841DDD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70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C57AFD-AD8B-4ACE-BF5F-D584921D5881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DA3404-8575-4D7A-B473-E1271220171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67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BD2CCA-3B9B-4204-8C40-14009DD5CC52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2B96DF-88DE-48C3-B785-8FAF2A41F8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6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621D6E-7091-4510-88D1-5FA26E14D11A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59483E-09E4-48D5-BA16-BD54A45260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56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F03A13-9CFF-4839-B20A-D00C049D77D5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CA0CD3-0616-4975-8CB6-395FF73FEB5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36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8A073B1-0DA8-47AB-B7E2-D5D57F68FCE3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7341FED-3A60-48F0-B693-9093865656C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68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CSSE 220</a:t>
            </a:r>
          </a:p>
        </p:txBody>
      </p:sp>
      <p:sp>
        <p:nvSpPr>
          <p:cNvPr id="9219" name="Rectang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UsingObjectsAndAPIs</a:t>
            </a:r>
            <a:endParaRPr lang="en-US" dirty="0"/>
          </a:p>
        </p:txBody>
      </p:sp>
      <p:sp>
        <p:nvSpPr>
          <p:cNvPr id="8" name="Shape 54">
            <a:extLst>
              <a:ext uri="{FF2B5EF4-FFF2-40B4-BE49-F238E27FC236}">
                <a16:creationId xmlns:a16="http://schemas.microsoft.com/office/drawing/2014/main" id="{55D4AF07-6744-AF07-4C40-5F09BC75DD40}"/>
              </a:ext>
            </a:extLst>
          </p:cNvPr>
          <p:cNvSpPr/>
          <p:nvPr/>
        </p:nvSpPr>
        <p:spPr>
          <a:xfrm>
            <a:off x="1247775" y="5084802"/>
            <a:ext cx="6648450" cy="1107996"/>
          </a:xfrm>
          <a:prstGeom prst="rect">
            <a:avLst/>
          </a:prstGeom>
          <a:solidFill>
            <a:srgbClr val="9BBB59"/>
          </a:solidFill>
          <a:ln w="25400" cap="rnd">
            <a:solidFill>
              <a:srgbClr val="718841"/>
            </a:solidFill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/>
            <a:r>
              <a:rPr lang="en-US" sz="2400" dirty="0">
                <a:solidFill>
                  <a:srgbClr val="FFFFFF"/>
                </a:solidFill>
              </a:rPr>
              <a:t>The </a:t>
            </a:r>
            <a:r>
              <a:rPr lang="en-US" sz="2400" i="1" dirty="0">
                <a:solidFill>
                  <a:srgbClr val="FFFFFF"/>
                </a:solidFill>
              </a:rPr>
              <a:t>git</a:t>
            </a:r>
            <a:r>
              <a:rPr lang="en-US" sz="2400" dirty="0">
                <a:solidFill>
                  <a:srgbClr val="FFFFFF"/>
                </a:solidFill>
              </a:rPr>
              <a:t> projects for today are:</a:t>
            </a:r>
          </a:p>
          <a:p>
            <a:pPr marL="746125" lvl="0" indent="-447675">
              <a:buFont typeface="Arial" panose="020B0604020202020204" pitchFamily="34" charset="0"/>
              <a:buChar char="•"/>
            </a:pPr>
            <a:r>
              <a:rPr lang="en-US" sz="2400" i="1" dirty="0" err="1">
                <a:solidFill>
                  <a:schemeClr val="bg1"/>
                </a:solidFill>
              </a:rPr>
              <a:t>PracticeUsingObjectsAndAPIs</a:t>
            </a:r>
            <a:endParaRPr lang="en-US" sz="2400" i="1" dirty="0">
              <a:solidFill>
                <a:schemeClr val="bg1"/>
              </a:solidFill>
            </a:endParaRPr>
          </a:p>
          <a:p>
            <a:pPr marL="746125" lvl="0" indent="-447675">
              <a:buFont typeface="Arial" panose="020B0604020202020204" pitchFamily="34" charset="0"/>
              <a:buChar char="•"/>
            </a:pPr>
            <a:r>
              <a:rPr lang="en-US" sz="2400" i="1" dirty="0" err="1">
                <a:solidFill>
                  <a:schemeClr val="bg1"/>
                </a:solidFill>
              </a:rPr>
              <a:t>PracticeSolutionUsingObjectsAndAPIs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4463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Strings – What, When, Why, How?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What:</a:t>
            </a:r>
          </a:p>
          <a:p>
            <a:r>
              <a:rPr lang="en-US" dirty="0"/>
              <a:t>They are an array of characters but written in a class that come with operations</a:t>
            </a:r>
          </a:p>
          <a:p>
            <a:r>
              <a:rPr lang="is-IS" dirty="0"/>
              <a:t>… </a:t>
            </a:r>
            <a:r>
              <a:rPr lang="en-US" dirty="0"/>
              <a:t>so we can worry about using them</a:t>
            </a:r>
          </a:p>
          <a:p>
            <a:pPr marL="0" indent="0">
              <a:buNone/>
            </a:pPr>
            <a:r>
              <a:rPr lang="en-US" dirty="0"/>
              <a:t>When:</a:t>
            </a:r>
          </a:p>
          <a:p>
            <a:pPr lvl="1"/>
            <a:r>
              <a:rPr lang="en-US" dirty="0"/>
              <a:t>When you need “strings” of characters</a:t>
            </a:r>
          </a:p>
          <a:p>
            <a:pPr lvl="2"/>
            <a:r>
              <a:rPr lang="en-US" dirty="0"/>
              <a:t>We won’t use char arrays much otherwise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275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43EFD-3806-4E21-0709-F14325A0B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etymology(?)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752CD4-0BFD-FEE5-193C-5BCFF1120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018071" y="1417638"/>
            <a:ext cx="5107858" cy="510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840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Strings – What, When, Why, How?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Why:</a:t>
            </a:r>
          </a:p>
          <a:p>
            <a:r>
              <a:rPr lang="en-US" dirty="0" err="1"/>
              <a:t>Sooooo</a:t>
            </a:r>
            <a:r>
              <a:rPr lang="en-US" dirty="0"/>
              <a:t> much easier than char arrays!</a:t>
            </a:r>
          </a:p>
          <a:p>
            <a:pPr marL="0" indent="0">
              <a:buNone/>
            </a:pPr>
            <a:r>
              <a:rPr lang="en-US" dirty="0"/>
              <a:t>How:</a:t>
            </a:r>
          </a:p>
          <a:p>
            <a:pPr lvl="0"/>
            <a:r>
              <a:rPr lang="en-US" sz="2000" dirty="0"/>
              <a:t>String </a:t>
            </a:r>
            <a:r>
              <a:rPr lang="en-US" sz="2000" dirty="0" err="1"/>
              <a:t>myString</a:t>
            </a:r>
            <a:r>
              <a:rPr lang="en-US" sz="2000" dirty="0"/>
              <a:t> = “hello”;</a:t>
            </a:r>
          </a:p>
          <a:p>
            <a:pPr lvl="0"/>
            <a:r>
              <a:rPr lang="en-US" sz="2000" dirty="0"/>
              <a:t>String </a:t>
            </a:r>
            <a:r>
              <a:rPr lang="en-US" sz="2000" dirty="0" err="1"/>
              <a:t>otherString</a:t>
            </a:r>
            <a:r>
              <a:rPr lang="en-US" sz="2000" dirty="0"/>
              <a:t> = new String(“hello2”);</a:t>
            </a:r>
          </a:p>
          <a:p>
            <a:pPr lvl="0"/>
            <a:r>
              <a:rPr lang="en-US" sz="2000" dirty="0"/>
              <a:t>String </a:t>
            </a:r>
            <a:r>
              <a:rPr lang="en-US" sz="2000" dirty="0" err="1"/>
              <a:t>combinedString</a:t>
            </a:r>
            <a:r>
              <a:rPr lang="en-US" sz="2000" dirty="0"/>
              <a:t> = </a:t>
            </a:r>
            <a:r>
              <a:rPr lang="en-US" sz="2000" dirty="0" err="1"/>
              <a:t>myString</a:t>
            </a:r>
            <a:r>
              <a:rPr lang="en-US" sz="2000" dirty="0"/>
              <a:t> + “ “ + </a:t>
            </a:r>
            <a:r>
              <a:rPr lang="en-US" sz="2000" dirty="0" err="1"/>
              <a:t>otherString</a:t>
            </a:r>
            <a:r>
              <a:rPr lang="en-US" sz="2000" dirty="0"/>
              <a:t> + “!”;</a:t>
            </a: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Retrieving data</a:t>
            </a:r>
          </a:p>
          <a:p>
            <a:pPr lvl="1"/>
            <a:r>
              <a:rPr lang="en-US" dirty="0"/>
              <a:t>Need the API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363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C6B85-6F9E-1A4E-8982-C4B90ED22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2C7FD-BB4D-836A-0A5F-4A47D6D46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Strings – Concatenation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781BE3-82FF-F3E7-F410-2B0B0B532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39" y="3429000"/>
            <a:ext cx="7519997" cy="28914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399491-E975-697C-451F-DFD228EC0F5F}"/>
              </a:ext>
            </a:extLst>
          </p:cNvPr>
          <p:cNvSpPr txBox="1"/>
          <p:nvPr/>
        </p:nvSpPr>
        <p:spPr>
          <a:xfrm>
            <a:off x="786581" y="1417638"/>
            <a:ext cx="714971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String </a:t>
            </a:r>
            <a:r>
              <a:rPr lang="en-US" dirty="0" err="1">
                <a:latin typeface="Consolas" panose="020B0609020204030204" pitchFamily="49" charset="0"/>
              </a:rPr>
              <a:t>firstString</a:t>
            </a:r>
            <a:r>
              <a:rPr lang="en-US" dirty="0">
                <a:latin typeface="Consolas" panose="020B0609020204030204" pitchFamily="49" charset="0"/>
              </a:rPr>
              <a:t> = “Hello”;</a:t>
            </a:r>
          </a:p>
          <a:p>
            <a:r>
              <a:rPr lang="en-US" dirty="0">
                <a:latin typeface="Consolas" panose="020B0609020204030204" pitchFamily="49" charset="0"/>
              </a:rPr>
              <a:t>String </a:t>
            </a:r>
            <a:r>
              <a:rPr lang="en-US" dirty="0" err="1">
                <a:latin typeface="Consolas" panose="020B0609020204030204" pitchFamily="49" charset="0"/>
              </a:rPr>
              <a:t>secondString</a:t>
            </a:r>
            <a:r>
              <a:rPr lang="en-US" dirty="0">
                <a:latin typeface="Consolas" panose="020B0609020204030204" pitchFamily="49" charset="0"/>
              </a:rPr>
              <a:t> = “CSSE220”;</a:t>
            </a:r>
          </a:p>
          <a:p>
            <a:r>
              <a:rPr lang="en-US" dirty="0">
                <a:latin typeface="Consolas" panose="020B0609020204030204" pitchFamily="49" charset="0"/>
              </a:rPr>
              <a:t>String </a:t>
            </a:r>
            <a:r>
              <a:rPr lang="en-US" dirty="0" err="1">
                <a:latin typeface="Consolas" panose="020B0609020204030204" pitchFamily="49" charset="0"/>
              </a:rPr>
              <a:t>concatenatedResult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firstString</a:t>
            </a:r>
            <a:r>
              <a:rPr lang="en-US" dirty="0">
                <a:latin typeface="Consolas" panose="020B0609020204030204" pitchFamily="49" charset="0"/>
              </a:rPr>
              <a:t> + </a:t>
            </a:r>
            <a:r>
              <a:rPr lang="en-US" dirty="0" err="1">
                <a:latin typeface="Consolas" panose="020B0609020204030204" pitchFamily="49" charset="0"/>
              </a:rPr>
              <a:t>secondString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latin typeface="Consolas" panose="020B0609020204030204" pitchFamily="49" charset="0"/>
              </a:rPr>
              <a:t>System.out.println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concatenatedResult</a:t>
            </a:r>
            <a:r>
              <a:rPr lang="en-US" dirty="0"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latin typeface="Consolas" panose="020B0609020204030204" pitchFamily="49" charset="0"/>
              </a:rPr>
              <a:t>// Output: 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// HelloCSSE220</a:t>
            </a:r>
          </a:p>
        </p:txBody>
      </p:sp>
    </p:spTree>
    <p:extLst>
      <p:ext uri="{BB962C8B-B14F-4D97-AF65-F5344CB8AC3E}">
        <p14:creationId xmlns:p14="http://schemas.microsoft.com/office/powerpoint/2010/main" val="339243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Java API Documentation</a:t>
            </a:r>
          </a:p>
        </p:txBody>
      </p:sp>
      <p:sp>
        <p:nvSpPr>
          <p:cNvPr id="73" name="Shape 7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What’s an API?</a:t>
            </a:r>
          </a:p>
          <a:p>
            <a:pPr lvl="1"/>
            <a:r>
              <a:rPr lang="en-US" dirty="0"/>
              <a:t>Application Programming Interface</a:t>
            </a:r>
          </a:p>
          <a:p>
            <a:pPr lvl="1"/>
            <a:endParaRPr lang="en-US" dirty="0"/>
          </a:p>
          <a:p>
            <a:pPr lvl="0"/>
            <a:r>
              <a:rPr lang="en-US" dirty="0"/>
              <a:t>The Java API on-line</a:t>
            </a:r>
          </a:p>
          <a:p>
            <a:pPr lvl="1"/>
            <a:r>
              <a:rPr lang="en-US" dirty="0"/>
              <a:t>Google for: java </a:t>
            </a:r>
            <a:r>
              <a:rPr lang="en-US" dirty="0" err="1"/>
              <a:t>api</a:t>
            </a:r>
            <a:r>
              <a:rPr lang="en-US" dirty="0"/>
              <a:t> documentation 8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Or go to: </a:t>
            </a:r>
            <a:r>
              <a:rPr lang="en-US" dirty="0">
                <a:hlinkClick r:id="rId3"/>
              </a:rPr>
              <a:t>https://docs.oracle.com/javase/8/docs/api/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7940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Java Documentation in IntelliJ</a:t>
            </a:r>
          </a:p>
        </p:txBody>
      </p:sp>
      <p:sp>
        <p:nvSpPr>
          <p:cNvPr id="81" name="Shape 81"/>
          <p:cNvSpPr>
            <a:spLocks noGrp="1"/>
          </p:cNvSpPr>
          <p:nvPr>
            <p:ph idx="1"/>
          </p:nvPr>
        </p:nvSpPr>
        <p:spPr>
          <a:xfrm>
            <a:off x="228600" y="1166018"/>
            <a:ext cx="8458200" cy="4525963"/>
          </a:xfrm>
        </p:spPr>
        <p:txBody>
          <a:bodyPr/>
          <a:lstStyle/>
          <a:p>
            <a:pPr lvl="0"/>
            <a:r>
              <a:rPr lang="en-US" dirty="0"/>
              <a:t>Using the API documentation in IntelliJ</a:t>
            </a:r>
          </a:p>
          <a:p>
            <a:pPr lvl="1"/>
            <a:r>
              <a:rPr lang="en-US" dirty="0"/>
              <a:t>Hover text (e.g., substring screenshot below)</a:t>
            </a:r>
          </a:p>
          <a:p>
            <a:pPr lvl="1"/>
            <a:r>
              <a:rPr lang="en-US" dirty="0"/>
              <a:t>Open in Documentation Tool Window (click vertical three dots in hover dialog, then select top option)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B6902B-23C2-3559-CDDD-3989C77BF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92" y="3292631"/>
            <a:ext cx="8350815" cy="339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76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Rule for Comparisons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Fast rule for now:</a:t>
            </a:r>
          </a:p>
          <a:p>
            <a:r>
              <a:rPr lang="en-US" dirty="0"/>
              <a:t>Use </a:t>
            </a:r>
            <a:r>
              <a:rPr lang="en-US" b="1" u="sng" dirty="0">
                <a:highlight>
                  <a:srgbClr val="FFFF00"/>
                </a:highlight>
              </a:rPr>
              <a:t>.equals() </a:t>
            </a:r>
            <a:r>
              <a:rPr lang="en-US" dirty="0"/>
              <a:t>for comparing Strings</a:t>
            </a:r>
          </a:p>
          <a:p>
            <a:pPr marL="457200" lvl="1" indent="0">
              <a:buNone/>
            </a:pPr>
            <a:r>
              <a:rPr lang="en-US" dirty="0"/>
              <a:t>String alpha = “</a:t>
            </a:r>
            <a:r>
              <a:rPr lang="en-US" dirty="0" err="1"/>
              <a:t>aaa</a:t>
            </a:r>
            <a:r>
              <a:rPr lang="en-US" dirty="0"/>
              <a:t>”;</a:t>
            </a:r>
          </a:p>
          <a:p>
            <a:pPr marL="457200" lvl="1" indent="0">
              <a:buNone/>
            </a:pPr>
            <a:r>
              <a:rPr lang="en-US" dirty="0"/>
              <a:t>if (</a:t>
            </a:r>
            <a:r>
              <a:rPr lang="en-US" dirty="0" err="1"/>
              <a:t>alpha.equals</a:t>
            </a:r>
            <a:r>
              <a:rPr lang="en-US" dirty="0"/>
              <a:t>(“</a:t>
            </a:r>
            <a:r>
              <a:rPr lang="en-US" dirty="0" err="1"/>
              <a:t>bbb</a:t>
            </a:r>
            <a:r>
              <a:rPr lang="en-US" dirty="0"/>
              <a:t>”) {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System.out.println</a:t>
            </a:r>
            <a:r>
              <a:rPr lang="en-US" dirty="0"/>
              <a:t>(“Yes!”)</a:t>
            </a:r>
          </a:p>
          <a:p>
            <a:pPr marL="457200" lvl="1" indent="0">
              <a:buNone/>
            </a:pPr>
            <a:r>
              <a:rPr lang="en-US" dirty="0"/>
              <a:t>} </a:t>
            </a:r>
          </a:p>
          <a:p>
            <a:pPr marL="457200" lvl="1" indent="0">
              <a:buNone/>
            </a:pPr>
            <a:r>
              <a:rPr lang="en-US" dirty="0"/>
              <a:t>Use == for comparing for primitives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boolean</a:t>
            </a:r>
            <a:r>
              <a:rPr lang="en-US" dirty="0"/>
              <a:t> a = (5 == 6);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boolean</a:t>
            </a:r>
            <a:r>
              <a:rPr lang="en-US" dirty="0"/>
              <a:t> b = (‘T’ == ‘F’ );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675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Work Time</a:t>
            </a:r>
          </a:p>
        </p:txBody>
      </p:sp>
      <p:sp>
        <p:nvSpPr>
          <p:cNvPr id="81" name="Shape 8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Let’s work in </a:t>
            </a:r>
            <a:r>
              <a:rPr lang="en-US" err="1"/>
              <a:t>StringProbs</a:t>
            </a:r>
            <a:r>
              <a:rPr lang="en-US"/>
              <a:t>.java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504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85D81DBE5F5A448E892B34D6B8CF20" ma:contentTypeVersion="2" ma:contentTypeDescription="Create a new document." ma:contentTypeScope="" ma:versionID="026ccaf10de5d9915dfa48c6db16b59b">
  <xsd:schema xmlns:xsd="http://www.w3.org/2001/XMLSchema" xmlns:xs="http://www.w3.org/2001/XMLSchema" xmlns:p="http://schemas.microsoft.com/office/2006/metadata/properties" xmlns:ns2="08600313-7276-4ca7-b5d3-7d86193ee0ac" targetNamespace="http://schemas.microsoft.com/office/2006/metadata/properties" ma:root="true" ma:fieldsID="c887e4ee215f388544e22a2030d7ea35" ns2:_="">
    <xsd:import namespace="08600313-7276-4ca7-b5d3-7d86193ee0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00313-7276-4ca7-b5d3-7d86193ee0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E211C1-CD9D-46C8-BE98-ADF55AECFF6A}">
  <ds:schemaRefs>
    <ds:schemaRef ds:uri="79ddb764-415a-4c38-83b7-908be6382be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B830662-5179-45C5-B8BB-41FD5024BB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00313-7276-4ca7-b5d3-7d86193ee0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7FAF4A3-64B4-43E8-BB8B-B01EB9ECAC0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497</Words>
  <Application>Microsoft Office PowerPoint</Application>
  <PresentationFormat>On-screen Show (4:3)</PresentationFormat>
  <Paragraphs>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Courier New</vt:lpstr>
      <vt:lpstr>Office Theme</vt:lpstr>
      <vt:lpstr>CSSE 220</vt:lpstr>
      <vt:lpstr>Strings – What, When, Why, How?</vt:lpstr>
      <vt:lpstr>Possible etymology(?)</vt:lpstr>
      <vt:lpstr>Strings – What, When, Why, How?</vt:lpstr>
      <vt:lpstr>Strings – Concatenation</vt:lpstr>
      <vt:lpstr>Java API Documentation</vt:lpstr>
      <vt:lpstr>Java Documentation in IntelliJ</vt:lpstr>
      <vt:lpstr>Quick Rule for Comparisons</vt:lpstr>
      <vt:lpstr>Work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Curtis Clifton</dc:creator>
  <cp:lastModifiedBy>Ludden, Ian</cp:lastModifiedBy>
  <cp:revision>23</cp:revision>
  <cp:lastPrinted>2012-11-29T20:56:52Z</cp:lastPrinted>
  <dcterms:created xsi:type="dcterms:W3CDTF">2007-11-19T15:20:41Z</dcterms:created>
  <dcterms:modified xsi:type="dcterms:W3CDTF">2026-09-11T11:48:49Z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  <property fmtid="{D5CDD505-2E9C-101B-9397-08002B2CF9AE}" pid="3" name="ContentTypeId">
    <vt:lpwstr>0x0101004285D81DBE5F5A448E892B34D6B8CF20</vt:lpwstr>
  </property>
  <property fmtid="{D5CDD505-2E9C-101B-9397-08002B2CF9AE}" pid="4" name="Order">
    <vt:r8>3400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</Properties>
</file>