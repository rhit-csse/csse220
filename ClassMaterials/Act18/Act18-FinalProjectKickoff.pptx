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0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6C2C-B81F-3415-C879-AF3837A02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9C29E-1B24-5A37-1F79-1919D50F7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036D9-CA46-E4D5-2D34-BAF7E80C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BBD7F-3197-002C-2C6D-EDEFC9BA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98E8F-5699-2822-2278-86562E05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6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F020-3FC1-0A54-C4F1-72D10F24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A00C6-EACA-6575-11F3-89746A650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E2AA6-ECC2-048B-C83C-93BE6A4C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ADEA-69BD-86D7-B998-4C9CE845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C0DE-F0B8-FBAF-5912-87FA4377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8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E8C6-BD79-2513-DCB8-D7076F20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1DD8B-BB2A-89D3-ACFD-5F2B1538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DBB80-F8F7-C4FE-9C7F-17F7247D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48627-1D20-52B3-5C02-1FC3CE33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EA5F5-551F-4C85-4F58-C6B97E8C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65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D5B7-1537-882F-FD13-8530A1DE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274D-01A1-11B6-2DC0-DD6DF5C11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9546C-9C6A-FF50-DCC2-782A267D0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29F99-8337-96C3-DA1B-B3894E16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64B9B-E205-3158-E598-BDBDEF24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BD9FA-6650-F00D-A327-EED27E0F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5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A709-9857-CE5C-E54B-21ADC652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62C52-745D-B3B7-E6F0-3DEEB683C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664F6-002B-2388-9B4A-FBC7A3B14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003AB-0595-BBBF-1F19-75A601A16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C58A2-3412-E9D5-780C-DC1FEAE6E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971CF-84B7-7783-1350-A5134008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81275-CA0E-77C4-8748-D8DCCFF3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92741-C1F3-C938-A0DB-96D05630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7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F0C1-B956-76FD-A47A-10FDB3EC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1851E-EDDA-22B4-A295-02ADE0D8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2C347-3508-11B6-1474-667D0E47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F41E5-B91E-EAC3-4F66-2F96A324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56969-E516-C962-69B7-70B940A7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C9405-080B-5B1D-D77C-0837FEDD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0FBC5-8DFE-B8F2-58C8-C8D3FA7C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DD7-27A9-C63A-9085-60A6E5F0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EE8F5-62DF-874C-8E68-E68ACBB1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E0254-7A32-B7EB-3E9B-419ED388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CDBC7-ECF4-4534-4ABC-F72E774C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45524-5C67-606D-D7C1-0CBE6275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25CE5-24FC-17EE-C620-83BA924D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7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B7EB-D4A4-2762-19AC-CD9325B8B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F9724-0FBC-2BDA-F1F7-60D1DB9CC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38110-5258-41D2-EBD4-AB2DCD98C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A0B6-0A71-9C2C-887B-44E41A49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3A879-242A-E38C-9E5F-8CCD8001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18E46-6B66-7C10-A66A-8F20CDDE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7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FB80-C1C6-C27F-6252-C2940683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7B0CE-9676-3CE0-485A-470CA2744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93CA4-23C0-271F-E97C-487B3C0C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ADD4A-3509-8432-E107-E5300EA7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1B5B0-A08B-312D-6656-A2865FD3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8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AC76D-7B23-E871-C590-CC77FCC3B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4BD2A-1898-BA00-4E65-BC46647E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D1D78-0FD8-EF51-55BB-3ED3EA54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5661A-9373-952E-24E9-C5CD40C0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265C-DE03-9A5A-491F-A3E4172D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6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9BA6B-1573-6B3C-CAE9-09806704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3D5D0-0ED2-1785-FA88-B914A9DBC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43DC-747C-EC9E-3A77-327B66CE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24116-F216-43F6-B0FD-B31235B02F4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34495-3E9B-17F6-6AC8-E81C1DF9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5D057-BAE6-39B4-6905-0E56FB8F0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csse220-F2526-project-teams" TargetMode="External"/><Relationship Id="rId2" Type="http://schemas.openxmlformats.org/officeDocument/2006/relationships/hyperlink" Target="https://docs.google.com/spreadsheets/d/1If31pPylp5y6DLYBDu3rE33MLF83ufOqczV5ebBpWhs/edit?usp=shar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FRhGnuXG-4" TargetMode="External"/><Relationship Id="rId2" Type="http://schemas.openxmlformats.org/officeDocument/2006/relationships/hyperlink" Target="https://github.com/RHIT-CSSE/csse220/blob/sig-2025/Docs/grading_guide.md#csse220-style-rul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www.youtube.com/watch?v=-J3wNP6u5YU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csse220-gh-classro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csse220-gh-classroom" TargetMode="External"/><Relationship Id="rId2" Type="http://schemas.openxmlformats.org/officeDocument/2006/relationships/hyperlink" Target="https://docs.google.com/document/d/1L9aUwMvniMmx79O7JsLlsOXOur_VRoDLkfEN9qzDcnI/edi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5859-AAF4-7D6E-43D1-580D645004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CSSE 220 </a:t>
            </a:r>
            <a:br>
              <a:rPr lang="en-US" dirty="0">
                <a:latin typeface="Grandview Display" panose="020B0502040204020203" pitchFamily="34" charset="0"/>
              </a:rPr>
            </a:br>
            <a:r>
              <a:rPr lang="en-US" dirty="0">
                <a:latin typeface="Grandview Display" panose="020B0502040204020203" pitchFamily="34" charset="0"/>
              </a:rPr>
              <a:t>Final Project Kick-off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205B2-D346-4933-F5AE-6FACA3455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0366"/>
            <a:ext cx="9144000" cy="1655762"/>
          </a:xfrm>
        </p:spPr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239994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AD48-E502-2D9B-32B8-BEF52E400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Final 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2623-954B-5CCE-2A05-508C4166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4408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Grandview" panose="020B0502040204020203" pitchFamily="34" charset="0"/>
              </a:rPr>
              <a:t>Synthesize what you’ve learned into a cohesive whole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Object-oriented design process (OODP checklist, UML diagrams)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Java fundamentals: data structures, primitives, object types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Object-oriented programming (inheritance, interfaces, polymorphism)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File input/output, a.k.a. I/O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Java Swing graphics library, including event-based programming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Exception handling (try-catch)</a:t>
            </a:r>
          </a:p>
          <a:p>
            <a:r>
              <a:rPr lang="en-US" dirty="0">
                <a:latin typeface="Grandview" panose="020B0502040204020203" pitchFamily="34" charset="0"/>
              </a:rPr>
              <a:t>Build something you’ll want to talk about 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with friends, family, interviewers</a:t>
            </a:r>
          </a:p>
          <a:p>
            <a:r>
              <a:rPr lang="en-US" dirty="0">
                <a:latin typeface="Grandview" panose="020B0502040204020203" pitchFamily="34" charset="0"/>
              </a:rPr>
              <a:t>Have fun!</a:t>
            </a:r>
          </a:p>
        </p:txBody>
      </p:sp>
    </p:spTree>
    <p:extLst>
      <p:ext uri="{BB962C8B-B14F-4D97-AF65-F5344CB8AC3E}">
        <p14:creationId xmlns:p14="http://schemas.microsoft.com/office/powerpoint/2010/main" val="92496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B609-781E-7B09-E71B-8000AB41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F64F-CB37-AA76-4794-5697A963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Core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14F57-5BFC-E9F7-EA2D-484451AA5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Every final project (including GARP) will include: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File input/output with custom exception handling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A Java Swing GUI with event-based programming (Key/Mouse/Action)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Inheritance and interfaces with polymorphism to avoid duplicate code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JUnit tests of some critical components (don’t have to cover all code)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Self-assessment in terms of object-oriented design principles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Appropriate data structures (</a:t>
            </a:r>
            <a:r>
              <a:rPr lang="en-US" dirty="0" err="1">
                <a:latin typeface="Grandview" panose="020B0502040204020203" pitchFamily="34" charset="0"/>
              </a:rPr>
              <a:t>ArrayLists</a:t>
            </a:r>
            <a:r>
              <a:rPr lang="en-US" dirty="0">
                <a:latin typeface="Grandview" panose="020B0502040204020203" pitchFamily="34" charset="0"/>
              </a:rPr>
              <a:t>, </a:t>
            </a:r>
            <a:r>
              <a:rPr lang="en-US" dirty="0" err="1">
                <a:latin typeface="Grandview" panose="020B0502040204020203" pitchFamily="34" charset="0"/>
              </a:rPr>
              <a:t>HashMaps</a:t>
            </a:r>
            <a:r>
              <a:rPr lang="en-US" dirty="0">
                <a:latin typeface="Grandview" panose="020B0502040204020203" pitchFamily="34" charset="0"/>
              </a:rPr>
              <a:t>, etc.)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Presentation during the last week of class</a:t>
            </a:r>
          </a:p>
          <a:p>
            <a:pPr marL="457200" lvl="1" indent="0">
              <a:buNone/>
            </a:pPr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30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D7F0-E09A-E801-08EC-ABD8DE52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2FBA-BE41-57BE-170E-926AB87E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Forming Project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C4F7E-40FC-20E9-3A99-CF72A16E3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GARP-interested students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Pitches with full teams (3-4) already planned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randview" panose="020B0502040204020203" pitchFamily="34" charset="0"/>
              </a:rPr>
              <a:t>Pitches needing additional team members</a:t>
            </a:r>
            <a:br>
              <a:rPr lang="en-US" dirty="0">
                <a:latin typeface="Grandview" panose="020B0502040204020203" pitchFamily="34" charset="0"/>
              </a:rPr>
            </a:br>
            <a:br>
              <a:rPr lang="en-US" dirty="0">
                <a:latin typeface="Grandview" panose="020B0502040204020203" pitchFamily="34" charset="0"/>
              </a:rPr>
            </a:br>
            <a:endParaRPr lang="en-US" dirty="0">
              <a:latin typeface="Grandview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  <a:hlinkClick r:id="rId2"/>
              </a:rPr>
              <a:t>https://docs.google.com/spreadsheets/d/1If31pPylp5y6DLYBDu3rE33MLF83ufOqczV5ebBpWhs/edit?usp=sharing</a:t>
            </a:r>
            <a:endParaRPr lang="en-US" dirty="0">
              <a:latin typeface="Grandview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Grandview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  <a:hlinkClick r:id="rId3"/>
              </a:rPr>
              <a:t>https://tinyurl.com/csse220-F2526-project-teams</a:t>
            </a:r>
            <a:r>
              <a:rPr lang="en-US" dirty="0">
                <a:latin typeface="Grandview" panose="020B0502040204020203" pitchFamily="34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92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EFF8-025F-ECEA-70C4-5753389F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D059-18D8-CD17-F633-62E72DC9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GenAI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F00D3-A1DC-D9DF-DF6B-82BF69515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184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Grandview" panose="020B0502040204020203" pitchFamily="34" charset="0"/>
              </a:rPr>
              <a:t>Sense of craftsmanship, ownership, agency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“We built this” vs. “we told Claude to build this”</a:t>
            </a:r>
          </a:p>
          <a:p>
            <a:r>
              <a:rPr lang="en-US" dirty="0">
                <a:latin typeface="Grandview" panose="020B0502040204020203" pitchFamily="34" charset="0"/>
              </a:rPr>
              <a:t>Limited use allowed in Milestone 4 when adding extra features: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Search for how to do new things, like add animations 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Generate </a:t>
            </a:r>
            <a:r>
              <a:rPr lang="en-US" b="1" i="1" dirty="0">
                <a:latin typeface="Grandview" panose="020B0502040204020203" pitchFamily="34" charset="0"/>
              </a:rPr>
              <a:t>small</a:t>
            </a:r>
            <a:r>
              <a:rPr lang="en-US" dirty="0">
                <a:latin typeface="Grandview" panose="020B0502040204020203" pitchFamily="34" charset="0"/>
              </a:rPr>
              <a:t> code snippets</a:t>
            </a:r>
          </a:p>
          <a:p>
            <a:r>
              <a:rPr lang="en-US" dirty="0">
                <a:latin typeface="Grandview" panose="020B0502040204020203" pitchFamily="34" charset="0"/>
              </a:rPr>
              <a:t>For any 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 use in M4, MUST clearly indicate any and all 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-produced/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-assisted code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Comments before/after: </a:t>
            </a:r>
            <a:br>
              <a:rPr lang="en-US" dirty="0">
                <a:latin typeface="Grandview" panose="020B0502040204020203" pitchFamily="34" charset="0"/>
              </a:rPr>
            </a:br>
            <a:r>
              <a:rPr lang="en-US" dirty="0">
                <a:latin typeface="Consolas" panose="020B0609020204030204" pitchFamily="49" charset="0"/>
              </a:rPr>
              <a:t>// START of </a:t>
            </a:r>
            <a:r>
              <a:rPr lang="en-US" dirty="0" err="1">
                <a:latin typeface="Consolas" panose="020B0609020204030204" pitchFamily="49" charset="0"/>
              </a:rPr>
              <a:t>genAI</a:t>
            </a:r>
            <a:r>
              <a:rPr lang="en-US" dirty="0">
                <a:latin typeface="Consolas" panose="020B0609020204030204" pitchFamily="49" charset="0"/>
              </a:rPr>
              <a:t>-assisted code: [link to conversation]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// END of </a:t>
            </a:r>
            <a:r>
              <a:rPr lang="en-US" dirty="0" err="1">
                <a:latin typeface="Consolas" panose="020B0609020204030204" pitchFamily="49" charset="0"/>
              </a:rPr>
              <a:t>genAI</a:t>
            </a:r>
            <a:r>
              <a:rPr lang="en-US" dirty="0">
                <a:latin typeface="Consolas" panose="020B0609020204030204" pitchFamily="49" charset="0"/>
              </a:rPr>
              <a:t>-assisted code</a:t>
            </a:r>
            <a:endParaRPr lang="en-US" dirty="0">
              <a:latin typeface="Grandview" panose="020B0502040204020203" pitchFamily="34" charset="0"/>
            </a:endParaRPr>
          </a:p>
          <a:p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29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D9999-1E13-7623-1881-37D2216E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B29A-C614-1099-4C5A-964575E2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Expectations at Each Milestone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356FB-D87A-A6AE-C0C9-E7B57B45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Grandview" panose="020B0502040204020203" pitchFamily="34" charset="0"/>
              </a:rPr>
              <a:t>Clear milestone commit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“This is the M1 commit, </a:t>
            </a:r>
            <a:br>
              <a:rPr lang="en-US" dirty="0">
                <a:latin typeface="Grandview" panose="020B0502040204020203" pitchFamily="34" charset="0"/>
              </a:rPr>
            </a:br>
            <a:r>
              <a:rPr lang="en-US" dirty="0">
                <a:latin typeface="Grandview" panose="020B0502040204020203" pitchFamily="34" charset="0"/>
              </a:rPr>
              <a:t>ready for grading”</a:t>
            </a:r>
          </a:p>
          <a:p>
            <a:r>
              <a:rPr lang="en-US" dirty="0">
                <a:latin typeface="Grandview" panose="020B0502040204020203" pitchFamily="34" charset="0"/>
              </a:rPr>
              <a:t>Report is thorough and accurate</a:t>
            </a:r>
          </a:p>
          <a:p>
            <a:r>
              <a:rPr lang="en-US" dirty="0">
                <a:latin typeface="Grandview" panose="020B0502040204020203" pitchFamily="34" charset="0"/>
              </a:rPr>
              <a:t>Compiles and runs without errors</a:t>
            </a:r>
          </a:p>
          <a:p>
            <a:r>
              <a:rPr lang="en-US" dirty="0">
                <a:latin typeface="Grandview" panose="020B0502040204020203" pitchFamily="34" charset="0"/>
                <a:hlinkClick r:id="rId2"/>
              </a:rPr>
              <a:t>Clean code</a:t>
            </a:r>
            <a:endParaRPr lang="en-US" dirty="0">
              <a:latin typeface="Grandview" panose="020B0502040204020203" pitchFamily="34" charset="0"/>
            </a:endParaRPr>
          </a:p>
          <a:p>
            <a:pPr lvl="1"/>
            <a:r>
              <a:rPr lang="en-US" dirty="0" err="1">
                <a:latin typeface="Grandview" panose="020B0502040204020203" pitchFamily="34" charset="0"/>
              </a:rPr>
              <a:t>JavaDoc</a:t>
            </a:r>
            <a:r>
              <a:rPr lang="en-US" dirty="0">
                <a:latin typeface="Grandview" panose="020B0502040204020203" pitchFamily="34" charset="0"/>
              </a:rPr>
              <a:t> for every class </a:t>
            </a:r>
            <a:br>
              <a:rPr lang="en-US" dirty="0">
                <a:latin typeface="Grandview" panose="020B0502040204020203" pitchFamily="34" charset="0"/>
              </a:rPr>
            </a:br>
            <a:r>
              <a:rPr lang="en-US" dirty="0">
                <a:latin typeface="Grandview" panose="020B0502040204020203" pitchFamily="34" charset="0"/>
              </a:rPr>
              <a:t>(ideally, methods too)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TODO comments where needed </a:t>
            </a:r>
          </a:p>
          <a:p>
            <a:pPr lvl="1"/>
            <a:r>
              <a:rPr lang="en-US" dirty="0">
                <a:latin typeface="Grandview" panose="020B0502040204020203" pitchFamily="34" charset="0"/>
                <a:hlinkClick r:id="rId3"/>
              </a:rPr>
              <a:t>Consistent, minimal indentation</a:t>
            </a:r>
            <a:endParaRPr lang="en-US" dirty="0">
              <a:latin typeface="Grandview" panose="020B0502040204020203" pitchFamily="34" charset="0"/>
            </a:endParaRPr>
          </a:p>
          <a:p>
            <a:pPr lvl="1"/>
            <a:r>
              <a:rPr lang="en-US" dirty="0">
                <a:latin typeface="Grandview" panose="020B0502040204020203" pitchFamily="34" charset="0"/>
                <a:hlinkClick r:id="rId4"/>
              </a:rPr>
              <a:t>Good variable and method names</a:t>
            </a:r>
            <a:endParaRPr lang="en-US" dirty="0">
              <a:latin typeface="Grandview" panose="020B0502040204020203" pitchFamily="34" charset="0"/>
            </a:endParaRPr>
          </a:p>
          <a:p>
            <a:pPr lvl="1"/>
            <a:endParaRPr lang="en-US" dirty="0">
              <a:latin typeface="Grandview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706E0-68F1-1818-096D-551F2F012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840" y="1886935"/>
            <a:ext cx="5075224" cy="46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2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ADCD4-F9B9-6931-0ECE-3811CEFF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69C9-12C1-258F-BC66-EA563E3B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Final Project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B2FA4-2DFA-833F-DF8D-95C03BAA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Four levels: Poor, Satisfactory, Good, Excellent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See syllabus for impact on final grade</a:t>
            </a:r>
          </a:p>
          <a:p>
            <a:endParaRPr lang="en-US" dirty="0">
              <a:latin typeface="Grandview" panose="020B0502040204020203" pitchFamily="34" charset="0"/>
            </a:endParaRPr>
          </a:p>
          <a:p>
            <a:r>
              <a:rPr lang="en-US" dirty="0">
                <a:latin typeface="Grandview" panose="020B0502040204020203" pitchFamily="34" charset="0"/>
              </a:rPr>
              <a:t>Along the way (M0-M3): </a:t>
            </a:r>
            <a:r>
              <a:rPr lang="en-US" i="1" dirty="0">
                <a:latin typeface="Grandview" panose="020B0502040204020203" pitchFamily="34" charset="0"/>
              </a:rPr>
              <a:t>projected</a:t>
            </a:r>
            <a:r>
              <a:rPr lang="en-US" dirty="0">
                <a:latin typeface="Grandview" panose="020B0502040204020203" pitchFamily="34" charset="0"/>
              </a:rPr>
              <a:t> project level based on WIP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…can move up/down in later milestones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what is actually graded is the final M4 submission and presentation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If you’re not sure where your team stands, just ask</a:t>
            </a:r>
          </a:p>
          <a:p>
            <a:endParaRPr lang="en-US" dirty="0">
              <a:latin typeface="Grandview" panose="020B0502040204020203" pitchFamily="34" charset="0"/>
            </a:endParaRPr>
          </a:p>
          <a:p>
            <a:r>
              <a:rPr lang="en-US" dirty="0">
                <a:latin typeface="Grandview" panose="020B0502040204020203" pitchFamily="34" charset="0"/>
              </a:rPr>
              <a:t>Motive: Focus on building cool things well and communicating your work, not on calculating partial credit to aim for</a:t>
            </a:r>
          </a:p>
          <a:p>
            <a:pPr lvl="1"/>
            <a:endParaRPr lang="en-US" dirty="0">
              <a:latin typeface="Grandview" panose="020B0502040204020203" pitchFamily="34" charset="0"/>
            </a:endParaRPr>
          </a:p>
          <a:p>
            <a:pPr lvl="1"/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2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1FB8-3CDF-3E5E-C256-660691C5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8C13-E824-69B0-7326-3899C5FD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Final Project Grading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20A4D-0232-48E6-CDF3-2779EE5FA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3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</a:rPr>
              <a:t>What do the four levels look like? </a:t>
            </a:r>
          </a:p>
          <a:p>
            <a:r>
              <a:rPr lang="en-US" b="1" dirty="0">
                <a:latin typeface="Grandview" panose="020B0502040204020203" pitchFamily="34" charset="0"/>
              </a:rPr>
              <a:t>Poor:</a:t>
            </a:r>
            <a:r>
              <a:rPr lang="en-US" dirty="0">
                <a:latin typeface="Grandview" panose="020B0502040204020203" pitchFamily="34" charset="0"/>
              </a:rPr>
              <a:t> doesn’t compile or run, or is missing core requirement(s)</a:t>
            </a:r>
          </a:p>
          <a:p>
            <a:r>
              <a:rPr lang="en-US" b="1" dirty="0">
                <a:latin typeface="Grandview" panose="020B0502040204020203" pitchFamily="34" charset="0"/>
              </a:rPr>
              <a:t>Satisfactory: </a:t>
            </a:r>
            <a:r>
              <a:rPr lang="en-US" dirty="0">
                <a:latin typeface="Grandview" panose="020B0502040204020203" pitchFamily="34" charset="0"/>
              </a:rPr>
              <a:t>Compiles and runs, but violates many OODPs, is deficient in core requirements (though present), and/or neglects style/documentation guide</a:t>
            </a:r>
          </a:p>
          <a:p>
            <a:r>
              <a:rPr lang="en-US" b="1" dirty="0">
                <a:latin typeface="Grandview" panose="020B0502040204020203" pitchFamily="34" charset="0"/>
              </a:rPr>
              <a:t>Good:</a:t>
            </a:r>
            <a:r>
              <a:rPr lang="en-US" dirty="0">
                <a:latin typeface="Grandview" panose="020B0502040204020203" pitchFamily="34" charset="0"/>
              </a:rPr>
              <a:t> Mostly follows OODPs, meets all core requirements, and mostly follows style/documentation guide</a:t>
            </a:r>
          </a:p>
          <a:p>
            <a:r>
              <a:rPr lang="en-US" b="1" dirty="0">
                <a:latin typeface="Grandview" panose="020B0502040204020203" pitchFamily="34" charset="0"/>
              </a:rPr>
              <a:t>Excellent: </a:t>
            </a:r>
            <a:r>
              <a:rPr lang="en-US" dirty="0">
                <a:latin typeface="Grandview" panose="020B0502040204020203" pitchFamily="34" charset="0"/>
              </a:rPr>
              <a:t>Goes above and beyond* core requirements, thoroughly follows OODPs and style/documentation guide</a:t>
            </a:r>
          </a:p>
          <a:p>
            <a:pPr marL="0" indent="0">
              <a:buNone/>
            </a:pPr>
            <a:br>
              <a:rPr lang="en-US" sz="1800" dirty="0">
                <a:latin typeface="Grandview" panose="020B0502040204020203" pitchFamily="34" charset="0"/>
              </a:rPr>
            </a:br>
            <a:r>
              <a:rPr lang="en-US" sz="1800" dirty="0">
                <a:latin typeface="Grandview" panose="020B0502040204020203" pitchFamily="34" charset="0"/>
              </a:rPr>
              <a:t>*GARP goes above and beyond, but so can other projects</a:t>
            </a:r>
          </a:p>
        </p:txBody>
      </p:sp>
    </p:spTree>
    <p:extLst>
      <p:ext uri="{BB962C8B-B14F-4D97-AF65-F5344CB8AC3E}">
        <p14:creationId xmlns:p14="http://schemas.microsoft.com/office/powerpoint/2010/main" val="352609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91875-7639-271F-24CD-EDC9FCFB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5AB6-7DE9-3D21-5202-BDF1F827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Milestone 0: Plan Classes and Initial UML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5B905-6FC5-F59C-09BE-D3747B3D7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21368" cy="4351338"/>
          </a:xfrm>
        </p:spPr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Submit Gradescope (M0.a and M0.b) </a:t>
            </a:r>
            <a:r>
              <a:rPr lang="en-US" b="1" dirty="0">
                <a:latin typeface="Grandview" panose="020B0502040204020203" pitchFamily="34" charset="0"/>
              </a:rPr>
              <a:t>AND</a:t>
            </a:r>
            <a:endParaRPr lang="en-US" b="1" dirty="0">
              <a:latin typeface="Grandview" panose="020B0502040204020203" pitchFamily="34" charset="0"/>
              <a:hlinkClick r:id="rId2"/>
            </a:endParaRPr>
          </a:p>
          <a:p>
            <a:r>
              <a:rPr lang="en-US" dirty="0">
                <a:latin typeface="Grandview" panose="020B0502040204020203" pitchFamily="34" charset="0"/>
              </a:rPr>
              <a:t>Push a commit with completed M0_report.md</a:t>
            </a:r>
          </a:p>
        </p:txBody>
      </p:sp>
    </p:spTree>
    <p:extLst>
      <p:ext uri="{BB962C8B-B14F-4D97-AF65-F5344CB8AC3E}">
        <p14:creationId xmlns:p14="http://schemas.microsoft.com/office/powerpoint/2010/main" val="386408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F9D2-8DEE-DE8E-D0ED-2EF698B62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F47F-F137-5706-6D7A-0207EA6D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GitHub Classroom Setup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7A424-F9D8-5863-88D4-152295E40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21368" cy="4351338"/>
          </a:xfrm>
        </p:spPr>
        <p:txBody>
          <a:bodyPr/>
          <a:lstStyle/>
          <a:p>
            <a:r>
              <a:rPr lang="en-US" dirty="0">
                <a:latin typeface="Grandview" panose="020B0502040204020203" pitchFamily="34" charset="0"/>
                <a:hlinkClick r:id="rId2"/>
              </a:rPr>
              <a:t>https://docs.google.com/document/d/1L9aUwMvniMmx79O7JsLlsOXOur_VRoDLkfEN9qzDcnI/edit?usp=sharing</a:t>
            </a:r>
            <a:endParaRPr lang="en-US" dirty="0">
              <a:latin typeface="Grandview" panose="020B0502040204020203" pitchFamily="34" charset="0"/>
            </a:endParaRPr>
          </a:p>
          <a:p>
            <a:endParaRPr lang="en-US" dirty="0">
              <a:latin typeface="Grandview" panose="020B0502040204020203" pitchFamily="34" charset="0"/>
              <a:hlinkClick r:id="rId3"/>
            </a:endParaRPr>
          </a:p>
          <a:p>
            <a:r>
              <a:rPr lang="en-US" dirty="0">
                <a:latin typeface="Grandview" panose="020B0502040204020203" pitchFamily="34" charset="0"/>
                <a:hlinkClick r:id="rId3"/>
              </a:rPr>
              <a:t>https://tinyurl.com/csse220-gh-classroom</a:t>
            </a:r>
            <a:r>
              <a:rPr lang="en-US" dirty="0">
                <a:latin typeface="Grandview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50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618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Grandview</vt:lpstr>
      <vt:lpstr>Grandview Display</vt:lpstr>
      <vt:lpstr>Office Theme</vt:lpstr>
      <vt:lpstr>CSSE 220  Final Project Kick-off</vt:lpstr>
      <vt:lpstr>Final Project Goals</vt:lpstr>
      <vt:lpstr>Core Requirements</vt:lpstr>
      <vt:lpstr>Forming Project Teams</vt:lpstr>
      <vt:lpstr>GenAI Use</vt:lpstr>
      <vt:lpstr>Expectations at Each Milestone</vt:lpstr>
      <vt:lpstr>Final Project Grading</vt:lpstr>
      <vt:lpstr>Final Project Grading (continued)</vt:lpstr>
      <vt:lpstr>Milestone 0: Plan Classes and Initial UML</vt:lpstr>
      <vt:lpstr>GitHub Classroom Setup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Ludden, Ian</dc:creator>
  <cp:lastModifiedBy>Ludden, Ian</cp:lastModifiedBy>
  <cp:revision>15</cp:revision>
  <dcterms:created xsi:type="dcterms:W3CDTF">2025-10-15T20:42:50Z</dcterms:created>
  <dcterms:modified xsi:type="dcterms:W3CDTF">2025-10-15T21:41:44Z</dcterms:modified>
</cp:coreProperties>
</file>